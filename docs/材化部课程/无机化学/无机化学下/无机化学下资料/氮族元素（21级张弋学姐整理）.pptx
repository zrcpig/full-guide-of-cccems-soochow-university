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67" r:id="rId18"/>
    <p:sldId id="275" r:id="rId19"/>
    <p:sldId id="278" r:id="rId20"/>
    <p:sldId id="276" r:id="rId21"/>
    <p:sldId id="279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87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95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2.png"/><Relationship Id="rId2" Type="http://schemas.openxmlformats.org/officeDocument/2006/relationships/tags" Target="../tags/tag68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tags" Target="../tags/tag7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tags" Target="../tags/tag7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8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77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82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tags" Target="../tags/tag8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tags" Target="../tags/tag8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0.xml"/><Relationship Id="rId1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1.xml"/><Relationship Id="rId1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氮族元素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sz="2800"/>
              <a:t>2023.5.7</a:t>
            </a:r>
            <a:endParaRPr lang="en-US" altLang="zh-CN" sz="28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055" t="20635" r="1311" b="10210"/>
          <a:stretch>
            <a:fillRect/>
          </a:stretch>
        </p:blipFill>
        <p:spPr>
          <a:xfrm>
            <a:off x="2324735" y="1551305"/>
            <a:ext cx="9034780" cy="47498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93580" y="4046220"/>
            <a:ext cx="1765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“</a:t>
            </a:r>
            <a:r>
              <a:rPr lang="zh-CN" altLang="en-US" sz="2400">
                <a:solidFill>
                  <a:srgbClr val="FF0000"/>
                </a:solidFill>
              </a:rPr>
              <a:t>火山爆发</a:t>
            </a:r>
            <a:r>
              <a:rPr lang="en-US" altLang="zh-CN" sz="2400">
                <a:solidFill>
                  <a:srgbClr val="FF0000"/>
                </a:solidFill>
              </a:rPr>
              <a:t>”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82545" y="907415"/>
            <a:ext cx="12674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单质</a:t>
            </a:r>
            <a:endParaRPr lang="zh-CN" altLang="en-US" sz="3200" b="1"/>
          </a:p>
        </p:txBody>
      </p:sp>
      <p:sp>
        <p:nvSpPr>
          <p:cNvPr id="9" name="矩形 8"/>
          <p:cNvSpPr/>
          <p:nvPr/>
        </p:nvSpPr>
        <p:spPr>
          <a:xfrm>
            <a:off x="1118235" y="565150"/>
            <a:ext cx="648970" cy="7505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6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氮</a:t>
            </a:r>
            <a:endParaRPr lang="zh-CN" altLang="en-US" sz="60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27145" y="3658235"/>
            <a:ext cx="7321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C000"/>
                </a:solidFill>
              </a:rPr>
              <a:t>橙</a:t>
            </a:r>
            <a:endParaRPr lang="zh-CN" altLang="en-US" sz="2800">
              <a:solidFill>
                <a:srgbClr val="FFC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73595" y="3658235"/>
            <a:ext cx="7321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B050"/>
                </a:solidFill>
              </a:rPr>
              <a:t>绿</a:t>
            </a:r>
            <a:endParaRPr lang="zh-CN" altLang="en-US" sz="2800">
              <a:solidFill>
                <a:srgbClr val="00B05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3144520" y="4604385"/>
            <a:ext cx="6223635" cy="952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032250" y="793750"/>
            <a:ext cx="5257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70C0"/>
                </a:solidFill>
              </a:rPr>
              <a:t>实验室如何制备氮气？</a:t>
            </a:r>
            <a:endParaRPr lang="zh-CN" altLang="en-US" sz="2800">
              <a:solidFill>
                <a:srgbClr val="00B0F0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3" grpId="0"/>
      <p:bldP spid="13" grpId="1"/>
      <p:bldP spid="7" grpId="0"/>
      <p:bldP spid="7" grpId="1"/>
      <p:bldP spid="10" grpId="0"/>
      <p:bldP spid="10" grpId="1"/>
      <p:bldP spid="11" grpId="0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74065" y="868045"/>
            <a:ext cx="1511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氢化物</a:t>
            </a:r>
            <a:endParaRPr lang="zh-CN" altLang="en-US" sz="32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35311" b="9227"/>
          <a:stretch>
            <a:fillRect/>
          </a:stretch>
        </p:blipFill>
        <p:spPr>
          <a:xfrm>
            <a:off x="1221740" y="2545715"/>
            <a:ext cx="9552940" cy="2736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4213" b="70161"/>
          <a:stretch>
            <a:fillRect/>
          </a:stretch>
        </p:blipFill>
        <p:spPr>
          <a:xfrm>
            <a:off x="2133600" y="721360"/>
            <a:ext cx="7593330" cy="10052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08480" y="2023745"/>
            <a:ext cx="3931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70C0"/>
                </a:solidFill>
              </a:rPr>
              <a:t>酸碱性取决于什么？</a:t>
            </a:r>
            <a:endParaRPr lang="zh-CN" altLang="en-US" sz="2800">
              <a:solidFill>
                <a:srgbClr val="0070C0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41609"/>
          <a:stretch>
            <a:fillRect/>
          </a:stretch>
        </p:blipFill>
        <p:spPr>
          <a:xfrm>
            <a:off x="1056640" y="1492885"/>
            <a:ext cx="9391015" cy="18624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748" t="4213" r="78592" b="70161"/>
          <a:stretch>
            <a:fillRect/>
          </a:stretch>
        </p:blipFill>
        <p:spPr>
          <a:xfrm>
            <a:off x="920115" y="345440"/>
            <a:ext cx="1756410" cy="11823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20115" y="4469130"/>
            <a:ext cx="2155190" cy="622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HgCl</a:t>
            </a:r>
            <a:r>
              <a:rPr lang="en-US" altLang="zh-CN" sz="2800" baseline="30000">
                <a:solidFill>
                  <a:schemeClr val="tx1"/>
                </a:solidFill>
                <a:uFillTx/>
              </a:rPr>
              <a:t>+</a:t>
            </a:r>
            <a:r>
              <a:rPr lang="en-US" altLang="zh-CN" sz="2800"/>
              <a:t>  Cl</a:t>
            </a:r>
            <a:r>
              <a:rPr lang="en-US" altLang="zh-CN" sz="2800" baseline="30000">
                <a:solidFill>
                  <a:schemeClr val="tx1"/>
                </a:solidFill>
                <a:uFillTx/>
              </a:rPr>
              <a:t>-</a:t>
            </a:r>
            <a:endParaRPr lang="en-US" altLang="zh-CN" sz="2800" baseline="30000">
              <a:solidFill>
                <a:schemeClr val="tx1"/>
              </a:solidFill>
              <a:uFillTx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61310" y="4519930"/>
            <a:ext cx="24574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NH</a:t>
            </a:r>
            <a:r>
              <a:rPr lang="en-US" altLang="zh-CN" sz="2800" baseline="30000">
                <a:solidFill>
                  <a:schemeClr val="tx1"/>
                </a:solidFill>
                <a:uFillTx/>
              </a:rPr>
              <a:t>2-</a:t>
            </a:r>
            <a:r>
              <a:rPr lang="en-US" altLang="zh-CN" sz="2800"/>
              <a:t>  NH</a:t>
            </a:r>
            <a:r>
              <a:rPr lang="en-US" altLang="zh-CN" sz="2800" baseline="30000">
                <a:solidFill>
                  <a:schemeClr val="tx1"/>
                </a:solidFill>
                <a:uFillTx/>
              </a:rPr>
              <a:t>4+</a:t>
            </a:r>
            <a:endParaRPr lang="en-US" altLang="zh-CN" sz="2800" baseline="30000">
              <a:solidFill>
                <a:schemeClr val="tx1"/>
              </a:solidFill>
              <a:uFillTx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23250" y="4448810"/>
            <a:ext cx="22244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0070C0"/>
                </a:solidFill>
              </a:rPr>
              <a:t>类比水解</a:t>
            </a:r>
            <a:endParaRPr lang="zh-CN" altLang="en-US" sz="3200">
              <a:solidFill>
                <a:srgbClr val="0070C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t="67569" r="64879"/>
          <a:stretch>
            <a:fillRect/>
          </a:stretch>
        </p:blipFill>
        <p:spPr>
          <a:xfrm>
            <a:off x="695325" y="3384550"/>
            <a:ext cx="3298190" cy="10344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l="34289" t="67569" r="24471"/>
          <a:stretch>
            <a:fillRect/>
          </a:stretch>
        </p:blipFill>
        <p:spPr>
          <a:xfrm>
            <a:off x="3915410" y="3384550"/>
            <a:ext cx="3872865" cy="1034415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 flipH="1">
            <a:off x="1847215" y="4135755"/>
            <a:ext cx="19050" cy="400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3383915" y="4080510"/>
            <a:ext cx="183515" cy="4203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1" grpId="0"/>
      <p:bldP spid="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0120" t="4213" r="62151" b="70161"/>
          <a:stretch>
            <a:fillRect/>
          </a:stretch>
        </p:blipFill>
        <p:spPr>
          <a:xfrm>
            <a:off x="431800" y="575945"/>
            <a:ext cx="1488440" cy="11118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37648"/>
          <a:stretch>
            <a:fillRect/>
          </a:stretch>
        </p:blipFill>
        <p:spPr>
          <a:xfrm>
            <a:off x="1920240" y="516890"/>
            <a:ext cx="6315075" cy="23399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3220" t="4947" r="5748" b="9360"/>
          <a:stretch>
            <a:fillRect/>
          </a:stretch>
        </p:blipFill>
        <p:spPr>
          <a:xfrm>
            <a:off x="6419215" y="2048510"/>
            <a:ext cx="5601335" cy="28486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l="4241" r="6399"/>
          <a:stretch>
            <a:fillRect/>
          </a:stretch>
        </p:blipFill>
        <p:spPr>
          <a:xfrm>
            <a:off x="887095" y="3175635"/>
            <a:ext cx="5941060" cy="304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5625" y="1931035"/>
            <a:ext cx="15417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70C0"/>
                </a:solidFill>
              </a:rPr>
              <a:t>热分解</a:t>
            </a:r>
            <a:endParaRPr lang="zh-CN" altLang="en-US" sz="2800">
              <a:solidFill>
                <a:srgbClr val="0070C0"/>
              </a:solidFill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396" t="4213" r="43644" b="70161"/>
          <a:stretch>
            <a:fillRect/>
          </a:stretch>
        </p:blipFill>
        <p:spPr>
          <a:xfrm>
            <a:off x="510540" y="469265"/>
            <a:ext cx="1472565" cy="1149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l="12186" t="28961" r="20066"/>
          <a:stretch>
            <a:fillRect/>
          </a:stretch>
        </p:blipFill>
        <p:spPr>
          <a:xfrm>
            <a:off x="2752090" y="1664335"/>
            <a:ext cx="5811520" cy="40309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41550" y="873125"/>
            <a:ext cx="17176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70C0"/>
                </a:solidFill>
              </a:rPr>
              <a:t>强还原性</a:t>
            </a:r>
            <a:endParaRPr lang="zh-CN" altLang="en-US" sz="2800">
              <a:solidFill>
                <a:srgbClr val="0070C0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57376" t="4213" r="20263" b="70161"/>
          <a:stretch>
            <a:fillRect/>
          </a:stretch>
        </p:blipFill>
        <p:spPr>
          <a:xfrm>
            <a:off x="657225" y="560070"/>
            <a:ext cx="1941195" cy="11493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785" y="2195195"/>
            <a:ext cx="7662545" cy="28168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76220" y="1046480"/>
            <a:ext cx="1268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70C0"/>
                </a:solidFill>
              </a:rPr>
              <a:t>还原性</a:t>
            </a:r>
            <a:endParaRPr lang="zh-CN" altLang="en-US" sz="2800">
              <a:solidFill>
                <a:srgbClr val="0070C0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02640" y="368935"/>
            <a:ext cx="15506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卤化物</a:t>
            </a:r>
            <a:endParaRPr lang="zh-CN" altLang="en-US" sz="32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045" y="182880"/>
            <a:ext cx="5273040" cy="955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7319" r="34422" b="53668"/>
          <a:stretch>
            <a:fillRect/>
          </a:stretch>
        </p:blipFill>
        <p:spPr>
          <a:xfrm>
            <a:off x="1137285" y="1626870"/>
            <a:ext cx="4359910" cy="14046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b="52450"/>
          <a:stretch>
            <a:fillRect/>
          </a:stretch>
        </p:blipFill>
        <p:spPr>
          <a:xfrm>
            <a:off x="372110" y="4661535"/>
            <a:ext cx="6551295" cy="1682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t="57513" b="28571"/>
          <a:stretch>
            <a:fillRect/>
          </a:stretch>
        </p:blipFill>
        <p:spPr>
          <a:xfrm>
            <a:off x="274955" y="3131820"/>
            <a:ext cx="6648450" cy="5010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t="73827"/>
          <a:stretch>
            <a:fillRect/>
          </a:stretch>
        </p:blipFill>
        <p:spPr>
          <a:xfrm>
            <a:off x="274955" y="3719195"/>
            <a:ext cx="6648450" cy="9423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t="50000"/>
          <a:stretch>
            <a:fillRect/>
          </a:stretch>
        </p:blipFill>
        <p:spPr>
          <a:xfrm>
            <a:off x="5037455" y="3810000"/>
            <a:ext cx="6524625" cy="17621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67679" t="7319" b="42628"/>
          <a:stretch>
            <a:fillRect/>
          </a:stretch>
        </p:blipFill>
        <p:spPr>
          <a:xfrm>
            <a:off x="8557895" y="368935"/>
            <a:ext cx="2148840" cy="18021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02640" y="470535"/>
            <a:ext cx="27895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含氧酸及其盐</a:t>
            </a:r>
            <a:endParaRPr lang="zh-CN" altLang="en-US" sz="32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710" y="2690495"/>
            <a:ext cx="6944995" cy="36061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325" y="128905"/>
            <a:ext cx="6248400" cy="1266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1395730"/>
            <a:ext cx="6171565" cy="1162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51915" y="2035810"/>
            <a:ext cx="1900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70C0"/>
                </a:solidFill>
              </a:rPr>
              <a:t>亚硝酸盐</a:t>
            </a:r>
            <a:endParaRPr lang="zh-CN" altLang="en-US" sz="2800">
              <a:solidFill>
                <a:srgbClr val="0070C0"/>
              </a:solidFill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4826" r="22587"/>
          <a:stretch>
            <a:fillRect/>
          </a:stretch>
        </p:blipFill>
        <p:spPr>
          <a:xfrm>
            <a:off x="370840" y="1821815"/>
            <a:ext cx="5036185" cy="21266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3206"/>
          <a:stretch>
            <a:fillRect/>
          </a:stretch>
        </p:blipFill>
        <p:spPr>
          <a:xfrm>
            <a:off x="4088130" y="4516120"/>
            <a:ext cx="6667500" cy="16871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10945" y="1347470"/>
            <a:ext cx="18059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0070C0"/>
                </a:solidFill>
              </a:rPr>
              <a:t>与非金属单质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28715" y="1347470"/>
            <a:ext cx="26733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0070C0"/>
                </a:solidFill>
              </a:rPr>
              <a:t>与活泼金属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76780" y="4983480"/>
            <a:ext cx="1979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0070C0"/>
                </a:solidFill>
              </a:rPr>
              <a:t>与惰性金属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9295" y="526415"/>
            <a:ext cx="2839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70C0"/>
                </a:solidFill>
              </a:rPr>
              <a:t>硝酸</a:t>
            </a:r>
            <a:endParaRPr lang="zh-CN" altLang="en-US" sz="2800">
              <a:solidFill>
                <a:srgbClr val="0070C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17115" y="560705"/>
            <a:ext cx="4215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强氧化性（对不同化合物）</a:t>
            </a:r>
            <a:endParaRPr lang="zh-CN" altLang="en-US" sz="240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" y="2396490"/>
            <a:ext cx="6477000" cy="771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t="18985" b="28470"/>
          <a:stretch>
            <a:fillRect/>
          </a:stretch>
        </p:blipFill>
        <p:spPr>
          <a:xfrm>
            <a:off x="5601970" y="1746250"/>
            <a:ext cx="6400800" cy="22021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rcRect l="2010" t="8485"/>
          <a:stretch>
            <a:fillRect/>
          </a:stretch>
        </p:blipFill>
        <p:spPr>
          <a:xfrm>
            <a:off x="5947410" y="2467610"/>
            <a:ext cx="5709920" cy="78613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6220" y="1201420"/>
            <a:ext cx="6871970" cy="430847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709295" y="526415"/>
            <a:ext cx="2839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70C0"/>
                </a:solidFill>
              </a:rPr>
              <a:t>硝酸盐</a:t>
            </a:r>
            <a:endParaRPr lang="zh-CN" altLang="en-US" sz="2800">
              <a:solidFill>
                <a:srgbClr val="0070C0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5" y="309245"/>
            <a:ext cx="3857625" cy="6191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" y="928370"/>
            <a:ext cx="6391275" cy="5905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295" y="1518920"/>
            <a:ext cx="4344670" cy="15373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25" y="3289300"/>
            <a:ext cx="6410325" cy="552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" y="4074795"/>
            <a:ext cx="5878830" cy="12020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0710" y="958850"/>
            <a:ext cx="3552825" cy="5600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1745" y="1518920"/>
            <a:ext cx="5692775" cy="16471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7650" y="3348355"/>
            <a:ext cx="5324475" cy="5715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rcRect t="16667"/>
          <a:stretch>
            <a:fillRect/>
          </a:stretch>
        </p:blipFill>
        <p:spPr>
          <a:xfrm>
            <a:off x="6597650" y="4102100"/>
            <a:ext cx="5010150" cy="117475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5045"/>
          <a:stretch>
            <a:fillRect/>
          </a:stretch>
        </p:blipFill>
        <p:spPr>
          <a:xfrm>
            <a:off x="3917950" y="497205"/>
            <a:ext cx="6473190" cy="34956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3846" b="10592"/>
          <a:stretch>
            <a:fillRect/>
          </a:stretch>
        </p:blipFill>
        <p:spPr>
          <a:xfrm>
            <a:off x="3996055" y="3992880"/>
            <a:ext cx="5978525" cy="26079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34695" y="789940"/>
            <a:ext cx="2712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70C0"/>
                </a:solidFill>
              </a:rPr>
              <a:t>硝酸盐分解规律</a:t>
            </a:r>
            <a:endParaRPr lang="zh-CN" altLang="en-US" sz="2800">
              <a:solidFill>
                <a:srgbClr val="0070C0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1118235" y="565150"/>
            <a:ext cx="648970" cy="7505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磷</a:t>
            </a:r>
            <a:endParaRPr lang="zh-CN" alt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4715" y="1820545"/>
            <a:ext cx="12674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单质</a:t>
            </a:r>
            <a:endParaRPr lang="zh-CN" altLang="en-US" sz="32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960" y="458470"/>
            <a:ext cx="7032625" cy="2828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145" y="3287395"/>
            <a:ext cx="6690360" cy="25850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1415"/>
          <a:stretch>
            <a:fillRect/>
          </a:stretch>
        </p:blipFill>
        <p:spPr>
          <a:xfrm>
            <a:off x="2660015" y="2797810"/>
            <a:ext cx="7143115" cy="30829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40" y="721360"/>
            <a:ext cx="619125" cy="4857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985" y="1407160"/>
            <a:ext cx="581025" cy="419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395" y="721360"/>
            <a:ext cx="990600" cy="495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r="2991"/>
          <a:stretch>
            <a:fillRect/>
          </a:stretch>
        </p:blipFill>
        <p:spPr>
          <a:xfrm>
            <a:off x="6753225" y="755015"/>
            <a:ext cx="1227455" cy="4521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3210" y="1291590"/>
            <a:ext cx="1219200" cy="561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5610" y="1291590"/>
            <a:ext cx="1254125" cy="52895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894715" y="1820545"/>
            <a:ext cx="15481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卤化物</a:t>
            </a:r>
            <a:endParaRPr lang="zh-CN" altLang="en-US" sz="3200" b="1"/>
          </a:p>
        </p:txBody>
      </p:sp>
      <p:sp>
        <p:nvSpPr>
          <p:cNvPr id="11" name="文本框 10"/>
          <p:cNvSpPr txBox="1"/>
          <p:nvPr/>
        </p:nvSpPr>
        <p:spPr>
          <a:xfrm>
            <a:off x="2921000" y="1019175"/>
            <a:ext cx="1002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70C0"/>
                </a:solidFill>
              </a:rPr>
              <a:t>结构</a:t>
            </a:r>
            <a:endParaRPr lang="zh-CN" altLang="en-US" sz="2800">
              <a:solidFill>
                <a:srgbClr val="0070C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921000" y="2180590"/>
            <a:ext cx="1002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70C0"/>
                </a:solidFill>
              </a:rPr>
              <a:t>水解</a:t>
            </a:r>
            <a:endParaRPr lang="zh-CN" altLang="en-US" sz="2800">
              <a:solidFill>
                <a:srgbClr val="0070C0"/>
              </a:solidFill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937260" y="311150"/>
            <a:ext cx="26536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含氧酸及其盐</a:t>
            </a:r>
            <a:endParaRPr lang="zh-CN" altLang="en-US" sz="32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833" r="943" b="13305"/>
          <a:stretch>
            <a:fillRect/>
          </a:stretch>
        </p:blipFill>
        <p:spPr>
          <a:xfrm>
            <a:off x="842645" y="1428750"/>
            <a:ext cx="6670675" cy="37947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1323"/>
          <a:stretch>
            <a:fillRect/>
          </a:stretch>
        </p:blipFill>
        <p:spPr>
          <a:xfrm>
            <a:off x="8094345" y="894715"/>
            <a:ext cx="2415540" cy="1952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3942"/>
          <a:stretch>
            <a:fillRect/>
          </a:stretch>
        </p:blipFill>
        <p:spPr>
          <a:xfrm>
            <a:off x="8204200" y="3127375"/>
            <a:ext cx="2305685" cy="3105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b="50810"/>
          <a:stretch>
            <a:fillRect/>
          </a:stretch>
        </p:blipFill>
        <p:spPr>
          <a:xfrm>
            <a:off x="1200150" y="5080000"/>
            <a:ext cx="6124575" cy="6559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t="50810"/>
          <a:stretch>
            <a:fillRect/>
          </a:stretch>
        </p:blipFill>
        <p:spPr>
          <a:xfrm>
            <a:off x="1200150" y="5757545"/>
            <a:ext cx="6124575" cy="65595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83509"/>
          <a:stretch>
            <a:fillRect/>
          </a:stretch>
        </p:blipFill>
        <p:spPr>
          <a:xfrm>
            <a:off x="2408555" y="764540"/>
            <a:ext cx="7216140" cy="10217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6491" b="55605"/>
          <a:stretch>
            <a:fillRect/>
          </a:stretch>
        </p:blipFill>
        <p:spPr>
          <a:xfrm>
            <a:off x="2408555" y="2139950"/>
            <a:ext cx="7217410" cy="1729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46121" b="33386"/>
          <a:stretch>
            <a:fillRect/>
          </a:stretch>
        </p:blipFill>
        <p:spPr>
          <a:xfrm>
            <a:off x="2408555" y="4223385"/>
            <a:ext cx="7216140" cy="1269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l="959" b="78822"/>
          <a:stretch>
            <a:fillRect/>
          </a:stretch>
        </p:blipFill>
        <p:spPr>
          <a:xfrm>
            <a:off x="1971040" y="1401445"/>
            <a:ext cx="8575040" cy="851535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/>
        </p:nvPicPr>
        <p:blipFill>
          <a:blip r:embed="rId1"/>
          <a:srcRect l="959" t="21178"/>
          <a:stretch>
            <a:fillRect/>
          </a:stretch>
        </p:blipFill>
        <p:spPr>
          <a:xfrm>
            <a:off x="1971040" y="2252980"/>
            <a:ext cx="8575040" cy="31692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13710" y="635000"/>
            <a:ext cx="7867650" cy="27139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710" y="3429000"/>
            <a:ext cx="7890510" cy="2201545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12545" y="565150"/>
            <a:ext cx="648970" cy="7505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砷锑铋</a:t>
            </a:r>
            <a:endParaRPr lang="zh-CN" alt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10715" y="864870"/>
            <a:ext cx="8369935" cy="48977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41625" y="5544820"/>
            <a:ext cx="1605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NaBiO</a:t>
            </a:r>
            <a:r>
              <a:rPr lang="en-US" altLang="zh-CN" sz="2800" baseline="-25000">
                <a:solidFill>
                  <a:srgbClr val="FF0000"/>
                </a:solidFill>
                <a:uFillTx/>
              </a:rPr>
              <a:t>3</a:t>
            </a:r>
            <a:endParaRPr lang="en-US" altLang="zh-CN" sz="2800" baseline="-25000">
              <a:solidFill>
                <a:srgbClr val="FF0000"/>
              </a:solidFill>
              <a:uFillTx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74185" y="5544820"/>
            <a:ext cx="12782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S</a:t>
            </a:r>
            <a:r>
              <a:rPr lang="en-US" altLang="zh-CN" sz="2800" baseline="-25000">
                <a:solidFill>
                  <a:srgbClr val="FF0000"/>
                </a:solidFill>
                <a:uFillTx/>
              </a:rPr>
              <a:t>2</a:t>
            </a:r>
            <a:r>
              <a:rPr lang="en-US" altLang="zh-CN" sz="2800">
                <a:solidFill>
                  <a:srgbClr val="FF0000"/>
                </a:solidFill>
              </a:rPr>
              <a:t>O</a:t>
            </a:r>
            <a:r>
              <a:rPr lang="en-US" altLang="zh-CN" sz="2800" baseline="-25000">
                <a:solidFill>
                  <a:srgbClr val="FF0000"/>
                </a:solidFill>
                <a:uFillTx/>
              </a:rPr>
              <a:t>8</a:t>
            </a:r>
            <a:r>
              <a:rPr lang="en-US" altLang="zh-CN" sz="2800" baseline="30000">
                <a:solidFill>
                  <a:srgbClr val="FF0000"/>
                </a:solidFill>
                <a:uFillTx/>
              </a:rPr>
              <a:t>2-</a:t>
            </a:r>
            <a:endParaRPr lang="en-US" altLang="zh-CN" sz="2800" baseline="30000">
              <a:solidFill>
                <a:srgbClr val="FF0000"/>
              </a:solidFill>
              <a:uFillTx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36895" y="5544820"/>
            <a:ext cx="11753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PbO</a:t>
            </a:r>
            <a:r>
              <a:rPr lang="en-US" altLang="zh-CN" sz="2800" baseline="-25000">
                <a:solidFill>
                  <a:srgbClr val="FF0000"/>
                </a:solidFill>
                <a:uFillTx/>
              </a:rPr>
              <a:t>2</a:t>
            </a:r>
            <a:endParaRPr lang="en-US" altLang="zh-CN" sz="2800" baseline="-25000">
              <a:solidFill>
                <a:srgbClr val="FF0000"/>
              </a:solidFill>
              <a:uFillTx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12280" y="5544820"/>
            <a:ext cx="1207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H</a:t>
            </a:r>
            <a:r>
              <a:rPr lang="en-US" altLang="zh-CN" sz="2800" baseline="-25000">
                <a:solidFill>
                  <a:srgbClr val="FF0000"/>
                </a:solidFill>
                <a:uFillTx/>
              </a:rPr>
              <a:t>5</a:t>
            </a:r>
            <a:r>
              <a:rPr lang="en-US" altLang="zh-CN" sz="2800">
                <a:solidFill>
                  <a:srgbClr val="FF0000"/>
                </a:solidFill>
              </a:rPr>
              <a:t>IO</a:t>
            </a:r>
            <a:r>
              <a:rPr lang="en-US" altLang="zh-CN" sz="2800" baseline="-25000">
                <a:solidFill>
                  <a:srgbClr val="FF0000"/>
                </a:solidFill>
                <a:uFillTx/>
              </a:rPr>
              <a:t>6</a:t>
            </a:r>
            <a:endParaRPr lang="en-US" altLang="zh-CN" sz="2800" baseline="-25000">
              <a:solidFill>
                <a:srgbClr val="FF0000"/>
              </a:solidFill>
              <a:uFillTx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2007870" y="5267325"/>
            <a:ext cx="8272780" cy="952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6" grpId="1"/>
      <p:bldP spid="8" grpId="1"/>
      <p:bldP spid="9" grpId="1"/>
      <p:bldP spid="10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COMMONDATA" val="eyJoZGlkIjoiMDQ0MGU1MTU2NjUxMGRkNzIzZTdlMjkwNWExNzFiOT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WPS 演示</Application>
  <PresentationFormat>宽屏</PresentationFormat>
  <Paragraphs>74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张弋</cp:lastModifiedBy>
  <cp:revision>160</cp:revision>
  <dcterms:created xsi:type="dcterms:W3CDTF">2019-06-19T02:08:00Z</dcterms:created>
  <dcterms:modified xsi:type="dcterms:W3CDTF">2023-05-03T16:15:41Z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25F83D69D7EC484295EEAB502AB00076_11</vt:lpwstr>
  </property>
</Properties>
</file>