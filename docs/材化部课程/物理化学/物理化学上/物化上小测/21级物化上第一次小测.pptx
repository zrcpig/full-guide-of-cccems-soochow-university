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61" r:id="rId4"/>
    <p:sldId id="262" r:id="rId5"/>
    <p:sldId id="263" r:id="rId6"/>
    <p:sldId id="259" r:id="rId7"/>
    <p:sldId id="260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直角三角形 9"/>
          <p:cNvSpPr/>
          <p:nvPr/>
        </p:nvSpPr>
        <p:spPr>
          <a:xfrm>
            <a:off x="-1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48585" name="标题 8"/>
          <p:cNvSpPr>
            <a:spLocks noGrp="1"/>
          </p:cNvSpPr>
          <p:nvPr>
            <p:ph type="ctrTitle"/>
          </p:nvPr>
        </p:nvSpPr>
        <p:spPr>
          <a:xfrm>
            <a:off x="685800" y="1752602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048586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grpSp>
        <p:nvGrpSpPr>
          <p:cNvPr id="25" name="组合 1"/>
          <p:cNvGrpSpPr/>
          <p:nvPr/>
        </p:nvGrpSpPr>
        <p:grpSpPr>
          <a:xfrm>
            <a:off x="-3764" y="4953000"/>
            <a:ext cx="9147765" cy="1912088"/>
            <a:chOff x="-3765" y="4832896"/>
            <a:chExt cx="9147765" cy="2032192"/>
          </a:xfrm>
        </p:grpSpPr>
        <p:sp>
          <p:nvSpPr>
            <p:cNvPr id="1048587" name="任意多边形 6"/>
            <p:cNvSpPr/>
            <p:nvPr/>
          </p:nvSpPr>
          <p:spPr bwMode="auto">
            <a:xfrm>
              <a:off x="1687513" y="4832896"/>
              <a:ext cx="7456487" cy="518816"/>
            </a:xfrm>
            <a:custGeom>
              <a:avLst/>
              <a:gd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gdLst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048588" name="任意多边形 7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gdLst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048589" name="任意多边形 10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/>
              <a:gd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gdLst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cxnSp>
          <p:nvCxnSpPr>
            <p:cNvPr id="3145729" name="直接连接符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15000">
                    <a:schemeClr val="accent1">
                      <a:shade val="40000"/>
                      <a:satMod val="110000"/>
                    </a:schemeClr>
                  </a:gs>
                  <a:gs pos="45000">
                    <a:schemeClr val="accent1">
                      <a:tint val="7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859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12CA8C2-695D-45B7-9616-BC9E015E65B4}" type="datetime2">
              <a:rPr lang="zh-CN" altLang="en-US" smtClean="0"/>
              <a:pPr/>
              <a:t>2023年10月12日</a:t>
            </a:fld>
            <a:endParaRPr lang="zh-CN" altLang="en-US" dirty="0"/>
          </a:p>
        </p:txBody>
      </p:sp>
      <p:sp>
        <p:nvSpPr>
          <p:cNvPr id="1048591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endParaRPr lang="en-US">
              <a:solidFill>
                <a:srgbClr val="2DA2BF">
                  <a:tint val="20000"/>
                </a:srgbClr>
              </a:solidFill>
            </a:endParaRPr>
          </a:p>
        </p:txBody>
      </p:sp>
      <p:sp>
        <p:nvSpPr>
          <p:cNvPr id="1048592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BBC35B-A44B-4119-B8DA-DE9E3DFADA2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97152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097153" name="Picture 2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5" y="6426201"/>
            <a:ext cx="963613" cy="37147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097154" name="Picture 3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41997" y="6426201"/>
            <a:ext cx="963612" cy="37147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097155" name="Picture 5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879131" y="6418264"/>
            <a:ext cx="963613" cy="37147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176837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04884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72C8C-45CC-4A17-9AFA-78425F6E76E3}" type="datetime2">
              <a:rPr lang="zh-CN" altLang="en-US" smtClean="0">
                <a:solidFill>
                  <a:prstClr val="black"/>
                </a:solidFill>
              </a:rPr>
              <a:pPr/>
              <a:t>2023年10月12日</a:t>
            </a:fld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104884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4884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48845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pic>
        <p:nvPicPr>
          <p:cNvPr id="2097325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097326" name="Picture 2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4754" y="6426201"/>
            <a:ext cx="963613" cy="37147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097327" name="Picture 3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79166" y="6426201"/>
            <a:ext cx="963612" cy="37147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097328" name="Picture 5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816300" y="6418264"/>
            <a:ext cx="963613" cy="37147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779529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04886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104886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13AF-26F6-41FA-8D85-E2C5388D6E58}" type="datetimeFigureOut">
              <a:rPr lang="en-US" smtClean="0">
                <a:solidFill>
                  <a:prstClr val="white"/>
                </a:solidFill>
              </a:rPr>
              <a:pPr/>
              <a:t>10/12/2023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104886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04886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1048867" name="燕尾形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048868" name="燕尾形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81375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9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9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048870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9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04887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13AF-26F6-41FA-8D85-E2C5388D6E58}" type="datetimeFigureOut">
              <a:rPr lang="en-US" smtClean="0">
                <a:solidFill>
                  <a:prstClr val="white"/>
                </a:solidFill>
              </a:rPr>
              <a:pPr/>
              <a:t>10/12/2023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104887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04887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1048874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712088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5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048876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1048877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7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1048878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5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048879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444295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048880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13AF-26F6-41FA-8D85-E2C5388D6E58}" type="datetimeFigureOut">
              <a:rPr lang="en-US" smtClean="0">
                <a:solidFill>
                  <a:prstClr val="black"/>
                </a:solidFill>
              </a:rPr>
              <a:pPr/>
              <a:t>10/12/2023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48881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48882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0866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13AF-26F6-41FA-8D85-E2C5388D6E58}" type="datetimeFigureOut">
              <a:rPr lang="en-US" smtClean="0">
                <a:solidFill>
                  <a:prstClr val="white"/>
                </a:solidFill>
              </a:rPr>
              <a:pPr/>
              <a:t>10/12/2023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104883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04883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1048835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776950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815E8-7A5C-442A-B43E-24F410C31EF4}" type="datetimeFigureOut">
              <a:rPr lang="zh-CN" altLang="en-US" smtClean="0">
                <a:solidFill>
                  <a:prstClr val="black"/>
                </a:solidFill>
              </a:rPr>
              <a:pPr/>
              <a:t>2023/10/12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04888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04888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A70A0-B316-4190-A437-D0525273F22A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803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6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048887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1048888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048889" name="日期占位符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544213AF-26F6-41FA-8D85-E2C5388D6E58}" type="datetimeFigureOut">
              <a:rPr lang="en-US" smtClean="0">
                <a:solidFill>
                  <a:prstClr val="black"/>
                </a:solidFill>
              </a:rPr>
              <a:pPr/>
              <a:t>10/12/2023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4889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4889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312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1048847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  <p:sp>
        <p:nvSpPr>
          <p:cNvPr id="104884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4213AF-26F6-41FA-8D85-E2C5388D6E58}" type="datetimeFigureOut">
              <a:rPr lang="en-US" smtClean="0">
                <a:solidFill>
                  <a:prstClr val="white"/>
                </a:solidFill>
              </a:rPr>
              <a:pPr/>
              <a:t>10/12/2023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1048849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80073" y="6407945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04885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BBC35B-A44B-4119-B8DA-DE9E3DFADA20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1048851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048852" name="任意多边形 7"/>
          <p:cNvSpPr/>
          <p:nvPr/>
        </p:nvSpPr>
        <p:spPr bwMode="auto">
          <a:xfrm>
            <a:off x="499273" y="5944936"/>
            <a:ext cx="4940624" cy="921076"/>
          </a:xfrm>
          <a:custGeom>
            <a:avLst/>
            <a:gd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gdLst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048853" name="任意多边形 8"/>
          <p:cNvSpPr/>
          <p:nvPr/>
        </p:nvSpPr>
        <p:spPr bwMode="auto">
          <a:xfrm>
            <a:off x="485717" y="5939011"/>
            <a:ext cx="3690451" cy="933450"/>
          </a:xfrm>
          <a:custGeom>
            <a:avLst/>
            <a:gd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gdLst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048854" name="直角三角形 9"/>
          <p:cNvSpPr/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145738" name="直接连接符 10"/>
          <p:cNvCxnSpPr/>
          <p:nvPr/>
        </p:nvCxnSpPr>
        <p:spPr>
          <a:xfrm>
            <a:off x="-9237" y="5787739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15000">
                  <a:schemeClr val="accent1">
                    <a:shade val="40000"/>
                    <a:satMod val="110000"/>
                  </a:schemeClr>
                </a:gs>
                <a:gs pos="45000">
                  <a:schemeClr val="accent1">
                    <a:tint val="7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855" name="燕尾形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048856" name="燕尾形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938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048858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30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04885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13AF-26F6-41FA-8D85-E2C5388D6E58}" type="datetimeFigureOut">
              <a:rPr lang="en-US" smtClean="0">
                <a:solidFill>
                  <a:prstClr val="black"/>
                </a:solidFill>
              </a:rPr>
              <a:pPr/>
              <a:t>10/12/2023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4886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488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1296967"/>
      </p:ext>
    </p:extLst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1"/>
            <a:ext cx="1777470" cy="5592761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04883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04883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13AF-26F6-41FA-8D85-E2C5388D6E58}" type="datetimeFigureOut">
              <a:rPr lang="en-US" smtClean="0">
                <a:solidFill>
                  <a:prstClr val="black"/>
                </a:solidFill>
              </a:rPr>
              <a:pPr/>
              <a:t>10/12/2023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4883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488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166809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任意多边形 12"/>
          <p:cNvSpPr/>
          <p:nvPr/>
        </p:nvSpPr>
        <p:spPr bwMode="auto">
          <a:xfrm>
            <a:off x="499273" y="5944936"/>
            <a:ext cx="4940624" cy="921076"/>
          </a:xfrm>
          <a:custGeom>
            <a:avLst/>
            <a:gd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gdLst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48577" name="任意多边形 11"/>
          <p:cNvSpPr/>
          <p:nvPr/>
        </p:nvSpPr>
        <p:spPr bwMode="auto">
          <a:xfrm>
            <a:off x="485717" y="5939011"/>
            <a:ext cx="3690451" cy="933450"/>
          </a:xfrm>
          <a:custGeom>
            <a:avLst/>
            <a:gd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gdLst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48578" name="直角三角形 13"/>
          <p:cNvSpPr/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145728" name="直接连接符 14"/>
          <p:cNvCxnSpPr/>
          <p:nvPr/>
        </p:nvCxnSpPr>
        <p:spPr>
          <a:xfrm>
            <a:off x="-9237" y="5787739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15000">
                  <a:schemeClr val="accent1">
                    <a:shade val="40000"/>
                    <a:satMod val="110000"/>
                  </a:schemeClr>
                </a:gs>
                <a:gs pos="45000">
                  <a:schemeClr val="accent1">
                    <a:tint val="7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57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04858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481329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048581" name="日期占位符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fld id="{544213AF-26F6-41FA-8D85-E2C5388D6E58}" type="datetimeFigureOut">
              <a:rPr lang="en-US" smtClean="0">
                <a:solidFill>
                  <a:prstClr val="black"/>
                </a:solidFill>
              </a:rPr>
              <a:pPr/>
              <a:t>10/12/2023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4858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80073" y="6407945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48583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272" y="6407945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D5BBC35B-A44B-4119-B8DA-DE9E3DFADA20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17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55905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 panose="05040102010807070707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665" indent="-228600" algn="l" rtl="0" eaLnBrk="1" latinLnBrk="0" hangingPunct="1">
        <a:spcBef>
          <a:spcPts val="325"/>
        </a:spcBef>
        <a:buClr>
          <a:schemeClr val="accent1"/>
        </a:buClr>
        <a:buFont typeface="Verdana" panose="020B0604030504040204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790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 panose="05020102010507070707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 panose="05020102010507070707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 panose="05020102010507070707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0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0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2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29.bin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33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3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9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3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A25E5-2F90-4067-8D54-0B36C53368F0}" type="datetime2">
              <a:rPr lang="zh-CN" altLang="en-US" b="1" smtClean="0"/>
              <a:pPr/>
              <a:t>2023年10月12日</a:t>
            </a:fld>
            <a:endParaRPr lang="zh-CN" altLang="en-US" b="1" dirty="0"/>
          </a:p>
        </p:txBody>
      </p:sp>
      <p:pic>
        <p:nvPicPr>
          <p:cNvPr id="2097156" name="Picture 2" descr="苏州大学圈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0" y="0"/>
            <a:ext cx="1080120" cy="10801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4" name="标题 1"/>
          <p:cNvSpPr>
            <a:spLocks noGrp="1"/>
          </p:cNvSpPr>
          <p:nvPr/>
        </p:nvSpPr>
        <p:spPr>
          <a:xfrm>
            <a:off x="1847214" y="25104"/>
            <a:ext cx="578167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物理化学（一）上测验 </a:t>
            </a:r>
            <a:r>
              <a:rPr lang="en-US" altLang="zh-CN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zh-CN" altLang="zh-CN" sz="32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7831" y="1483717"/>
            <a:ext cx="787827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zh-CN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25</a:t>
            </a:r>
            <a:r>
              <a:rPr lang="zh-CN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分）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 </a:t>
            </a:r>
            <a:r>
              <a:rPr lang="en-US" altLang="zh-CN" sz="2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mol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300K</a:t>
            </a: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10p</a:t>
            </a:r>
            <a:r>
              <a:rPr lang="en-US" altLang="zh-CN" sz="2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Euclid Math One" panose="05050601010101010101" pitchFamily="18" charset="2"/>
              </a:rPr>
              <a:t></a:t>
            </a:r>
            <a:r>
              <a:rPr lang="en-US" altLang="zh-CN" sz="2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双原子理想气体在恒外压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800" kern="100" baseline="30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  <a:sym typeface="Euclid Math One" panose="05050601010101010101" pitchFamily="18" charset="2"/>
              </a:rPr>
              <a:t></a:t>
            </a:r>
            <a:r>
              <a:rPr lang="zh-CN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下绝热膨胀至终态压力为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800" kern="100" baseline="30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  <a:sym typeface="Euclid Math One" panose="05050601010101010101" pitchFamily="18" charset="2"/>
              </a:rPr>
              <a:t></a:t>
            </a:r>
            <a:r>
              <a:rPr lang="zh-CN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计算气体在该过程的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W,  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U,  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146424"/>
              </p:ext>
            </p:extLst>
          </p:nvPr>
        </p:nvGraphicFramePr>
        <p:xfrm>
          <a:off x="1660525" y="3559175"/>
          <a:ext cx="128587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60240" imgH="203040" progId="Equation.DSMT4">
                  <p:embed/>
                </p:oleObj>
              </mc:Choice>
              <mc:Fallback>
                <p:oleObj name="Equation" r:id="rId3" imgW="660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60525" y="3559175"/>
                        <a:ext cx="1285875" cy="395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45201" y="3524468"/>
            <a:ext cx="904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解：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387314"/>
              </p:ext>
            </p:extLst>
          </p:nvPr>
        </p:nvGraphicFramePr>
        <p:xfrm>
          <a:off x="4045014" y="3524468"/>
          <a:ext cx="1183909" cy="376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58720" imgH="177480" progId="Equation.DSMT4">
                  <p:embed/>
                </p:oleObj>
              </mc:Choice>
              <mc:Fallback>
                <p:oleObj name="Equation" r:id="rId5" imgW="5587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45014" y="3524468"/>
                        <a:ext cx="1183909" cy="3766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502119"/>
              </p:ext>
            </p:extLst>
          </p:nvPr>
        </p:nvGraphicFramePr>
        <p:xfrm>
          <a:off x="1277938" y="4008438"/>
          <a:ext cx="4862512" cy="224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11200" imgH="1066680" progId="Equation.DSMT4">
                  <p:embed/>
                </p:oleObj>
              </mc:Choice>
              <mc:Fallback>
                <p:oleObj name="Equation" r:id="rId7" imgW="2311200" imgH="1066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77938" y="4008438"/>
                        <a:ext cx="4862512" cy="2246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869968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A25E5-2F90-4067-8D54-0B36C53368F0}" type="datetime2">
              <a:rPr lang="zh-CN" altLang="en-US" b="1" smtClean="0"/>
              <a:pPr/>
              <a:t>2023年10月12日</a:t>
            </a:fld>
            <a:endParaRPr lang="zh-CN" altLang="en-US" b="1" dirty="0"/>
          </a:p>
        </p:txBody>
      </p:sp>
      <p:pic>
        <p:nvPicPr>
          <p:cNvPr id="2097156" name="Picture 2" descr="苏州大学圈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0" y="0"/>
            <a:ext cx="1080120" cy="10801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4" name="标题 1"/>
          <p:cNvSpPr>
            <a:spLocks noGrp="1"/>
          </p:cNvSpPr>
          <p:nvPr/>
        </p:nvSpPr>
        <p:spPr>
          <a:xfrm>
            <a:off x="1847214" y="25104"/>
            <a:ext cx="578167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物理化学（一）上测验 </a:t>
            </a:r>
            <a:r>
              <a:rPr lang="en-US" altLang="zh-CN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zh-CN" altLang="zh-CN" sz="32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275827"/>
              </p:ext>
            </p:extLst>
          </p:nvPr>
        </p:nvGraphicFramePr>
        <p:xfrm>
          <a:off x="865188" y="1412875"/>
          <a:ext cx="6619875" cy="194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04960" imgH="1028520" progId="Equation.DSMT4">
                  <p:embed/>
                </p:oleObj>
              </mc:Choice>
              <mc:Fallback>
                <p:oleObj name="Equation" r:id="rId3" imgW="3504960" imgH="1028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65188" y="1412875"/>
                        <a:ext cx="6619875" cy="1941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22360"/>
              </p:ext>
            </p:extLst>
          </p:nvPr>
        </p:nvGraphicFramePr>
        <p:xfrm>
          <a:off x="787400" y="3765550"/>
          <a:ext cx="7823200" cy="176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22480" imgH="863280" progId="Equation.DSMT4">
                  <p:embed/>
                </p:oleObj>
              </mc:Choice>
              <mc:Fallback>
                <p:oleObj name="Equation" r:id="rId5" imgW="382248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7400" y="3765550"/>
                        <a:ext cx="7823200" cy="1766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71239411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A25E5-2F90-4067-8D54-0B36C53368F0}" type="datetime2">
              <a:rPr lang="zh-CN" altLang="en-US" b="1" smtClean="0"/>
              <a:pPr/>
              <a:t>2023年10月12日</a:t>
            </a:fld>
            <a:endParaRPr lang="zh-CN" altLang="en-US" b="1" dirty="0"/>
          </a:p>
        </p:txBody>
      </p:sp>
      <p:pic>
        <p:nvPicPr>
          <p:cNvPr id="2097156" name="Picture 2" descr="苏州大学圈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0" y="0"/>
            <a:ext cx="1080120" cy="10801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4" name="标题 1"/>
          <p:cNvSpPr>
            <a:spLocks noGrp="1"/>
          </p:cNvSpPr>
          <p:nvPr/>
        </p:nvSpPr>
        <p:spPr>
          <a:xfrm>
            <a:off x="1847214" y="25104"/>
            <a:ext cx="578167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物理化学（一）上测验 </a:t>
            </a:r>
            <a:r>
              <a:rPr lang="en-US" altLang="zh-CN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zh-CN" altLang="zh-CN" sz="32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6249" y="1395194"/>
            <a:ext cx="832124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zh-CN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25</a:t>
            </a:r>
            <a:r>
              <a:rPr lang="zh-CN" altLang="zh-CN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分）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计算在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268.2 K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kern="100" baseline="30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  <a:sym typeface="Euclid Math One" panose="05050601010101010101" pitchFamily="18" charset="2"/>
              </a:rPr>
              <a:t>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下，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2.0 </a:t>
            </a:r>
            <a:r>
              <a:rPr lang="en-US" altLang="zh-CN" sz="2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mol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液态苯凝固过程的熵变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并判断该过程是否为自发过程？已知苯熔点为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278.7K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，标准摩尔熔化热为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9916 J·mol</a:t>
            </a:r>
            <a:r>
              <a:rPr lang="en-US" altLang="zh-CN" sz="24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400" kern="100" baseline="-25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p,m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(l) 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126.8 J·K</a:t>
            </a:r>
            <a:r>
              <a:rPr lang="en-US" altLang="zh-CN" sz="24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·mol</a:t>
            </a:r>
            <a:r>
              <a:rPr lang="en-US" altLang="zh-CN" sz="24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4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400" kern="100" baseline="-25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p,m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(s) 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122.6 J·K</a:t>
            </a:r>
            <a:r>
              <a:rPr lang="en-US" altLang="zh-CN" sz="24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·mol</a:t>
            </a:r>
            <a:r>
              <a:rPr lang="en-US" altLang="zh-CN" sz="24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45677" y="4018592"/>
            <a:ext cx="1561116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2186413"/>
              </p:ext>
            </p:extLst>
          </p:nvPr>
        </p:nvGraphicFramePr>
        <p:xfrm>
          <a:off x="1245677" y="4018593"/>
          <a:ext cx="4994241" cy="1708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13000" imgH="825500" progId="Equation.DSMT4">
                  <p:embed/>
                </p:oleObj>
              </mc:Choice>
              <mc:Fallback>
                <p:oleObj name="Equation" r:id="rId3" imgW="2413000" imgH="8255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5677" y="4018593"/>
                        <a:ext cx="4994241" cy="17085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8345483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A25E5-2F90-4067-8D54-0B36C53368F0}" type="datetime2">
              <a:rPr lang="zh-CN" altLang="en-US" b="1" smtClean="0"/>
              <a:pPr/>
              <a:t>2023年10月12日</a:t>
            </a:fld>
            <a:endParaRPr lang="zh-CN" altLang="en-US" b="1" dirty="0"/>
          </a:p>
        </p:txBody>
      </p:sp>
      <p:pic>
        <p:nvPicPr>
          <p:cNvPr id="2097156" name="Picture 2" descr="苏州大学圈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0" y="0"/>
            <a:ext cx="1080120" cy="10801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4" name="标题 1"/>
          <p:cNvSpPr>
            <a:spLocks noGrp="1"/>
          </p:cNvSpPr>
          <p:nvPr/>
        </p:nvSpPr>
        <p:spPr>
          <a:xfrm>
            <a:off x="1847214" y="25104"/>
            <a:ext cx="578167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物理化学（一）上测验 </a:t>
            </a:r>
            <a:r>
              <a:rPr lang="en-US" altLang="zh-CN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zh-CN" altLang="zh-CN" sz="32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071002"/>
              </p:ext>
            </p:extLst>
          </p:nvPr>
        </p:nvGraphicFramePr>
        <p:xfrm>
          <a:off x="693017" y="1363363"/>
          <a:ext cx="2589197" cy="448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20800" imgH="228600" progId="Equation.DSMT4">
                  <p:embed/>
                </p:oleObj>
              </mc:Choice>
              <mc:Fallback>
                <p:oleObj name="Equation" r:id="rId3" imgW="132080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017" y="1363363"/>
                        <a:ext cx="2589197" cy="4481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7741845"/>
              </p:ext>
            </p:extLst>
          </p:nvPr>
        </p:nvGraphicFramePr>
        <p:xfrm>
          <a:off x="1004888" y="2044700"/>
          <a:ext cx="6580187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19440" imgH="838080" progId="Equation.DSMT4">
                  <p:embed/>
                </p:oleObj>
              </mc:Choice>
              <mc:Fallback>
                <p:oleObj name="Equation" r:id="rId5" imgW="3619440" imgH="8380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4888" y="2044700"/>
                        <a:ext cx="6580187" cy="1524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06391" y="141404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06391" y="209984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875896" y="3623767"/>
            <a:ext cx="1073230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6707004"/>
              </p:ext>
            </p:extLst>
          </p:nvPr>
        </p:nvGraphicFramePr>
        <p:xfrm>
          <a:off x="1085850" y="3787775"/>
          <a:ext cx="4375150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50880" imgH="406080" progId="Equation.DSMT4">
                  <p:embed/>
                </p:oleObj>
              </mc:Choice>
              <mc:Fallback>
                <p:oleObj name="Equation" r:id="rId7" imgW="2450880" imgH="4060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850" y="3787775"/>
                        <a:ext cx="4375150" cy="7254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779644" y="4656004"/>
            <a:ext cx="986040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8858316"/>
              </p:ext>
            </p:extLst>
          </p:nvPr>
        </p:nvGraphicFramePr>
        <p:xfrm>
          <a:off x="1149350" y="4773613"/>
          <a:ext cx="65944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403440" imgH="241200" progId="Equation.DSMT4">
                  <p:embed/>
                </p:oleObj>
              </mc:Choice>
              <mc:Fallback>
                <p:oleObj name="Equation" r:id="rId9" imgW="3403440" imgH="24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9350" y="4773613"/>
                        <a:ext cx="6594475" cy="466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9548088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A25E5-2F90-4067-8D54-0B36C53368F0}" type="datetime2">
              <a:rPr lang="zh-CN" altLang="en-US" b="1" smtClean="0"/>
              <a:pPr/>
              <a:t>2023年10月12日</a:t>
            </a:fld>
            <a:endParaRPr lang="zh-CN" altLang="en-US" b="1" dirty="0"/>
          </a:p>
        </p:txBody>
      </p:sp>
      <p:pic>
        <p:nvPicPr>
          <p:cNvPr id="2097156" name="Picture 2" descr="苏州大学圈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0" y="0"/>
            <a:ext cx="1080120" cy="10801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4" name="标题 1"/>
          <p:cNvSpPr>
            <a:spLocks noGrp="1"/>
          </p:cNvSpPr>
          <p:nvPr/>
        </p:nvSpPr>
        <p:spPr>
          <a:xfrm>
            <a:off x="1847214" y="25104"/>
            <a:ext cx="578167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物理化学（一）上测验 </a:t>
            </a:r>
            <a:r>
              <a:rPr lang="en-US" altLang="zh-CN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zh-CN" altLang="zh-CN" sz="32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54516" y="1366787"/>
            <a:ext cx="124140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369582"/>
              </p:ext>
            </p:extLst>
          </p:nvPr>
        </p:nvGraphicFramePr>
        <p:xfrm>
          <a:off x="654517" y="1366787"/>
          <a:ext cx="3074736" cy="48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60500" imgH="228600" progId="Equation.DSMT4">
                  <p:embed/>
                </p:oleObj>
              </mc:Choice>
              <mc:Fallback>
                <p:oleObj name="Equation" r:id="rId3" imgW="1460500" imgH="228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517" y="1366787"/>
                        <a:ext cx="3074736" cy="4812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087653" y="2046732"/>
            <a:ext cx="1180368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6404967"/>
              </p:ext>
            </p:extLst>
          </p:nvPr>
        </p:nvGraphicFramePr>
        <p:xfrm>
          <a:off x="622333" y="1809266"/>
          <a:ext cx="8231435" cy="1619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937000" imgH="774700" progId="Equation.DSMT4">
                  <p:embed/>
                </p:oleObj>
              </mc:Choice>
              <mc:Fallback>
                <p:oleObj name="Equation" r:id="rId5" imgW="3937000" imgH="774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33" y="1809266"/>
                        <a:ext cx="8231435" cy="16197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770022" y="3666467"/>
            <a:ext cx="11813108" cy="55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3596202"/>
              </p:ext>
            </p:extLst>
          </p:nvPr>
        </p:nvGraphicFramePr>
        <p:xfrm>
          <a:off x="770021" y="3666467"/>
          <a:ext cx="5294868" cy="8504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51100" imgH="393700" progId="Equation.DSMT4">
                  <p:embed/>
                </p:oleObj>
              </mc:Choice>
              <mc:Fallback>
                <p:oleObj name="Equation" r:id="rId7" imgW="2451100" imgH="393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021" y="3666467"/>
                        <a:ext cx="5294868" cy="8504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770021" y="4856325"/>
            <a:ext cx="11351370" cy="50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3793843"/>
              </p:ext>
            </p:extLst>
          </p:nvPr>
        </p:nvGraphicFramePr>
        <p:xfrm>
          <a:off x="770021" y="4856325"/>
          <a:ext cx="5760548" cy="543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92400" imgH="254000" progId="Equation.DSMT4">
                  <p:embed/>
                </p:oleObj>
              </mc:Choice>
              <mc:Fallback>
                <p:oleObj name="Equation" r:id="rId9" imgW="2692400" imgH="254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021" y="4856325"/>
                        <a:ext cx="5760548" cy="5434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793844" y="5615005"/>
            <a:ext cx="1915909" cy="4861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indent="266700" algn="just">
              <a:lnSpc>
                <a:spcPct val="115000"/>
              </a:lnSpc>
              <a:spcAft>
                <a:spcPts val="0"/>
              </a:spcAft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自发过程</a:t>
            </a:r>
            <a:endParaRPr lang="zh-CN" alt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92721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A25E5-2F90-4067-8D54-0B36C53368F0}" type="datetime2">
              <a:rPr lang="zh-CN" altLang="en-US" b="1" smtClean="0"/>
              <a:pPr/>
              <a:t>2023年10月12日</a:t>
            </a:fld>
            <a:endParaRPr lang="zh-CN" altLang="en-US" b="1" dirty="0"/>
          </a:p>
        </p:txBody>
      </p:sp>
      <p:pic>
        <p:nvPicPr>
          <p:cNvPr id="2097156" name="Picture 2" descr="苏州大学圈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0" y="0"/>
            <a:ext cx="1080120" cy="10801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4" name="标题 1"/>
          <p:cNvSpPr>
            <a:spLocks noGrp="1"/>
          </p:cNvSpPr>
          <p:nvPr/>
        </p:nvSpPr>
        <p:spPr>
          <a:xfrm>
            <a:off x="1847214" y="25104"/>
            <a:ext cx="578167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物理化学（一）上测验 </a:t>
            </a:r>
            <a:r>
              <a:rPr lang="en-US" altLang="zh-CN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zh-CN" altLang="zh-CN" sz="32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3584" y="1264162"/>
            <a:ext cx="795906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25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分）在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25 ºC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Euclid Math One" panose="05050601010101010101" pitchFamily="18" charset="2"/>
              </a:rPr>
              <a:t></a:t>
            </a:r>
            <a:r>
              <a:rPr lang="en-US" altLang="zh-CN" sz="24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时乙烯腈（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</a:t>
            </a:r>
            <a:r>
              <a:rPr lang="en-US" altLang="zh-CN" sz="24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=CH-CN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）、石墨和氢气的燃烧热分别为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-1758.0 kJ·mol</a:t>
            </a:r>
            <a:r>
              <a:rPr lang="en-US" altLang="zh-CN" sz="24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-393.5 kJ·mol</a:t>
            </a:r>
            <a:r>
              <a:rPr lang="en-US" altLang="zh-CN" sz="24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-285.8 kJ·mol</a:t>
            </a:r>
            <a:r>
              <a:rPr lang="en-US" altLang="zh-CN" sz="24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。气态氰化氢（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HCN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）和乙炔（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4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sz="24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）的标准摩尔生成焓分别为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128.7 kJ·mol</a:t>
            </a:r>
            <a:r>
              <a:rPr lang="en-US" altLang="zh-CN" sz="24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226.7 kJ·mol</a:t>
            </a:r>
            <a:r>
              <a:rPr lang="en-US" altLang="zh-CN" sz="24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 ºC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Math One" panose="05050601010101010101" pitchFamily="18" charset="2"/>
              </a:rPr>
              <a:t>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HCN (g) + C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 = CH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=CH-CN (g) 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-84622" y="-22889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9123472"/>
              </p:ext>
            </p:extLst>
          </p:nvPr>
        </p:nvGraphicFramePr>
        <p:xfrm>
          <a:off x="7515903" y="3544207"/>
          <a:ext cx="732948" cy="488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0835" imgH="253890" progId="Equation.DSMT4">
                  <p:embed/>
                </p:oleObj>
              </mc:Choice>
              <mc:Fallback>
                <p:oleObj name="Equation" r:id="rId3" imgW="380835" imgH="25389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5903" y="3544207"/>
                        <a:ext cx="732948" cy="4886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669958" y="4032839"/>
            <a:ext cx="78263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。已知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4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Euclid Math One" panose="05050601010101010101" pitchFamily="18" charset="2"/>
              </a:rPr>
              <a:t></a:t>
            </a:r>
            <a:r>
              <a:rPr lang="en-US" altLang="zh-CN" sz="24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下，乙烯腈的凝固点为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-82 ºC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，沸点为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78.5 ºC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，在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25 ºC 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时其标准摩尔蒸发焓为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32.8 kJ·mol</a:t>
            </a:r>
            <a:r>
              <a:rPr lang="en-US" altLang="zh-CN" sz="24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05996129"/>
      </p:ext>
    </p:extLst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A25E5-2F90-4067-8D54-0B36C53368F0}" type="datetime2">
              <a:rPr lang="zh-CN" altLang="en-US" b="1" smtClean="0"/>
              <a:pPr/>
              <a:t>2023年10月12日</a:t>
            </a:fld>
            <a:endParaRPr lang="zh-CN" altLang="en-US" b="1" dirty="0"/>
          </a:p>
        </p:txBody>
      </p:sp>
      <p:pic>
        <p:nvPicPr>
          <p:cNvPr id="2097156" name="Picture 2" descr="苏州大学圈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0" y="0"/>
            <a:ext cx="1080120" cy="10801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4" name="标题 1"/>
          <p:cNvSpPr>
            <a:spLocks noGrp="1"/>
          </p:cNvSpPr>
          <p:nvPr/>
        </p:nvSpPr>
        <p:spPr>
          <a:xfrm>
            <a:off x="1847214" y="25104"/>
            <a:ext cx="578167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物理化学（一）上测验 </a:t>
            </a:r>
            <a:r>
              <a:rPr lang="en-US" altLang="zh-CN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zh-CN" altLang="zh-CN" sz="32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76249" y="1337909"/>
            <a:ext cx="1224333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011221"/>
              </p:ext>
            </p:extLst>
          </p:nvPr>
        </p:nvGraphicFramePr>
        <p:xfrm>
          <a:off x="1161731" y="1198431"/>
          <a:ext cx="7152639" cy="821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29000" imgH="393700" progId="Equation.DSMT4">
                  <p:embed/>
                </p:oleObj>
              </mc:Choice>
              <mc:Fallback>
                <p:oleObj name="Equation" r:id="rId3" imgW="3429000" imgH="3937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1731" y="1198431"/>
                        <a:ext cx="7152639" cy="8212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76249" y="1410584"/>
            <a:ext cx="457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解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166416" y="2247121"/>
            <a:ext cx="17413290" cy="47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0921345"/>
              </p:ext>
            </p:extLst>
          </p:nvPr>
        </p:nvGraphicFramePr>
        <p:xfrm>
          <a:off x="1701800" y="1871663"/>
          <a:ext cx="5867400" cy="225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73320" imgH="1180800" progId="Equation.DSMT4">
                  <p:embed/>
                </p:oleObj>
              </mc:Choice>
              <mc:Fallback>
                <p:oleObj name="Equation" r:id="rId5" imgW="3073320" imgH="1180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1800" y="1871663"/>
                        <a:ext cx="5867400" cy="22558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1253119" y="4047439"/>
            <a:ext cx="5569712" cy="517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HCN (g) + C</a:t>
            </a:r>
            <a:r>
              <a:rPr lang="en-US" altLang="zh-CN" sz="24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sz="24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 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(g) = CH</a:t>
            </a:r>
            <a:r>
              <a:rPr lang="en-US" altLang="zh-CN" sz="24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=CH-CN (g)</a:t>
            </a:r>
            <a:endParaRPr lang="zh-CN" alt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161731" y="5416060"/>
            <a:ext cx="1240939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5286326"/>
              </p:ext>
            </p:extLst>
          </p:nvPr>
        </p:nvGraphicFramePr>
        <p:xfrm>
          <a:off x="1324940" y="4564504"/>
          <a:ext cx="7191586" cy="1561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962160" imgH="863280" progId="Equation.DSMT4">
                  <p:embed/>
                </p:oleObj>
              </mc:Choice>
              <mc:Fallback>
                <p:oleObj name="Equation" r:id="rId7" imgW="3962160" imgH="8632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4940" y="4564504"/>
                        <a:ext cx="7191586" cy="15618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282213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A25E5-2F90-4067-8D54-0B36C53368F0}" type="datetime2">
              <a:rPr lang="zh-CN" altLang="en-US" b="1" smtClean="0"/>
              <a:pPr/>
              <a:t>2023年10月12日</a:t>
            </a:fld>
            <a:endParaRPr lang="zh-CN" altLang="en-US" b="1" dirty="0"/>
          </a:p>
        </p:txBody>
      </p:sp>
      <p:pic>
        <p:nvPicPr>
          <p:cNvPr id="2097156" name="Picture 2" descr="苏州大学圈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0" y="0"/>
            <a:ext cx="1080120" cy="10801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4" name="标题 1"/>
          <p:cNvSpPr>
            <a:spLocks noGrp="1"/>
          </p:cNvSpPr>
          <p:nvPr/>
        </p:nvSpPr>
        <p:spPr>
          <a:xfrm>
            <a:off x="1847214" y="25104"/>
            <a:ext cx="578167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物理化学（一）上测验 </a:t>
            </a:r>
            <a:r>
              <a:rPr lang="en-US" altLang="zh-CN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zh-CN" altLang="zh-CN" sz="32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6250" y="1452423"/>
            <a:ext cx="7965106" cy="1684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 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若在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Euclid Math One" panose="05050601010101010101" pitchFamily="18" charset="2"/>
              </a:rPr>
              <a:t>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600 ºC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时，使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r>
              <a:rPr lang="en-US" altLang="zh-CN" sz="2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mol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NH</a:t>
            </a:r>
            <a:r>
              <a:rPr lang="en-US" altLang="zh-CN" sz="24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）经催化分解为单质，为了保证温度恒定需要加入热量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54.39 kJ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。下列物质的摩尔等压热容为：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75897" y="3218968"/>
            <a:ext cx="946815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6687970"/>
              </p:ext>
            </p:extLst>
          </p:nvPr>
        </p:nvGraphicFramePr>
        <p:xfrm>
          <a:off x="875897" y="3218969"/>
          <a:ext cx="7113125" cy="404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495800" imgH="254000" progId="Equation.DSMT4">
                  <p:embed/>
                </p:oleObj>
              </mc:Choice>
              <mc:Fallback>
                <p:oleObj name="Equation" r:id="rId3" imgW="4495800" imgH="2540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897" y="3218969"/>
                        <a:ext cx="7113125" cy="4040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52901" y="3850104"/>
            <a:ext cx="1041680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5409145"/>
              </p:ext>
            </p:extLst>
          </p:nvPr>
        </p:nvGraphicFramePr>
        <p:xfrm>
          <a:off x="887739" y="3764276"/>
          <a:ext cx="5862807" cy="461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51200" imgH="254000" progId="Equation.DSMT4">
                  <p:embed/>
                </p:oleObj>
              </mc:Choice>
              <mc:Fallback>
                <p:oleObj name="Equation" r:id="rId5" imgW="3251200" imgH="254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739" y="3764276"/>
                        <a:ext cx="5862807" cy="4612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2328229"/>
              </p:ext>
            </p:extLst>
          </p:nvPr>
        </p:nvGraphicFramePr>
        <p:xfrm>
          <a:off x="887739" y="4366805"/>
          <a:ext cx="6369759" cy="499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238200" imgH="253800" progId="Equation.DSMT4">
                  <p:embed/>
                </p:oleObj>
              </mc:Choice>
              <mc:Fallback>
                <p:oleObj name="Equation" r:id="rId7" imgW="32382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87739" y="4366805"/>
                        <a:ext cx="6369759" cy="499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792927"/>
              </p:ext>
            </p:extLst>
          </p:nvPr>
        </p:nvGraphicFramePr>
        <p:xfrm>
          <a:off x="1847214" y="4834668"/>
          <a:ext cx="731520" cy="487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80835" imgH="253890" progId="Equation.DSMT4">
                  <p:embed/>
                </p:oleObj>
              </mc:Choice>
              <mc:Fallback>
                <p:oleObj name="Equation" r:id="rId9" imgW="380835" imgH="25389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214" y="4834668"/>
                        <a:ext cx="731520" cy="4876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765978"/>
              </p:ext>
            </p:extLst>
          </p:nvPr>
        </p:nvGraphicFramePr>
        <p:xfrm>
          <a:off x="7822422" y="4796239"/>
          <a:ext cx="824850" cy="54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80835" imgH="253890" progId="Equation.DSMT4">
                  <p:embed/>
                </p:oleObj>
              </mc:Choice>
              <mc:Fallback>
                <p:oleObj name="Equation" r:id="rId11" imgW="380835" imgH="25389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2422" y="4796239"/>
                        <a:ext cx="824850" cy="549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731520" y="4864162"/>
            <a:ext cx="11592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kumimoji="0" 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写出</a:t>
            </a:r>
            <a:endParaRPr kumimoji="0" 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2621730" y="4884474"/>
            <a:ext cx="92715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的函数关系式；（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）求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25 </a:t>
            </a:r>
            <a:r>
              <a:rPr kumimoji="0" lang="en-US" altLang="zh-CN" sz="2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º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时的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417320" y="583159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0" 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093532"/>
      </p:ext>
    </p:extLst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A25E5-2F90-4067-8D54-0B36C53368F0}" type="datetime2">
              <a:rPr lang="zh-CN" altLang="en-US" b="1" smtClean="0"/>
              <a:pPr/>
              <a:t>2023年10月12日</a:t>
            </a:fld>
            <a:endParaRPr lang="zh-CN" altLang="en-US" b="1" dirty="0"/>
          </a:p>
        </p:txBody>
      </p:sp>
      <p:pic>
        <p:nvPicPr>
          <p:cNvPr id="2097156" name="Picture 2" descr="苏州大学圈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0" y="0"/>
            <a:ext cx="1080120" cy="10801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4" name="标题 1"/>
          <p:cNvSpPr>
            <a:spLocks noGrp="1"/>
          </p:cNvSpPr>
          <p:nvPr/>
        </p:nvSpPr>
        <p:spPr>
          <a:xfrm>
            <a:off x="1847214" y="25104"/>
            <a:ext cx="578167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物理化学（一）上测验 </a:t>
            </a:r>
            <a:r>
              <a:rPr lang="en-US" altLang="zh-CN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zh-CN" altLang="zh-CN" sz="32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3802" y="1540662"/>
            <a:ext cx="15696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解：（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388652" y="1349742"/>
            <a:ext cx="1519691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5674507"/>
              </p:ext>
            </p:extLst>
          </p:nvPr>
        </p:nvGraphicFramePr>
        <p:xfrm>
          <a:off x="2388652" y="1349742"/>
          <a:ext cx="3387779" cy="750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77229" imgH="393529" progId="Equation.DSMT4">
                  <p:embed/>
                </p:oleObj>
              </mc:Choice>
              <mc:Fallback>
                <p:oleObj name="Equation" r:id="rId3" imgW="1777229" imgH="393529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8652" y="1349742"/>
                        <a:ext cx="3387779" cy="7501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80552" y="2281530"/>
            <a:ext cx="15729178" cy="48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9234519"/>
              </p:ext>
            </p:extLst>
          </p:nvPr>
        </p:nvGraphicFramePr>
        <p:xfrm>
          <a:off x="780551" y="2281531"/>
          <a:ext cx="1922455" cy="742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17600" imgH="431800" progId="Equation.DSMT4">
                  <p:embed/>
                </p:oleObj>
              </mc:Choice>
              <mc:Fallback>
                <p:oleObj name="Equation" r:id="rId5" imgW="11176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551" y="2281531"/>
                        <a:ext cx="1922455" cy="7427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426487" y="2346229"/>
            <a:ext cx="1600171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9563593"/>
              </p:ext>
            </p:extLst>
          </p:nvPr>
        </p:nvGraphicFramePr>
        <p:xfrm>
          <a:off x="3426487" y="2346230"/>
          <a:ext cx="2444252" cy="575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79032" imgH="253890" progId="Equation.DSMT4">
                  <p:embed/>
                </p:oleObj>
              </mc:Choice>
              <mc:Fallback>
                <p:oleObj name="Equation" r:id="rId7" imgW="1079032" imgH="25389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6487" y="2346230"/>
                        <a:ext cx="2444252" cy="5751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69205" y="3168445"/>
            <a:ext cx="1151044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8746063"/>
              </p:ext>
            </p:extLst>
          </p:nvPr>
        </p:nvGraphicFramePr>
        <p:xfrm>
          <a:off x="369205" y="3168445"/>
          <a:ext cx="8844713" cy="1705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549900" imgH="1066800" progId="Equation.DSMT4">
                  <p:embed/>
                </p:oleObj>
              </mc:Choice>
              <mc:Fallback>
                <p:oleObj name="Equation" r:id="rId9" imgW="5549900" imgH="1066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205" y="3168445"/>
                        <a:ext cx="8844713" cy="17050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1621748"/>
              </p:ext>
            </p:extLst>
          </p:nvPr>
        </p:nvGraphicFramePr>
        <p:xfrm>
          <a:off x="369205" y="4990010"/>
          <a:ext cx="6798329" cy="53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695700" imgH="292100" progId="Equation.DSMT4">
                  <p:embed/>
                </p:oleObj>
              </mc:Choice>
              <mc:Fallback>
                <p:oleObj name="Equation" r:id="rId11" imgW="3695700" imgH="2921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205" y="4990010"/>
                        <a:ext cx="6798329" cy="537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393467"/>
              </p:ext>
            </p:extLst>
          </p:nvPr>
        </p:nvGraphicFramePr>
        <p:xfrm>
          <a:off x="369205" y="5667187"/>
          <a:ext cx="5329295" cy="459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946400" imgH="254000" progId="Equation.DSMT4">
                  <p:embed/>
                </p:oleObj>
              </mc:Choice>
              <mc:Fallback>
                <p:oleObj name="Equation" r:id="rId13" imgW="2946400" imgH="254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205" y="5667187"/>
                        <a:ext cx="5329295" cy="4594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476250" y="465542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476250" y="540472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984521" y="5782973"/>
            <a:ext cx="7425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(3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749565"/>
      </p:ext>
    </p:extLst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A25E5-2F90-4067-8D54-0B36C53368F0}" type="datetime2">
              <a:rPr lang="zh-CN" altLang="en-US" b="1" smtClean="0"/>
              <a:pPr/>
              <a:t>2023年10月12日</a:t>
            </a:fld>
            <a:endParaRPr lang="zh-CN" altLang="en-US" b="1" dirty="0"/>
          </a:p>
        </p:txBody>
      </p:sp>
      <p:pic>
        <p:nvPicPr>
          <p:cNvPr id="2097156" name="Picture 2" descr="苏州大学圈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0" y="0"/>
            <a:ext cx="1080120" cy="10801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4" name="标题 1"/>
          <p:cNvSpPr>
            <a:spLocks noGrp="1"/>
          </p:cNvSpPr>
          <p:nvPr/>
        </p:nvSpPr>
        <p:spPr>
          <a:xfrm>
            <a:off x="1847214" y="25104"/>
            <a:ext cx="578167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物理化学（一）上测验 </a:t>
            </a:r>
            <a:r>
              <a:rPr lang="en-US" altLang="zh-CN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zh-CN" altLang="zh-CN" sz="32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64143" y="1624438"/>
            <a:ext cx="19992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T=873 K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时，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485692"/>
              </p:ext>
            </p:extLst>
          </p:nvPr>
        </p:nvGraphicFramePr>
        <p:xfrm>
          <a:off x="2663407" y="1590936"/>
          <a:ext cx="2264727" cy="520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04900" imgH="254000" progId="Equation.DSMT4">
                  <p:embed/>
                </p:oleObj>
              </mc:Choice>
              <mc:Fallback>
                <p:oleObj name="Equation" r:id="rId3" imgW="1104900" imgH="2540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407" y="1590936"/>
                        <a:ext cx="2264727" cy="5206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664143" y="2306797"/>
            <a:ext cx="9693645" cy="53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068933"/>
              </p:ext>
            </p:extLst>
          </p:nvPr>
        </p:nvGraphicFramePr>
        <p:xfrm>
          <a:off x="664143" y="2306797"/>
          <a:ext cx="8278859" cy="455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95700" imgH="203200" progId="Equation.DSMT4">
                  <p:embed/>
                </p:oleObj>
              </mc:Choice>
              <mc:Fallback>
                <p:oleObj name="Equation" r:id="rId5" imgW="3695700" imgH="203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143" y="2306797"/>
                        <a:ext cx="8278859" cy="4551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64142" y="3043119"/>
            <a:ext cx="1029757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726149"/>
              </p:ext>
            </p:extLst>
          </p:nvPr>
        </p:nvGraphicFramePr>
        <p:xfrm>
          <a:off x="664143" y="3043120"/>
          <a:ext cx="1479362" cy="363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23272" imgH="177646" progId="Equation.DSMT4">
                  <p:embed/>
                </p:oleObj>
              </mc:Choice>
              <mc:Fallback>
                <p:oleObj name="Equation" r:id="rId7" imgW="723272" imgH="17764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143" y="3043120"/>
                        <a:ext cx="1479362" cy="3633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2471468" y="2936305"/>
            <a:ext cx="9092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88622" y="3771401"/>
            <a:ext cx="9618628" cy="47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986175"/>
              </p:ext>
            </p:extLst>
          </p:nvPr>
        </p:nvGraphicFramePr>
        <p:xfrm>
          <a:off x="588621" y="3771402"/>
          <a:ext cx="6755455" cy="491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492500" imgH="254000" progId="Equation.DSMT4">
                  <p:embed/>
                </p:oleObj>
              </mc:Choice>
              <mc:Fallback>
                <p:oleObj name="Equation" r:id="rId9" imgW="3492500" imgH="254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621" y="3771402"/>
                        <a:ext cx="6755455" cy="4913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7418081" y="3795140"/>
            <a:ext cx="8515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(5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08659" y="4570161"/>
            <a:ext cx="17372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 T=298 K</a:t>
            </a:r>
            <a:endParaRPr lang="zh-CN" alt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856649" y="5142026"/>
            <a:ext cx="1392207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362422"/>
              </p:ext>
            </p:extLst>
          </p:nvPr>
        </p:nvGraphicFramePr>
        <p:xfrm>
          <a:off x="856648" y="5142027"/>
          <a:ext cx="6926091" cy="82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064000" imgH="482600" progId="Equation.DSMT4">
                  <p:embed/>
                </p:oleObj>
              </mc:Choice>
              <mc:Fallback>
                <p:oleObj name="Equation" r:id="rId11" imgW="4064000" imgH="482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648" y="5142027"/>
                        <a:ext cx="6926091" cy="822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9228398"/>
      </p:ext>
    </p:extLst>
  </p:cSld>
  <p:clrMapOvr>
    <a:masterClrMapping/>
  </p:clrMapOvr>
  <p:transition spd="slow">
    <p:pull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252</TotalTime>
  <Words>447</Words>
  <Application>Microsoft Office PowerPoint</Application>
  <PresentationFormat>全屏显示(4:3)</PresentationFormat>
  <Paragraphs>38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华文新魏</vt:lpstr>
      <vt:lpstr>Arial</vt:lpstr>
      <vt:lpstr>Calibri</vt:lpstr>
      <vt:lpstr>Lucida Sans Unicode</vt:lpstr>
      <vt:lpstr>Times New Roman</vt:lpstr>
      <vt:lpstr>Verdana</vt:lpstr>
      <vt:lpstr>Wingdings 2</vt:lpstr>
      <vt:lpstr>Wingdings 3</vt:lpstr>
      <vt:lpstr>聚合</vt:lpstr>
      <vt:lpstr>Equation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Shujin Li</dc:creator>
  <cp:lastModifiedBy>minmin xu</cp:lastModifiedBy>
  <cp:revision>21</cp:revision>
  <dcterms:created xsi:type="dcterms:W3CDTF">2023-10-08T12:36:44Z</dcterms:created>
  <dcterms:modified xsi:type="dcterms:W3CDTF">2023-10-11T23:01:16Z</dcterms:modified>
</cp:coreProperties>
</file>