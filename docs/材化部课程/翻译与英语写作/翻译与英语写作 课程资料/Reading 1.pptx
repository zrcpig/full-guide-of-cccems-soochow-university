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66.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幻灯片图像占位符 778241"/>
          <p:cNvSpPr>
            <a:spLocks noRot="1" noTextEdit="1"/>
          </p:cNvSpPr>
          <p:nvPr>
            <p:ph type="sldImg"/>
          </p:nvPr>
        </p:nvSpPr>
        <p:spPr/>
      </p:sp>
      <p:sp>
        <p:nvSpPr>
          <p:cNvPr id="84994" name="文本占位符 778242"/>
          <p:cNvSpPr>
            <a:spLocks noGrp="1"/>
          </p:cNvSpPr>
          <p:nvPr>
            <p:ph type="body"/>
          </p:nvPr>
        </p:nvSpPr>
        <p:spPr/>
        <p:txBody>
          <a:bodyPr anchor="t" anchorCtr="0"/>
          <a:p>
            <a:pPr lvl="0" indent="0"/>
            <a:endParaRPr lang="zh-CN" altLang="zh-CN" dirty="0"/>
          </a:p>
        </p:txBody>
      </p:sp>
      <p:sp>
        <p:nvSpPr>
          <p:cNvPr id="84995"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幻灯片图像占位符 779265"/>
          <p:cNvSpPr>
            <a:spLocks noRot="1" noTextEdit="1"/>
          </p:cNvSpPr>
          <p:nvPr>
            <p:ph type="sldImg"/>
          </p:nvPr>
        </p:nvSpPr>
        <p:spPr/>
      </p:sp>
      <p:sp>
        <p:nvSpPr>
          <p:cNvPr id="87042" name="文本占位符 779266"/>
          <p:cNvSpPr>
            <a:spLocks noGrp="1"/>
          </p:cNvSpPr>
          <p:nvPr>
            <p:ph type="body"/>
          </p:nvPr>
        </p:nvSpPr>
        <p:spPr/>
        <p:txBody>
          <a:bodyPr anchor="t" anchorCtr="0"/>
          <a:p>
            <a:pPr lvl="0" indent="0"/>
            <a:endParaRPr lang="zh-CN" altLang="zh-CN" dirty="0"/>
          </a:p>
        </p:txBody>
      </p:sp>
      <p:sp>
        <p:nvSpPr>
          <p:cNvPr id="87043"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幻灯片图像占位符 780289"/>
          <p:cNvSpPr>
            <a:spLocks noRot="1" noTextEdit="1"/>
          </p:cNvSpPr>
          <p:nvPr>
            <p:ph type="sldImg"/>
          </p:nvPr>
        </p:nvSpPr>
        <p:spPr/>
      </p:sp>
      <p:sp>
        <p:nvSpPr>
          <p:cNvPr id="89090" name="文本占位符 780290"/>
          <p:cNvSpPr>
            <a:spLocks noGrp="1"/>
          </p:cNvSpPr>
          <p:nvPr>
            <p:ph type="body"/>
          </p:nvPr>
        </p:nvSpPr>
        <p:spPr/>
        <p:txBody>
          <a:bodyPr anchor="t" anchorCtr="0"/>
          <a:p>
            <a:pPr lvl="0" indent="0"/>
            <a:endParaRPr lang="zh-CN" altLang="zh-CN" dirty="0"/>
          </a:p>
        </p:txBody>
      </p:sp>
      <p:sp>
        <p:nvSpPr>
          <p:cNvPr id="89091"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幻灯片图像占位符 781313"/>
          <p:cNvSpPr>
            <a:spLocks noRot="1" noTextEdit="1"/>
          </p:cNvSpPr>
          <p:nvPr>
            <p:ph type="sldImg"/>
          </p:nvPr>
        </p:nvSpPr>
        <p:spPr/>
      </p:sp>
      <p:sp>
        <p:nvSpPr>
          <p:cNvPr id="91138" name="文本占位符 781314"/>
          <p:cNvSpPr>
            <a:spLocks noGrp="1"/>
          </p:cNvSpPr>
          <p:nvPr>
            <p:ph type="body"/>
          </p:nvPr>
        </p:nvSpPr>
        <p:spPr/>
        <p:txBody>
          <a:bodyPr anchor="t" anchorCtr="0"/>
          <a:p>
            <a:pPr lvl="0" indent="0"/>
            <a:endParaRPr lang="zh-CN" altLang="zh-CN" dirty="0"/>
          </a:p>
        </p:txBody>
      </p:sp>
      <p:sp>
        <p:nvSpPr>
          <p:cNvPr id="91139"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幻灯片图像占位符 782337"/>
          <p:cNvSpPr>
            <a:spLocks noRot="1" noTextEdit="1"/>
          </p:cNvSpPr>
          <p:nvPr>
            <p:ph type="sldImg"/>
          </p:nvPr>
        </p:nvSpPr>
        <p:spPr/>
      </p:sp>
      <p:sp>
        <p:nvSpPr>
          <p:cNvPr id="93186" name="文本占位符 782338"/>
          <p:cNvSpPr>
            <a:spLocks noGrp="1"/>
          </p:cNvSpPr>
          <p:nvPr>
            <p:ph type="body"/>
          </p:nvPr>
        </p:nvSpPr>
        <p:spPr/>
        <p:txBody>
          <a:bodyPr anchor="t" anchorCtr="0"/>
          <a:p>
            <a:pPr lvl="0" indent="0"/>
            <a:endParaRPr lang="zh-CN" altLang="zh-CN" dirty="0"/>
          </a:p>
        </p:txBody>
      </p:sp>
      <p:sp>
        <p:nvSpPr>
          <p:cNvPr id="93187"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幻灯片图像占位符 783361"/>
          <p:cNvSpPr>
            <a:spLocks noRot="1" noTextEdit="1"/>
          </p:cNvSpPr>
          <p:nvPr>
            <p:ph type="sldImg"/>
          </p:nvPr>
        </p:nvSpPr>
        <p:spPr/>
      </p:sp>
      <p:sp>
        <p:nvSpPr>
          <p:cNvPr id="95234" name="文本占位符 783362"/>
          <p:cNvSpPr>
            <a:spLocks noGrp="1"/>
          </p:cNvSpPr>
          <p:nvPr>
            <p:ph type="body"/>
          </p:nvPr>
        </p:nvSpPr>
        <p:spPr/>
        <p:txBody>
          <a:bodyPr anchor="t" anchorCtr="0"/>
          <a:p>
            <a:pPr lvl="0" indent="0"/>
            <a:endParaRPr lang="zh-CN" altLang="zh-CN" dirty="0"/>
          </a:p>
        </p:txBody>
      </p:sp>
      <p:sp>
        <p:nvSpPr>
          <p:cNvPr id="95235"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1" name="幻灯片图像占位符 784385"/>
          <p:cNvSpPr>
            <a:spLocks noRot="1" noTextEdit="1"/>
          </p:cNvSpPr>
          <p:nvPr>
            <p:ph type="sldImg"/>
          </p:nvPr>
        </p:nvSpPr>
        <p:spPr/>
      </p:sp>
      <p:sp>
        <p:nvSpPr>
          <p:cNvPr id="97282" name="文本占位符 784386"/>
          <p:cNvSpPr>
            <a:spLocks noGrp="1"/>
          </p:cNvSpPr>
          <p:nvPr>
            <p:ph type="body"/>
          </p:nvPr>
        </p:nvSpPr>
        <p:spPr/>
        <p:txBody>
          <a:bodyPr anchor="t" anchorCtr="0"/>
          <a:p>
            <a:pPr lvl="0" indent="0"/>
            <a:endParaRPr lang="zh-CN" altLang="zh-CN" dirty="0"/>
          </a:p>
        </p:txBody>
      </p:sp>
      <p:sp>
        <p:nvSpPr>
          <p:cNvPr id="97283"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幻灯片图像占位符 933889"/>
          <p:cNvSpPr>
            <a:spLocks noRot="1" noTextEdit="1"/>
          </p:cNvSpPr>
          <p:nvPr>
            <p:ph type="sldImg"/>
          </p:nvPr>
        </p:nvSpPr>
        <p:spPr/>
      </p:sp>
      <p:sp>
        <p:nvSpPr>
          <p:cNvPr id="99330" name="文本占位符 933890"/>
          <p:cNvSpPr>
            <a:spLocks noGrp="1"/>
          </p:cNvSpPr>
          <p:nvPr>
            <p:ph type="body"/>
          </p:nvPr>
        </p:nvSpPr>
        <p:spPr/>
        <p:txBody>
          <a:bodyPr anchor="t" anchorCtr="0"/>
          <a:p>
            <a:pPr lvl="0" indent="0"/>
            <a:endParaRPr lang="zh-CN" altLang="zh-CN" dirty="0"/>
          </a:p>
        </p:txBody>
      </p:sp>
      <p:sp>
        <p:nvSpPr>
          <p:cNvPr id="99331"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幻灯片图像占位符 935937"/>
          <p:cNvSpPr>
            <a:spLocks noRot="1" noTextEdit="1"/>
          </p:cNvSpPr>
          <p:nvPr>
            <p:ph type="sldImg"/>
          </p:nvPr>
        </p:nvSpPr>
        <p:spPr/>
      </p:sp>
      <p:sp>
        <p:nvSpPr>
          <p:cNvPr id="101378" name="文本占位符 935938"/>
          <p:cNvSpPr>
            <a:spLocks noGrp="1"/>
          </p:cNvSpPr>
          <p:nvPr>
            <p:ph type="body"/>
          </p:nvPr>
        </p:nvSpPr>
        <p:spPr/>
        <p:txBody>
          <a:bodyPr anchor="t" anchorCtr="0"/>
          <a:p>
            <a:pPr lvl="0" indent="0"/>
            <a:endParaRPr lang="zh-CN" altLang="zh-CN" dirty="0"/>
          </a:p>
        </p:txBody>
      </p:sp>
      <p:sp>
        <p:nvSpPr>
          <p:cNvPr id="101379"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幻灯片图像占位符 937985"/>
          <p:cNvSpPr>
            <a:spLocks noRot="1" noTextEdit="1"/>
          </p:cNvSpPr>
          <p:nvPr>
            <p:ph type="sldImg"/>
          </p:nvPr>
        </p:nvSpPr>
        <p:spPr/>
      </p:sp>
      <p:sp>
        <p:nvSpPr>
          <p:cNvPr id="103426" name="文本占位符 937986"/>
          <p:cNvSpPr>
            <a:spLocks noGrp="1"/>
          </p:cNvSpPr>
          <p:nvPr>
            <p:ph type="body"/>
          </p:nvPr>
        </p:nvSpPr>
        <p:spPr/>
        <p:txBody>
          <a:bodyPr anchor="t" anchorCtr="0"/>
          <a:p>
            <a:pPr lvl="0" indent="0"/>
            <a:endParaRPr lang="zh-CN" altLang="zh-CN" dirty="0"/>
          </a:p>
        </p:txBody>
      </p:sp>
      <p:sp>
        <p:nvSpPr>
          <p:cNvPr id="103427"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幻灯片图像占位符 785409"/>
          <p:cNvSpPr>
            <a:spLocks noRot="1" noTextEdit="1"/>
          </p:cNvSpPr>
          <p:nvPr>
            <p:ph type="sldImg"/>
          </p:nvPr>
        </p:nvSpPr>
        <p:spPr/>
      </p:sp>
      <p:sp>
        <p:nvSpPr>
          <p:cNvPr id="105474" name="文本占位符 785410"/>
          <p:cNvSpPr>
            <a:spLocks noGrp="1"/>
          </p:cNvSpPr>
          <p:nvPr>
            <p:ph type="body"/>
          </p:nvPr>
        </p:nvSpPr>
        <p:spPr/>
        <p:txBody>
          <a:bodyPr anchor="t" anchorCtr="0"/>
          <a:p>
            <a:pPr lvl="0" indent="0"/>
            <a:endParaRPr lang="zh-CN" altLang="zh-CN" dirty="0"/>
          </a:p>
        </p:txBody>
      </p:sp>
      <p:sp>
        <p:nvSpPr>
          <p:cNvPr id="105475" name="灯片编号占位符 1"/>
          <p:cNvSpPr/>
          <p:nvPr>
            <p:ph type="sldNum" sz="quarter"/>
          </p:nvPr>
        </p:nvSpPr>
        <p:spPr>
          <a:xfrm>
            <a:off x="3884613" y="8685213"/>
            <a:ext cx="2971800" cy="457200"/>
          </a:xfrm>
          <a:prstGeom prst="rect">
            <a:avLst/>
          </a:prstGeom>
          <a:noFill/>
          <a:ln w="9525">
            <a:noFill/>
          </a:ln>
        </p:spPr>
        <p:txBody>
          <a:bodyPr anchor="b" anchorCtr="0"/>
          <a:p>
            <a:pPr lvl="0" indent="0" algn="r"/>
            <a:fld id="{9A0DB2DC-4C9A-4742-B13C-FB6460FD3503}" type="slidenum">
              <a:rPr lang="zh-CN" altLang="en-US" sz="1200" dirty="0">
                <a:latin typeface="Trebuchet MS" panose="020B0603020202020204" pitchFamily="34" charset="0"/>
                <a:ea typeface="宋体" panose="02010600030101010101" pitchFamily="2" charset="-122"/>
              </a:rPr>
            </a:fld>
            <a:endParaRPr lang="zh-CN" altLang="en-US" sz="1200" dirty="0">
              <a:latin typeface="Trebuchet MS" panose="020B0603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smtClean="0"/>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bg2"/>
            </a:gs>
            <a:gs pos="100000">
              <a:schemeClr val="bg2">
                <a:lumMod val="85000"/>
              </a:schemeClr>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1.xml"/><Relationship Id="rId7" Type="http://schemas.microsoft.com/office/2007/relationships/media" Target="file:///F:\&#20840;&#26032;&#29256;&#65288;&#31532;&#20108;&#29256;&#65289;&#32508;&#21512;2&#25945;&#26696;\Unit1\u1b2text01%20.mp3" TargetMode="External"/><Relationship Id="rId6" Type="http://schemas.openxmlformats.org/officeDocument/2006/relationships/audio" Target="file:///F:\&#20840;&#26032;&#29256;&#65288;&#31532;&#20108;&#29256;&#65289;&#32508;&#21512;2&#25945;&#26696;\Unit1\u1b2text01%20.mp3" TargetMode="External"/><Relationship Id="rId5" Type="http://schemas.openxmlformats.org/officeDocument/2006/relationships/image" Target="../media/image3.png"/><Relationship Id="rId4" Type="http://schemas.openxmlformats.org/officeDocument/2006/relationships/image" Target="../media/image2.jpeg"/><Relationship Id="rId3" Type="http://schemas.openxmlformats.org/officeDocument/2006/relationships/image" Target="../media/image1.png"/><Relationship Id="rId2" Type="http://schemas.microsoft.com/office/2007/relationships/media" Target="file:///F:\&#20840;&#26032;&#29256;&#65288;&#31532;&#20108;&#29256;&#65289;&#32508;&#21512;2&#25945;&#26696;\Unit1\tatittle.mp3" TargetMode="External"/><Relationship Id="rId1" Type="http://schemas.openxmlformats.org/officeDocument/2006/relationships/audio" Target="file:///F:\&#20840;&#26032;&#29256;&#65288;&#31532;&#20108;&#29256;&#65289;&#32508;&#21512;2&#25945;&#26696;\Unit1\tatittle.mp3" TargetMode="Externa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png"/><Relationship Id="rId7" Type="http://schemas.openxmlformats.org/officeDocument/2006/relationships/image" Target="../media/image1.png"/><Relationship Id="rId6" Type="http://schemas.microsoft.com/office/2007/relationships/media" Target="file:///E:\&#20840;&#26032;&#29256;&#65288;&#31532;&#20108;&#29256;&#65289;&#32508;&#21512;2&#25945;&#26696;\Unit1\u1b2text02.mp3" TargetMode="External"/><Relationship Id="rId5" Type="http://schemas.openxmlformats.org/officeDocument/2006/relationships/audio" Target="file:///E:\&#20840;&#26032;&#29256;&#65288;&#31532;&#20108;&#29256;&#65289;&#32508;&#21512;2&#25945;&#26696;\Unit1\u1b2text02.mp3" TargetMode="External"/><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png"/><Relationship Id="rId10" Type="http://schemas.openxmlformats.org/officeDocument/2006/relationships/notesSlide" Target="../notesSlides/notesSlide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7.png"/><Relationship Id="rId7" Type="http://schemas.openxmlformats.org/officeDocument/2006/relationships/image" Target="../media/image1.png"/><Relationship Id="rId6" Type="http://schemas.microsoft.com/office/2007/relationships/media" Target="file:///E:\&#20840;&#26032;&#29256;&#65288;&#31532;&#20108;&#29256;&#65289;&#32508;&#21512;2&#25945;&#26696;\Unit1\u1b2text04.mp3" TargetMode="External"/><Relationship Id="rId5" Type="http://schemas.openxmlformats.org/officeDocument/2006/relationships/audio" Target="file:///E:\&#20840;&#26032;&#29256;&#65288;&#31532;&#20108;&#29256;&#65289;&#32508;&#21512;2&#25945;&#26696;\Unit1\u1b2text04.mp3" TargetMode="External"/><Relationship Id="rId4" Type="http://schemas.openxmlformats.org/officeDocument/2006/relationships/image" Target="../media/image6.png"/><Relationship Id="rId3" Type="http://schemas.openxmlformats.org/officeDocument/2006/relationships/image" Target="../media/image8.jpeg"/><Relationship Id="rId2" Type="http://schemas.openxmlformats.org/officeDocument/2006/relationships/image" Target="../media/image4.png"/><Relationship Id="rId10" Type="http://schemas.openxmlformats.org/officeDocument/2006/relationships/notesSlide" Target="../notesSlides/notesSlide3.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1.png"/><Relationship Id="rId5" Type="http://schemas.microsoft.com/office/2007/relationships/media" Target="file:///E:\&#20840;&#26032;&#29256;&#65288;&#31532;&#20108;&#29256;&#65289;&#32508;&#21512;2&#25945;&#26696;\Unit1\u1b2text05.mp3" TargetMode="External"/><Relationship Id="rId4" Type="http://schemas.openxmlformats.org/officeDocument/2006/relationships/audio" Target="file:///E:\&#20840;&#26032;&#29256;&#65288;&#31532;&#20108;&#29256;&#65289;&#32508;&#21512;2&#25945;&#26696;\Unit1\u1b2text05.mp3" TargetMode="Externa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xml"/><Relationship Id="rId7" Type="http://schemas.openxmlformats.org/officeDocument/2006/relationships/image" Target="../media/image7.png"/><Relationship Id="rId6" Type="http://schemas.openxmlformats.org/officeDocument/2006/relationships/image" Target="../media/image1.png"/><Relationship Id="rId5" Type="http://schemas.microsoft.com/office/2007/relationships/media" Target="file:///E:\&#20840;&#26032;&#29256;&#65288;&#31532;&#20108;&#29256;&#65289;&#32508;&#21512;2&#25945;&#26696;\Unit1\u1b2text13.mp3" TargetMode="External"/><Relationship Id="rId4" Type="http://schemas.openxmlformats.org/officeDocument/2006/relationships/audio" Target="file:///E:\&#20840;&#26032;&#29256;&#65288;&#31532;&#20108;&#29256;&#65289;&#32508;&#21512;2&#25945;&#26696;\Unit1\u1b2text13.mp3" TargetMode="Externa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Reading 1</a:t>
            </a:r>
            <a:endParaRPr lang="en-US" altLang="zh-CN"/>
          </a:p>
        </p:txBody>
      </p:sp>
      <p:sp>
        <p:nvSpPr>
          <p:cNvPr id="3" name="副标题 2"/>
          <p:cNvSpPr>
            <a:spLocks noGrp="1"/>
          </p:cNvSpPr>
          <p:nvPr>
            <p:ph type="subTitle" idx="1"/>
            <p:custDataLst>
              <p:tags r:id="rId2"/>
            </p:custDataLst>
          </p:nvPr>
        </p:nvSpPr>
        <p:spPr/>
        <p:txBody>
          <a:bodyPr/>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0981" name="tatittle.mp3">
            <a:hlinkClick r:id="" action="ppaction://media"/>
          </p:cNvPr>
          <p:cNvPicPr>
            <a:picLocks noRot="1" noChangeAspect="1"/>
          </p:cNvPicPr>
          <p:nvPr>
            <a:audioFile r:link="rId1"/>
            <p:extLst>
              <p:ext uri="{DAA4B4D4-6D71-4841-9C94-3DE7FCFB9230}">
                <p14:media xmlns:p14="http://schemas.microsoft.com/office/powerpoint/2010/main" r:link="rId2"/>
              </p:ext>
            </p:extLst>
          </p:nvPr>
        </p:nvPicPr>
        <p:blipFill>
          <a:blip r:embed="rId3"/>
          <a:stretch>
            <a:fillRect/>
          </a:stretch>
        </p:blipFill>
        <p:spPr>
          <a:xfrm>
            <a:off x="3719513" y="1052513"/>
            <a:ext cx="304800" cy="304800"/>
          </a:xfrm>
          <a:prstGeom prst="rect">
            <a:avLst/>
          </a:prstGeom>
          <a:noFill/>
          <a:ln w="9525">
            <a:noFill/>
          </a:ln>
        </p:spPr>
      </p:pic>
      <p:sp>
        <p:nvSpPr>
          <p:cNvPr id="83970" name="文本框 380951"/>
          <p:cNvSpPr txBox="1"/>
          <p:nvPr/>
        </p:nvSpPr>
        <p:spPr>
          <a:xfrm>
            <a:off x="2135188" y="2246313"/>
            <a:ext cx="6192837" cy="1004570"/>
          </a:xfrm>
          <a:prstGeom prst="rect">
            <a:avLst/>
          </a:prstGeom>
          <a:noFill/>
          <a:ln w="9525">
            <a:noFill/>
          </a:ln>
        </p:spPr>
        <p:txBody>
          <a:bodyPr anchor="t" anchorCtr="0">
            <a:spAutoFit/>
          </a:bodyPr>
          <a:p>
            <a:pPr algn="just">
              <a:lnSpc>
                <a:spcPct val="110000"/>
              </a:lnSpc>
            </a:pPr>
            <a:r>
              <a:rPr lang="en-US" altLang="zh-CN" dirty="0">
                <a:latin typeface="Trebuchet MS" panose="020B0603020202020204" pitchFamily="34" charset="0"/>
                <a:ea typeface="宋体" panose="02010600030101010101" pitchFamily="2" charset="-122"/>
              </a:rPr>
              <a:t>       </a:t>
            </a:r>
            <a:r>
              <a:rPr lang="en-US" altLang="zh-CN">
                <a:latin typeface="Trebuchet MS" panose="020B0603020202020204" pitchFamily="34" charset="0"/>
                <a:ea typeface="宋体" panose="02010600030101010101" pitchFamily="2" charset="-122"/>
              </a:rPr>
              <a:t>For a month in the spring of 1987, my wife Ellen and I lived in the bustling eastern Chinese city of Nanjing with our 18-month-old son Benjamin while studying</a:t>
            </a:r>
            <a:endParaRPr lang="en-US" altLang="zh-CN">
              <a:latin typeface="Trebuchet MS" panose="020B0603020202020204" pitchFamily="34" charset="0"/>
              <a:ea typeface="宋体" panose="02010600030101010101" pitchFamily="2" charset="-122"/>
            </a:endParaRPr>
          </a:p>
        </p:txBody>
      </p:sp>
      <p:sp>
        <p:nvSpPr>
          <p:cNvPr id="83971" name="文本框 380975"/>
          <p:cNvSpPr txBox="1"/>
          <p:nvPr/>
        </p:nvSpPr>
        <p:spPr>
          <a:xfrm>
            <a:off x="2135188" y="3849688"/>
            <a:ext cx="8208962" cy="1309370"/>
          </a:xfrm>
          <a:prstGeom prst="rect">
            <a:avLst/>
          </a:prstGeom>
          <a:noFill/>
          <a:ln w="9525">
            <a:noFill/>
          </a:ln>
        </p:spPr>
        <p:txBody>
          <a:bodyPr anchor="t" anchorCtr="0">
            <a:spAutoFit/>
          </a:bodyPr>
          <a:p>
            <a:pPr algn="just">
              <a:lnSpc>
                <a:spcPct val="110000"/>
              </a:lnSpc>
            </a:pPr>
            <a:r>
              <a:rPr lang="en-US" altLang="zh-CN">
                <a:latin typeface="Trebuchet MS" panose="020B0603020202020204" pitchFamily="34" charset="0"/>
                <a:ea typeface="宋体" panose="02010600030101010101" pitchFamily="2" charset="-122"/>
              </a:rPr>
              <a:t>arts education in Chinese kindergartens and elementary schools. But one of the most telling lessons Ellen and I got in the difference between Chinese and American ideas of education came not in the classroom but in the lobby of the Jinling Hotel where we stayed in Nanjing.</a:t>
            </a:r>
            <a:endParaRPr lang="en-US" altLang="zh-CN">
              <a:latin typeface="Trebuchet MS" panose="020B0603020202020204" pitchFamily="34" charset="0"/>
              <a:ea typeface="宋体" panose="02010600030101010101" pitchFamily="2" charset="-122"/>
            </a:endParaRPr>
          </a:p>
        </p:txBody>
      </p:sp>
      <p:pic>
        <p:nvPicPr>
          <p:cNvPr id="83972" name="图片 380977" descr="图片1"/>
          <p:cNvPicPr>
            <a:picLocks noChangeAspect="1"/>
          </p:cNvPicPr>
          <p:nvPr/>
        </p:nvPicPr>
        <p:blipFill>
          <a:blip r:embed="rId4"/>
          <a:stretch>
            <a:fillRect/>
          </a:stretch>
        </p:blipFill>
        <p:spPr>
          <a:xfrm>
            <a:off x="8401050" y="2246313"/>
            <a:ext cx="1944688" cy="1616075"/>
          </a:xfrm>
          <a:prstGeom prst="rect">
            <a:avLst/>
          </a:prstGeom>
          <a:noFill/>
          <a:ln w="9525">
            <a:noFill/>
          </a:ln>
        </p:spPr>
      </p:pic>
      <p:sp>
        <p:nvSpPr>
          <p:cNvPr id="83973" name="标题 380929"/>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1</a:t>
            </a:r>
            <a:endParaRPr lang="en-US" altLang="zh-CN" sz="4400" kern="1200" baseline="0">
              <a:latin typeface="+mj-lt"/>
              <a:ea typeface="+mj-ea"/>
              <a:cs typeface="+mj-cs"/>
            </a:endParaRPr>
          </a:p>
        </p:txBody>
      </p:sp>
      <p:sp>
        <p:nvSpPr>
          <p:cNvPr id="83974" name="文本框 380950"/>
          <p:cNvSpPr txBox="1"/>
          <p:nvPr/>
        </p:nvSpPr>
        <p:spPr>
          <a:xfrm>
            <a:off x="4081463" y="981075"/>
            <a:ext cx="4027487" cy="395605"/>
          </a:xfrm>
          <a:prstGeom prst="rect">
            <a:avLst/>
          </a:prstGeom>
          <a:noFill/>
          <a:ln w="9525">
            <a:noFill/>
          </a:ln>
        </p:spPr>
        <p:txBody>
          <a:bodyPr anchor="t" anchorCtr="0">
            <a:spAutoFit/>
          </a:bodyPr>
          <a:p>
            <a:pPr>
              <a:lnSpc>
                <a:spcPct val="110000"/>
              </a:lnSpc>
            </a:pPr>
            <a:r>
              <a:rPr lang="en-US" altLang="zh-CN" b="1">
                <a:latin typeface="Trebuchet MS" panose="020B0603020202020204" pitchFamily="34" charset="0"/>
                <a:ea typeface="宋体" panose="02010600030101010101" pitchFamily="2" charset="-122"/>
              </a:rPr>
              <a:t>LEARNING, CHINESE-STYLE</a:t>
            </a:r>
            <a:endParaRPr lang="en-US" altLang="zh-CN" b="1">
              <a:latin typeface="Trebuchet MS" panose="020B0603020202020204" pitchFamily="34" charset="0"/>
              <a:ea typeface="宋体" panose="02010600030101010101" pitchFamily="2" charset="-122"/>
            </a:endParaRPr>
          </a:p>
        </p:txBody>
      </p:sp>
      <p:pic>
        <p:nvPicPr>
          <p:cNvPr id="83975" name="图片 380953" descr="next">
            <a:hlinkClick r:id="" action="ppaction://hlinkshowjump?jump=nextslide"/>
          </p:cNvPr>
          <p:cNvPicPr>
            <a:picLocks noChangeAspect="1"/>
          </p:cNvPicPr>
          <p:nvPr/>
        </p:nvPicPr>
        <p:blipFill>
          <a:blip r:embed="rId5"/>
          <a:stretch>
            <a:fillRect/>
          </a:stretch>
        </p:blipFill>
        <p:spPr>
          <a:xfrm>
            <a:off x="9671050" y="5949950"/>
            <a:ext cx="695325" cy="280988"/>
          </a:xfrm>
          <a:prstGeom prst="rect">
            <a:avLst/>
          </a:prstGeom>
          <a:noFill/>
          <a:ln w="9525">
            <a:noFill/>
          </a:ln>
        </p:spPr>
      </p:pic>
      <p:sp>
        <p:nvSpPr>
          <p:cNvPr id="83976" name="矩形 380971"/>
          <p:cNvSpPr/>
          <p:nvPr/>
        </p:nvSpPr>
        <p:spPr>
          <a:xfrm>
            <a:off x="8328025" y="1676400"/>
            <a:ext cx="1548765" cy="368300"/>
          </a:xfrm>
          <a:prstGeom prst="rect">
            <a:avLst/>
          </a:prstGeom>
          <a:noFill/>
          <a:ln w="9525">
            <a:noFill/>
          </a:ln>
        </p:spPr>
        <p:txBody>
          <a:bodyPr wrap="none" anchor="ctr" anchorCtr="0">
            <a:spAutoFit/>
          </a:bodyPr>
          <a:p>
            <a:r>
              <a:rPr lang="en-US" altLang="zh-CN" i="1">
                <a:latin typeface="Trebuchet MS" panose="020B0603020202020204" pitchFamily="34" charset="0"/>
                <a:ea typeface="宋体" panose="02010600030101010101" pitchFamily="2" charset="-122"/>
              </a:rPr>
              <a:t>Russell Baker</a:t>
            </a:r>
            <a:endParaRPr lang="en-US" altLang="zh-CN" i="1">
              <a:latin typeface="Trebuchet MS" panose="020B0603020202020204" pitchFamily="34" charset="0"/>
              <a:ea typeface="宋体" panose="02010600030101010101" pitchFamily="2" charset="-122"/>
            </a:endParaRPr>
          </a:p>
        </p:txBody>
      </p:sp>
      <p:pic>
        <p:nvPicPr>
          <p:cNvPr id="380982" name="u1b2text01 .mp3">
            <a:hlinkClick r:id="" action="ppaction://media"/>
          </p:cNvPr>
          <p:cNvPicPr>
            <a:picLocks noRot="1" noChangeAspect="1"/>
          </p:cNvPicPr>
          <p:nvPr>
            <a:audioFile r:link="rId6"/>
            <p:extLst>
              <p:ext uri="{DAA4B4D4-6D71-4841-9C94-3DE7FCFB9230}">
                <p14:media xmlns:p14="http://schemas.microsoft.com/office/powerpoint/2010/main" r:link="rId7"/>
              </p:ext>
            </p:extLst>
          </p:nvPr>
        </p:nvPicPr>
        <p:blipFill>
          <a:blip r:embed="rId3"/>
          <a:stretch>
            <a:fillRect/>
          </a:stretch>
        </p:blipFill>
        <p:spPr>
          <a:xfrm>
            <a:off x="2351088" y="2349500"/>
            <a:ext cx="304800" cy="304800"/>
          </a:xfrm>
          <a:prstGeom prst="rect">
            <a:avLst/>
          </a:prstGeom>
          <a:noFill/>
          <a:ln w="9525">
            <a:noFill/>
          </a:ln>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923" fill="hold"/>
                                        <p:tgtEl>
                                          <p:spTgt spid="380981"/>
                                        </p:tgtEl>
                                      </p:cBhvr>
                                    </p:cmd>
                                  </p:childTnLst>
                                </p:cTn>
                              </p:par>
                            </p:childTnLst>
                          </p:cTn>
                        </p:par>
                      </p:childTnLst>
                    </p:cTn>
                  </p:par>
                  <p:par>
                    <p:cTn id="7" fill="hold">
                      <p:stCondLst>
                        <p:cond delay="indefinite"/>
                      </p:stCondLst>
                      <p:childTnLst>
                        <p:par>
                          <p:cTn id="8" fill="hold">
                            <p:stCondLst>
                              <p:cond delay="0"/>
                            </p:stCondLst>
                            <p:childTnLst>
                              <p:par>
                                <p:cTn id="9" presetID="3" presetClass="mediacall" presetSubtype="0" fill="hold" nodeType="clickEffect">
                                  <p:stCondLst>
                                    <p:cond delay="0"/>
                                  </p:stCondLst>
                                  <p:childTnLst>
                                    <p:cmd type="call" cmd="stop">
                                      <p:cBhvr>
                                        <p:cTn id="10" dur="1" fill="hold"/>
                                        <p:tgtEl>
                                          <p:spTgt spid="380981"/>
                                        </p:tgtEl>
                                      </p:cBhvr>
                                    </p:cmd>
                                  </p:childTnLst>
                                </p:cTn>
                              </p:par>
                            </p:childTnLst>
                          </p:cTn>
                        </p:par>
                      </p:childTnLst>
                    </p:cTn>
                  </p:par>
                  <p:par>
                    <p:cTn id="11" fill="hold">
                      <p:stCondLst>
                        <p:cond delay="indefinite"/>
                      </p:stCondLst>
                      <p:childTnLst>
                        <p:par>
                          <p:cTn id="12" fill="hold">
                            <p:stCondLst>
                              <p:cond delay="0"/>
                            </p:stCondLst>
                            <p:childTnLst>
                              <p:par>
                                <p:cTn id="13" presetID="1" presetClass="mediacall" presetSubtype="0" fill="hold" nodeType="clickEffect">
                                  <p:stCondLst>
                                    <p:cond delay="0"/>
                                  </p:stCondLst>
                                  <p:childTnLst>
                                    <p:cmd type="call" cmd="playFrom(0.0)">
                                      <p:cBhvr>
                                        <p:cTn id="14" dur="33660" fill="hold"/>
                                        <p:tgtEl>
                                          <p:spTgt spid="380982"/>
                                        </p:tgtEl>
                                      </p:cBhvr>
                                    </p:cmd>
                                  </p:childTnLst>
                                </p:cTn>
                              </p:par>
                            </p:childTnLst>
                          </p:cTn>
                        </p:par>
                      </p:childTnLst>
                    </p:cTn>
                  </p:par>
                  <p:par>
                    <p:cTn id="15" fill="hold">
                      <p:stCondLst>
                        <p:cond delay="indefinite"/>
                      </p:stCondLst>
                      <p:childTnLst>
                        <p:par>
                          <p:cTn id="16" fill="hold">
                            <p:stCondLst>
                              <p:cond delay="0"/>
                            </p:stCondLst>
                            <p:childTnLst>
                              <p:par>
                                <p:cTn id="17" presetID="3" presetClass="mediacall" presetSubtype="0" fill="hold" nodeType="clickEffect">
                                  <p:stCondLst>
                                    <p:cond delay="0"/>
                                  </p:stCondLst>
                                  <p:childTnLst>
                                    <p:cmd type="call" cmd="stop">
                                      <p:cBhvr>
                                        <p:cTn id="18" dur="1" fill="hold"/>
                                        <p:tgtEl>
                                          <p:spTgt spid="38098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19" fill="hold" display="0">
                  <p:stCondLst>
                    <p:cond delay="indefinite"/>
                  </p:stCondLst>
                  <p:endCondLst>
                    <p:cond evt="onNext" delay="0">
                      <p:tgtEl>
                        <p:sldTgt/>
                      </p:tgtEl>
                    </p:cond>
                    <p:cond evt="onPrev" delay="0">
                      <p:tgtEl>
                        <p:sldTgt/>
                      </p:tgtEl>
                    </p:cond>
                    <p:cond evt="onStopAudio" delay="0">
                      <p:tgtEl>
                        <p:sldTgt/>
                      </p:tgtEl>
                    </p:cond>
                  </p:endCondLst>
                </p:cTn>
                <p:tgtEl>
                  <p:spTgt spid="380981"/>
                </p:tgtEl>
              </p:cMediaNode>
            </p:audio>
            <p:audio>
              <p:cMediaNode>
                <p:cTn id="20" fill="hold" display="0">
                  <p:stCondLst>
                    <p:cond delay="indefinite"/>
                  </p:stCondLst>
                  <p:endCondLst>
                    <p:cond evt="onNext" delay="0">
                      <p:tgtEl>
                        <p:sldTgt/>
                      </p:tgtEl>
                    </p:cond>
                    <p:cond evt="onPrev" delay="0">
                      <p:tgtEl>
                        <p:sldTgt/>
                      </p:tgtEl>
                    </p:cond>
                    <p:cond evt="onStopAudio" delay="0">
                      <p:tgtEl>
                        <p:sldTgt/>
                      </p:tgtEl>
                    </p:cond>
                  </p:endCondLst>
                </p:cTn>
                <p:tgtEl>
                  <p:spTgt spid="38098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文本框 26655"/>
          <p:cNvSpPr txBox="1"/>
          <p:nvPr/>
        </p:nvSpPr>
        <p:spPr>
          <a:xfrm>
            <a:off x="1847850" y="4221163"/>
            <a:ext cx="8569325" cy="1198880"/>
          </a:xfrm>
          <a:prstGeom prst="rect">
            <a:avLst/>
          </a:prstGeom>
          <a:noFill/>
          <a:ln w="9525">
            <a:noFill/>
          </a:ln>
        </p:spPr>
        <p:txBody>
          <a:bodyPr anchor="t" anchorCtr="0">
            <a:spAutoFit/>
          </a:bodyPr>
          <a:p>
            <a:pPr algn="just"/>
            <a:r>
              <a:rPr lang="en-US" altLang="zh-CN">
                <a:solidFill>
                  <a:schemeClr val="accent2"/>
                </a:solidFill>
                <a:latin typeface="Trebuchet MS" panose="020B0603020202020204" pitchFamily="34" charset="0"/>
                <a:ea typeface="宋体" panose="02010600030101010101" pitchFamily="2" charset="-122"/>
              </a:rPr>
              <a:t>age and incomplete understanding of the need to position the key just so, he would usually fail.    Benjamin was not bothered in the least.</a:t>
            </a:r>
            <a:r>
              <a:rPr lang="en-US" altLang="zh-CN">
                <a:latin typeface="Trebuchet MS" panose="020B0603020202020204" pitchFamily="34" charset="0"/>
                <a:ea typeface="宋体" panose="02010600030101010101" pitchFamily="2" charset="-122"/>
              </a:rPr>
              <a:t> He probably got as much pleasure out of the sounds the key made as he did those few times when the key actually found its way into the slot.</a:t>
            </a:r>
            <a:endParaRPr lang="en-US" altLang="zh-CN">
              <a:latin typeface="Trebuchet MS" panose="020B0603020202020204" pitchFamily="34" charset="0"/>
              <a:ea typeface="宋体" panose="02010600030101010101" pitchFamily="2" charset="-122"/>
            </a:endParaRPr>
          </a:p>
        </p:txBody>
      </p:sp>
      <p:sp>
        <p:nvSpPr>
          <p:cNvPr id="86018" name="标题 26628"/>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2</a:t>
            </a:r>
            <a:endParaRPr lang="en-US" altLang="zh-CN" sz="4400" kern="1200" baseline="0">
              <a:latin typeface="+mj-lt"/>
              <a:ea typeface="+mj-ea"/>
              <a:cs typeface="+mj-cs"/>
            </a:endParaRPr>
          </a:p>
        </p:txBody>
      </p:sp>
      <p:sp>
        <p:nvSpPr>
          <p:cNvPr id="86019" name="文本框 26641"/>
          <p:cNvSpPr txBox="1"/>
          <p:nvPr/>
        </p:nvSpPr>
        <p:spPr>
          <a:xfrm>
            <a:off x="1847850" y="939800"/>
            <a:ext cx="8569325" cy="922020"/>
          </a:xfrm>
          <a:prstGeom prst="rect">
            <a:avLst/>
          </a:prstGeom>
          <a:noFill/>
          <a:ln w="9525">
            <a:noFill/>
          </a:ln>
        </p:spPr>
        <p:txBody>
          <a:bodyPr anchor="t" anchorCtr="0">
            <a:spAutoFit/>
          </a:bodyPr>
          <a:p>
            <a:pPr algn="just"/>
            <a:r>
              <a:rPr lang="en-US" altLang="zh-CN">
                <a:latin typeface="Trebuchet MS" panose="020B0603020202020204" pitchFamily="34" charset="0"/>
                <a:ea typeface="宋体" panose="02010600030101010101" pitchFamily="2" charset="-122"/>
              </a:rPr>
              <a:t>      The key to our room was </a:t>
            </a:r>
            <a:r>
              <a:rPr lang="en-US" altLang="zh-CN">
                <a:solidFill>
                  <a:srgbClr val="CC0000"/>
                </a:solidFill>
                <a:latin typeface="Trebuchet MS" panose="020B0603020202020204" pitchFamily="34" charset="0"/>
                <a:ea typeface="宋体" panose="02010600030101010101" pitchFamily="2" charset="-122"/>
              </a:rPr>
              <a:t>attached</a:t>
            </a:r>
            <a:r>
              <a:rPr lang="en-US" altLang="zh-CN">
                <a:latin typeface="Trebuchet MS" panose="020B0603020202020204" pitchFamily="34" charset="0"/>
                <a:ea typeface="宋体" panose="02010600030101010101" pitchFamily="2" charset="-122"/>
              </a:rPr>
              <a:t> to a large plastic block with the room number on it. When leaving the hotel, a guest was encouraged to turn in the key, either by handing it to an attendant or by dropping it through a slot into a box.</a:t>
            </a:r>
            <a:endParaRPr lang="en-US" altLang="zh-CN">
              <a:latin typeface="Trebuchet MS" panose="020B0603020202020204" pitchFamily="34" charset="0"/>
              <a:ea typeface="宋体" panose="02010600030101010101" pitchFamily="2" charset="-122"/>
            </a:endParaRPr>
          </a:p>
        </p:txBody>
      </p:sp>
      <p:pic>
        <p:nvPicPr>
          <p:cNvPr id="86020" name="图片 26642" descr="next">
            <a:hlinkClick r:id="" action="ppaction://hlinkshowjump?jump=nextslide"/>
          </p:cNvPr>
          <p:cNvPicPr>
            <a:picLocks noChangeAspect="1"/>
          </p:cNvPicPr>
          <p:nvPr/>
        </p:nvPicPr>
        <p:blipFill>
          <a:blip r:embed="rId1"/>
          <a:stretch>
            <a:fillRect/>
          </a:stretch>
        </p:blipFill>
        <p:spPr>
          <a:xfrm>
            <a:off x="9671050" y="5949950"/>
            <a:ext cx="695325" cy="280988"/>
          </a:xfrm>
          <a:prstGeom prst="rect">
            <a:avLst/>
          </a:prstGeom>
          <a:noFill/>
          <a:ln w="9525">
            <a:noFill/>
          </a:ln>
        </p:spPr>
      </p:pic>
      <p:pic>
        <p:nvPicPr>
          <p:cNvPr id="86021" name="图片 26643" descr="prev">
            <a:hlinkClick r:id="" action="ppaction://hlinkshowjump?jump=previousslide"/>
          </p:cNvPr>
          <p:cNvPicPr>
            <a:picLocks noChangeAspect="1"/>
          </p:cNvPicPr>
          <p:nvPr/>
        </p:nvPicPr>
        <p:blipFill>
          <a:blip r:embed="rId2"/>
          <a:stretch>
            <a:fillRect/>
          </a:stretch>
        </p:blipFill>
        <p:spPr>
          <a:xfrm>
            <a:off x="8975725" y="5949950"/>
            <a:ext cx="695325" cy="280988"/>
          </a:xfrm>
          <a:prstGeom prst="rect">
            <a:avLst/>
          </a:prstGeom>
          <a:noFill/>
          <a:ln w="9525">
            <a:noFill/>
          </a:ln>
        </p:spPr>
      </p:pic>
      <p:sp>
        <p:nvSpPr>
          <p:cNvPr id="86022" name="文本框 26654"/>
          <p:cNvSpPr txBox="1"/>
          <p:nvPr/>
        </p:nvSpPr>
        <p:spPr>
          <a:xfrm>
            <a:off x="1847850" y="2393950"/>
            <a:ext cx="6697663" cy="1476375"/>
          </a:xfrm>
          <a:prstGeom prst="rect">
            <a:avLst/>
          </a:prstGeom>
          <a:noFill/>
          <a:ln w="9525">
            <a:noFill/>
          </a:ln>
        </p:spPr>
        <p:txBody>
          <a:bodyPr anchor="t" anchorCtr="0">
            <a:spAutoFit/>
          </a:bodyPr>
          <a:p>
            <a:pPr algn="just"/>
            <a:r>
              <a:rPr lang="en-US" altLang="zh-CN">
                <a:latin typeface="Trebuchet MS" panose="020B0603020202020204" pitchFamily="34" charset="0"/>
                <a:ea typeface="宋体" panose="02010600030101010101" pitchFamily="2" charset="-122"/>
              </a:rPr>
              <a:t>Because the key slot was narrow, the key had to be positioned carefully to fit into it.</a:t>
            </a:r>
            <a:endParaRPr lang="en-US" altLang="zh-CN">
              <a:latin typeface="Trebuchet MS" panose="020B0603020202020204" pitchFamily="34" charset="0"/>
              <a:ea typeface="宋体" panose="02010600030101010101" pitchFamily="2" charset="-122"/>
            </a:endParaRPr>
          </a:p>
          <a:p>
            <a:pPr algn="just"/>
            <a:r>
              <a:rPr lang="en-US" altLang="zh-CN">
                <a:latin typeface="Trebuchet MS" panose="020B0603020202020204" pitchFamily="34" charset="0"/>
                <a:ea typeface="宋体" panose="02010600030101010101" pitchFamily="2" charset="-122"/>
              </a:rPr>
              <a:t>      Benjamin loved to carry the key around, shaking it vigorously. He also liked to try to place it into the slot.     </a:t>
            </a:r>
            <a:r>
              <a:rPr lang="en-US" altLang="zh-CN">
                <a:solidFill>
                  <a:schemeClr val="accent2"/>
                </a:solidFill>
                <a:latin typeface="Trebuchet MS" panose="020B0603020202020204" pitchFamily="34" charset="0"/>
                <a:ea typeface="宋体" panose="02010600030101010101" pitchFamily="2" charset="-122"/>
              </a:rPr>
              <a:t>Because of his tender</a:t>
            </a:r>
            <a:endParaRPr lang="en-US" altLang="zh-CN">
              <a:solidFill>
                <a:schemeClr val="accent2"/>
              </a:solidFill>
              <a:latin typeface="Trebuchet MS" panose="020B0603020202020204" pitchFamily="34" charset="0"/>
              <a:ea typeface="宋体" panose="02010600030101010101" pitchFamily="2" charset="-122"/>
            </a:endParaRPr>
          </a:p>
        </p:txBody>
      </p:sp>
      <p:pic>
        <p:nvPicPr>
          <p:cNvPr id="86023" name="图片 26656" descr="图片2"/>
          <p:cNvPicPr>
            <a:picLocks noChangeAspect="1"/>
          </p:cNvPicPr>
          <p:nvPr/>
        </p:nvPicPr>
        <p:blipFill>
          <a:blip r:embed="rId3"/>
          <a:stretch>
            <a:fillRect/>
          </a:stretch>
        </p:blipFill>
        <p:spPr>
          <a:xfrm>
            <a:off x="8545513" y="2565400"/>
            <a:ext cx="1816100" cy="1646238"/>
          </a:xfrm>
          <a:prstGeom prst="rect">
            <a:avLst/>
          </a:prstGeom>
          <a:noFill/>
          <a:ln w="9525">
            <a:noFill/>
          </a:ln>
        </p:spPr>
      </p:pic>
      <p:pic>
        <p:nvPicPr>
          <p:cNvPr id="86026" name="图片 26659" descr="1">
            <a:hlinkClick r:id="" action="ppaction://noaction"/>
          </p:cNvPr>
          <p:cNvPicPr>
            <a:picLocks noChangeAspect="1"/>
          </p:cNvPicPr>
          <p:nvPr/>
        </p:nvPicPr>
        <p:blipFill>
          <a:blip r:embed="rId4"/>
          <a:stretch>
            <a:fillRect/>
          </a:stretch>
        </p:blipFill>
        <p:spPr>
          <a:xfrm>
            <a:off x="6383338" y="1023938"/>
            <a:ext cx="1225550" cy="317500"/>
          </a:xfrm>
          <a:prstGeom prst="rect">
            <a:avLst/>
          </a:prstGeom>
          <a:noFill/>
          <a:ln w="9525">
            <a:noFill/>
          </a:ln>
        </p:spPr>
      </p:pic>
      <p:pic>
        <p:nvPicPr>
          <p:cNvPr id="26661" name="u1b2text02.mp3">
            <a:hlinkClick r:id="" action="ppaction://media"/>
          </p:cNvPr>
          <p:cNvPicPr>
            <a:picLocks noRot="1" noChangeAspect="1"/>
          </p:cNvPicPr>
          <p:nvPr>
            <a:audioFile r:link="rId5"/>
            <p:extLst>
              <p:ext uri="{DAA4B4D4-6D71-4841-9C94-3DE7FCFB9230}">
                <p14:media xmlns:p14="http://schemas.microsoft.com/office/powerpoint/2010/main" r:link="rId6"/>
              </p:ext>
            </p:extLst>
          </p:nvPr>
        </p:nvPicPr>
        <p:blipFill>
          <a:blip r:embed="rId7"/>
          <a:stretch>
            <a:fillRect/>
          </a:stretch>
        </p:blipFill>
        <p:spPr>
          <a:xfrm>
            <a:off x="1992313" y="981075"/>
            <a:ext cx="304800" cy="304800"/>
          </a:xfrm>
          <a:prstGeom prst="rect">
            <a:avLst/>
          </a:prstGeom>
          <a:noFill/>
          <a:ln w="9525">
            <a:noFill/>
          </a:ln>
        </p:spPr>
      </p:pic>
      <p:pic>
        <p:nvPicPr>
          <p:cNvPr id="86028" name="图片 26662" descr="图片3"/>
          <p:cNvPicPr>
            <a:picLocks noChangeAspect="1"/>
          </p:cNvPicPr>
          <p:nvPr/>
        </p:nvPicPr>
        <p:blipFill>
          <a:blip r:embed="rId8"/>
          <a:stretch>
            <a:fillRect/>
          </a:stretch>
        </p:blipFill>
        <p:spPr>
          <a:xfrm>
            <a:off x="1919288" y="981075"/>
            <a:ext cx="436562" cy="325438"/>
          </a:xfrm>
          <a:prstGeom prst="rect">
            <a:avLst/>
          </a:prstGeom>
          <a:noFill/>
          <a:ln w="9525">
            <a:noFill/>
          </a:ln>
        </p:spPr>
      </p:pic>
      <p:pic>
        <p:nvPicPr>
          <p:cNvPr id="86030" name="图片 26664" descr="图片3"/>
          <p:cNvPicPr>
            <a:picLocks noChangeAspect="1"/>
          </p:cNvPicPr>
          <p:nvPr/>
        </p:nvPicPr>
        <p:blipFill>
          <a:blip r:embed="rId8"/>
          <a:stretch>
            <a:fillRect/>
          </a:stretch>
        </p:blipFill>
        <p:spPr>
          <a:xfrm>
            <a:off x="1154113" y="3225800"/>
            <a:ext cx="436562" cy="325438"/>
          </a:xfrm>
          <a:prstGeom prst="rect">
            <a:avLst/>
          </a:prstGeom>
          <a:noFill/>
          <a:ln w="9525">
            <a:noFill/>
          </a:ln>
        </p:spPr>
      </p:pic>
    </p:spTree>
  </p:cSld>
  <p:clrMapOvr>
    <a:masterClrMapping/>
  </p:clrMapOvr>
  <p:transition advClick="0"/>
  <p:timing>
    <p:tnLst>
      <p:par>
        <p:cTn id="1" dur="indefinite" restart="never" nodeType="tmRoot">
          <p:childTnLst>
            <p:audio>
              <p:cMediaNode>
                <p:cTn id="2" fill="hold" display="0">
                  <p:stCondLst>
                    <p:cond delay="indefinite"/>
                  </p:stCondLst>
                  <p:endCondLst>
                    <p:cond evt="onNext" delay="0">
                      <p:tgtEl>
                        <p:sldTgt/>
                      </p:tgtEl>
                    </p:cond>
                    <p:cond evt="onPrev" delay="0">
                      <p:tgtEl>
                        <p:sldTgt/>
                      </p:tgtEl>
                    </p:cond>
                    <p:cond evt="onStopAudio" delay="0">
                      <p:tgtEl>
                        <p:sldTgt/>
                      </p:tgtEl>
                    </p:cond>
                  </p:endCondLst>
                </p:cTn>
                <p:tgtEl>
                  <p:spTgt spid="26661"/>
                </p:tgtEl>
              </p:cMediaNode>
            </p:audio>
            <p:seq concurrent="1" nextAc="seek">
              <p:cTn id="3" restart="whenNotActive" fill="hold" evtFilter="cancelBubble" nodeType="interactiveSeq">
                <p:stCondLst>
                  <p:cond evt="onClick" delay="0">
                    <p:tgtEl>
                      <p:spTgt spid="86028"/>
                    </p:tgtEl>
                  </p:cond>
                </p:stCondLst>
                <p:endSync evt="end" delay="0">
                  <p:rtn val="all"/>
                </p:endSync>
                <p:childTnLst>
                  <p:par>
                    <p:cTn id="4" fill="hold">
                      <p:stCondLst>
                        <p:cond delay="0"/>
                      </p:stCondLst>
                      <p:childTnLst>
                        <p:par>
                          <p:cTn id="5" fill="hold">
                            <p:stCondLst>
                              <p:cond delay="0"/>
                            </p:stCondLst>
                            <p:childTnLst>
                              <p:par>
                                <p:cTn id="6" presetID="1" presetClass="mediacall" presetSubtype="0" fill="hold" nodeType="clickEffect">
                                  <p:stCondLst>
                                    <p:cond delay="0"/>
                                  </p:stCondLst>
                                  <p:childTnLst>
                                    <p:cmd type="call" cmd="playFrom(0.0)">
                                      <p:cBhvr>
                                        <p:cTn id="7" dur="24876" fill="hold"/>
                                        <p:tgtEl>
                                          <p:spTgt spid="26661"/>
                                        </p:tgtEl>
                                      </p:cBhvr>
                                    </p:cmd>
                                  </p:childTnLst>
                                </p:cTn>
                              </p:par>
                            </p:childTnLst>
                          </p:cTn>
                        </p:par>
                      </p:childTnLst>
                    </p:cTn>
                  </p:par>
                  <p:par>
                    <p:cTn id="8" fill="hold">
                      <p:stCondLst>
                        <p:cond delay="indefinite"/>
                      </p:stCondLst>
                      <p:childTnLst>
                        <p:par>
                          <p:cTn id="9" fill="hold">
                            <p:stCondLst>
                              <p:cond delay="0"/>
                            </p:stCondLst>
                            <p:childTnLst>
                              <p:par>
                                <p:cTn id="10" presetID="3" presetClass="mediacall" presetSubtype="0" fill="hold" nodeType="clickEffect">
                                  <p:stCondLst>
                                    <p:cond delay="0"/>
                                  </p:stCondLst>
                                  <p:childTnLst>
                                    <p:cmd type="call" cmd="stop">
                                      <p:cBhvr>
                                        <p:cTn id="11" dur="1" fill="hold"/>
                                        <p:tgtEl>
                                          <p:spTgt spid="26661"/>
                                        </p:tgtEl>
                                      </p:cBhvr>
                                    </p:cmd>
                                  </p:childTnLst>
                                </p:cTn>
                              </p:par>
                            </p:childTnLst>
                          </p:cTn>
                        </p:par>
                      </p:childTnLst>
                    </p:cTn>
                  </p:par>
                </p:childTnLst>
              </p:cTn>
              <p:nextCondLst>
                <p:cond evt="onClick" delay="0">
                  <p:tgtEl>
                    <p:spTgt spid="86028"/>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标题 27652"/>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3</a:t>
            </a:r>
            <a:endParaRPr lang="en-US" altLang="zh-CN" sz="4400" kern="1200" baseline="0">
              <a:latin typeface="+mj-lt"/>
              <a:ea typeface="+mj-ea"/>
              <a:cs typeface="+mj-cs"/>
            </a:endParaRPr>
          </a:p>
        </p:txBody>
      </p:sp>
      <p:sp>
        <p:nvSpPr>
          <p:cNvPr id="88066" name="文本框 27721"/>
          <p:cNvSpPr txBox="1"/>
          <p:nvPr/>
        </p:nvSpPr>
        <p:spPr>
          <a:xfrm>
            <a:off x="1847850" y="1019175"/>
            <a:ext cx="6264275" cy="1198880"/>
          </a:xfrm>
          <a:prstGeom prst="rect">
            <a:avLst/>
          </a:prstGeom>
          <a:noFill/>
          <a:ln w="9525">
            <a:noFill/>
          </a:ln>
        </p:spPr>
        <p:txBody>
          <a:bodyPr anchor="t" anchorCtr="0">
            <a:spAutoFit/>
          </a:bodyPr>
          <a:p>
            <a:pPr algn="just"/>
            <a:r>
              <a:rPr lang="en-US" altLang="zh-CN" dirty="0">
                <a:latin typeface="Trebuchet MS" panose="020B0603020202020204" pitchFamily="34" charset="0"/>
                <a:ea typeface="宋体" panose="02010600030101010101" pitchFamily="2" charset="-122"/>
              </a:rPr>
              <a:t>       </a:t>
            </a:r>
            <a:r>
              <a:rPr lang="en-US" altLang="zh-CN">
                <a:latin typeface="Trebuchet MS" panose="020B0603020202020204" pitchFamily="34" charset="0"/>
                <a:ea typeface="宋体" panose="02010600030101010101" pitchFamily="2" charset="-122"/>
              </a:rPr>
              <a:t>Now both Ellen and I were perfectly happy to allow Benjamin to bang the key near the key slot. His exploratory behavior seemed harmless enough. But I soon observed an interesting phenomenon. Any</a:t>
            </a:r>
            <a:endParaRPr lang="en-US" altLang="zh-CN">
              <a:latin typeface="Trebuchet MS" panose="020B0603020202020204" pitchFamily="34" charset="0"/>
              <a:ea typeface="宋体" panose="02010600030101010101" pitchFamily="2" charset="-122"/>
            </a:endParaRPr>
          </a:p>
        </p:txBody>
      </p:sp>
      <p:sp>
        <p:nvSpPr>
          <p:cNvPr id="88067" name="文本框 27722"/>
          <p:cNvSpPr txBox="1"/>
          <p:nvPr/>
        </p:nvSpPr>
        <p:spPr>
          <a:xfrm>
            <a:off x="1847850" y="2859088"/>
            <a:ext cx="8569325" cy="2030095"/>
          </a:xfrm>
          <a:prstGeom prst="rect">
            <a:avLst/>
          </a:prstGeom>
          <a:noFill/>
          <a:ln w="9525">
            <a:noFill/>
          </a:ln>
        </p:spPr>
        <p:txBody>
          <a:bodyPr anchor="t" anchorCtr="0">
            <a:spAutoFit/>
          </a:bodyPr>
          <a:p>
            <a:pPr algn="just"/>
            <a:r>
              <a:rPr lang="en-US" altLang="zh-CN">
                <a:latin typeface="Trebuchet MS" panose="020B0603020202020204" pitchFamily="34" charset="0"/>
                <a:ea typeface="宋体" panose="02010600030101010101" pitchFamily="2" charset="-122"/>
              </a:rPr>
              <a:t>Chinese staff member nearby would come over to watch Benjamin and, noting his lack of </a:t>
            </a:r>
            <a:r>
              <a:rPr lang="en-US" altLang="zh-CN">
                <a:solidFill>
                  <a:srgbClr val="CC0000"/>
                </a:solidFill>
                <a:latin typeface="Trebuchet MS" panose="020B0603020202020204" pitchFamily="34" charset="0"/>
                <a:ea typeface="宋体" panose="02010600030101010101" pitchFamily="2" charset="-122"/>
              </a:rPr>
              <a:t>initial</a:t>
            </a:r>
            <a:r>
              <a:rPr lang="en-US" altLang="zh-CN">
                <a:latin typeface="Trebuchet MS" panose="020B0603020202020204" pitchFamily="34" charset="0"/>
                <a:ea typeface="宋体" panose="02010600030101010101" pitchFamily="2" charset="-122"/>
              </a:rPr>
              <a:t> success, attempt to assist. He or she would hold onto Benjamin’s hand and, gently but firmly, guide it directly toward the slot, reposition it as necessary, and help him to insert it. The “teacher” would then smile somewhat expectantly at Ellen or me, as if </a:t>
            </a:r>
            <a:r>
              <a:rPr lang="en-US" altLang="zh-CN">
                <a:solidFill>
                  <a:srgbClr val="CC0000"/>
                </a:solidFill>
                <a:latin typeface="Trebuchet MS" panose="020B0603020202020204" pitchFamily="34" charset="0"/>
                <a:ea typeface="宋体" panose="02010600030101010101" pitchFamily="2" charset="-122"/>
              </a:rPr>
              <a:t>awaiting</a:t>
            </a:r>
            <a:r>
              <a:rPr lang="en-US" altLang="zh-CN">
                <a:latin typeface="Trebuchet MS" panose="020B0603020202020204" pitchFamily="34" charset="0"/>
                <a:ea typeface="宋体" panose="02010600030101010101" pitchFamily="2" charset="-122"/>
              </a:rPr>
              <a:t> a thank you — and </a:t>
            </a:r>
            <a:r>
              <a:rPr lang="en-US" altLang="zh-CN">
                <a:solidFill>
                  <a:srgbClr val="CC0000"/>
                </a:solidFill>
                <a:latin typeface="Trebuchet MS" panose="020B0603020202020204" pitchFamily="34" charset="0"/>
                <a:ea typeface="宋体" panose="02010600030101010101" pitchFamily="2" charset="-122"/>
              </a:rPr>
              <a:t>on occasion</a:t>
            </a:r>
            <a:r>
              <a:rPr lang="en-US" altLang="zh-CN">
                <a:latin typeface="Trebuchet MS" panose="020B0603020202020204" pitchFamily="34" charset="0"/>
                <a:ea typeface="宋体" panose="02010600030101010101" pitchFamily="2" charset="-122"/>
              </a:rPr>
              <a:t> would frown slightly, as if considering us to be </a:t>
            </a:r>
            <a:r>
              <a:rPr lang="en-US" altLang="zh-CN">
                <a:solidFill>
                  <a:srgbClr val="CC0000"/>
                </a:solidFill>
                <a:latin typeface="Trebuchet MS" panose="020B0603020202020204" pitchFamily="34" charset="0"/>
                <a:ea typeface="宋体" panose="02010600030101010101" pitchFamily="2" charset="-122"/>
              </a:rPr>
              <a:t>neglecting</a:t>
            </a:r>
            <a:r>
              <a:rPr lang="en-US" altLang="zh-CN">
                <a:latin typeface="Trebuchet MS" panose="020B0603020202020204" pitchFamily="34" charset="0"/>
                <a:ea typeface="宋体" panose="02010600030101010101" pitchFamily="2" charset="-122"/>
              </a:rPr>
              <a:t> our parental duties.</a:t>
            </a:r>
            <a:endParaRPr lang="en-US" altLang="zh-CN">
              <a:latin typeface="Trebuchet MS" panose="020B0603020202020204" pitchFamily="34" charset="0"/>
              <a:ea typeface="宋体" panose="02010600030101010101" pitchFamily="2" charset="-122"/>
            </a:endParaRPr>
          </a:p>
        </p:txBody>
      </p:sp>
      <p:pic>
        <p:nvPicPr>
          <p:cNvPr id="88068" name="图片 27723" descr="next">
            <a:hlinkClick r:id="" action="ppaction://hlinkshowjump?jump=nextslide"/>
          </p:cNvPr>
          <p:cNvPicPr>
            <a:picLocks noChangeAspect="1"/>
          </p:cNvPicPr>
          <p:nvPr/>
        </p:nvPicPr>
        <p:blipFill>
          <a:blip r:embed="rId1"/>
          <a:stretch>
            <a:fillRect/>
          </a:stretch>
        </p:blipFill>
        <p:spPr>
          <a:xfrm>
            <a:off x="9671050" y="5949950"/>
            <a:ext cx="695325" cy="280988"/>
          </a:xfrm>
          <a:prstGeom prst="rect">
            <a:avLst/>
          </a:prstGeom>
          <a:noFill/>
          <a:ln w="9525">
            <a:noFill/>
          </a:ln>
        </p:spPr>
      </p:pic>
      <p:pic>
        <p:nvPicPr>
          <p:cNvPr id="88069" name="图片 27724" descr="prev">
            <a:hlinkClick r:id="" action="ppaction://hlinkshowjump?jump=previousslide"/>
          </p:cNvPr>
          <p:cNvPicPr>
            <a:picLocks noChangeAspect="1"/>
          </p:cNvPicPr>
          <p:nvPr/>
        </p:nvPicPr>
        <p:blipFill>
          <a:blip r:embed="rId2"/>
          <a:stretch>
            <a:fillRect/>
          </a:stretch>
        </p:blipFill>
        <p:spPr>
          <a:xfrm>
            <a:off x="8975725" y="5949950"/>
            <a:ext cx="695325" cy="280988"/>
          </a:xfrm>
          <a:prstGeom prst="rect">
            <a:avLst/>
          </a:prstGeom>
          <a:noFill/>
          <a:ln w="9525">
            <a:noFill/>
          </a:ln>
        </p:spPr>
      </p:pic>
      <p:pic>
        <p:nvPicPr>
          <p:cNvPr id="88070" name="图片 27732" descr="图片3"/>
          <p:cNvPicPr>
            <a:picLocks noChangeAspect="1"/>
          </p:cNvPicPr>
          <p:nvPr/>
        </p:nvPicPr>
        <p:blipFill>
          <a:blip r:embed="rId3"/>
          <a:stretch>
            <a:fillRect/>
          </a:stretch>
        </p:blipFill>
        <p:spPr>
          <a:xfrm>
            <a:off x="8040688" y="1052513"/>
            <a:ext cx="1962150" cy="1719262"/>
          </a:xfrm>
          <a:prstGeom prst="rect">
            <a:avLst/>
          </a:prstGeom>
          <a:noFill/>
          <a:ln w="9525">
            <a:noFill/>
          </a:ln>
        </p:spPr>
      </p:pic>
      <p:pic>
        <p:nvPicPr>
          <p:cNvPr id="88071" name="图片 27733" descr="1">
            <a:hlinkClick r:id="" action="ppaction://noaction"/>
          </p:cNvPr>
          <p:cNvPicPr>
            <a:picLocks noChangeAspect="1"/>
          </p:cNvPicPr>
          <p:nvPr/>
        </p:nvPicPr>
        <p:blipFill>
          <a:blip r:embed="rId4"/>
          <a:stretch>
            <a:fillRect/>
          </a:stretch>
        </p:blipFill>
        <p:spPr>
          <a:xfrm>
            <a:off x="6600825" y="3284538"/>
            <a:ext cx="790575" cy="317500"/>
          </a:xfrm>
          <a:prstGeom prst="rect">
            <a:avLst/>
          </a:prstGeom>
          <a:noFill/>
          <a:ln w="9525">
            <a:noFill/>
          </a:ln>
        </p:spPr>
      </p:pic>
      <p:pic>
        <p:nvPicPr>
          <p:cNvPr id="88072" name="图片 27734" descr="1">
            <a:hlinkClick r:id="" action="ppaction://noaction"/>
          </p:cNvPr>
          <p:cNvPicPr>
            <a:picLocks noChangeAspect="1"/>
          </p:cNvPicPr>
          <p:nvPr/>
        </p:nvPicPr>
        <p:blipFill>
          <a:blip r:embed="rId4"/>
          <a:stretch>
            <a:fillRect/>
          </a:stretch>
        </p:blipFill>
        <p:spPr>
          <a:xfrm>
            <a:off x="3792538" y="5127625"/>
            <a:ext cx="1079500" cy="317500"/>
          </a:xfrm>
          <a:prstGeom prst="rect">
            <a:avLst/>
          </a:prstGeom>
          <a:noFill/>
          <a:ln w="9525">
            <a:noFill/>
          </a:ln>
        </p:spPr>
      </p:pic>
      <p:pic>
        <p:nvPicPr>
          <p:cNvPr id="88073" name="图片 27735" descr="1">
            <a:hlinkClick r:id="" action="ppaction://noaction"/>
          </p:cNvPr>
          <p:cNvPicPr>
            <a:picLocks noChangeAspect="1"/>
          </p:cNvPicPr>
          <p:nvPr/>
        </p:nvPicPr>
        <p:blipFill>
          <a:blip r:embed="rId4"/>
          <a:stretch>
            <a:fillRect/>
          </a:stretch>
        </p:blipFill>
        <p:spPr>
          <a:xfrm>
            <a:off x="7751763" y="5127625"/>
            <a:ext cx="1657350" cy="317500"/>
          </a:xfrm>
          <a:prstGeom prst="rect">
            <a:avLst/>
          </a:prstGeom>
          <a:noFill/>
          <a:ln w="9525">
            <a:noFill/>
          </a:ln>
        </p:spPr>
      </p:pic>
      <p:pic>
        <p:nvPicPr>
          <p:cNvPr id="88074" name="图片 27736" descr="1">
            <a:hlinkClick r:id="" action="ppaction://noaction"/>
          </p:cNvPr>
          <p:cNvPicPr>
            <a:picLocks noChangeAspect="1"/>
          </p:cNvPicPr>
          <p:nvPr/>
        </p:nvPicPr>
        <p:blipFill>
          <a:blip r:embed="rId4"/>
          <a:stretch>
            <a:fillRect/>
          </a:stretch>
        </p:blipFill>
        <p:spPr>
          <a:xfrm>
            <a:off x="8256588" y="5516563"/>
            <a:ext cx="1511300" cy="317500"/>
          </a:xfrm>
          <a:prstGeom prst="rect">
            <a:avLst/>
          </a:prstGeom>
          <a:noFill/>
          <a:ln w="9525">
            <a:noFill/>
          </a:ln>
        </p:spPr>
      </p:pic>
      <p:pic>
        <p:nvPicPr>
          <p:cNvPr id="27738" name="u1b2text04.mp3">
            <a:hlinkClick r:id="" action="ppaction://media"/>
          </p:cNvPr>
          <p:cNvPicPr>
            <a:picLocks noRot="1" noChangeAspect="1"/>
          </p:cNvPicPr>
          <p:nvPr>
            <a:audioFile r:link="rId5"/>
            <p:extLst>
              <p:ext uri="{DAA4B4D4-6D71-4841-9C94-3DE7FCFB9230}">
                <p14:media xmlns:p14="http://schemas.microsoft.com/office/powerpoint/2010/main" r:link="rId6"/>
              </p:ext>
            </p:extLst>
          </p:nvPr>
        </p:nvPicPr>
        <p:blipFill>
          <a:blip r:embed="rId7"/>
          <a:stretch>
            <a:fillRect/>
          </a:stretch>
        </p:blipFill>
        <p:spPr>
          <a:xfrm>
            <a:off x="2063750" y="1125538"/>
            <a:ext cx="304800" cy="304800"/>
          </a:xfrm>
          <a:prstGeom prst="rect">
            <a:avLst/>
          </a:prstGeom>
          <a:noFill/>
          <a:ln w="9525">
            <a:noFill/>
          </a:ln>
        </p:spPr>
      </p:pic>
      <p:pic>
        <p:nvPicPr>
          <p:cNvPr id="88076" name="图片 27738" descr="图片3"/>
          <p:cNvPicPr>
            <a:picLocks noChangeAspect="1"/>
          </p:cNvPicPr>
          <p:nvPr/>
        </p:nvPicPr>
        <p:blipFill>
          <a:blip r:embed="rId8"/>
          <a:stretch>
            <a:fillRect/>
          </a:stretch>
        </p:blipFill>
        <p:spPr>
          <a:xfrm>
            <a:off x="2063750" y="1125538"/>
            <a:ext cx="436563" cy="325437"/>
          </a:xfrm>
          <a:prstGeom prst="rect">
            <a:avLst/>
          </a:prstGeom>
          <a:noFill/>
          <a:ln w="9525">
            <a:noFill/>
          </a:ln>
        </p:spPr>
      </p:pic>
    </p:spTree>
  </p:cSld>
  <p:clrMapOvr>
    <a:masterClrMapping/>
  </p:clrMapOvr>
  <p:transition advClick="0"/>
  <p:timing>
    <p:tnLst>
      <p:par>
        <p:cTn id="1" dur="indefinite" restart="never" nodeType="tmRoot">
          <p:childTnLst>
            <p:audio>
              <p:cMediaNode>
                <p:cTn id="2" fill="hold" display="0">
                  <p:stCondLst>
                    <p:cond delay="indefinite"/>
                  </p:stCondLst>
                  <p:endCondLst>
                    <p:cond evt="onNext" delay="0">
                      <p:tgtEl>
                        <p:sldTgt/>
                      </p:tgtEl>
                    </p:cond>
                    <p:cond evt="onPrev" delay="0">
                      <p:tgtEl>
                        <p:sldTgt/>
                      </p:tgtEl>
                    </p:cond>
                    <p:cond evt="onStopAudio" delay="0">
                      <p:tgtEl>
                        <p:sldTgt/>
                      </p:tgtEl>
                    </p:cond>
                  </p:endCondLst>
                </p:cTn>
                <p:tgtEl>
                  <p:spTgt spid="27738"/>
                </p:tgtEl>
              </p:cMediaNode>
            </p:audio>
            <p:seq concurrent="1" nextAc="seek">
              <p:cTn id="3" restart="whenNotActive" fill="hold" evtFilter="cancelBubble" nodeType="interactiveSeq">
                <p:stCondLst>
                  <p:cond evt="onClick" delay="0">
                    <p:tgtEl>
                      <p:spTgt spid="88076"/>
                    </p:tgtEl>
                  </p:cond>
                </p:stCondLst>
                <p:endSync evt="end" delay="0">
                  <p:rtn val="all"/>
                </p:endSync>
                <p:childTnLst>
                  <p:par>
                    <p:cTn id="4" fill="hold">
                      <p:stCondLst>
                        <p:cond delay="0"/>
                      </p:stCondLst>
                      <p:childTnLst>
                        <p:par>
                          <p:cTn id="5" fill="hold">
                            <p:stCondLst>
                              <p:cond delay="0"/>
                            </p:stCondLst>
                            <p:childTnLst>
                              <p:par>
                                <p:cTn id="6" presetID="1" presetClass="mediacall" presetSubtype="0" fill="hold" nodeType="clickEffect">
                                  <p:stCondLst>
                                    <p:cond delay="0"/>
                                  </p:stCondLst>
                                  <p:childTnLst>
                                    <p:cmd type="call" cmd="playFrom(0.0)">
                                      <p:cBhvr>
                                        <p:cTn id="7" dur="54864" fill="hold"/>
                                        <p:tgtEl>
                                          <p:spTgt spid="27738"/>
                                        </p:tgtEl>
                                      </p:cBhvr>
                                    </p:cmd>
                                  </p:childTnLst>
                                </p:cTn>
                              </p:par>
                            </p:childTnLst>
                          </p:cTn>
                        </p:par>
                      </p:childTnLst>
                    </p:cTn>
                  </p:par>
                  <p:par>
                    <p:cTn id="8" fill="hold">
                      <p:stCondLst>
                        <p:cond delay="indefinite"/>
                      </p:stCondLst>
                      <p:childTnLst>
                        <p:par>
                          <p:cTn id="9" fill="hold">
                            <p:stCondLst>
                              <p:cond delay="0"/>
                            </p:stCondLst>
                            <p:childTnLst>
                              <p:par>
                                <p:cTn id="10" presetID="3" presetClass="mediacall" presetSubtype="0" fill="hold" nodeType="clickEffect">
                                  <p:stCondLst>
                                    <p:cond delay="0"/>
                                  </p:stCondLst>
                                  <p:childTnLst>
                                    <p:cmd type="call" cmd="stop">
                                      <p:cBhvr>
                                        <p:cTn id="11" dur="1" fill="hold"/>
                                        <p:tgtEl>
                                          <p:spTgt spid="27738"/>
                                        </p:tgtEl>
                                      </p:cBhvr>
                                    </p:cmd>
                                  </p:childTnLst>
                                </p:cTn>
                              </p:par>
                            </p:childTnLst>
                          </p:cTn>
                        </p:par>
                      </p:childTnLst>
                    </p:cTn>
                  </p:par>
                </p:childTnLst>
              </p:cTn>
              <p:nextCondLst>
                <p:cond evt="onClick" delay="0">
                  <p:tgtEl>
                    <p:spTgt spid="88076"/>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文本框 383010"/>
          <p:cNvSpPr txBox="1"/>
          <p:nvPr/>
        </p:nvSpPr>
        <p:spPr>
          <a:xfrm>
            <a:off x="1992313" y="981075"/>
            <a:ext cx="8424862" cy="3138170"/>
          </a:xfrm>
          <a:prstGeom prst="rect">
            <a:avLst/>
          </a:prstGeom>
          <a:noFill/>
          <a:ln w="9525">
            <a:noFill/>
          </a:ln>
        </p:spPr>
        <p:txBody>
          <a:bodyPr anchor="t" anchorCtr="0">
            <a:spAutoFit/>
          </a:bodyPr>
          <a:p>
            <a:pPr algn="just"/>
            <a:r>
              <a:rPr lang="en-US" altLang="zh-CN" dirty="0">
                <a:latin typeface="Trebuchet MS" panose="020B0603020202020204" pitchFamily="34" charset="0"/>
                <a:ea typeface="宋体" panose="02010600030101010101" pitchFamily="2" charset="-122"/>
              </a:rPr>
              <a:t>      </a:t>
            </a:r>
            <a:r>
              <a:rPr lang="en-US" altLang="zh-CN">
                <a:latin typeface="Trebuchet MS" panose="020B0603020202020204" pitchFamily="34" charset="0"/>
                <a:ea typeface="宋体" panose="02010600030101010101" pitchFamily="2" charset="-122"/>
              </a:rPr>
              <a:t>I soon realized that this incident was directly </a:t>
            </a:r>
            <a:r>
              <a:rPr lang="en-US" altLang="zh-CN">
                <a:solidFill>
                  <a:srgbClr val="CC3300"/>
                </a:solidFill>
                <a:latin typeface="Trebuchet MS" panose="020B0603020202020204" pitchFamily="34" charset="0"/>
                <a:ea typeface="宋体" panose="02010600030101010101" pitchFamily="2" charset="-122"/>
              </a:rPr>
              <a:t>relevant</a:t>
            </a:r>
            <a:r>
              <a:rPr lang="en-US" altLang="zh-CN">
                <a:latin typeface="Trebuchet MS" panose="020B0603020202020204" pitchFamily="34" charset="0"/>
                <a:ea typeface="宋体" panose="02010600030101010101" pitchFamily="2" charset="-122"/>
              </a:rPr>
              <a:t> to our assigned tasks in China: to </a:t>
            </a:r>
            <a:r>
              <a:rPr lang="en-US" altLang="zh-CN">
                <a:solidFill>
                  <a:srgbClr val="CC3300"/>
                </a:solidFill>
                <a:latin typeface="Trebuchet MS" panose="020B0603020202020204" pitchFamily="34" charset="0"/>
                <a:ea typeface="宋体" panose="02010600030101010101" pitchFamily="2" charset="-122"/>
              </a:rPr>
              <a:t>investigate</a:t>
            </a:r>
            <a:r>
              <a:rPr lang="en-US" altLang="zh-CN">
                <a:latin typeface="Trebuchet MS" panose="020B0603020202020204" pitchFamily="34" charset="0"/>
                <a:ea typeface="宋体" panose="02010600030101010101" pitchFamily="2" charset="-122"/>
              </a:rPr>
              <a:t> the ways of early childhood education (especially in the arts),     </a:t>
            </a:r>
            <a:r>
              <a:rPr lang="en-US" altLang="zh-CN">
                <a:solidFill>
                  <a:schemeClr val="accent2"/>
                </a:solidFill>
                <a:latin typeface="Trebuchet MS" panose="020B0603020202020204" pitchFamily="34" charset="0"/>
                <a:ea typeface="宋体" panose="02010600030101010101" pitchFamily="2" charset="-122"/>
              </a:rPr>
              <a:t>and to </a:t>
            </a:r>
            <a:r>
              <a:rPr lang="en-US" altLang="zh-CN">
                <a:solidFill>
                  <a:srgbClr val="CC0000"/>
                </a:solidFill>
                <a:latin typeface="Trebuchet MS" panose="020B0603020202020204" pitchFamily="34" charset="0"/>
                <a:ea typeface="宋体" panose="02010600030101010101" pitchFamily="2" charset="-122"/>
              </a:rPr>
              <a:t>throw light on</a:t>
            </a:r>
            <a:r>
              <a:rPr lang="en-US" altLang="zh-CN">
                <a:solidFill>
                  <a:schemeClr val="accent2"/>
                </a:solidFill>
                <a:latin typeface="Trebuchet MS" panose="020B0603020202020204" pitchFamily="34" charset="0"/>
                <a:ea typeface="宋体" panose="02010600030101010101" pitchFamily="2" charset="-122"/>
              </a:rPr>
              <a:t> Chinese attitudes toward creativity.</a:t>
            </a:r>
            <a:r>
              <a:rPr lang="en-US" altLang="zh-CN">
                <a:latin typeface="Trebuchet MS" panose="020B0603020202020204" pitchFamily="34" charset="0"/>
                <a:ea typeface="宋体" panose="02010600030101010101" pitchFamily="2" charset="-122"/>
              </a:rPr>
              <a:t> And so before long I began to introduce the key-slot anecdote into my discussions with Chinese educators.</a:t>
            </a:r>
            <a:endParaRPr lang="en-US" altLang="zh-CN">
              <a:latin typeface="Trebuchet MS" panose="020B0603020202020204" pitchFamily="34" charset="0"/>
              <a:ea typeface="宋体" panose="02010600030101010101" pitchFamily="2" charset="-122"/>
            </a:endParaRPr>
          </a:p>
          <a:p>
            <a:pPr algn="just"/>
            <a:r>
              <a:rPr lang="en-US" altLang="zh-CN" b="1">
                <a:latin typeface="Trebuchet MS" panose="020B0603020202020204" pitchFamily="34" charset="0"/>
                <a:ea typeface="宋体" panose="02010600030101010101" pitchFamily="2" charset="-122"/>
              </a:rPr>
              <a:t>     TWO DIFFERENT WAYS TO LEARN</a:t>
            </a:r>
            <a:endParaRPr lang="en-US" altLang="zh-CN" b="1">
              <a:latin typeface="Trebuchet MS" panose="020B0603020202020204" pitchFamily="34" charset="0"/>
              <a:ea typeface="宋体" panose="02010600030101010101" pitchFamily="2" charset="-122"/>
            </a:endParaRPr>
          </a:p>
          <a:p>
            <a:pPr algn="just"/>
            <a:r>
              <a:rPr lang="en-US" altLang="zh-CN">
                <a:latin typeface="Trebuchet MS" panose="020B0603020202020204" pitchFamily="34" charset="0"/>
                <a:ea typeface="宋体" panose="02010600030101010101" pitchFamily="2" charset="-122"/>
              </a:rPr>
              <a:t>      With a few </a:t>
            </a:r>
            <a:r>
              <a:rPr lang="en-US" altLang="zh-CN">
                <a:solidFill>
                  <a:srgbClr val="CC0000"/>
                </a:solidFill>
                <a:latin typeface="Trebuchet MS" panose="020B0603020202020204" pitchFamily="34" charset="0"/>
                <a:ea typeface="宋体" panose="02010600030101010101" pitchFamily="2" charset="-122"/>
              </a:rPr>
              <a:t>exceptions</a:t>
            </a:r>
            <a:r>
              <a:rPr lang="en-US" altLang="zh-CN">
                <a:latin typeface="Trebuchet MS" panose="020B0603020202020204" pitchFamily="34" charset="0"/>
                <a:ea typeface="宋体" panose="02010600030101010101" pitchFamily="2" charset="-122"/>
              </a:rPr>
              <a:t> my Chinese colleagues displayed the same attitude as the staff at the Jinling Hotel. Since adults know how to place the key in the key slot, which is the ultimate purpose of approaching the slot, and</a:t>
            </a:r>
            <a:r>
              <a:rPr lang="en-US" altLang="zh-CN">
                <a:solidFill>
                  <a:schemeClr val="accent2"/>
                </a:solidFill>
                <a:latin typeface="Trebuchet MS" panose="020B0603020202020204" pitchFamily="34" charset="0"/>
                <a:ea typeface="宋体" panose="02010600030101010101" pitchFamily="2" charset="-122"/>
              </a:rPr>
              <a:t>    since the child is neither old enough nor clever enough to realize the desired action on his own, what possible gain is achieved by having him struggle? </a:t>
            </a:r>
            <a:endParaRPr lang="en-US" altLang="zh-CN">
              <a:solidFill>
                <a:schemeClr val="accent2"/>
              </a:solidFill>
              <a:latin typeface="Trebuchet MS" panose="020B0603020202020204" pitchFamily="34" charset="0"/>
              <a:ea typeface="宋体" panose="02010600030101010101" pitchFamily="2" charset="-122"/>
            </a:endParaRPr>
          </a:p>
        </p:txBody>
      </p:sp>
      <p:sp>
        <p:nvSpPr>
          <p:cNvPr id="90114" name="标题 382977"/>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4</a:t>
            </a:r>
            <a:endParaRPr lang="en-US" altLang="zh-CN" sz="4400" kern="1200" baseline="0">
              <a:latin typeface="+mj-lt"/>
              <a:ea typeface="+mj-ea"/>
              <a:cs typeface="+mj-cs"/>
            </a:endParaRPr>
          </a:p>
        </p:txBody>
      </p:sp>
      <p:pic>
        <p:nvPicPr>
          <p:cNvPr id="90115" name="图片 382999" descr="next">
            <a:hlinkClick r:id="" action="ppaction://hlinkshowjump?jump=nextslide"/>
          </p:cNvPr>
          <p:cNvPicPr>
            <a:picLocks noChangeAspect="1"/>
          </p:cNvPicPr>
          <p:nvPr/>
        </p:nvPicPr>
        <p:blipFill>
          <a:blip r:embed="rId1"/>
          <a:stretch>
            <a:fillRect/>
          </a:stretch>
        </p:blipFill>
        <p:spPr>
          <a:xfrm>
            <a:off x="9671050" y="5949950"/>
            <a:ext cx="695325" cy="280988"/>
          </a:xfrm>
          <a:prstGeom prst="rect">
            <a:avLst/>
          </a:prstGeom>
          <a:noFill/>
          <a:ln w="9525">
            <a:noFill/>
          </a:ln>
        </p:spPr>
      </p:pic>
      <p:pic>
        <p:nvPicPr>
          <p:cNvPr id="90116" name="图片 383000" descr="prev">
            <a:hlinkClick r:id="" action="ppaction://hlinkshowjump?jump=previousslide"/>
          </p:cNvPr>
          <p:cNvPicPr>
            <a:picLocks noChangeAspect="1"/>
          </p:cNvPicPr>
          <p:nvPr/>
        </p:nvPicPr>
        <p:blipFill>
          <a:blip r:embed="rId2"/>
          <a:stretch>
            <a:fillRect/>
          </a:stretch>
        </p:blipFill>
        <p:spPr>
          <a:xfrm>
            <a:off x="8975725" y="5949950"/>
            <a:ext cx="695325" cy="280988"/>
          </a:xfrm>
          <a:prstGeom prst="rect">
            <a:avLst/>
          </a:prstGeom>
          <a:noFill/>
          <a:ln w="9525">
            <a:noFill/>
          </a:ln>
        </p:spPr>
      </p:pic>
      <p:pic>
        <p:nvPicPr>
          <p:cNvPr id="90119" name="图片 383015" descr="1">
            <a:hlinkClick r:id="" action="ppaction://noaction"/>
          </p:cNvPr>
          <p:cNvPicPr>
            <a:picLocks noChangeAspect="1"/>
          </p:cNvPicPr>
          <p:nvPr/>
        </p:nvPicPr>
        <p:blipFill>
          <a:blip r:embed="rId3"/>
          <a:stretch>
            <a:fillRect/>
          </a:stretch>
        </p:blipFill>
        <p:spPr>
          <a:xfrm>
            <a:off x="2063750" y="2133600"/>
            <a:ext cx="2016125" cy="317500"/>
          </a:xfrm>
          <a:prstGeom prst="rect">
            <a:avLst/>
          </a:prstGeom>
          <a:noFill/>
          <a:ln w="9525">
            <a:noFill/>
          </a:ln>
        </p:spPr>
      </p:pic>
      <p:pic>
        <p:nvPicPr>
          <p:cNvPr id="90120" name="图片 383017" descr="1">
            <a:hlinkClick r:id="" action="ppaction://noaction"/>
          </p:cNvPr>
          <p:cNvPicPr>
            <a:picLocks noChangeAspect="1"/>
          </p:cNvPicPr>
          <p:nvPr/>
        </p:nvPicPr>
        <p:blipFill>
          <a:blip r:embed="rId3"/>
          <a:stretch>
            <a:fillRect/>
          </a:stretch>
        </p:blipFill>
        <p:spPr>
          <a:xfrm>
            <a:off x="9191625" y="1052513"/>
            <a:ext cx="1150938" cy="317500"/>
          </a:xfrm>
          <a:prstGeom prst="rect">
            <a:avLst/>
          </a:prstGeom>
          <a:noFill/>
          <a:ln w="9525">
            <a:noFill/>
          </a:ln>
        </p:spPr>
      </p:pic>
      <p:pic>
        <p:nvPicPr>
          <p:cNvPr id="90121" name="图片 383018" descr="1">
            <a:hlinkClick r:id="" action="ppaction://noaction"/>
          </p:cNvPr>
          <p:cNvPicPr>
            <a:picLocks noChangeAspect="1"/>
          </p:cNvPicPr>
          <p:nvPr/>
        </p:nvPicPr>
        <p:blipFill>
          <a:blip r:embed="rId3"/>
          <a:stretch>
            <a:fillRect/>
          </a:stretch>
        </p:blipFill>
        <p:spPr>
          <a:xfrm>
            <a:off x="7032625" y="1412875"/>
            <a:ext cx="1584325" cy="317500"/>
          </a:xfrm>
          <a:prstGeom prst="rect">
            <a:avLst/>
          </a:prstGeom>
          <a:noFill/>
          <a:ln w="9525">
            <a:noFill/>
          </a:ln>
        </p:spPr>
      </p:pic>
      <p:pic>
        <p:nvPicPr>
          <p:cNvPr id="90122" name="图片 383019" descr="1">
            <a:hlinkClick r:id="" action="ppaction://noaction"/>
          </p:cNvPr>
          <p:cNvPicPr>
            <a:picLocks noChangeAspect="1"/>
          </p:cNvPicPr>
          <p:nvPr/>
        </p:nvPicPr>
        <p:blipFill>
          <a:blip r:embed="rId3"/>
          <a:stretch>
            <a:fillRect/>
          </a:stretch>
        </p:blipFill>
        <p:spPr>
          <a:xfrm>
            <a:off x="4295775" y="3644900"/>
            <a:ext cx="1512888" cy="317500"/>
          </a:xfrm>
          <a:prstGeom prst="rect">
            <a:avLst/>
          </a:prstGeom>
          <a:noFill/>
          <a:ln w="9525">
            <a:noFill/>
          </a:ln>
        </p:spPr>
      </p:pic>
      <p:pic>
        <p:nvPicPr>
          <p:cNvPr id="383022" name="u1b2text05.mp3">
            <a:hlinkClick r:id="" action="ppaction://media"/>
          </p:cNvPr>
          <p:cNvPicPr>
            <a:picLocks noRot="1" noChangeAspect="1"/>
          </p:cNvPicPr>
          <p:nvPr>
            <a:audioFile r:link="rId4"/>
            <p:extLst>
              <p:ext uri="{DAA4B4D4-6D71-4841-9C94-3DE7FCFB9230}">
                <p14:media xmlns:p14="http://schemas.microsoft.com/office/powerpoint/2010/main" r:link="rId5"/>
              </p:ext>
            </p:extLst>
          </p:nvPr>
        </p:nvPicPr>
        <p:blipFill>
          <a:blip r:embed="rId6"/>
          <a:stretch>
            <a:fillRect/>
          </a:stretch>
        </p:blipFill>
        <p:spPr>
          <a:xfrm>
            <a:off x="2063750" y="1052513"/>
            <a:ext cx="304800" cy="304800"/>
          </a:xfrm>
          <a:prstGeom prst="rect">
            <a:avLst/>
          </a:prstGeom>
          <a:noFill/>
          <a:ln w="9525">
            <a:noFill/>
          </a:ln>
        </p:spPr>
      </p:pic>
      <p:pic>
        <p:nvPicPr>
          <p:cNvPr id="90124" name="图片 383022" descr="图片3"/>
          <p:cNvPicPr>
            <a:picLocks noChangeAspect="1"/>
          </p:cNvPicPr>
          <p:nvPr/>
        </p:nvPicPr>
        <p:blipFill>
          <a:blip r:embed="rId7"/>
          <a:stretch>
            <a:fillRect/>
          </a:stretch>
        </p:blipFill>
        <p:spPr>
          <a:xfrm>
            <a:off x="2063750" y="1052513"/>
            <a:ext cx="436563" cy="325437"/>
          </a:xfrm>
          <a:prstGeom prst="rect">
            <a:avLst/>
          </a:prstGeom>
          <a:noFill/>
          <a:ln w="9525">
            <a:noFill/>
          </a:ln>
        </p:spPr>
      </p:pic>
    </p:spTree>
  </p:cSld>
  <p:clrMapOvr>
    <a:masterClrMapping/>
  </p:clrMapOvr>
  <p:transition advClick="0"/>
  <p:timing>
    <p:tnLst>
      <p:par>
        <p:cTn id="1" dur="indefinite" restart="never" nodeType="tmRoot">
          <p:childTnLst>
            <p:audio>
              <p:cMediaNode>
                <p:cTn id="2" fill="hold" display="0">
                  <p:stCondLst>
                    <p:cond delay="indefinite"/>
                  </p:stCondLst>
                  <p:endCondLst>
                    <p:cond evt="onNext" delay="0">
                      <p:tgtEl>
                        <p:sldTgt/>
                      </p:tgtEl>
                    </p:cond>
                    <p:cond evt="onPrev" delay="0">
                      <p:tgtEl>
                        <p:sldTgt/>
                      </p:tgtEl>
                    </p:cond>
                    <p:cond evt="onStopAudio" delay="0">
                      <p:tgtEl>
                        <p:sldTgt/>
                      </p:tgtEl>
                    </p:cond>
                  </p:endCondLst>
                </p:cTn>
                <p:tgtEl>
                  <p:spTgt spid="383022"/>
                </p:tgtEl>
              </p:cMediaNode>
            </p:audio>
            <p:seq concurrent="1" nextAc="seek">
              <p:cTn id="3" restart="whenNotActive" fill="hold" evtFilter="cancelBubble" nodeType="interactiveSeq">
                <p:stCondLst>
                  <p:cond evt="onClick" delay="0">
                    <p:tgtEl>
                      <p:spTgt spid="90124"/>
                    </p:tgtEl>
                  </p:cond>
                </p:stCondLst>
                <p:endSync evt="end" delay="0">
                  <p:rtn val="all"/>
                </p:endSync>
                <p:childTnLst>
                  <p:par>
                    <p:cTn id="4" fill="hold">
                      <p:stCondLst>
                        <p:cond delay="0"/>
                      </p:stCondLst>
                      <p:childTnLst>
                        <p:par>
                          <p:cTn id="5" fill="hold">
                            <p:stCondLst>
                              <p:cond delay="0"/>
                            </p:stCondLst>
                            <p:childTnLst>
                              <p:par>
                                <p:cTn id="6" presetID="1" presetClass="mediacall" presetSubtype="0" fill="hold" nodeType="clickEffect">
                                  <p:stCondLst>
                                    <p:cond delay="0"/>
                                  </p:stCondLst>
                                  <p:childTnLst>
                                    <p:cmd type="call" cmd="playFrom(0.0)">
                                      <p:cBhvr>
                                        <p:cTn id="7" dur="27455" fill="hold"/>
                                        <p:tgtEl>
                                          <p:spTgt spid="383022"/>
                                        </p:tgtEl>
                                      </p:cBhvr>
                                    </p:cmd>
                                  </p:childTnLst>
                                </p:cTn>
                              </p:par>
                            </p:childTnLst>
                          </p:cTn>
                        </p:par>
                      </p:childTnLst>
                    </p:cTn>
                  </p:par>
                  <p:par>
                    <p:cTn id="8" fill="hold">
                      <p:stCondLst>
                        <p:cond delay="indefinite"/>
                      </p:stCondLst>
                      <p:childTnLst>
                        <p:par>
                          <p:cTn id="9" fill="hold">
                            <p:stCondLst>
                              <p:cond delay="0"/>
                            </p:stCondLst>
                            <p:childTnLst>
                              <p:par>
                                <p:cTn id="10" presetID="3" presetClass="mediacall" presetSubtype="0" fill="hold" nodeType="clickEffect">
                                  <p:stCondLst>
                                    <p:cond delay="0"/>
                                  </p:stCondLst>
                                  <p:childTnLst>
                                    <p:cmd type="call" cmd="stop">
                                      <p:cBhvr>
                                        <p:cTn id="11" dur="1" fill="hold"/>
                                        <p:tgtEl>
                                          <p:spTgt spid="383022"/>
                                        </p:tgtEl>
                                      </p:cBhvr>
                                    </p:cmd>
                                  </p:childTnLst>
                                </p:cTn>
                              </p:par>
                            </p:childTnLst>
                          </p:cTn>
                        </p:par>
                      </p:childTnLst>
                    </p:cTn>
                  </p:par>
                </p:childTnLst>
              </p:cTn>
              <p:nextCondLst>
                <p:cond evt="onClick" delay="0">
                  <p:tgtEl>
                    <p:spTgt spid="9012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文本框 29762"/>
          <p:cNvSpPr txBox="1"/>
          <p:nvPr/>
        </p:nvSpPr>
        <p:spPr>
          <a:xfrm>
            <a:off x="1841500" y="981075"/>
            <a:ext cx="8569325" cy="2861310"/>
          </a:xfrm>
          <a:prstGeom prst="rect">
            <a:avLst/>
          </a:prstGeom>
          <a:noFill/>
          <a:ln w="9525">
            <a:noFill/>
          </a:ln>
        </p:spPr>
        <p:txBody>
          <a:bodyPr anchor="t" anchorCtr="0">
            <a:spAutoFit/>
          </a:bodyPr>
          <a:p>
            <a:pPr algn="just"/>
            <a:r>
              <a:rPr lang="en-US" altLang="zh-CN" dirty="0">
                <a:solidFill>
                  <a:schemeClr val="accent2"/>
                </a:solidFill>
                <a:latin typeface="Trebuchet MS" panose="020B0603020202020204" pitchFamily="34" charset="0"/>
                <a:ea typeface="宋体" panose="02010600030101010101" pitchFamily="2" charset="-122"/>
              </a:rPr>
              <a:t>          </a:t>
            </a:r>
            <a:r>
              <a:rPr lang="en-US" altLang="zh-CN">
                <a:solidFill>
                  <a:schemeClr val="accent2"/>
                </a:solidFill>
                <a:latin typeface="Trebuchet MS" panose="020B0603020202020204" pitchFamily="34" charset="0"/>
                <a:ea typeface="宋体" panose="02010600030101010101" pitchFamily="2" charset="-122"/>
              </a:rPr>
              <a:t>He may well get frustrated and angry</a:t>
            </a:r>
            <a:r>
              <a:rPr lang="en-US" altLang="zh-CN">
                <a:latin typeface="Trebuchet MS" panose="020B0603020202020204" pitchFamily="34" charset="0"/>
                <a:ea typeface="宋体" panose="02010600030101010101" pitchFamily="2" charset="-122"/>
              </a:rPr>
              <a:t> — certainly not a </a:t>
            </a:r>
            <a:r>
              <a:rPr lang="en-US" altLang="zh-CN">
                <a:solidFill>
                  <a:srgbClr val="CC0000"/>
                </a:solidFill>
                <a:latin typeface="Trebuchet MS" panose="020B0603020202020204" pitchFamily="34" charset="0"/>
                <a:ea typeface="宋体" panose="02010600030101010101" pitchFamily="2" charset="-122"/>
              </a:rPr>
              <a:t>desirable</a:t>
            </a:r>
            <a:r>
              <a:rPr lang="en-US" altLang="zh-CN">
                <a:latin typeface="Trebuchet MS" panose="020B0603020202020204" pitchFamily="34" charset="0"/>
                <a:ea typeface="宋体" panose="02010600030101010101" pitchFamily="2" charset="-122"/>
              </a:rPr>
              <a:t> outcome. Why not show him what to do? He will be happy, he will learn how to </a:t>
            </a:r>
            <a:r>
              <a:rPr lang="en-US" altLang="zh-CN">
                <a:solidFill>
                  <a:srgbClr val="CC0000"/>
                </a:solidFill>
                <a:latin typeface="Trebuchet MS" panose="020B0603020202020204" pitchFamily="34" charset="0"/>
                <a:ea typeface="宋体" panose="02010600030101010101" pitchFamily="2" charset="-122"/>
              </a:rPr>
              <a:t>accomplish</a:t>
            </a:r>
            <a:r>
              <a:rPr lang="en-US" altLang="zh-CN">
                <a:latin typeface="Trebuchet MS" panose="020B0603020202020204" pitchFamily="34" charset="0"/>
                <a:ea typeface="宋体" panose="02010600030101010101" pitchFamily="2" charset="-122"/>
              </a:rPr>
              <a:t> the task sooner, and then he can proceed to more complex activities, like opening the door or asking for the key — both of which accomplishments can (and should) </a:t>
            </a:r>
            <a:r>
              <a:rPr lang="en-US" altLang="zh-CN">
                <a:solidFill>
                  <a:srgbClr val="CC0000"/>
                </a:solidFill>
                <a:latin typeface="Trebuchet MS" panose="020B0603020202020204" pitchFamily="34" charset="0"/>
                <a:ea typeface="宋体" panose="02010600030101010101" pitchFamily="2" charset="-122"/>
              </a:rPr>
              <a:t>in due course</a:t>
            </a:r>
            <a:r>
              <a:rPr lang="en-US" altLang="zh-CN">
                <a:latin typeface="Trebuchet MS" panose="020B0603020202020204" pitchFamily="34" charset="0"/>
                <a:ea typeface="宋体" panose="02010600030101010101" pitchFamily="2" charset="-122"/>
              </a:rPr>
              <a:t> be modeled for him as well.</a:t>
            </a:r>
            <a:endParaRPr lang="en-US" altLang="zh-CN">
              <a:latin typeface="Trebuchet MS" panose="020B0603020202020204" pitchFamily="34" charset="0"/>
              <a:ea typeface="宋体" panose="02010600030101010101" pitchFamily="2" charset="-122"/>
            </a:endParaRPr>
          </a:p>
          <a:p>
            <a:pPr algn="just"/>
            <a:r>
              <a:rPr lang="en-US" altLang="zh-CN">
                <a:latin typeface="Trebuchet MS" panose="020B0603020202020204" pitchFamily="34" charset="0"/>
                <a:ea typeface="宋体" panose="02010600030101010101" pitchFamily="2" charset="-122"/>
              </a:rPr>
              <a:t>      We listened to such explanations sympathetically and explained that, first of all, we did not much care whether Benjamin succeeded in inserting the key into the slot.    </a:t>
            </a:r>
            <a:r>
              <a:rPr lang="en-US" altLang="zh-CN">
                <a:solidFill>
                  <a:schemeClr val="accent2"/>
                </a:solidFill>
                <a:latin typeface="Trebuchet MS" panose="020B0603020202020204" pitchFamily="34" charset="0"/>
                <a:ea typeface="宋体" panose="02010600030101010101" pitchFamily="2" charset="-122"/>
              </a:rPr>
              <a:t>He was having a good time and was exploring, two activities that did matter to us.</a:t>
            </a:r>
            <a:r>
              <a:rPr lang="en-US" altLang="zh-CN">
                <a:latin typeface="Trebuchet MS" panose="020B0603020202020204" pitchFamily="34" charset="0"/>
                <a:ea typeface="宋体" panose="02010600030101010101" pitchFamily="2" charset="-122"/>
              </a:rPr>
              <a:t> But the </a:t>
            </a:r>
            <a:r>
              <a:rPr lang="en-US" altLang="zh-CN">
                <a:solidFill>
                  <a:srgbClr val="CC0000"/>
                </a:solidFill>
                <a:latin typeface="Trebuchet MS" panose="020B0603020202020204" pitchFamily="34" charset="0"/>
                <a:ea typeface="宋体" panose="02010600030101010101" pitchFamily="2" charset="-122"/>
              </a:rPr>
              <a:t>critical</a:t>
            </a:r>
            <a:r>
              <a:rPr lang="en-US" altLang="zh-CN">
                <a:latin typeface="Trebuchet MS" panose="020B0603020202020204" pitchFamily="34" charset="0"/>
                <a:ea typeface="宋体" panose="02010600030101010101" pitchFamily="2" charset="-122"/>
              </a:rPr>
              <a:t> point was that, in the process, we were trying to teach Benjamin that one can solve a problem effectively by oneself. </a:t>
            </a:r>
            <a:endParaRPr lang="en-US" altLang="zh-CN">
              <a:latin typeface="Trebuchet MS" panose="020B0603020202020204" pitchFamily="34" charset="0"/>
              <a:ea typeface="宋体" panose="02010600030101010101" pitchFamily="2" charset="-122"/>
            </a:endParaRPr>
          </a:p>
        </p:txBody>
      </p:sp>
      <p:sp>
        <p:nvSpPr>
          <p:cNvPr id="92162" name="标题 29700"/>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5</a:t>
            </a:r>
            <a:endParaRPr lang="en-US" altLang="zh-CN" sz="4400" kern="1200" baseline="0">
              <a:latin typeface="+mj-lt"/>
              <a:ea typeface="+mj-ea"/>
              <a:cs typeface="+mj-cs"/>
            </a:endParaRPr>
          </a:p>
        </p:txBody>
      </p:sp>
      <p:pic>
        <p:nvPicPr>
          <p:cNvPr id="92163" name="图片 29754" descr="next">
            <a:hlinkClick r:id="" action="ppaction://hlinkshowjump?jump=nextslide"/>
          </p:cNvPr>
          <p:cNvPicPr>
            <a:picLocks noChangeAspect="1"/>
          </p:cNvPicPr>
          <p:nvPr/>
        </p:nvPicPr>
        <p:blipFill>
          <a:blip r:embed="rId1"/>
          <a:stretch>
            <a:fillRect/>
          </a:stretch>
        </p:blipFill>
        <p:spPr>
          <a:xfrm>
            <a:off x="9671050" y="5949950"/>
            <a:ext cx="695325" cy="280988"/>
          </a:xfrm>
          <a:prstGeom prst="rect">
            <a:avLst/>
          </a:prstGeom>
          <a:noFill/>
          <a:ln w="9525">
            <a:noFill/>
          </a:ln>
        </p:spPr>
      </p:pic>
      <p:pic>
        <p:nvPicPr>
          <p:cNvPr id="92164" name="图片 29755" descr="prev">
            <a:hlinkClick r:id="" action="ppaction://hlinkshowjump?jump=previousslide"/>
          </p:cNvPr>
          <p:cNvPicPr>
            <a:picLocks noChangeAspect="1"/>
          </p:cNvPicPr>
          <p:nvPr/>
        </p:nvPicPr>
        <p:blipFill>
          <a:blip r:embed="rId2"/>
          <a:stretch>
            <a:fillRect/>
          </a:stretch>
        </p:blipFill>
        <p:spPr>
          <a:xfrm>
            <a:off x="8975725" y="5949950"/>
            <a:ext cx="695325" cy="280988"/>
          </a:xfrm>
          <a:prstGeom prst="rect">
            <a:avLst/>
          </a:prstGeom>
          <a:noFill/>
          <a:ln w="9525">
            <a:noFill/>
          </a:ln>
        </p:spPr>
      </p:pic>
      <p:pic>
        <p:nvPicPr>
          <p:cNvPr id="92166" name="图片 29765" descr="图片1">
            <a:hlinkClick r:id="" action="ppaction://noaction"/>
          </p:cNvPr>
          <p:cNvPicPr>
            <a:picLocks noChangeAspect="1"/>
          </p:cNvPicPr>
          <p:nvPr/>
        </p:nvPicPr>
        <p:blipFill>
          <a:blip r:embed="rId3"/>
          <a:stretch>
            <a:fillRect/>
          </a:stretch>
        </p:blipFill>
        <p:spPr>
          <a:xfrm>
            <a:off x="9593263" y="4365625"/>
            <a:ext cx="285750" cy="285750"/>
          </a:xfrm>
          <a:prstGeom prst="rect">
            <a:avLst/>
          </a:prstGeom>
          <a:noFill/>
          <a:ln w="9525">
            <a:noFill/>
          </a:ln>
        </p:spPr>
      </p:pic>
      <p:pic>
        <p:nvPicPr>
          <p:cNvPr id="92167" name="图片 29766" descr="1">
            <a:hlinkClick r:id="" action="ppaction://noaction"/>
          </p:cNvPr>
          <p:cNvPicPr>
            <a:picLocks noChangeAspect="1"/>
          </p:cNvPicPr>
          <p:nvPr/>
        </p:nvPicPr>
        <p:blipFill>
          <a:blip r:embed="rId4"/>
          <a:stretch>
            <a:fillRect/>
          </a:stretch>
        </p:blipFill>
        <p:spPr>
          <a:xfrm>
            <a:off x="2208213" y="1412875"/>
            <a:ext cx="1223962" cy="317500"/>
          </a:xfrm>
          <a:prstGeom prst="rect">
            <a:avLst/>
          </a:prstGeom>
          <a:noFill/>
          <a:ln w="9525">
            <a:noFill/>
          </a:ln>
        </p:spPr>
      </p:pic>
      <p:pic>
        <p:nvPicPr>
          <p:cNvPr id="92168" name="图片 29767" descr="1">
            <a:hlinkClick r:id="" action="ppaction://noaction"/>
          </p:cNvPr>
          <p:cNvPicPr>
            <a:picLocks noChangeAspect="1"/>
          </p:cNvPicPr>
          <p:nvPr/>
        </p:nvPicPr>
        <p:blipFill>
          <a:blip r:embed="rId4"/>
          <a:stretch>
            <a:fillRect/>
          </a:stretch>
        </p:blipFill>
        <p:spPr>
          <a:xfrm>
            <a:off x="6383338" y="1773238"/>
            <a:ext cx="1584325" cy="317500"/>
          </a:xfrm>
          <a:prstGeom prst="rect">
            <a:avLst/>
          </a:prstGeom>
          <a:noFill/>
          <a:ln w="9525">
            <a:noFill/>
          </a:ln>
        </p:spPr>
      </p:pic>
      <p:pic>
        <p:nvPicPr>
          <p:cNvPr id="92169" name="图片 29768" descr="1">
            <a:hlinkClick r:id="" action="ppaction://noaction"/>
          </p:cNvPr>
          <p:cNvPicPr>
            <a:picLocks noChangeAspect="1"/>
          </p:cNvPicPr>
          <p:nvPr/>
        </p:nvPicPr>
        <p:blipFill>
          <a:blip r:embed="rId4"/>
          <a:stretch>
            <a:fillRect/>
          </a:stretch>
        </p:blipFill>
        <p:spPr>
          <a:xfrm>
            <a:off x="6672263" y="2895600"/>
            <a:ext cx="1944687" cy="317500"/>
          </a:xfrm>
          <a:prstGeom prst="rect">
            <a:avLst/>
          </a:prstGeom>
          <a:noFill/>
          <a:ln w="9525">
            <a:noFill/>
          </a:ln>
        </p:spPr>
      </p:pic>
      <p:pic>
        <p:nvPicPr>
          <p:cNvPr id="92170" name="图片 29769" descr="1">
            <a:hlinkClick r:id="" action="ppaction://noaction"/>
          </p:cNvPr>
          <p:cNvPicPr>
            <a:picLocks noChangeAspect="1"/>
          </p:cNvPicPr>
          <p:nvPr/>
        </p:nvPicPr>
        <p:blipFill>
          <a:blip r:embed="rId4"/>
          <a:stretch>
            <a:fillRect/>
          </a:stretch>
        </p:blipFill>
        <p:spPr>
          <a:xfrm>
            <a:off x="6167438" y="5084763"/>
            <a:ext cx="1081087" cy="317500"/>
          </a:xfrm>
          <a:prstGeom prst="rect">
            <a:avLst/>
          </a:prstGeom>
          <a:noFill/>
          <a:ln w="9525">
            <a:noFill/>
          </a:ln>
        </p:spPr>
      </p:pic>
    </p:spTree>
  </p:cSld>
  <p:clrMapOvr>
    <a:masterClrMapping/>
  </p:clrMapOvr>
  <p:transition advClick="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标题 384001"/>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6</a:t>
            </a:r>
            <a:endParaRPr lang="en-US" altLang="zh-CN" sz="4400" kern="1200" baseline="0">
              <a:latin typeface="+mj-lt"/>
              <a:ea typeface="+mj-ea"/>
              <a:cs typeface="+mj-cs"/>
            </a:endParaRPr>
          </a:p>
        </p:txBody>
      </p:sp>
      <p:pic>
        <p:nvPicPr>
          <p:cNvPr id="94210" name="图片 384034" descr="next">
            <a:hlinkClick r:id="" action="ppaction://hlinkshowjump?jump=nextslide"/>
          </p:cNvPr>
          <p:cNvPicPr>
            <a:picLocks noChangeAspect="1"/>
          </p:cNvPicPr>
          <p:nvPr/>
        </p:nvPicPr>
        <p:blipFill>
          <a:blip r:embed="rId1"/>
          <a:stretch>
            <a:fillRect/>
          </a:stretch>
        </p:blipFill>
        <p:spPr>
          <a:xfrm>
            <a:off x="9671050" y="5949950"/>
            <a:ext cx="695325" cy="280988"/>
          </a:xfrm>
          <a:prstGeom prst="rect">
            <a:avLst/>
          </a:prstGeom>
          <a:noFill/>
          <a:ln w="9525">
            <a:noFill/>
          </a:ln>
        </p:spPr>
      </p:pic>
      <p:pic>
        <p:nvPicPr>
          <p:cNvPr id="94211" name="图片 384035" descr="prev">
            <a:hlinkClick r:id="" action="ppaction://hlinkshowjump?jump=previousslide"/>
          </p:cNvPr>
          <p:cNvPicPr>
            <a:picLocks noChangeAspect="1"/>
          </p:cNvPicPr>
          <p:nvPr/>
        </p:nvPicPr>
        <p:blipFill>
          <a:blip r:embed="rId2"/>
          <a:stretch>
            <a:fillRect/>
          </a:stretch>
        </p:blipFill>
        <p:spPr>
          <a:xfrm>
            <a:off x="8975725" y="5949950"/>
            <a:ext cx="695325" cy="280988"/>
          </a:xfrm>
          <a:prstGeom prst="rect">
            <a:avLst/>
          </a:prstGeom>
          <a:noFill/>
          <a:ln w="9525">
            <a:noFill/>
          </a:ln>
        </p:spPr>
      </p:pic>
      <p:sp>
        <p:nvSpPr>
          <p:cNvPr id="94212" name="文本框 384042"/>
          <p:cNvSpPr txBox="1"/>
          <p:nvPr/>
        </p:nvSpPr>
        <p:spPr>
          <a:xfrm>
            <a:off x="1919288" y="1196975"/>
            <a:ext cx="6337300" cy="1309370"/>
          </a:xfrm>
          <a:prstGeom prst="rect">
            <a:avLst/>
          </a:prstGeom>
          <a:noFill/>
          <a:ln w="9525">
            <a:noFill/>
          </a:ln>
        </p:spPr>
        <p:txBody>
          <a:bodyPr anchor="t" anchorCtr="0">
            <a:spAutoFit/>
          </a:bodyPr>
          <a:p>
            <a:pPr algn="just">
              <a:lnSpc>
                <a:spcPct val="110000"/>
              </a:lnSpc>
            </a:pPr>
            <a:r>
              <a:rPr lang="en-US" altLang="zh-CN" dirty="0">
                <a:latin typeface="Trebuchet MS" panose="020B0603020202020204" pitchFamily="34" charset="0"/>
                <a:ea typeface="宋体" panose="02010600030101010101" pitchFamily="2" charset="-122"/>
              </a:rPr>
              <a:t>      </a:t>
            </a:r>
            <a:r>
              <a:rPr lang="en-US" altLang="zh-CN">
                <a:latin typeface="Trebuchet MS" panose="020B0603020202020204" pitchFamily="34" charset="0"/>
                <a:ea typeface="宋体" panose="02010600030101010101" pitchFamily="2" charset="-122"/>
              </a:rPr>
              <a:t>Such self-reliance is a </a:t>
            </a:r>
            <a:r>
              <a:rPr lang="en-US" altLang="zh-CN">
                <a:solidFill>
                  <a:srgbClr val="CC0000"/>
                </a:solidFill>
                <a:latin typeface="Trebuchet MS" panose="020B0603020202020204" pitchFamily="34" charset="0"/>
                <a:ea typeface="宋体" panose="02010600030101010101" pitchFamily="2" charset="-122"/>
              </a:rPr>
              <a:t>principal</a:t>
            </a:r>
            <a:r>
              <a:rPr lang="en-US" altLang="zh-CN">
                <a:latin typeface="Trebuchet MS" panose="020B0603020202020204" pitchFamily="34" charset="0"/>
                <a:ea typeface="宋体" panose="02010600030101010101" pitchFamily="2" charset="-122"/>
              </a:rPr>
              <a:t> value of child </a:t>
            </a:r>
            <a:r>
              <a:rPr lang="en-US" altLang="zh-CN">
                <a:solidFill>
                  <a:srgbClr val="CC0000"/>
                </a:solidFill>
                <a:latin typeface="Trebuchet MS" panose="020B0603020202020204" pitchFamily="34" charset="0"/>
                <a:ea typeface="宋体" panose="02010600030101010101" pitchFamily="2" charset="-122"/>
              </a:rPr>
              <a:t>rearing</a:t>
            </a:r>
            <a:r>
              <a:rPr lang="en-US" altLang="zh-CN">
                <a:latin typeface="Trebuchet MS" panose="020B0603020202020204" pitchFamily="34" charset="0"/>
                <a:ea typeface="宋体" panose="02010600030101010101" pitchFamily="2" charset="-122"/>
              </a:rPr>
              <a:t> in middle-class America. So long as the child is shown exactly how to do something —     </a:t>
            </a:r>
            <a:r>
              <a:rPr lang="en-US" altLang="zh-CN">
                <a:solidFill>
                  <a:schemeClr val="accent2"/>
                </a:solidFill>
                <a:latin typeface="Trebuchet MS" panose="020B0603020202020204" pitchFamily="34" charset="0"/>
                <a:ea typeface="宋体" panose="02010600030101010101" pitchFamily="2" charset="-122"/>
              </a:rPr>
              <a:t>whether it be placing a key in a key slot, drawing a hen or </a:t>
            </a:r>
            <a:r>
              <a:rPr lang="en-US" altLang="zh-CN">
                <a:solidFill>
                  <a:srgbClr val="CC0000"/>
                </a:solidFill>
                <a:latin typeface="Trebuchet MS" panose="020B0603020202020204" pitchFamily="34" charset="0"/>
                <a:ea typeface="宋体" panose="02010600030101010101" pitchFamily="2" charset="-122"/>
              </a:rPr>
              <a:t>making up</a:t>
            </a:r>
            <a:r>
              <a:rPr lang="en-US" altLang="zh-CN">
                <a:solidFill>
                  <a:schemeClr val="accent2"/>
                </a:solidFill>
                <a:latin typeface="Trebuchet MS" panose="020B0603020202020204" pitchFamily="34" charset="0"/>
                <a:ea typeface="宋体" panose="02010600030101010101" pitchFamily="2" charset="-122"/>
              </a:rPr>
              <a:t> </a:t>
            </a:r>
            <a:endParaRPr lang="en-US" altLang="zh-CN">
              <a:solidFill>
                <a:schemeClr val="accent2"/>
              </a:solidFill>
              <a:latin typeface="Trebuchet MS" panose="020B0603020202020204" pitchFamily="34" charset="0"/>
              <a:ea typeface="宋体" panose="02010600030101010101" pitchFamily="2" charset="-122"/>
            </a:endParaRPr>
          </a:p>
        </p:txBody>
      </p:sp>
      <p:sp>
        <p:nvSpPr>
          <p:cNvPr id="94213" name="文本框 384044"/>
          <p:cNvSpPr txBox="1"/>
          <p:nvPr/>
        </p:nvSpPr>
        <p:spPr>
          <a:xfrm>
            <a:off x="1919288" y="3213100"/>
            <a:ext cx="8280400" cy="1614170"/>
          </a:xfrm>
          <a:prstGeom prst="rect">
            <a:avLst/>
          </a:prstGeom>
          <a:noFill/>
          <a:ln w="9525">
            <a:noFill/>
          </a:ln>
        </p:spPr>
        <p:txBody>
          <a:bodyPr anchor="t" anchorCtr="0">
            <a:spAutoFit/>
          </a:bodyPr>
          <a:p>
            <a:pPr algn="just">
              <a:lnSpc>
                <a:spcPct val="110000"/>
              </a:lnSpc>
            </a:pPr>
            <a:r>
              <a:rPr lang="en-US" altLang="zh-CN">
                <a:solidFill>
                  <a:srgbClr val="CC0000"/>
                </a:solidFill>
                <a:latin typeface="Trebuchet MS" panose="020B0603020202020204" pitchFamily="34" charset="0"/>
                <a:ea typeface="宋体" panose="02010600030101010101" pitchFamily="2" charset="-122"/>
              </a:rPr>
              <a:t>for</a:t>
            </a:r>
            <a:r>
              <a:rPr lang="en-US" altLang="zh-CN">
                <a:solidFill>
                  <a:schemeClr val="accent2"/>
                </a:solidFill>
                <a:latin typeface="Trebuchet MS" panose="020B0603020202020204" pitchFamily="34" charset="0"/>
                <a:ea typeface="宋体" panose="02010600030101010101" pitchFamily="2" charset="-122"/>
              </a:rPr>
              <a:t> a misdeed</a:t>
            </a:r>
            <a:r>
              <a:rPr lang="en-US" altLang="zh-CN">
                <a:latin typeface="Trebuchet MS" panose="020B0603020202020204" pitchFamily="34" charset="0"/>
                <a:ea typeface="宋体" panose="02010600030101010101" pitchFamily="2" charset="-122"/>
              </a:rPr>
              <a:t> — he is less likely to figure out himself how to accomplish such a task. And, more generally, he is less likely to view life — as Americans do — as a series of situations in which one has to learn to think for oneself, to solve problems on one’s own and even to discover new problems for which creative solutions are wanted.</a:t>
            </a:r>
            <a:endParaRPr lang="en-US" altLang="zh-CN">
              <a:latin typeface="Trebuchet MS" panose="020B0603020202020204" pitchFamily="34" charset="0"/>
              <a:ea typeface="宋体" panose="02010600030101010101" pitchFamily="2" charset="-122"/>
            </a:endParaRPr>
          </a:p>
        </p:txBody>
      </p:sp>
      <p:pic>
        <p:nvPicPr>
          <p:cNvPr id="94214" name="图片 384045" descr="图片4"/>
          <p:cNvPicPr>
            <a:picLocks noChangeAspect="1"/>
          </p:cNvPicPr>
          <p:nvPr/>
        </p:nvPicPr>
        <p:blipFill>
          <a:blip r:embed="rId3"/>
          <a:stretch>
            <a:fillRect/>
          </a:stretch>
        </p:blipFill>
        <p:spPr>
          <a:xfrm>
            <a:off x="8328025" y="1268413"/>
            <a:ext cx="2087563" cy="1825625"/>
          </a:xfrm>
          <a:prstGeom prst="rect">
            <a:avLst/>
          </a:prstGeom>
          <a:noFill/>
          <a:ln w="9525">
            <a:noFill/>
          </a:ln>
        </p:spPr>
      </p:pic>
      <p:pic>
        <p:nvPicPr>
          <p:cNvPr id="94216" name="图片 384047" descr="1">
            <a:hlinkClick r:id="" action="ppaction://noaction"/>
          </p:cNvPr>
          <p:cNvPicPr>
            <a:picLocks noChangeAspect="1"/>
          </p:cNvPicPr>
          <p:nvPr/>
        </p:nvPicPr>
        <p:blipFill>
          <a:blip r:embed="rId4"/>
          <a:stretch>
            <a:fillRect/>
          </a:stretch>
        </p:blipFill>
        <p:spPr>
          <a:xfrm>
            <a:off x="5664200" y="1341438"/>
            <a:ext cx="1295400" cy="317500"/>
          </a:xfrm>
          <a:prstGeom prst="rect">
            <a:avLst/>
          </a:prstGeom>
          <a:noFill/>
          <a:ln w="9525">
            <a:noFill/>
          </a:ln>
        </p:spPr>
      </p:pic>
      <p:pic>
        <p:nvPicPr>
          <p:cNvPr id="94217" name="图片 384048" descr="1">
            <a:hlinkClick r:id="" action="ppaction://noaction"/>
          </p:cNvPr>
          <p:cNvPicPr>
            <a:picLocks noChangeAspect="1"/>
          </p:cNvPicPr>
          <p:nvPr/>
        </p:nvPicPr>
        <p:blipFill>
          <a:blip r:embed="rId4"/>
          <a:stretch>
            <a:fillRect/>
          </a:stretch>
        </p:blipFill>
        <p:spPr>
          <a:xfrm>
            <a:off x="2855913" y="1700213"/>
            <a:ext cx="1008062" cy="317500"/>
          </a:xfrm>
          <a:prstGeom prst="rect">
            <a:avLst/>
          </a:prstGeom>
          <a:noFill/>
          <a:ln w="9525">
            <a:noFill/>
          </a:ln>
        </p:spPr>
      </p:pic>
      <p:pic>
        <p:nvPicPr>
          <p:cNvPr id="94218" name="图片 384049" descr="1">
            <a:hlinkClick r:id="" action="ppaction://noaction"/>
          </p:cNvPr>
          <p:cNvPicPr>
            <a:picLocks noChangeAspect="1"/>
          </p:cNvPicPr>
          <p:nvPr/>
        </p:nvPicPr>
        <p:blipFill>
          <a:blip r:embed="rId4"/>
          <a:stretch>
            <a:fillRect/>
          </a:stretch>
        </p:blipFill>
        <p:spPr>
          <a:xfrm>
            <a:off x="6240463" y="2924175"/>
            <a:ext cx="1439862" cy="317500"/>
          </a:xfrm>
          <a:prstGeom prst="rect">
            <a:avLst/>
          </a:prstGeom>
          <a:noFill/>
          <a:ln w="9525">
            <a:noFill/>
          </a:ln>
        </p:spPr>
      </p:pic>
      <p:pic>
        <p:nvPicPr>
          <p:cNvPr id="94219" name="图片 384050" descr="1">
            <a:hlinkClick r:id="" action="ppaction://noaction"/>
          </p:cNvPr>
          <p:cNvPicPr>
            <a:picLocks noChangeAspect="1"/>
          </p:cNvPicPr>
          <p:nvPr/>
        </p:nvPicPr>
        <p:blipFill>
          <a:blip r:embed="rId4"/>
          <a:stretch>
            <a:fillRect/>
          </a:stretch>
        </p:blipFill>
        <p:spPr>
          <a:xfrm>
            <a:off x="1992313" y="3357563"/>
            <a:ext cx="431800" cy="317500"/>
          </a:xfrm>
          <a:prstGeom prst="rect">
            <a:avLst/>
          </a:prstGeom>
          <a:noFill/>
          <a:ln w="9525">
            <a:noFill/>
          </a:ln>
        </p:spPr>
      </p:pic>
    </p:spTree>
  </p:cSld>
  <p:clrMapOvr>
    <a:masterClrMapping/>
  </p:clrMapOvr>
  <p:transition advClick="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文本框 30767"/>
          <p:cNvSpPr txBox="1"/>
          <p:nvPr/>
        </p:nvSpPr>
        <p:spPr>
          <a:xfrm>
            <a:off x="1847850" y="981075"/>
            <a:ext cx="8640763" cy="3138170"/>
          </a:xfrm>
          <a:prstGeom prst="rect">
            <a:avLst/>
          </a:prstGeom>
          <a:noFill/>
          <a:ln w="9525">
            <a:noFill/>
          </a:ln>
        </p:spPr>
        <p:txBody>
          <a:bodyPr anchor="t" anchorCtr="0">
            <a:spAutoFit/>
          </a:bodyPr>
          <a:p>
            <a:pPr algn="just"/>
            <a:r>
              <a:rPr lang="en-US" altLang="zh-CN" b="1">
                <a:latin typeface="Trebuchet MS" panose="020B0603020202020204" pitchFamily="34" charset="0"/>
                <a:ea typeface="宋体" panose="02010600030101010101" pitchFamily="2" charset="-122"/>
              </a:rPr>
              <a:t>      TEACHING BY HOLDING HIS HAND</a:t>
            </a:r>
            <a:endParaRPr lang="en-US" altLang="zh-CN" b="1">
              <a:latin typeface="Trebuchet MS" panose="020B0603020202020204" pitchFamily="34" charset="0"/>
              <a:ea typeface="宋体" panose="02010600030101010101" pitchFamily="2" charset="-122"/>
            </a:endParaRPr>
          </a:p>
          <a:p>
            <a:pPr algn="just"/>
            <a:r>
              <a:rPr lang="en-US" altLang="zh-CN">
                <a:latin typeface="Trebuchet MS" panose="020B0603020202020204" pitchFamily="34" charset="0"/>
                <a:ea typeface="宋体" panose="02010600030101010101" pitchFamily="2" charset="-122"/>
              </a:rPr>
              <a:t>       </a:t>
            </a:r>
            <a:r>
              <a:rPr lang="en-US" altLang="zh-CN">
                <a:solidFill>
                  <a:srgbClr val="CC0000"/>
                </a:solidFill>
                <a:latin typeface="Trebuchet MS" panose="020B0603020202020204" pitchFamily="34" charset="0"/>
                <a:ea typeface="宋体" panose="02010600030101010101" pitchFamily="2" charset="-122"/>
              </a:rPr>
              <a:t>In retrospect</a:t>
            </a:r>
            <a:r>
              <a:rPr lang="en-US" altLang="zh-CN">
                <a:latin typeface="Trebuchet MS" panose="020B0603020202020204" pitchFamily="34" charset="0"/>
                <a:ea typeface="宋体" panose="02010600030101010101" pitchFamily="2" charset="-122"/>
              </a:rPr>
              <a:t>, it became clear to me that this incident was indeed key — and key in more than one sense. It pointed to important differences in the educational and artistic practices in our two countries.</a:t>
            </a:r>
            <a:endParaRPr lang="en-US" altLang="zh-CN">
              <a:latin typeface="Trebuchet MS" panose="020B0603020202020204" pitchFamily="34" charset="0"/>
              <a:ea typeface="宋体" panose="02010600030101010101" pitchFamily="2" charset="-122"/>
            </a:endParaRPr>
          </a:p>
          <a:p>
            <a:pPr algn="just"/>
            <a:r>
              <a:rPr lang="en-US" altLang="zh-CN">
                <a:latin typeface="Trebuchet MS" panose="020B0603020202020204" pitchFamily="34" charset="0"/>
                <a:ea typeface="宋体" panose="02010600030101010101" pitchFamily="2" charset="-122"/>
              </a:rPr>
              <a:t>       When our well-intentioned Chinese observers came to Benjamin’s rescue, they did not simply push his hand down clumsily or uncertainly, as I might have done. Instead, they guided him with extreme </a:t>
            </a:r>
            <a:r>
              <a:rPr lang="en-US" altLang="zh-CN">
                <a:solidFill>
                  <a:srgbClr val="CC0000"/>
                </a:solidFill>
                <a:latin typeface="Trebuchet MS" panose="020B0603020202020204" pitchFamily="34" charset="0"/>
                <a:ea typeface="宋体" panose="02010600030101010101" pitchFamily="2" charset="-122"/>
              </a:rPr>
              <a:t>facility</a:t>
            </a:r>
            <a:r>
              <a:rPr lang="en-US" altLang="zh-CN" err="1">
                <a:latin typeface="Trebuchet MS" panose="020B0603020202020204" pitchFamily="34" charset="0"/>
                <a:ea typeface="宋体" panose="02010600030101010101" pitchFamily="2" charset="-122"/>
              </a:rPr>
              <a:t> and gentleness in precisely the desired direction. I came to realize that these Chinese were not just molding and shaping Benjamin’s performance in any old manner: In the best Chinese tradition, they were ba</a:t>
            </a:r>
            <a:r>
              <a:rPr lang="en-US" altLang="zh-CN">
                <a:latin typeface="Trebuchet MS" panose="020B0603020202020204" pitchFamily="34" charset="0"/>
                <a:ea typeface="宋体" panose="02010600030101010101" pitchFamily="2" charset="-122"/>
              </a:rPr>
              <a:t> </a:t>
            </a:r>
            <a:r>
              <a:rPr lang="en-US" altLang="zh-CN" i="1" err="1">
                <a:latin typeface="Trebuchet MS" panose="020B0603020202020204" pitchFamily="34" charset="0"/>
                <a:ea typeface="宋体" panose="02010600030101010101" pitchFamily="2" charset="-122"/>
              </a:rPr>
              <a:t>zhe shou jiao</a:t>
            </a:r>
            <a:r>
              <a:rPr lang="en-US" altLang="zh-CN">
                <a:latin typeface="Trebuchet MS" panose="020B0603020202020204" pitchFamily="34" charset="0"/>
                <a:ea typeface="宋体" panose="02010600030101010101" pitchFamily="2" charset="-122"/>
              </a:rPr>
              <a:t> — “teaching by holding his hand” — so much so that he would happily come back for more.</a:t>
            </a:r>
            <a:endParaRPr lang="en-US" altLang="zh-CN">
              <a:latin typeface="Trebuchet MS" panose="020B0603020202020204" pitchFamily="34" charset="0"/>
              <a:ea typeface="宋体" panose="02010600030101010101" pitchFamily="2" charset="-122"/>
            </a:endParaRPr>
          </a:p>
        </p:txBody>
      </p:sp>
      <p:sp>
        <p:nvSpPr>
          <p:cNvPr id="96258" name="标题 30724"/>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7</a:t>
            </a:r>
            <a:endParaRPr lang="en-US" altLang="zh-CN" sz="4400" kern="1200" baseline="0">
              <a:latin typeface="+mj-lt"/>
              <a:ea typeface="+mj-ea"/>
              <a:cs typeface="+mj-cs"/>
            </a:endParaRPr>
          </a:p>
        </p:txBody>
      </p:sp>
      <p:pic>
        <p:nvPicPr>
          <p:cNvPr id="96259" name="图片 30759" descr="next">
            <a:hlinkClick r:id="" action="ppaction://hlinkshowjump?jump=nextslide"/>
          </p:cNvPr>
          <p:cNvPicPr>
            <a:picLocks noChangeAspect="1"/>
          </p:cNvPicPr>
          <p:nvPr/>
        </p:nvPicPr>
        <p:blipFill>
          <a:blip r:embed="rId1"/>
          <a:stretch>
            <a:fillRect/>
          </a:stretch>
        </p:blipFill>
        <p:spPr>
          <a:xfrm>
            <a:off x="9671050" y="5949950"/>
            <a:ext cx="695325" cy="280988"/>
          </a:xfrm>
          <a:prstGeom prst="rect">
            <a:avLst/>
          </a:prstGeom>
          <a:noFill/>
          <a:ln w="9525">
            <a:noFill/>
          </a:ln>
        </p:spPr>
      </p:pic>
      <p:pic>
        <p:nvPicPr>
          <p:cNvPr id="96260" name="图片 30760" descr="prev">
            <a:hlinkClick r:id="" action="ppaction://hlinkshowjump?jump=previousslide"/>
          </p:cNvPr>
          <p:cNvPicPr>
            <a:picLocks noChangeAspect="1"/>
          </p:cNvPicPr>
          <p:nvPr/>
        </p:nvPicPr>
        <p:blipFill>
          <a:blip r:embed="rId2"/>
          <a:stretch>
            <a:fillRect/>
          </a:stretch>
        </p:blipFill>
        <p:spPr>
          <a:xfrm>
            <a:off x="8975725" y="5949950"/>
            <a:ext cx="695325" cy="280988"/>
          </a:xfrm>
          <a:prstGeom prst="rect">
            <a:avLst/>
          </a:prstGeom>
          <a:noFill/>
          <a:ln w="9525">
            <a:noFill/>
          </a:ln>
        </p:spPr>
      </p:pic>
      <p:pic>
        <p:nvPicPr>
          <p:cNvPr id="96261" name="图片 30768" descr="1">
            <a:hlinkClick r:id="" action="ppaction://noaction"/>
          </p:cNvPr>
          <p:cNvPicPr>
            <a:picLocks noChangeAspect="1"/>
          </p:cNvPicPr>
          <p:nvPr/>
        </p:nvPicPr>
        <p:blipFill>
          <a:blip r:embed="rId3"/>
          <a:stretch>
            <a:fillRect/>
          </a:stretch>
        </p:blipFill>
        <p:spPr>
          <a:xfrm>
            <a:off x="2566988" y="1412875"/>
            <a:ext cx="1800225" cy="317500"/>
          </a:xfrm>
          <a:prstGeom prst="rect">
            <a:avLst/>
          </a:prstGeom>
          <a:noFill/>
          <a:ln w="9525">
            <a:noFill/>
          </a:ln>
        </p:spPr>
      </p:pic>
      <p:pic>
        <p:nvPicPr>
          <p:cNvPr id="96262" name="图片 30769" descr="1">
            <a:hlinkClick r:id="" action="ppaction://noaction"/>
          </p:cNvPr>
          <p:cNvPicPr>
            <a:picLocks noChangeAspect="1"/>
          </p:cNvPicPr>
          <p:nvPr/>
        </p:nvPicPr>
        <p:blipFill>
          <a:blip r:embed="rId3"/>
          <a:stretch>
            <a:fillRect/>
          </a:stretch>
        </p:blipFill>
        <p:spPr>
          <a:xfrm>
            <a:off x="5519738" y="4005263"/>
            <a:ext cx="936625" cy="317500"/>
          </a:xfrm>
          <a:prstGeom prst="rect">
            <a:avLst/>
          </a:prstGeom>
          <a:noFill/>
          <a:ln w="9525">
            <a:noFill/>
          </a:ln>
        </p:spPr>
      </p:pic>
    </p:spTree>
  </p:cSld>
  <p:clrMapOvr>
    <a:masterClrMapping/>
  </p:clrMapOvr>
  <p:transition advClick="0"/>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标题 932865"/>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8</a:t>
            </a:r>
            <a:endParaRPr lang="en-US" altLang="zh-CN" sz="4400" kern="1200" baseline="0">
              <a:latin typeface="+mj-lt"/>
              <a:ea typeface="+mj-ea"/>
              <a:cs typeface="+mj-cs"/>
            </a:endParaRPr>
          </a:p>
        </p:txBody>
      </p:sp>
      <p:pic>
        <p:nvPicPr>
          <p:cNvPr id="98306" name="图片 932866" descr="next">
            <a:hlinkClick r:id="" action="ppaction://hlinkshowjump?jump=nextslide"/>
          </p:cNvPr>
          <p:cNvPicPr>
            <a:picLocks noChangeAspect="1"/>
          </p:cNvPicPr>
          <p:nvPr/>
        </p:nvPicPr>
        <p:blipFill>
          <a:blip r:embed="rId1"/>
          <a:stretch>
            <a:fillRect/>
          </a:stretch>
        </p:blipFill>
        <p:spPr>
          <a:xfrm>
            <a:off x="9671050" y="5949950"/>
            <a:ext cx="695325" cy="280988"/>
          </a:xfrm>
          <a:prstGeom prst="rect">
            <a:avLst/>
          </a:prstGeom>
          <a:noFill/>
          <a:ln w="9525">
            <a:noFill/>
          </a:ln>
        </p:spPr>
      </p:pic>
      <p:pic>
        <p:nvPicPr>
          <p:cNvPr id="98307" name="图片 932867" descr="prev">
            <a:hlinkClick r:id="" action="ppaction://hlinkshowjump?jump=previousslide"/>
          </p:cNvPr>
          <p:cNvPicPr>
            <a:picLocks noChangeAspect="1"/>
          </p:cNvPicPr>
          <p:nvPr/>
        </p:nvPicPr>
        <p:blipFill>
          <a:blip r:embed="rId2"/>
          <a:stretch>
            <a:fillRect/>
          </a:stretch>
        </p:blipFill>
        <p:spPr>
          <a:xfrm>
            <a:off x="8975725" y="5949950"/>
            <a:ext cx="695325" cy="280988"/>
          </a:xfrm>
          <a:prstGeom prst="rect">
            <a:avLst/>
          </a:prstGeom>
          <a:noFill/>
          <a:ln w="9525">
            <a:noFill/>
          </a:ln>
        </p:spPr>
      </p:pic>
      <p:sp>
        <p:nvSpPr>
          <p:cNvPr id="98308" name="文本框 932869"/>
          <p:cNvSpPr txBox="1"/>
          <p:nvPr/>
        </p:nvSpPr>
        <p:spPr>
          <a:xfrm>
            <a:off x="1919288" y="1196975"/>
            <a:ext cx="6121400" cy="1476375"/>
          </a:xfrm>
          <a:prstGeom prst="rect">
            <a:avLst/>
          </a:prstGeom>
          <a:noFill/>
          <a:ln w="9525">
            <a:noFill/>
          </a:ln>
        </p:spPr>
        <p:txBody>
          <a:bodyPr anchor="t" anchorCtr="0">
            <a:spAutoFit/>
          </a:bodyPr>
          <a:p>
            <a:pPr algn="just"/>
            <a:r>
              <a:rPr lang="en-US" altLang="zh-CN" dirty="0">
                <a:latin typeface="Trebuchet MS" panose="020B0603020202020204" pitchFamily="34" charset="0"/>
                <a:ea typeface="宋体" panose="02010600030101010101" pitchFamily="2" charset="-122"/>
              </a:rPr>
              <a:t>      </a:t>
            </a:r>
            <a:r>
              <a:rPr lang="en-US" altLang="zh-CN">
                <a:latin typeface="Trebuchet MS" panose="020B0603020202020204" pitchFamily="34" charset="0"/>
                <a:ea typeface="宋体" panose="02010600030101010101" pitchFamily="2" charset="-122"/>
              </a:rPr>
              <a:t>The idea that learning should take place by continual careful shaping and molding </a:t>
            </a:r>
            <a:r>
              <a:rPr lang="en-US" altLang="zh-CN">
                <a:solidFill>
                  <a:srgbClr val="CC0000"/>
                </a:solidFill>
                <a:latin typeface="Trebuchet MS" panose="020B0603020202020204" pitchFamily="34" charset="0"/>
                <a:ea typeface="宋体" panose="02010600030101010101" pitchFamily="2" charset="-122"/>
              </a:rPr>
              <a:t>applies</a:t>
            </a:r>
            <a:r>
              <a:rPr lang="en-US" altLang="zh-CN">
                <a:latin typeface="Trebuchet MS" panose="020B0603020202020204" pitchFamily="34" charset="0"/>
                <a:ea typeface="宋体" panose="02010600030101010101" pitchFamily="2" charset="-122"/>
              </a:rPr>
              <a:t> equally to the arts. Watching children at work in a classroom setting, we were astonished by their facility. Children as young as 5 or 6 were</a:t>
            </a:r>
            <a:endParaRPr lang="en-US" altLang="zh-CN">
              <a:latin typeface="Trebuchet MS" panose="020B0603020202020204" pitchFamily="34" charset="0"/>
              <a:ea typeface="宋体" panose="02010600030101010101" pitchFamily="2" charset="-122"/>
            </a:endParaRPr>
          </a:p>
        </p:txBody>
      </p:sp>
      <p:sp>
        <p:nvSpPr>
          <p:cNvPr id="98309" name="文本框 932871"/>
          <p:cNvSpPr txBox="1"/>
          <p:nvPr/>
        </p:nvSpPr>
        <p:spPr>
          <a:xfrm>
            <a:off x="1919288" y="3390900"/>
            <a:ext cx="8280400" cy="1476375"/>
          </a:xfrm>
          <a:prstGeom prst="rect">
            <a:avLst/>
          </a:prstGeom>
          <a:noFill/>
          <a:ln w="9525">
            <a:noFill/>
          </a:ln>
        </p:spPr>
        <p:txBody>
          <a:bodyPr anchor="t" anchorCtr="0">
            <a:spAutoFit/>
          </a:bodyPr>
          <a:p>
            <a:pPr algn="just"/>
            <a:r>
              <a:rPr lang="en-US" altLang="zh-CN">
                <a:latin typeface="Trebuchet MS" panose="020B0603020202020204" pitchFamily="34" charset="0"/>
                <a:ea typeface="宋体" panose="02010600030101010101" pitchFamily="2" charset="-122"/>
              </a:rPr>
              <a:t>painting flowers, fish and animals with the skill and confidence of an adult; calligraphers 9 and 10 years old were producing works that could have been displayed in a museum. In a visit to the homes of two of the young artists, we learned from their parents that they worked on perfecting their craft for several hours a day.</a:t>
            </a:r>
            <a:endParaRPr lang="en-US" altLang="zh-CN">
              <a:latin typeface="Trebuchet MS" panose="020B0603020202020204" pitchFamily="34" charset="0"/>
              <a:ea typeface="宋体" panose="02010600030101010101" pitchFamily="2" charset="-122"/>
            </a:endParaRPr>
          </a:p>
        </p:txBody>
      </p:sp>
      <p:pic>
        <p:nvPicPr>
          <p:cNvPr id="98310" name="图片 932873" descr="图片5"/>
          <p:cNvPicPr>
            <a:picLocks noChangeAspect="1"/>
          </p:cNvPicPr>
          <p:nvPr/>
        </p:nvPicPr>
        <p:blipFill>
          <a:blip r:embed="rId3"/>
          <a:stretch>
            <a:fillRect/>
          </a:stretch>
        </p:blipFill>
        <p:spPr>
          <a:xfrm>
            <a:off x="8183563" y="1268413"/>
            <a:ext cx="1871662" cy="1835150"/>
          </a:xfrm>
          <a:prstGeom prst="rect">
            <a:avLst/>
          </a:prstGeom>
          <a:noFill/>
          <a:ln w="9525">
            <a:noFill/>
          </a:ln>
        </p:spPr>
      </p:pic>
      <p:pic>
        <p:nvPicPr>
          <p:cNvPr id="98311" name="图片 932874" descr="1">
            <a:hlinkClick r:id="" action="ppaction://noaction"/>
          </p:cNvPr>
          <p:cNvPicPr>
            <a:picLocks noChangeAspect="1"/>
          </p:cNvPicPr>
          <p:nvPr/>
        </p:nvPicPr>
        <p:blipFill>
          <a:blip r:embed="rId4"/>
          <a:stretch>
            <a:fillRect/>
          </a:stretch>
        </p:blipFill>
        <p:spPr>
          <a:xfrm>
            <a:off x="3432175" y="1989138"/>
            <a:ext cx="936625" cy="317500"/>
          </a:xfrm>
          <a:prstGeom prst="rect">
            <a:avLst/>
          </a:prstGeom>
          <a:noFill/>
          <a:ln w="9525">
            <a:noFill/>
          </a:ln>
        </p:spPr>
      </p:pic>
    </p:spTree>
  </p:cSld>
  <p:clrMapOvr>
    <a:masterClrMapping/>
  </p:clrMapOvr>
  <p:transition advClick="0"/>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文本框 934916"/>
          <p:cNvSpPr txBox="1"/>
          <p:nvPr/>
        </p:nvSpPr>
        <p:spPr>
          <a:xfrm>
            <a:off x="1992313" y="1033463"/>
            <a:ext cx="8424862" cy="3138170"/>
          </a:xfrm>
          <a:prstGeom prst="rect">
            <a:avLst/>
          </a:prstGeom>
          <a:noFill/>
          <a:ln w="9525">
            <a:noFill/>
          </a:ln>
        </p:spPr>
        <p:txBody>
          <a:bodyPr anchor="t" anchorCtr="0">
            <a:spAutoFit/>
          </a:bodyPr>
          <a:p>
            <a:pPr algn="just"/>
            <a:r>
              <a:rPr lang="en-US" altLang="zh-CN" b="1">
                <a:latin typeface="Trebuchet MS" panose="020B0603020202020204" pitchFamily="34" charset="0"/>
                <a:ea typeface="宋体" panose="02010600030101010101" pitchFamily="2" charset="-122"/>
              </a:rPr>
              <a:t>      CREATIVITY FIRST? </a:t>
            </a:r>
            <a:endParaRPr lang="en-US" altLang="zh-CN" b="1">
              <a:latin typeface="Trebuchet MS" panose="020B0603020202020204" pitchFamily="34" charset="0"/>
              <a:ea typeface="宋体" panose="02010600030101010101" pitchFamily="2" charset="-122"/>
            </a:endParaRPr>
          </a:p>
          <a:p>
            <a:pPr algn="just"/>
            <a:r>
              <a:rPr lang="en-US" altLang="zh-CN">
                <a:latin typeface="Trebuchet MS" panose="020B0603020202020204" pitchFamily="34" charset="0"/>
                <a:ea typeface="宋体" panose="02010600030101010101" pitchFamily="2" charset="-122"/>
              </a:rPr>
              <a:t>      In terms of attitudes to creativity there seems to be a reversal of </a:t>
            </a:r>
            <a:r>
              <a:rPr lang="en-US" altLang="zh-CN">
                <a:solidFill>
                  <a:srgbClr val="CC0000"/>
                </a:solidFill>
                <a:latin typeface="Trebuchet MS" panose="020B0603020202020204" pitchFamily="34" charset="0"/>
                <a:ea typeface="宋体" panose="02010600030101010101" pitchFamily="2" charset="-122"/>
              </a:rPr>
              <a:t>priorities</a:t>
            </a:r>
            <a:r>
              <a:rPr lang="en-US" altLang="zh-CN">
                <a:latin typeface="Trebuchet MS" panose="020B0603020202020204" pitchFamily="34" charset="0"/>
                <a:ea typeface="宋体" panose="02010600030101010101" pitchFamily="2" charset="-122"/>
              </a:rPr>
              <a:t>:   </a:t>
            </a:r>
            <a:r>
              <a:rPr lang="en-US" altLang="zh-CN">
                <a:solidFill>
                  <a:schemeClr val="accent2"/>
                </a:solidFill>
                <a:latin typeface="Trebuchet MS" panose="020B0603020202020204" pitchFamily="34" charset="0"/>
                <a:ea typeface="宋体" panose="02010600030101010101" pitchFamily="2" charset="-122"/>
              </a:rPr>
              <a:t>young Westerners making their boldest departures first and then gradually mastering the tradition;</a:t>
            </a:r>
            <a:r>
              <a:rPr lang="en-US" altLang="zh-CN">
                <a:latin typeface="Trebuchet MS" panose="020B0603020202020204" pitchFamily="34" charset="0"/>
                <a:ea typeface="宋体" panose="02010600030101010101" pitchFamily="2" charset="-122"/>
              </a:rPr>
              <a:t> and young Chinese being almost inseparable from the tradition, but, over time, possibly </a:t>
            </a:r>
            <a:r>
              <a:rPr lang="en-US" altLang="zh-CN">
                <a:solidFill>
                  <a:srgbClr val="CC0000"/>
                </a:solidFill>
                <a:latin typeface="Trebuchet MS" panose="020B0603020202020204" pitchFamily="34" charset="0"/>
                <a:ea typeface="宋体" panose="02010600030101010101" pitchFamily="2" charset="-122"/>
              </a:rPr>
              <a:t>evolving</a:t>
            </a:r>
            <a:r>
              <a:rPr lang="en-US" altLang="zh-CN">
                <a:latin typeface="Trebuchet MS" panose="020B0603020202020204" pitchFamily="34" charset="0"/>
                <a:ea typeface="宋体" panose="02010600030101010101" pitchFamily="2" charset="-122"/>
              </a:rPr>
              <a:t> to a point equally original.</a:t>
            </a:r>
            <a:endParaRPr lang="en-US" altLang="zh-CN">
              <a:latin typeface="Trebuchet MS" panose="020B0603020202020204" pitchFamily="34" charset="0"/>
              <a:ea typeface="宋体" panose="02010600030101010101" pitchFamily="2" charset="-122"/>
            </a:endParaRPr>
          </a:p>
          <a:p>
            <a:pPr algn="just"/>
            <a:r>
              <a:rPr lang="en-US" altLang="zh-CN">
                <a:latin typeface="Trebuchet MS" panose="020B0603020202020204" pitchFamily="34" charset="0"/>
                <a:ea typeface="宋体" panose="02010600030101010101" pitchFamily="2" charset="-122"/>
              </a:rPr>
              <a:t>       One way of summarizing the American position is to state that we value originality and independence more than the Chinese do. The </a:t>
            </a:r>
            <a:r>
              <a:rPr lang="en-US" altLang="zh-CN">
                <a:solidFill>
                  <a:srgbClr val="CC0000"/>
                </a:solidFill>
                <a:latin typeface="Trebuchet MS" panose="020B0603020202020204" pitchFamily="34" charset="0"/>
                <a:ea typeface="宋体" panose="02010600030101010101" pitchFamily="2" charset="-122"/>
              </a:rPr>
              <a:t>contrast</a:t>
            </a:r>
            <a:r>
              <a:rPr lang="en-US" altLang="zh-CN">
                <a:latin typeface="Trebuchet MS" panose="020B0603020202020204" pitchFamily="34" charset="0"/>
                <a:ea typeface="宋体" panose="02010600030101010101" pitchFamily="2" charset="-122"/>
              </a:rPr>
              <a:t> between our two cultures can also be seen in terms of the fears we both </a:t>
            </a:r>
            <a:r>
              <a:rPr lang="en-US" altLang="zh-CN">
                <a:solidFill>
                  <a:srgbClr val="CC0000"/>
                </a:solidFill>
                <a:latin typeface="Trebuchet MS" panose="020B0603020202020204" pitchFamily="34" charset="0"/>
                <a:ea typeface="宋体" panose="02010600030101010101" pitchFamily="2" charset="-122"/>
              </a:rPr>
              <a:t>harbor</a:t>
            </a:r>
            <a:r>
              <a:rPr lang="en-US" altLang="zh-CN">
                <a:latin typeface="Trebuchet MS" panose="020B0603020202020204" pitchFamily="34" charset="0"/>
                <a:ea typeface="宋体" panose="02010600030101010101" pitchFamily="2" charset="-122"/>
              </a:rPr>
              <a:t>. Chinese teachers are fearful that if skills are not acquired early, they may never be acquired; there is, on the other hand, no comparable hurry to </a:t>
            </a:r>
            <a:r>
              <a:rPr lang="en-US" altLang="zh-CN">
                <a:solidFill>
                  <a:srgbClr val="CC0000"/>
                </a:solidFill>
                <a:latin typeface="Trebuchet MS" panose="020B0603020202020204" pitchFamily="34" charset="0"/>
                <a:ea typeface="宋体" panose="02010600030101010101" pitchFamily="2" charset="-122"/>
              </a:rPr>
              <a:t>promote</a:t>
            </a:r>
            <a:r>
              <a:rPr lang="en-US" altLang="zh-CN">
                <a:latin typeface="Trebuchet MS" panose="020B0603020202020204" pitchFamily="34" charset="0"/>
                <a:ea typeface="宋体" panose="02010600030101010101" pitchFamily="2" charset="-122"/>
              </a:rPr>
              <a:t> creativity. </a:t>
            </a:r>
            <a:endParaRPr lang="en-US" altLang="zh-CN">
              <a:latin typeface="Trebuchet MS" panose="020B0603020202020204" pitchFamily="34" charset="0"/>
              <a:ea typeface="宋体" panose="02010600030101010101" pitchFamily="2" charset="-122"/>
            </a:endParaRPr>
          </a:p>
        </p:txBody>
      </p:sp>
      <p:sp>
        <p:nvSpPr>
          <p:cNvPr id="100354" name="标题 934913"/>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9</a:t>
            </a:r>
            <a:endParaRPr lang="en-US" altLang="zh-CN" sz="4400" kern="1200" baseline="0">
              <a:latin typeface="+mj-lt"/>
              <a:ea typeface="+mj-ea"/>
              <a:cs typeface="+mj-cs"/>
            </a:endParaRPr>
          </a:p>
        </p:txBody>
      </p:sp>
      <p:pic>
        <p:nvPicPr>
          <p:cNvPr id="100355" name="图片 934914" descr="next">
            <a:hlinkClick r:id="" action="ppaction://hlinkshowjump?jump=nextslide"/>
          </p:cNvPr>
          <p:cNvPicPr>
            <a:picLocks noChangeAspect="1"/>
          </p:cNvPicPr>
          <p:nvPr/>
        </p:nvPicPr>
        <p:blipFill>
          <a:blip r:embed="rId1"/>
          <a:stretch>
            <a:fillRect/>
          </a:stretch>
        </p:blipFill>
        <p:spPr>
          <a:xfrm>
            <a:off x="9671050" y="5949950"/>
            <a:ext cx="695325" cy="280988"/>
          </a:xfrm>
          <a:prstGeom prst="rect">
            <a:avLst/>
          </a:prstGeom>
          <a:noFill/>
          <a:ln w="9525">
            <a:noFill/>
          </a:ln>
        </p:spPr>
      </p:pic>
      <p:pic>
        <p:nvPicPr>
          <p:cNvPr id="100356" name="图片 934915" descr="prev">
            <a:hlinkClick r:id="" action="ppaction://hlinkshowjump?jump=previousslide"/>
          </p:cNvPr>
          <p:cNvPicPr>
            <a:picLocks noChangeAspect="1"/>
          </p:cNvPicPr>
          <p:nvPr/>
        </p:nvPicPr>
        <p:blipFill>
          <a:blip r:embed="rId2"/>
          <a:stretch>
            <a:fillRect/>
          </a:stretch>
        </p:blipFill>
        <p:spPr>
          <a:xfrm>
            <a:off x="8975725" y="5949950"/>
            <a:ext cx="695325" cy="280988"/>
          </a:xfrm>
          <a:prstGeom prst="rect">
            <a:avLst/>
          </a:prstGeom>
          <a:noFill/>
          <a:ln w="9525">
            <a:noFill/>
          </a:ln>
        </p:spPr>
      </p:pic>
      <p:pic>
        <p:nvPicPr>
          <p:cNvPr id="100358" name="图片 934921" descr="1">
            <a:hlinkClick r:id="" action="ppaction://noaction"/>
          </p:cNvPr>
          <p:cNvPicPr>
            <a:picLocks noChangeAspect="1"/>
          </p:cNvPicPr>
          <p:nvPr/>
        </p:nvPicPr>
        <p:blipFill>
          <a:blip r:embed="rId3"/>
          <a:stretch>
            <a:fillRect/>
          </a:stretch>
        </p:blipFill>
        <p:spPr>
          <a:xfrm>
            <a:off x="3792538" y="1844675"/>
            <a:ext cx="1295400" cy="317500"/>
          </a:xfrm>
          <a:prstGeom prst="rect">
            <a:avLst/>
          </a:prstGeom>
          <a:noFill/>
          <a:ln w="9525">
            <a:noFill/>
          </a:ln>
        </p:spPr>
      </p:pic>
      <p:pic>
        <p:nvPicPr>
          <p:cNvPr id="100359" name="图片 934922" descr="1">
            <a:hlinkClick r:id="" action="ppaction://noaction"/>
          </p:cNvPr>
          <p:cNvPicPr>
            <a:picLocks noChangeAspect="1"/>
          </p:cNvPicPr>
          <p:nvPr/>
        </p:nvPicPr>
        <p:blipFill>
          <a:blip r:embed="rId3"/>
          <a:stretch>
            <a:fillRect/>
          </a:stretch>
        </p:blipFill>
        <p:spPr>
          <a:xfrm>
            <a:off x="7608888" y="2924175"/>
            <a:ext cx="1150937" cy="317500"/>
          </a:xfrm>
          <a:prstGeom prst="rect">
            <a:avLst/>
          </a:prstGeom>
          <a:noFill/>
          <a:ln w="9525">
            <a:noFill/>
          </a:ln>
        </p:spPr>
      </p:pic>
      <p:pic>
        <p:nvPicPr>
          <p:cNvPr id="100360" name="图片 934923" descr="1">
            <a:hlinkClick r:id="" action="ppaction://noaction"/>
          </p:cNvPr>
          <p:cNvPicPr>
            <a:picLocks noChangeAspect="1"/>
          </p:cNvPicPr>
          <p:nvPr/>
        </p:nvPicPr>
        <p:blipFill>
          <a:blip r:embed="rId3"/>
          <a:stretch>
            <a:fillRect/>
          </a:stretch>
        </p:blipFill>
        <p:spPr>
          <a:xfrm>
            <a:off x="4943475" y="4437063"/>
            <a:ext cx="1150938" cy="317500"/>
          </a:xfrm>
          <a:prstGeom prst="rect">
            <a:avLst/>
          </a:prstGeom>
          <a:noFill/>
          <a:ln w="9525">
            <a:noFill/>
          </a:ln>
        </p:spPr>
      </p:pic>
      <p:pic>
        <p:nvPicPr>
          <p:cNvPr id="100361" name="图片 934924" descr="1">
            <a:hlinkClick r:id="" action="ppaction://noaction"/>
          </p:cNvPr>
          <p:cNvPicPr>
            <a:picLocks noChangeAspect="1"/>
          </p:cNvPicPr>
          <p:nvPr/>
        </p:nvPicPr>
        <p:blipFill>
          <a:blip r:embed="rId3"/>
          <a:stretch>
            <a:fillRect/>
          </a:stretch>
        </p:blipFill>
        <p:spPr>
          <a:xfrm>
            <a:off x="8131175" y="4767263"/>
            <a:ext cx="863600" cy="317500"/>
          </a:xfrm>
          <a:prstGeom prst="rect">
            <a:avLst/>
          </a:prstGeom>
          <a:noFill/>
          <a:ln w="9525">
            <a:noFill/>
          </a:ln>
        </p:spPr>
      </p:pic>
      <p:pic>
        <p:nvPicPr>
          <p:cNvPr id="100362" name="图片 934925" descr="1">
            <a:hlinkClick r:id="" action="ppaction://noaction"/>
          </p:cNvPr>
          <p:cNvPicPr>
            <a:picLocks noChangeAspect="1"/>
          </p:cNvPicPr>
          <p:nvPr/>
        </p:nvPicPr>
        <p:blipFill>
          <a:blip r:embed="rId3"/>
          <a:stretch>
            <a:fillRect/>
          </a:stretch>
        </p:blipFill>
        <p:spPr>
          <a:xfrm>
            <a:off x="5375275" y="5876925"/>
            <a:ext cx="1152525" cy="317500"/>
          </a:xfrm>
          <a:prstGeom prst="rect">
            <a:avLst/>
          </a:prstGeom>
          <a:noFill/>
          <a:ln w="9525">
            <a:noFill/>
          </a:ln>
        </p:spPr>
      </p:pic>
      <p:pic>
        <p:nvPicPr>
          <p:cNvPr id="934927" name="u1b2text13.mp3">
            <a:hlinkClick r:id="" action="ppaction://media"/>
          </p:cNvPr>
          <p:cNvPicPr>
            <a:picLocks noRot="1" noChangeAspect="1"/>
          </p:cNvPicPr>
          <p:nvPr>
            <a:audioFile r:link="rId4"/>
            <p:extLst>
              <p:ext uri="{DAA4B4D4-6D71-4841-9C94-3DE7FCFB9230}">
                <p14:media xmlns:p14="http://schemas.microsoft.com/office/powerpoint/2010/main" r:link="rId5"/>
              </p:ext>
            </p:extLst>
          </p:nvPr>
        </p:nvPicPr>
        <p:blipFill>
          <a:blip r:embed="rId6"/>
          <a:stretch>
            <a:fillRect/>
          </a:stretch>
        </p:blipFill>
        <p:spPr>
          <a:xfrm>
            <a:off x="2195513" y="1108075"/>
            <a:ext cx="304800" cy="304800"/>
          </a:xfrm>
          <a:prstGeom prst="rect">
            <a:avLst/>
          </a:prstGeom>
          <a:noFill/>
          <a:ln w="9525">
            <a:noFill/>
          </a:ln>
        </p:spPr>
      </p:pic>
      <p:pic>
        <p:nvPicPr>
          <p:cNvPr id="100364" name="图片 934927" descr="图片3"/>
          <p:cNvPicPr>
            <a:picLocks noChangeAspect="1"/>
          </p:cNvPicPr>
          <p:nvPr/>
        </p:nvPicPr>
        <p:blipFill>
          <a:blip r:embed="rId7"/>
          <a:stretch>
            <a:fillRect/>
          </a:stretch>
        </p:blipFill>
        <p:spPr>
          <a:xfrm>
            <a:off x="2063750" y="1108075"/>
            <a:ext cx="436563" cy="325438"/>
          </a:xfrm>
          <a:prstGeom prst="rect">
            <a:avLst/>
          </a:prstGeom>
          <a:noFill/>
          <a:ln w="9525">
            <a:noFill/>
          </a:ln>
        </p:spPr>
      </p:pic>
    </p:spTree>
  </p:cSld>
  <p:clrMapOvr>
    <a:masterClrMapping/>
  </p:clrMapOvr>
  <p:transition advClick="0"/>
  <p:timing>
    <p:tnLst>
      <p:par>
        <p:cTn id="1" dur="indefinite" restart="never" nodeType="tmRoot">
          <p:childTnLst>
            <p:audio>
              <p:cMediaNode>
                <p:cTn id="2" fill="hold" display="0">
                  <p:stCondLst>
                    <p:cond delay="indefinite"/>
                  </p:stCondLst>
                  <p:endCondLst>
                    <p:cond evt="onNext" delay="0">
                      <p:tgtEl>
                        <p:sldTgt/>
                      </p:tgtEl>
                    </p:cond>
                    <p:cond evt="onPrev" delay="0">
                      <p:tgtEl>
                        <p:sldTgt/>
                      </p:tgtEl>
                    </p:cond>
                    <p:cond evt="onStopAudio" delay="0">
                      <p:tgtEl>
                        <p:sldTgt/>
                      </p:tgtEl>
                    </p:cond>
                  </p:endCondLst>
                </p:cTn>
                <p:tgtEl>
                  <p:spTgt spid="934927"/>
                </p:tgtEl>
              </p:cMediaNode>
            </p:audio>
            <p:seq concurrent="1" nextAc="seek">
              <p:cTn id="3" restart="whenNotActive" fill="hold" evtFilter="cancelBubble" nodeType="interactiveSeq">
                <p:stCondLst>
                  <p:cond evt="onClick" delay="0">
                    <p:tgtEl>
                      <p:spTgt spid="100364"/>
                    </p:tgtEl>
                  </p:cond>
                </p:stCondLst>
                <p:endSync evt="end" delay="0">
                  <p:rtn val="all"/>
                </p:endSync>
                <p:childTnLst>
                  <p:par>
                    <p:cTn id="4" fill="hold">
                      <p:stCondLst>
                        <p:cond delay="0"/>
                      </p:stCondLst>
                      <p:childTnLst>
                        <p:par>
                          <p:cTn id="5" fill="hold">
                            <p:stCondLst>
                              <p:cond delay="0"/>
                            </p:stCondLst>
                            <p:childTnLst>
                              <p:par>
                                <p:cTn id="6" presetID="1" presetClass="mediacall" presetSubtype="0" fill="hold" nodeType="clickEffect">
                                  <p:stCondLst>
                                    <p:cond delay="0"/>
                                  </p:stCondLst>
                                  <p:childTnLst>
                                    <p:cmd type="call" cmd="playFrom(0.0)">
                                      <p:cBhvr>
                                        <p:cTn id="7" dur="29088" fill="hold"/>
                                        <p:tgtEl>
                                          <p:spTgt spid="934927"/>
                                        </p:tgtEl>
                                      </p:cBhvr>
                                    </p:cmd>
                                  </p:childTnLst>
                                </p:cTn>
                              </p:par>
                            </p:childTnLst>
                          </p:cTn>
                        </p:par>
                      </p:childTnLst>
                    </p:cTn>
                  </p:par>
                  <p:par>
                    <p:cTn id="8" fill="hold">
                      <p:stCondLst>
                        <p:cond delay="indefinite"/>
                      </p:stCondLst>
                      <p:childTnLst>
                        <p:par>
                          <p:cTn id="9" fill="hold">
                            <p:stCondLst>
                              <p:cond delay="0"/>
                            </p:stCondLst>
                            <p:childTnLst>
                              <p:par>
                                <p:cTn id="10" presetID="3" presetClass="mediacall" presetSubtype="0" fill="hold" nodeType="clickEffect">
                                  <p:stCondLst>
                                    <p:cond delay="0"/>
                                  </p:stCondLst>
                                  <p:childTnLst>
                                    <p:cmd type="call" cmd="stop">
                                      <p:cBhvr>
                                        <p:cTn id="11" dur="1" fill="hold"/>
                                        <p:tgtEl>
                                          <p:spTgt spid="934927"/>
                                        </p:tgtEl>
                                      </p:cBhvr>
                                    </p:cmd>
                                  </p:childTnLst>
                                </p:cTn>
                              </p:par>
                            </p:childTnLst>
                          </p:cTn>
                        </p:par>
                      </p:childTnLst>
                    </p:cTn>
                  </p:par>
                </p:childTnLst>
              </p:cTn>
              <p:nextCondLst>
                <p:cond evt="onClick" delay="0">
                  <p:tgtEl>
                    <p:spTgt spid="10036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文本框 936961"/>
          <p:cNvSpPr txBox="1"/>
          <p:nvPr/>
        </p:nvSpPr>
        <p:spPr>
          <a:xfrm>
            <a:off x="1992313" y="1265238"/>
            <a:ext cx="8424862" cy="2527935"/>
          </a:xfrm>
          <a:prstGeom prst="rect">
            <a:avLst/>
          </a:prstGeom>
          <a:noFill/>
          <a:ln w="9525">
            <a:noFill/>
          </a:ln>
        </p:spPr>
        <p:txBody>
          <a:bodyPr anchor="t" anchorCtr="0">
            <a:spAutoFit/>
          </a:bodyPr>
          <a:p>
            <a:pPr algn="just">
              <a:lnSpc>
                <a:spcPct val="110000"/>
              </a:lnSpc>
            </a:pPr>
            <a:r>
              <a:rPr lang="en-US" altLang="zh-CN" dirty="0">
                <a:latin typeface="Trebuchet MS" panose="020B0603020202020204" pitchFamily="34" charset="0"/>
                <a:ea typeface="宋体" panose="02010600030101010101" pitchFamily="2" charset="-122"/>
              </a:rPr>
              <a:t>      </a:t>
            </a:r>
            <a:r>
              <a:rPr lang="en-US" altLang="zh-CN">
                <a:latin typeface="Trebuchet MS" panose="020B0603020202020204" pitchFamily="34" charset="0"/>
                <a:ea typeface="宋体" panose="02010600030101010101" pitchFamily="2" charset="-122"/>
              </a:rPr>
              <a:t>American educators fear that unless creativity has been acquired early, it may never </a:t>
            </a:r>
            <a:r>
              <a:rPr lang="en-US" altLang="zh-CN">
                <a:solidFill>
                  <a:srgbClr val="CC0000"/>
                </a:solidFill>
                <a:latin typeface="Trebuchet MS" panose="020B0603020202020204" pitchFamily="34" charset="0"/>
                <a:ea typeface="宋体" panose="02010600030101010101" pitchFamily="2" charset="-122"/>
              </a:rPr>
              <a:t>emerge</a:t>
            </a:r>
            <a:r>
              <a:rPr lang="en-US" altLang="zh-CN">
                <a:latin typeface="Trebuchet MS" panose="020B0603020202020204" pitchFamily="34" charset="0"/>
                <a:ea typeface="宋体" panose="02010600030101010101" pitchFamily="2" charset="-122"/>
              </a:rPr>
              <a:t>; on the other hand, skills can be picked up later.</a:t>
            </a:r>
            <a:endParaRPr lang="en-US" altLang="zh-CN">
              <a:latin typeface="Trebuchet MS" panose="020B0603020202020204" pitchFamily="34" charset="0"/>
              <a:ea typeface="宋体" panose="02010600030101010101" pitchFamily="2" charset="-122"/>
            </a:endParaRPr>
          </a:p>
          <a:p>
            <a:pPr algn="just">
              <a:lnSpc>
                <a:spcPct val="110000"/>
              </a:lnSpc>
            </a:pPr>
            <a:r>
              <a:rPr lang="en-US" altLang="zh-CN">
                <a:latin typeface="Trebuchet MS" panose="020B0603020202020204" pitchFamily="34" charset="0"/>
                <a:ea typeface="宋体" panose="02010600030101010101" pitchFamily="2" charset="-122"/>
              </a:rPr>
              <a:t>      However, I do not want to overstate my case. There is enormous creativity to be found in Chinese scientific, technological and artistic innovations past and present. And there is a danger of exaggerating creative breakthroughs in the West. When any innovation is examined closely, its reliance on previous achievements is all too apparent  (the “Standing on the shoulders of giants” phenomenon). </a:t>
            </a:r>
            <a:endParaRPr lang="en-US" altLang="zh-CN">
              <a:latin typeface="Trebuchet MS" panose="020B0603020202020204" pitchFamily="34" charset="0"/>
              <a:ea typeface="宋体" panose="02010600030101010101" pitchFamily="2" charset="-122"/>
            </a:endParaRPr>
          </a:p>
        </p:txBody>
      </p:sp>
      <p:sp>
        <p:nvSpPr>
          <p:cNvPr id="102402" name="标题 936962"/>
          <p:cNvSpPr/>
          <p:nvPr>
            <p:ph type="ctrTitle"/>
          </p:nvPr>
        </p:nvSpPr>
        <p:spPr>
          <a:xfrm>
            <a:off x="1524000" y="-1684337"/>
            <a:ext cx="7772400" cy="1470025"/>
          </a:xfrm>
          <a:solidFill>
            <a:srgbClr val="FFFFFF"/>
          </a:solidFill>
          <a:ln>
            <a:solidFill>
              <a:srgbClr val="000000"/>
            </a:solidFill>
            <a:miter/>
          </a:ln>
        </p:spPr>
        <p:txBody>
          <a:bodyPr anchor="t" anchorCtr="0"/>
          <a:p>
            <a:pPr defTabSz="914400">
              <a:buClrTx/>
              <a:buSzTx/>
              <a:buFontTx/>
              <a:buNone/>
            </a:pPr>
            <a:r>
              <a:rPr lang="en-US" altLang="zh-CN" sz="4400" kern="1200" baseline="0">
                <a:latin typeface="+mj-lt"/>
                <a:ea typeface="+mj-ea"/>
                <a:cs typeface="+mj-cs"/>
              </a:rPr>
              <a:t>D R _ Text 10</a:t>
            </a:r>
            <a:endParaRPr lang="en-US" altLang="zh-CN" sz="4400" kern="1200" baseline="0">
              <a:latin typeface="+mj-lt"/>
              <a:ea typeface="+mj-ea"/>
              <a:cs typeface="+mj-cs"/>
            </a:endParaRPr>
          </a:p>
        </p:txBody>
      </p:sp>
      <p:pic>
        <p:nvPicPr>
          <p:cNvPr id="102403" name="图片 936963" descr="next">
            <a:hlinkClick r:id="" action="ppaction://hlinkshowjump?jump=nextslide"/>
          </p:cNvPr>
          <p:cNvPicPr>
            <a:picLocks noChangeAspect="1"/>
          </p:cNvPicPr>
          <p:nvPr/>
        </p:nvPicPr>
        <p:blipFill>
          <a:blip r:embed="rId1"/>
          <a:stretch>
            <a:fillRect/>
          </a:stretch>
        </p:blipFill>
        <p:spPr>
          <a:xfrm>
            <a:off x="9671050" y="5949950"/>
            <a:ext cx="695325" cy="280988"/>
          </a:xfrm>
          <a:prstGeom prst="rect">
            <a:avLst/>
          </a:prstGeom>
          <a:noFill/>
          <a:ln w="9525">
            <a:noFill/>
          </a:ln>
        </p:spPr>
      </p:pic>
      <p:pic>
        <p:nvPicPr>
          <p:cNvPr id="102404" name="图片 936964" descr="prev">
            <a:hlinkClick r:id="" action="ppaction://hlinkshowjump?jump=previousslide"/>
          </p:cNvPr>
          <p:cNvPicPr>
            <a:picLocks noChangeAspect="1"/>
          </p:cNvPicPr>
          <p:nvPr/>
        </p:nvPicPr>
        <p:blipFill>
          <a:blip r:embed="rId2"/>
          <a:stretch>
            <a:fillRect/>
          </a:stretch>
        </p:blipFill>
        <p:spPr>
          <a:xfrm>
            <a:off x="8975725" y="5949950"/>
            <a:ext cx="695325" cy="280988"/>
          </a:xfrm>
          <a:prstGeom prst="rect">
            <a:avLst/>
          </a:prstGeom>
          <a:noFill/>
          <a:ln w="9525">
            <a:noFill/>
          </a:ln>
        </p:spPr>
      </p:pic>
      <p:pic>
        <p:nvPicPr>
          <p:cNvPr id="102405" name="图片 936965" descr="1">
            <a:hlinkClick r:id="" action="ppaction://noaction"/>
          </p:cNvPr>
          <p:cNvPicPr>
            <a:picLocks noChangeAspect="1"/>
          </p:cNvPicPr>
          <p:nvPr/>
        </p:nvPicPr>
        <p:blipFill>
          <a:blip r:embed="rId3"/>
          <a:stretch>
            <a:fillRect/>
          </a:stretch>
        </p:blipFill>
        <p:spPr>
          <a:xfrm>
            <a:off x="6311900" y="1773238"/>
            <a:ext cx="1152525" cy="317500"/>
          </a:xfrm>
          <a:prstGeom prst="rect">
            <a:avLst/>
          </a:prstGeom>
          <a:noFill/>
          <a:ln w="9525">
            <a:noFill/>
          </a:ln>
        </p:spPr>
      </p:pic>
    </p:spTree>
  </p:cSld>
  <p:clrMapOvr>
    <a:masterClrMapping/>
  </p:clrMapOvr>
  <p:transition advClick="0"/>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标题 385054"/>
          <p:cNvSpPr>
            <a:spLocks noGrp="1"/>
          </p:cNvSpPr>
          <p:nvPr>
            <p:ph type="ctrTitle"/>
          </p:nvPr>
        </p:nvSpPr>
        <p:spPr>
          <a:xfrm>
            <a:off x="2209800" y="-1684337"/>
            <a:ext cx="7772400" cy="1470025"/>
          </a:xfrm>
          <a:noFill/>
          <a:ln>
            <a:noFill/>
          </a:ln>
        </p:spPr>
        <p:txBody>
          <a:bodyPr anchor="t" anchorCtr="0"/>
          <a:p>
            <a:pPr defTabSz="914400">
              <a:buClrTx/>
              <a:buSzTx/>
              <a:buFontTx/>
              <a:buNone/>
            </a:pPr>
            <a:r>
              <a:rPr lang="en-US" altLang="zh-CN" sz="4400" kern="1200" baseline="0">
                <a:latin typeface="+mj-lt"/>
                <a:ea typeface="+mj-ea"/>
                <a:cs typeface="+mj-cs"/>
              </a:rPr>
              <a:t>D R _ Text 11</a:t>
            </a:r>
            <a:endParaRPr lang="en-US" altLang="zh-CN" sz="4400" kern="1200" baseline="0">
              <a:latin typeface="+mj-lt"/>
              <a:ea typeface="+mj-ea"/>
              <a:cs typeface="+mj-cs"/>
            </a:endParaRPr>
          </a:p>
        </p:txBody>
      </p:sp>
      <p:pic>
        <p:nvPicPr>
          <p:cNvPr id="104450" name="图片 385056" descr="prev">
            <a:hlinkClick r:id="" action="ppaction://hlinkshowjump?jump=previousslide"/>
          </p:cNvPr>
          <p:cNvPicPr>
            <a:picLocks noChangeAspect="1"/>
          </p:cNvPicPr>
          <p:nvPr/>
        </p:nvPicPr>
        <p:blipFill>
          <a:blip r:embed="rId1"/>
          <a:stretch>
            <a:fillRect/>
          </a:stretch>
        </p:blipFill>
        <p:spPr>
          <a:xfrm>
            <a:off x="8975725" y="5949950"/>
            <a:ext cx="695325" cy="280988"/>
          </a:xfrm>
          <a:prstGeom prst="rect">
            <a:avLst/>
          </a:prstGeom>
          <a:noFill/>
          <a:ln w="9525">
            <a:noFill/>
          </a:ln>
        </p:spPr>
      </p:pic>
      <p:sp>
        <p:nvSpPr>
          <p:cNvPr id="104451" name="文本框 385068"/>
          <p:cNvSpPr txBox="1"/>
          <p:nvPr/>
        </p:nvSpPr>
        <p:spPr>
          <a:xfrm>
            <a:off x="1919288" y="1196975"/>
            <a:ext cx="8424862" cy="1614170"/>
          </a:xfrm>
          <a:prstGeom prst="rect">
            <a:avLst/>
          </a:prstGeom>
          <a:noFill/>
          <a:ln w="9525">
            <a:noFill/>
          </a:ln>
        </p:spPr>
        <p:txBody>
          <a:bodyPr anchor="t" anchorCtr="0">
            <a:spAutoFit/>
          </a:bodyPr>
          <a:p>
            <a:pPr algn="just">
              <a:lnSpc>
                <a:spcPct val="110000"/>
              </a:lnSpc>
            </a:pPr>
            <a:r>
              <a:rPr lang="en-US" altLang="zh-CN" dirty="0">
                <a:latin typeface="Trebuchet MS" panose="020B0603020202020204" pitchFamily="34" charset="0"/>
                <a:ea typeface="宋体" panose="02010600030101010101" pitchFamily="2" charset="-122"/>
              </a:rPr>
              <a:t>         </a:t>
            </a:r>
            <a:r>
              <a:rPr lang="en-US" altLang="zh-CN">
                <a:solidFill>
                  <a:schemeClr val="accent2"/>
                </a:solidFill>
                <a:latin typeface="Trebuchet MS" panose="020B0603020202020204" pitchFamily="34" charset="0"/>
                <a:ea typeface="宋体" panose="02010600030101010101" pitchFamily="2" charset="-122"/>
              </a:rPr>
              <a:t>But assuming that the contrast I have developed is </a:t>
            </a:r>
            <a:r>
              <a:rPr lang="en-US" altLang="zh-CN">
                <a:solidFill>
                  <a:srgbClr val="CC0000"/>
                </a:solidFill>
                <a:latin typeface="Trebuchet MS" panose="020B0603020202020204" pitchFamily="34" charset="0"/>
                <a:ea typeface="宋体" panose="02010600030101010101" pitchFamily="2" charset="-122"/>
              </a:rPr>
              <a:t>valid</a:t>
            </a:r>
            <a:r>
              <a:rPr lang="en-US" altLang="zh-CN">
                <a:solidFill>
                  <a:schemeClr val="accent2"/>
                </a:solidFill>
                <a:latin typeface="Trebuchet MS" panose="020B0603020202020204" pitchFamily="34" charset="0"/>
                <a:ea typeface="宋体" panose="02010600030101010101" pitchFamily="2" charset="-122"/>
              </a:rPr>
              <a:t>, and that the fostering of skills and creativity are both </a:t>
            </a:r>
            <a:r>
              <a:rPr lang="en-US" altLang="zh-CN">
                <a:solidFill>
                  <a:srgbClr val="CC0000"/>
                </a:solidFill>
                <a:latin typeface="Trebuchet MS" panose="020B0603020202020204" pitchFamily="34" charset="0"/>
                <a:ea typeface="宋体" panose="02010600030101010101" pitchFamily="2" charset="-122"/>
              </a:rPr>
              <a:t>worthwhile</a:t>
            </a:r>
            <a:r>
              <a:rPr lang="en-US" altLang="zh-CN">
                <a:solidFill>
                  <a:schemeClr val="accent2"/>
                </a:solidFill>
                <a:latin typeface="Trebuchet MS" panose="020B0603020202020204" pitchFamily="34" charset="0"/>
                <a:ea typeface="宋体" panose="02010600030101010101" pitchFamily="2" charset="-122"/>
              </a:rPr>
              <a:t> goals,</a:t>
            </a:r>
            <a:r>
              <a:rPr lang="en-US" altLang="zh-CN">
                <a:latin typeface="Trebuchet MS" panose="020B0603020202020204" pitchFamily="34" charset="0"/>
                <a:ea typeface="宋体" panose="02010600030101010101" pitchFamily="2" charset="-122"/>
              </a:rPr>
              <a:t> the important question becomes this:    </a:t>
            </a:r>
            <a:r>
              <a:rPr lang="en-US" altLang="zh-CN">
                <a:solidFill>
                  <a:schemeClr val="accent2"/>
                </a:solidFill>
                <a:latin typeface="Trebuchet MS" panose="020B0603020202020204" pitchFamily="34" charset="0"/>
                <a:ea typeface="宋体" panose="02010600030101010101" pitchFamily="2" charset="-122"/>
              </a:rPr>
              <a:t>Can we gather, from the Chinese and American extremes, a</a:t>
            </a:r>
            <a:r>
              <a:rPr lang="en-US" altLang="zh-CN">
                <a:latin typeface="Trebuchet MS" panose="020B0603020202020204" pitchFamily="34" charset="0"/>
                <a:ea typeface="宋体" panose="02010600030101010101" pitchFamily="2" charset="-122"/>
              </a:rPr>
              <a:t> </a:t>
            </a:r>
            <a:r>
              <a:rPr lang="en-US" altLang="zh-CN">
                <a:solidFill>
                  <a:srgbClr val="CC0000"/>
                </a:solidFill>
                <a:latin typeface="Trebuchet MS" panose="020B0603020202020204" pitchFamily="34" charset="0"/>
                <a:ea typeface="宋体" panose="02010600030101010101" pitchFamily="2" charset="-122"/>
              </a:rPr>
              <a:t>superior</a:t>
            </a:r>
            <a:r>
              <a:rPr lang="en-US" altLang="zh-CN">
                <a:latin typeface="Trebuchet MS" panose="020B0603020202020204" pitchFamily="34" charset="0"/>
                <a:ea typeface="宋体" panose="02010600030101010101" pitchFamily="2" charset="-122"/>
              </a:rPr>
              <a:t> </a:t>
            </a:r>
            <a:r>
              <a:rPr lang="en-US" altLang="zh-CN">
                <a:solidFill>
                  <a:schemeClr val="accent2"/>
                </a:solidFill>
                <a:latin typeface="Trebuchet MS" panose="020B0603020202020204" pitchFamily="34" charset="0"/>
                <a:ea typeface="宋体" panose="02010600030101010101" pitchFamily="2" charset="-122"/>
              </a:rPr>
              <a:t>way to approach education, perhaps striking a better balance between the poles of creativity and basic skills?</a:t>
            </a:r>
            <a:endParaRPr lang="en-US" altLang="zh-CN">
              <a:solidFill>
                <a:schemeClr val="accent2"/>
              </a:solidFill>
              <a:latin typeface="Trebuchet MS" panose="020B0603020202020204" pitchFamily="34" charset="0"/>
              <a:ea typeface="宋体" panose="02010600030101010101" pitchFamily="2" charset="-122"/>
            </a:endParaRPr>
          </a:p>
        </p:txBody>
      </p:sp>
      <p:pic>
        <p:nvPicPr>
          <p:cNvPr id="104452" name="图片 385071" descr="图片7"/>
          <p:cNvPicPr>
            <a:picLocks noChangeAspect="1"/>
          </p:cNvPicPr>
          <p:nvPr/>
        </p:nvPicPr>
        <p:blipFill>
          <a:blip r:embed="rId2"/>
          <a:stretch>
            <a:fillRect/>
          </a:stretch>
        </p:blipFill>
        <p:spPr>
          <a:xfrm>
            <a:off x="7464425" y="3860800"/>
            <a:ext cx="2670175" cy="1919288"/>
          </a:xfrm>
          <a:prstGeom prst="rect">
            <a:avLst/>
          </a:prstGeom>
          <a:noFill/>
          <a:ln w="9525">
            <a:noFill/>
          </a:ln>
        </p:spPr>
      </p:pic>
      <p:pic>
        <p:nvPicPr>
          <p:cNvPr id="104453" name="图片 385072" descr="1">
            <a:hlinkClick r:id="" action="ppaction://noaction"/>
          </p:cNvPr>
          <p:cNvPicPr>
            <a:picLocks noChangeAspect="1"/>
          </p:cNvPicPr>
          <p:nvPr/>
        </p:nvPicPr>
        <p:blipFill>
          <a:blip r:embed="rId3"/>
          <a:stretch>
            <a:fillRect/>
          </a:stretch>
        </p:blipFill>
        <p:spPr>
          <a:xfrm>
            <a:off x="1919288" y="1700213"/>
            <a:ext cx="757237" cy="317500"/>
          </a:xfrm>
          <a:prstGeom prst="rect">
            <a:avLst/>
          </a:prstGeom>
          <a:noFill/>
          <a:ln w="9525">
            <a:noFill/>
          </a:ln>
        </p:spPr>
      </p:pic>
      <p:pic>
        <p:nvPicPr>
          <p:cNvPr id="104454" name="图片 385073" descr="1">
            <a:hlinkClick r:id="" action="ppaction://noaction"/>
          </p:cNvPr>
          <p:cNvPicPr>
            <a:picLocks noChangeAspect="1"/>
          </p:cNvPicPr>
          <p:nvPr/>
        </p:nvPicPr>
        <p:blipFill>
          <a:blip r:embed="rId3"/>
          <a:stretch>
            <a:fillRect/>
          </a:stretch>
        </p:blipFill>
        <p:spPr>
          <a:xfrm>
            <a:off x="2782888" y="2133600"/>
            <a:ext cx="1511300" cy="317500"/>
          </a:xfrm>
          <a:prstGeom prst="rect">
            <a:avLst/>
          </a:prstGeom>
          <a:noFill/>
          <a:ln w="9525">
            <a:noFill/>
          </a:ln>
        </p:spPr>
      </p:pic>
      <p:pic>
        <p:nvPicPr>
          <p:cNvPr id="104455" name="图片 385074" descr="1">
            <a:hlinkClick r:id="" action="ppaction://noaction"/>
          </p:cNvPr>
          <p:cNvPicPr>
            <a:picLocks noChangeAspect="1"/>
          </p:cNvPicPr>
          <p:nvPr/>
        </p:nvPicPr>
        <p:blipFill>
          <a:blip r:embed="rId3"/>
          <a:stretch>
            <a:fillRect/>
          </a:stretch>
        </p:blipFill>
        <p:spPr>
          <a:xfrm>
            <a:off x="3863975" y="2924175"/>
            <a:ext cx="1150938" cy="317500"/>
          </a:xfrm>
          <a:prstGeom prst="rect">
            <a:avLst/>
          </a:prstGeom>
          <a:noFill/>
          <a:ln w="9525">
            <a:noFill/>
          </a:ln>
        </p:spPr>
      </p:pic>
    </p:spTree>
  </p:cSld>
  <p:clrMapOvr>
    <a:masterClrMapping/>
  </p:clrMapOvr>
  <p:transition advClick="0"/>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65.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COMMONDATA" val="eyJoZGlkIjoiYzgzY2YwODcxYzA3MTNhZDUwMDhkNWI4MDNiNDgxMTY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7082</Words>
  <Application>WPS 演示</Application>
  <PresentationFormat>宽屏</PresentationFormat>
  <Paragraphs>71</Paragraphs>
  <Slides>12</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宋体</vt:lpstr>
      <vt:lpstr>Wingdings</vt:lpstr>
      <vt:lpstr>Wingdings</vt:lpstr>
      <vt:lpstr>微软雅黑</vt:lpstr>
      <vt:lpstr>Arial Unicode MS</vt:lpstr>
      <vt:lpstr>Calibri</vt:lpstr>
      <vt:lpstr>Trebuchet MS</vt:lpstr>
      <vt:lpstr>Office 主题​​</vt:lpstr>
      <vt:lpstr>PowerPoint 演示文稿</vt:lpstr>
      <vt:lpstr>D R _ Text 1</vt:lpstr>
      <vt:lpstr>D R _ Text 2</vt:lpstr>
      <vt:lpstr>D R _ Text 3</vt:lpstr>
      <vt:lpstr>D R _ Text 4</vt:lpstr>
      <vt:lpstr>D R _ Text 5</vt:lpstr>
      <vt:lpstr>D R _ Text 6</vt:lpstr>
      <vt:lpstr>D R _ Text 7</vt:lpstr>
      <vt:lpstr>D R _ Text 8</vt:lpstr>
      <vt:lpstr>D R _ Text 9</vt:lpstr>
      <vt:lpstr>D R _ Text 10</vt:lpstr>
      <vt:lpstr>D R _ Text 11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weiwei</cp:lastModifiedBy>
  <cp:revision>177</cp:revision>
  <dcterms:created xsi:type="dcterms:W3CDTF">2019-06-19T02:08:00Z</dcterms:created>
  <dcterms:modified xsi:type="dcterms:W3CDTF">2022-11-17T03:17:29Z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2052-11.1.0.12763</vt:lpwstr>
  </property>
  <property fmtid="{D5CDD505-2E9C-101B-9397-08002B2CF9AE}" pid="3" name="ICV">
    <vt:lpwstr>EAE106CC5271424ABD5DCE667C00B6E4</vt:lpwstr>
  </property>
</Properties>
</file>