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9" r:id="rId4"/>
    <p:sldId id="270" r:id="rId6"/>
    <p:sldId id="271" r:id="rId7"/>
    <p:sldId id="272" r:id="rId8"/>
    <p:sldId id="273" r:id="rId9"/>
    <p:sldId id="274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66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7" name="幻灯片图像占位符 77824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6498" name="文本占位符 778242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06499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5" name="幻灯片图像占位符 779265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8546" name="文本占位符 779266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08547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3" name="幻灯片图像占位符 780289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0594" name="文本占位符 780290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10595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1" name="幻灯片图像占位符 781313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2642" name="文本占位符 781314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12643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9" name="幻灯片图像占位符 782337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4690" name="文本占位符 782338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14691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7" name="幻灯片图像占位符 78336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6738" name="文本占位符 783362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16739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5" name="幻灯片图像占位符 784385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8786" name="文本占位符 784386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18787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3" name="幻灯片图像占位符 785409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0834" name="文本占位符 785410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20835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1" name="幻灯片图像占位符 944129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2882" name="文本占位符 944130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22883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幻灯片图像占位符 946177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4930" name="文本占位符 946178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24931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7" name="幻灯片图像占位符 1056769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6978" name="文本占位符 1056770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26979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5" name="幻灯片图像占位符 1058817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9026" name="文本占位符 1058818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29027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3" name="幻灯片图像占位符 1060865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31074" name="文本占位符 1060866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31075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1" name="幻灯片图像占位符 1062913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33122" name="文本占位符 1062914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33123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69" name="幻灯片图像占位符 106496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35170" name="文本占位符 1064962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indent="0"/>
            <a:endParaRPr lang="zh-CN" altLang="zh-CN" dirty="0"/>
          </a:p>
        </p:txBody>
      </p:sp>
      <p:sp>
        <p:nvSpPr>
          <p:cNvPr id="135171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 algn="r"/>
            <a:fld id="{9A0DB2DC-4C9A-4742-B13C-FB6460FD3503}" type="slidenum">
              <a:rPr lang="zh-CN" altLang="en-US" sz="1200" dirty="0">
                <a:latin typeface="Trebuchet MS" panose="020B0603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microsoft.com/office/2007/relationships/media" Target="file:///F:\&#20840;&#26032;&#29256;&#65288;&#31532;&#20108;&#29256;&#65289;&#32508;&#21512;4&#25945;&#26696;\unit3\t6.mp3" TargetMode="External"/><Relationship Id="rId5" Type="http://schemas.openxmlformats.org/officeDocument/2006/relationships/audio" Target="file:///F:\&#20840;&#26032;&#29256;&#65288;&#31532;&#20108;&#29256;&#65289;&#32508;&#21512;4&#25945;&#26696;\unit3\t6.mp3" TargetMode="External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microsoft.com/office/2007/relationships/media" Target="file:///F:\&#20840;&#26032;&#29256;&#65288;&#31532;&#20108;&#29256;&#65289;&#32508;&#21512;4&#25945;&#26696;\unit3\t11.mp3" TargetMode="External"/><Relationship Id="rId8" Type="http://schemas.openxmlformats.org/officeDocument/2006/relationships/audio" Target="file:///F:\&#20840;&#26032;&#29256;&#65288;&#31532;&#20108;&#29256;&#65289;&#32508;&#21512;4&#25945;&#26696;\unit3\t11.mp3" TargetMode="External"/><Relationship Id="rId7" Type="http://schemas.openxmlformats.org/officeDocument/2006/relationships/image" Target="../media/image6.png"/><Relationship Id="rId6" Type="http://schemas.microsoft.com/office/2007/relationships/media" Target="file:///F:\&#20840;&#26032;&#29256;&#65288;&#31532;&#20108;&#29256;&#65289;&#32508;&#21512;4&#25945;&#26696;\unit3\t10.mp3" TargetMode="External"/><Relationship Id="rId5" Type="http://schemas.openxmlformats.org/officeDocument/2006/relationships/audio" Target="file:///F:\&#20840;&#26032;&#29256;&#65288;&#31532;&#20108;&#29256;&#65289;&#32508;&#21512;4&#25945;&#26696;\unit3\t10.mp3" TargetMode="External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microsoft.com/office/2007/relationships/media" Target="file:///F:\&#20840;&#26032;&#29256;&#65288;&#31532;&#20108;&#29256;&#65289;&#32508;&#21512;4&#25945;&#26696;\unit3\t13.mp3" TargetMode="External"/><Relationship Id="rId8" Type="http://schemas.openxmlformats.org/officeDocument/2006/relationships/audio" Target="file:///F:\&#20840;&#26032;&#29256;&#65288;&#31532;&#20108;&#29256;&#65289;&#32508;&#21512;4&#25945;&#26696;\unit3\t13.mp3" TargetMode="External"/><Relationship Id="rId7" Type="http://schemas.openxmlformats.org/officeDocument/2006/relationships/image" Target="../media/image6.png"/><Relationship Id="rId6" Type="http://schemas.microsoft.com/office/2007/relationships/media" Target="file:///F:\&#20840;&#26032;&#29256;&#65288;&#31532;&#20108;&#29256;&#65289;&#32508;&#21512;4&#25945;&#26696;\unit3\t12.mp3" TargetMode="External"/><Relationship Id="rId5" Type="http://schemas.openxmlformats.org/officeDocument/2006/relationships/audio" Target="file:///F:\&#20840;&#26032;&#29256;&#65288;&#31532;&#20108;&#29256;&#65289;&#32508;&#21512;4&#25945;&#26696;\unit3\t12.mp3" TargetMode="External"/><Relationship Id="rId4" Type="http://schemas.openxmlformats.org/officeDocument/2006/relationships/image" Target="../media/image3.png"/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microsoft.com/office/2007/relationships/media" Target="file:///F:\&#20840;&#26032;&#29256;&#65288;&#31532;&#20108;&#29256;&#65289;&#32508;&#21512;4&#25945;&#26696;\unit3\t15.mp3" TargetMode="External"/><Relationship Id="rId7" Type="http://schemas.openxmlformats.org/officeDocument/2006/relationships/audio" Target="file:///F:\&#20840;&#26032;&#29256;&#65288;&#31532;&#20108;&#29256;&#65289;&#32508;&#21512;4&#25945;&#26696;\unit3\t15.mp3" TargetMode="External"/><Relationship Id="rId6" Type="http://schemas.openxmlformats.org/officeDocument/2006/relationships/image" Target="../media/image6.png"/><Relationship Id="rId5" Type="http://schemas.microsoft.com/office/2007/relationships/media" Target="file:///F:\&#20840;&#26032;&#29256;&#65288;&#31532;&#20108;&#29256;&#65289;&#32508;&#21512;4&#25945;&#26696;\unit3\t14.mp3" TargetMode="External"/><Relationship Id="rId4" Type="http://schemas.openxmlformats.org/officeDocument/2006/relationships/audio" Target="file:///F:\&#20840;&#26032;&#29256;&#65288;&#31532;&#20108;&#29256;&#65289;&#32508;&#21512;4&#25945;&#26696;\unit3\t14.mp3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microsoft.com/office/2007/relationships/media" Target="file:///F:\&#20840;&#26032;&#29256;&#65288;&#31532;&#20108;&#29256;&#65289;&#32508;&#21512;4&#25945;&#26696;\unit3\t17.mp3" TargetMode="External"/><Relationship Id="rId7" Type="http://schemas.openxmlformats.org/officeDocument/2006/relationships/audio" Target="file:///F:\&#20840;&#26032;&#29256;&#65288;&#31532;&#20108;&#29256;&#65289;&#32508;&#21512;4&#25945;&#26696;\unit3\t17.mp3" TargetMode="External"/><Relationship Id="rId6" Type="http://schemas.openxmlformats.org/officeDocument/2006/relationships/image" Target="../media/image6.png"/><Relationship Id="rId5" Type="http://schemas.microsoft.com/office/2007/relationships/media" Target="file:///F:\&#20840;&#26032;&#29256;&#65288;&#31532;&#20108;&#29256;&#65289;&#32508;&#21512;4&#25945;&#26696;\unit3\t16.mp3" TargetMode="External"/><Relationship Id="rId4" Type="http://schemas.openxmlformats.org/officeDocument/2006/relationships/audio" Target="file:///F:\&#20840;&#26032;&#29256;&#65288;&#31532;&#20108;&#29256;&#65289;&#32508;&#21512;4&#25945;&#26696;\unit3\t16.mp3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6.png"/><Relationship Id="rId5" Type="http://schemas.microsoft.com/office/2007/relationships/media" Target="file:///F:\&#20840;&#26032;&#29256;&#65288;&#31532;&#20108;&#29256;&#65289;&#32508;&#21512;4&#25945;&#26696;\unit3\t18.mp3" TargetMode="External"/><Relationship Id="rId4" Type="http://schemas.openxmlformats.org/officeDocument/2006/relationships/audio" Target="file:///F:\&#20840;&#26032;&#29256;&#65288;&#31532;&#20108;&#29256;&#65289;&#32508;&#21512;4&#25945;&#26696;\unit3\t18.mp3" TargetMode="External"/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audio" Target="file:///F:\&#20840;&#26032;&#29256;&#65288;&#31532;&#20108;&#29256;&#65289;&#32508;&#21512;4&#25945;&#26696;\unit3\t20.mp3" TargetMode="External"/><Relationship Id="rId8" Type="http://schemas.openxmlformats.org/officeDocument/2006/relationships/image" Target="../media/image8.png"/><Relationship Id="rId7" Type="http://schemas.openxmlformats.org/officeDocument/2006/relationships/image" Target="../media/image6.png"/><Relationship Id="rId6" Type="http://schemas.microsoft.com/office/2007/relationships/media" Target="file:///F:\&#20840;&#26032;&#29256;&#65288;&#31532;&#20108;&#29256;&#65289;&#32508;&#21512;4&#25945;&#26696;\unit3\t19.mp3" TargetMode="External"/><Relationship Id="rId5" Type="http://schemas.openxmlformats.org/officeDocument/2006/relationships/audio" Target="file:///F:\&#20840;&#26032;&#29256;&#65288;&#31532;&#20108;&#29256;&#65289;&#32508;&#21512;4&#25945;&#26696;\unit3\t19.mp3" TargetMode="External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microsoft.com/office/2007/relationships/media" Target="file:///F:\&#20840;&#26032;&#29256;&#65288;&#31532;&#20108;&#29256;&#65289;&#32508;&#21512;4&#25945;&#26696;\unit3\t20.mp3" TargetMode="Externa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microsoft.com/office/2007/relationships/media" Target="file:///F:\&#20840;&#26032;&#29256;&#65288;&#31532;&#20108;&#29256;&#65289;&#32508;&#21512;4&#25945;&#26696;\unit3\t22.mp3" TargetMode="External"/><Relationship Id="rId8" Type="http://schemas.openxmlformats.org/officeDocument/2006/relationships/audio" Target="file:///F:\&#20840;&#26032;&#29256;&#65288;&#31532;&#20108;&#29256;&#65289;&#32508;&#21512;4&#25945;&#26696;\unit3\t22.mp3" TargetMode="External"/><Relationship Id="rId7" Type="http://schemas.openxmlformats.org/officeDocument/2006/relationships/image" Target="../media/image8.png"/><Relationship Id="rId6" Type="http://schemas.openxmlformats.org/officeDocument/2006/relationships/image" Target="../media/image6.png"/><Relationship Id="rId5" Type="http://schemas.microsoft.com/office/2007/relationships/media" Target="file:///F:\&#20840;&#26032;&#29256;&#65288;&#31532;&#20108;&#29256;&#65289;&#32508;&#21512;4&#25945;&#26696;\unit3\t21.mp3" TargetMode="External"/><Relationship Id="rId4" Type="http://schemas.openxmlformats.org/officeDocument/2006/relationships/audio" Target="file:///F:\&#20840;&#26032;&#29256;&#65288;&#31532;&#20108;&#29256;&#65289;&#32508;&#21512;4&#25945;&#26696;\unit3\t21.mp3" TargetMode="External"/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microsoft.com/office/2007/relationships/media" Target="file:///F:\&#20840;&#26032;&#29256;&#65288;&#31532;&#20108;&#29256;&#65289;&#32508;&#21512;4&#25945;&#26696;\unit3\t24.mp3" TargetMode="External"/><Relationship Id="rId8" Type="http://schemas.openxmlformats.org/officeDocument/2006/relationships/audio" Target="file:///F:\&#20840;&#26032;&#29256;&#65288;&#31532;&#20108;&#29256;&#65289;&#32508;&#21512;4&#25945;&#26696;\unit3\t24.mp3" TargetMode="External"/><Relationship Id="rId7" Type="http://schemas.openxmlformats.org/officeDocument/2006/relationships/image" Target="../media/image6.png"/><Relationship Id="rId6" Type="http://schemas.microsoft.com/office/2007/relationships/media" Target="file:///F:\&#20840;&#26032;&#29256;&#65288;&#31532;&#20108;&#29256;&#65289;&#32508;&#21512;4&#25945;&#26696;\unit3\t23.mp3" TargetMode="External"/><Relationship Id="rId5" Type="http://schemas.openxmlformats.org/officeDocument/2006/relationships/audio" Target="file:///F:\&#20840;&#26032;&#29256;&#65288;&#31532;&#20108;&#29256;&#65289;&#32508;&#21512;4&#25945;&#26696;\unit3\t23.mp3" TargetMode="External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8.png"/><Relationship Id="rId13" Type="http://schemas.microsoft.com/office/2007/relationships/media" Target="file:///F:\&#20840;&#26032;&#29256;&#65288;&#31532;&#20108;&#29256;&#65289;&#32508;&#21512;4&#25945;&#26696;\unit3\t26.mp3" TargetMode="External"/><Relationship Id="rId12" Type="http://schemas.openxmlformats.org/officeDocument/2006/relationships/audio" Target="file:///F:\&#20840;&#26032;&#29256;&#65288;&#31532;&#20108;&#29256;&#65289;&#32508;&#21512;4&#25945;&#26696;\unit3\t26.mp3" TargetMode="External"/><Relationship Id="rId11" Type="http://schemas.microsoft.com/office/2007/relationships/media" Target="file:///F:\&#20840;&#26032;&#29256;&#65288;&#31532;&#20108;&#29256;&#65289;&#32508;&#21512;4&#25945;&#26696;\unit3\t25.mp3" TargetMode="External"/><Relationship Id="rId10" Type="http://schemas.openxmlformats.org/officeDocument/2006/relationships/audio" Target="file:///F:\&#20840;&#26032;&#29256;&#65288;&#31532;&#20108;&#29256;&#65289;&#32508;&#21512;4&#25945;&#26696;\unit3\t25.mp3" TargetMode="Externa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9" Type="http://schemas.microsoft.com/office/2007/relationships/media" Target="file:///F:\&#20840;&#26032;&#29256;&#65288;&#31532;&#20108;&#29256;&#65289;&#32508;&#21512;4&#25945;&#26696;\unit3\t28.mp3" TargetMode="External"/><Relationship Id="rId8" Type="http://schemas.openxmlformats.org/officeDocument/2006/relationships/audio" Target="file:///F:\&#20840;&#26032;&#29256;&#65288;&#31532;&#20108;&#29256;&#65289;&#32508;&#21512;4&#25945;&#26696;\unit3\t28.mp3" TargetMode="External"/><Relationship Id="rId7" Type="http://schemas.openxmlformats.org/officeDocument/2006/relationships/image" Target="../media/image6.png"/><Relationship Id="rId6" Type="http://schemas.microsoft.com/office/2007/relationships/media" Target="file:///F:\&#20840;&#26032;&#29256;&#65288;&#31532;&#20108;&#29256;&#65289;&#32508;&#21512;4&#25945;&#26696;\unit3\t27.mp3" TargetMode="External"/><Relationship Id="rId5" Type="http://schemas.openxmlformats.org/officeDocument/2006/relationships/audio" Target="file:///F:\&#20840;&#26032;&#29256;&#65288;&#31532;&#20108;&#29256;&#65289;&#32508;&#21512;4&#25945;&#26696;\unit3\t27.mp3" TargetMode="External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9" Type="http://schemas.microsoft.com/office/2007/relationships/media" Target="file:///F:\&#20840;&#26032;&#29256;&#65288;&#31532;&#20108;&#29256;&#65289;&#32508;&#21512;4&#25945;&#26696;\unit3\t30.mp3" TargetMode="External"/><Relationship Id="rId8" Type="http://schemas.openxmlformats.org/officeDocument/2006/relationships/audio" Target="file:///F:\&#20840;&#26032;&#29256;&#65288;&#31532;&#20108;&#29256;&#65289;&#32508;&#21512;4&#25945;&#26696;\unit3\t30.mp3" TargetMode="External"/><Relationship Id="rId7" Type="http://schemas.openxmlformats.org/officeDocument/2006/relationships/image" Target="../media/image6.png"/><Relationship Id="rId6" Type="http://schemas.microsoft.com/office/2007/relationships/media" Target="file:///F:\&#20840;&#26032;&#29256;&#65288;&#31532;&#20108;&#29256;&#65289;&#32508;&#21512;4&#25945;&#26696;\unit3\t29.mp3" TargetMode="External"/><Relationship Id="rId5" Type="http://schemas.openxmlformats.org/officeDocument/2006/relationships/audio" Target="file:///F:\&#20840;&#26032;&#29256;&#65288;&#31532;&#20108;&#29256;&#65289;&#32508;&#21512;4&#25945;&#26696;\unit3\t29.mp3" TargetMode="External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Reading 2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标题 380929"/>
          <p:cNvSpPr/>
          <p:nvPr>
            <p:ph type="ctrTitle"/>
          </p:nvPr>
        </p:nvSpPr>
        <p:spPr>
          <a:xfrm>
            <a:off x="1524000" y="-1684337"/>
            <a:ext cx="7772400" cy="147002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1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pic>
        <p:nvPicPr>
          <p:cNvPr id="105474" name="图片 380953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475" name="文本框 380978"/>
          <p:cNvSpPr txBox="1"/>
          <p:nvPr/>
        </p:nvSpPr>
        <p:spPr>
          <a:xfrm>
            <a:off x="1847850" y="1341438"/>
            <a:ext cx="86407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b="1">
                <a:latin typeface="Trebuchet MS" panose="020B0603020202020204" pitchFamily="34" charset="0"/>
                <a:ea typeface="宋体" panose="02010600030101010101" pitchFamily="2" charset="-122"/>
              </a:rPr>
              <a:t>Get the Job You Want</a:t>
            </a:r>
            <a:endParaRPr lang="en-US" altLang="zh-CN" b="1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476" name="文本框 380986"/>
          <p:cNvSpPr txBox="1"/>
          <p:nvPr/>
        </p:nvSpPr>
        <p:spPr>
          <a:xfrm>
            <a:off x="2063750" y="1844675"/>
            <a:ext cx="8135938" cy="10045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I run a manufacturing company with about 350 employees, and I often do the interviewing and hiring myself. I like talking to potential salespeople, because they’re our link to customers.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5477" name="图片 380987" descr="P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688" y="3543300"/>
            <a:ext cx="2247900" cy="2262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478" name="矩形 380988"/>
          <p:cNvSpPr/>
          <p:nvPr/>
        </p:nvSpPr>
        <p:spPr>
          <a:xfrm>
            <a:off x="2063750" y="4096703"/>
            <a:ext cx="5903913" cy="13093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>
              <a:lnSpc>
                <a:spcPct val="11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When a recent college graduate came into my office not too long ago looking for a sales job, I asked him what he had done to prepare for the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interview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. He said he’d read something about us somewhere.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5479" name="图片 380989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325" y="4826000"/>
            <a:ext cx="1368425" cy="30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1" name="标题 26628"/>
          <p:cNvSpPr/>
          <p:nvPr>
            <p:ph type="ctrTitle"/>
          </p:nvPr>
        </p:nvSpPr>
        <p:spPr>
          <a:xfrm>
            <a:off x="1524000" y="-1684337"/>
            <a:ext cx="7772400" cy="147002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2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07522" name="文本框 26641"/>
          <p:cNvSpPr txBox="1"/>
          <p:nvPr/>
        </p:nvSpPr>
        <p:spPr>
          <a:xfrm>
            <a:off x="2135188" y="1560513"/>
            <a:ext cx="8064500" cy="22491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 dirty="0">
                <a:latin typeface="Trebuchet MS" panose="020B0603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Had he called anyone at Mackay Envelope Corporation to find out more about us? No. Had he called our suppliers? Our customers? No.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Had he checked with his university to see if there were any graduates working at Mackay whom he could interview? Had he asked any friends to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grill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him in a mock interview? Did he go to the library to find newspaper clippings on us?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7523" name="图片 26642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524" name="图片 26643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525" name="图片 26680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075" y="4103688"/>
            <a:ext cx="647700" cy="30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69" name="标题 27652"/>
          <p:cNvSpPr/>
          <p:nvPr>
            <p:ph type="ctrTitle"/>
          </p:nvPr>
        </p:nvSpPr>
        <p:spPr>
          <a:xfrm>
            <a:off x="1524000" y="-1684337"/>
            <a:ext cx="7772400" cy="147002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3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09570" name="文本框 27721"/>
          <p:cNvSpPr txBox="1"/>
          <p:nvPr/>
        </p:nvSpPr>
        <p:spPr>
          <a:xfrm>
            <a:off x="2062163" y="1223963"/>
            <a:ext cx="8281987" cy="25279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Did he write a letter beforehand to tell us about himself, what he was doing to prepare for the interview and why he’d be right for the job? Was he planning to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follow up 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the interview with another letter indicating his eagerness to join us? Would the letter be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in our hands 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within 24 hours of the meeting, possibly even hand-delivered?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The answer to every question was the same: no.  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That left me with only one other question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: How well prepared would this person be if he were to call on a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prospective 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customer for us? I already knew the answer.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9571" name="图片 27723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572" name="图片 27724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573" name="图片 27743" descr="图片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513" y="4159250"/>
            <a:ext cx="285750" cy="28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574" name="图片 27744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750" y="2565400"/>
            <a:ext cx="1368425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575" name="图片 27745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0" y="2924175"/>
            <a:ext cx="1871663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576" name="图片 27746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925" y="4941888"/>
            <a:ext cx="1728788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749" name="t6.mp3">
            <a:hlinkClick r:id="" action="ppaction://media"/>
          </p:cNvPr>
          <p:cNvPicPr>
            <a:picLocks noRot="1"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063750" y="4149725"/>
            <a:ext cx="304800" cy="30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11" fill="hold"/>
                                        <p:tgtEl>
                                          <p:spTgt spid="277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0" dur="1" fill="hold"/>
                                        <p:tgtEl>
                                          <p:spTgt spid="277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74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7" name="标题 382977"/>
          <p:cNvSpPr/>
          <p:nvPr>
            <p:ph type="ctrTitle"/>
          </p:nvPr>
        </p:nvSpPr>
        <p:spPr>
          <a:xfrm>
            <a:off x="1524000" y="-1684337"/>
            <a:ext cx="7772400" cy="147002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4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pic>
        <p:nvPicPr>
          <p:cNvPr id="111618" name="图片 382999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619" name="图片 383000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1620" name="文本框 383009"/>
          <p:cNvSpPr txBox="1"/>
          <p:nvPr/>
        </p:nvSpPr>
        <p:spPr>
          <a:xfrm>
            <a:off x="2062163" y="1090613"/>
            <a:ext cx="8210550" cy="27482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As I see it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, there are four keys to getting hired: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1. </a:t>
            </a:r>
            <a:r>
              <a:rPr lang="en-US" altLang="zh-CN" i="1">
                <a:latin typeface="Trebuchet MS" panose="020B0603020202020204" pitchFamily="34" charset="0"/>
                <a:ea typeface="宋体" panose="02010600030101010101" pitchFamily="2" charset="-122"/>
              </a:rPr>
              <a:t>Prepare to win.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“If you miss one day of practice, you notice the difference,”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the saying goes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among musicians. “If you miss two days of practice, the critics notice the difference. If you miss three days of practice, the audience notices the difference.”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        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When we watch a world-class musician or a top athlete, we don’t see the years of preparation that enabled him or her to become great.</a:t>
            </a:r>
            <a:r>
              <a:rPr lang="en-US" altLang="zh-CN" err="1">
                <a:latin typeface="Trebuchet MS" panose="020B0603020202020204" pitchFamily="34" charset="0"/>
                <a:ea typeface="宋体" panose="02010600030101010101" pitchFamily="2" charset="-122"/>
              </a:rPr>
              <a:t> The Michael Jordans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of the world have talent, yes, but they’re also the first </a:t>
            </a:r>
            <a:r>
              <a:rPr lang="en-US" altLang="zh-CN">
                <a:solidFill>
                  <a:schemeClr val="bg1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ones</a:t>
            </a:r>
            <a:endParaRPr lang="en-US" altLang="zh-CN">
              <a:solidFill>
                <a:schemeClr val="bg1"/>
              </a:solidFill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1622" name="图片 383034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013" y="1196975"/>
            <a:ext cx="1368425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623" name="图片 383035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2089150"/>
            <a:ext cx="2519363" cy="3603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5" name="标题 29700"/>
          <p:cNvSpPr/>
          <p:nvPr>
            <p:ph type="ctrTitle"/>
          </p:nvPr>
        </p:nvSpPr>
        <p:spPr>
          <a:xfrm>
            <a:off x="1524000" y="-1684337"/>
            <a:ext cx="7772400" cy="147002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5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pic>
        <p:nvPicPr>
          <p:cNvPr id="113666" name="图片 29754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67" name="图片 29755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3668" name="文本框 29761"/>
          <p:cNvSpPr txBox="1"/>
          <p:nvPr/>
        </p:nvSpPr>
        <p:spPr>
          <a:xfrm>
            <a:off x="2063750" y="1196975"/>
            <a:ext cx="5545138" cy="13093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ones on and the last ones off the basketball court.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The same preparation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applies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in every form of human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endeavor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.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If you want the job, you have to prepare to win it.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3669" name="图片 29771" descr="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425" y="1196975"/>
            <a:ext cx="2554288" cy="2119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3670" name="文本框 29772"/>
          <p:cNvSpPr txBox="1"/>
          <p:nvPr/>
        </p:nvSpPr>
        <p:spPr>
          <a:xfrm>
            <a:off x="2063750" y="3284538"/>
            <a:ext cx="8135938" cy="16141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When I graduated from college, the odds were good that I would have the same job for the rest of my life.  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And that’s how it worked out.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But getting hired is no longer a once-in-a-lifetime experience.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Employment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experts believe that today’s graduates could face as many as ten job changes during their careers.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3673" name="图片 29775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925" y="2114550"/>
            <a:ext cx="107950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74" name="图片 29776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0" y="2492375"/>
            <a:ext cx="1296988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75" name="图片 29777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025" y="4581525"/>
            <a:ext cx="1871663" cy="3603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3" name="标题 384001"/>
          <p:cNvSpPr/>
          <p:nvPr>
            <p:ph type="ctrTitle"/>
          </p:nvPr>
        </p:nvSpPr>
        <p:spPr>
          <a:xfrm>
            <a:off x="1524000" y="-1684337"/>
            <a:ext cx="7772400" cy="147002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6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15714" name="文本框 384032"/>
          <p:cNvSpPr txBox="1"/>
          <p:nvPr/>
        </p:nvSpPr>
        <p:spPr>
          <a:xfrm>
            <a:off x="2063750" y="1265238"/>
            <a:ext cx="8135938" cy="20840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That may sound like a lot of pressure. But if you’re prepared, the pressure is on the other folks — the ones who haven’t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done their homework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You won’t get every job you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go after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. The best salespeople don’t close every sale. Michael Jordan makes barely half of his field-goal attempts.  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But it takes no longer to prepare well for one interview than to wander in half-prepared for five.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And your prospects for success will be many times better.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5715" name="图片 384034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716" name="图片 384035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717" name="图片 384056" descr="图片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888" y="3644900"/>
            <a:ext cx="285750" cy="28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718" name="图片 384057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975" y="2276475"/>
            <a:ext cx="3024188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719" name="图片 384058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525" y="2708275"/>
            <a:ext cx="129540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4060" name="t10.mp3">
            <a:hlinkClick r:id="" action="ppaction://media"/>
          </p:cNvPr>
          <p:cNvPicPr>
            <a:picLocks noRot="1"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08213" y="1412875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4061" name="t11.mp3">
            <a:hlinkClick r:id="" action="ppaction://media"/>
          </p:cNvPr>
          <p:cNvPicPr>
            <a:picLocks noRot="1"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link="rId9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08213" y="2755900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722" name="图片 384061" descr="图片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7563" y="1384300"/>
            <a:ext cx="436562" cy="325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723" name="图片 384062" descr="图片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3750" y="2743200"/>
            <a:ext cx="436563" cy="325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4060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4061"/>
                </p:tgtEl>
              </p:cMediaNode>
            </p:audio>
            <p:seq concurrent="1" nextAc="seek">
              <p:cTn id="4" restart="whenNotActive" fill="hold" evtFilter="cancelBubble" nodeType="interactiveSeq">
                <p:stCondLst>
                  <p:cond evt="onClick" delay="0">
                    <p:tgtEl>
                      <p:spTgt spid="1157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8229" fill="hold"/>
                                        <p:tgtEl>
                                          <p:spTgt spid="3840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2" dur="1" fill="hold"/>
                                        <p:tgtEl>
                                          <p:spTgt spid="3840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722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57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0742" fill="hold"/>
                                        <p:tgtEl>
                                          <p:spTgt spid="3840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21" dur="1" fill="hold"/>
                                        <p:tgtEl>
                                          <p:spTgt spid="3840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72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1" name="标题 30724"/>
          <p:cNvSpPr/>
          <p:nvPr>
            <p:ph type="ctrTitle"/>
          </p:nvPr>
        </p:nvSpPr>
        <p:spPr>
          <a:xfrm>
            <a:off x="1524000" y="-1684337"/>
            <a:ext cx="7772400" cy="147002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7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17762" name="文本框 30757"/>
          <p:cNvSpPr txBox="1"/>
          <p:nvPr/>
        </p:nvSpPr>
        <p:spPr>
          <a:xfrm>
            <a:off x="1992313" y="1052513"/>
            <a:ext cx="8280400" cy="10452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5000"/>
              </a:lnSpc>
            </a:pPr>
            <a:r>
              <a:rPr lang="en-US" altLang="zh-CN" dirty="0">
                <a:latin typeface="Trebuchet MS" panose="020B0603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2. </a:t>
            </a:r>
            <a:r>
              <a:rPr lang="en-US" altLang="zh-CN" i="1">
                <a:latin typeface="Trebuchet MS" panose="020B0603020202020204" pitchFamily="34" charset="0"/>
                <a:ea typeface="宋体" panose="02010600030101010101" pitchFamily="2" charset="-122"/>
              </a:rPr>
              <a:t>Never stop learning.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Recently I played a doubles tennis match paired with a 90-year-old. I wondered how things would work out; I shouldn’t have. We hammered our opponents 6-1, 6-1!       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7763" name="图片 30759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764" name="图片 30760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7765" name="文本框 30780"/>
          <p:cNvSpPr txBox="1"/>
          <p:nvPr/>
        </p:nvSpPr>
        <p:spPr>
          <a:xfrm>
            <a:off x="1992313" y="2781300"/>
            <a:ext cx="5616575" cy="199961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5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As we were switching sides to play a third set, he said to me, “Do you mind if I play the backhand court? I always like to work on my weaknesses.” What a fantastic example of a person who has never stopped learning.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Incidentally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, we won the third set 6-1.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7766" name="图片 30781" descr="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763" y="2997200"/>
            <a:ext cx="2592387" cy="26654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767" name="图片 30782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750" y="5445125"/>
            <a:ext cx="1655763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4" name="t12.mp3">
            <a:hlinkClick r:id="" action="ppaction://media"/>
          </p:cNvPr>
          <p:cNvPicPr>
            <a:picLocks noRot="1"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19313" y="1179513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5" name="t13.mp3">
            <a:hlinkClick r:id="" action="ppaction://media"/>
          </p:cNvPr>
          <p:cNvPicPr>
            <a:picLocks noRot="1"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link="rId9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19313" y="2924175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770" name="图片 30785" descr="图片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3750" y="1158875"/>
            <a:ext cx="436563" cy="325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771" name="图片 30786" descr="图片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3750" y="2924175"/>
            <a:ext cx="436563" cy="325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784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785"/>
                </p:tgtEl>
              </p:cMediaNode>
            </p:audio>
            <p:seq concurrent="1" nextAc="seek">
              <p:cTn id="4" restart="whenNotActive" fill="hold" evtFilter="cancelBubble" nodeType="interactiveSeq">
                <p:stCondLst>
                  <p:cond evt="onClick" delay="0">
                    <p:tgtEl>
                      <p:spTgt spid="117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5439" fill="hold"/>
                                        <p:tgtEl>
                                          <p:spTgt spid="3078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2" dur="1" fill="hold"/>
                                        <p:tgtEl>
                                          <p:spTgt spid="3078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770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7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8965" fill="hold"/>
                                        <p:tgtEl>
                                          <p:spTgt spid="307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21" dur="1" fill="hold"/>
                                        <p:tgtEl>
                                          <p:spTgt spid="307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771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09" name="标题 385054"/>
          <p:cNvSpPr>
            <a:spLocks noGrp="1"/>
          </p:cNvSpPr>
          <p:nvPr>
            <p:ph type="ctrTitle"/>
          </p:nvPr>
        </p:nvSpPr>
        <p:spPr>
          <a:xfrm>
            <a:off x="2209800" y="-1684337"/>
            <a:ext cx="7772400" cy="1470025"/>
          </a:xfrm>
          <a:noFill/>
          <a:ln>
            <a:noFill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8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19810" name="文本框 385055"/>
          <p:cNvSpPr txBox="1"/>
          <p:nvPr/>
        </p:nvSpPr>
        <p:spPr>
          <a:xfrm>
            <a:off x="2063750" y="1416050"/>
            <a:ext cx="8135938" cy="22491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 dirty="0">
                <a:latin typeface="Trebuchet MS" panose="020B0603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As we walked off the court, my 90-year-old partner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chuckled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and said, “I thought you’d like to know about my number-one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ranking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in doubles in the United States in my age bracket, 85 and up!” He wasn’t thinking 90; he wasn’t even thinking 85. He was thinking number one.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You can do the same if you work on your weaknesses and develop your strengths. To be able to compete, you’ve got to keep learning all your life.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9811" name="图片 385056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812" name="图片 385070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813" name="图片 385084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325" y="2008188"/>
            <a:ext cx="1368425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814" name="图片 385085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213" y="2492375"/>
            <a:ext cx="1081087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5087" name="t14.mp3">
            <a:hlinkClick r:id="" action="ppaction://media"/>
          </p:cNvPr>
          <p:cNvPicPr>
            <a:picLocks noRot="1"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208213" y="1600200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5088" name="t15.mp3">
            <a:hlinkClick r:id="" action="ppaction://media"/>
          </p:cNvPr>
          <p:cNvPicPr>
            <a:picLocks noRot="1"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link="rId8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208213" y="4005263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817" name="图片 385088" descr="图片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3750" y="1600200"/>
            <a:ext cx="436563" cy="325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818" name="图片 385089" descr="图片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2800" y="3986213"/>
            <a:ext cx="436563" cy="325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5087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5088"/>
                </p:tgtEl>
              </p:cMediaNode>
            </p:audio>
            <p:seq concurrent="1" nextAc="seek">
              <p:cTn id="4" restart="whenNotActive" fill="hold" evtFilter="cancelBubble" nodeType="interactiveSeq">
                <p:stCondLst>
                  <p:cond evt="onClick" delay="0">
                    <p:tgtEl>
                      <p:spTgt spid="1198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0480" fill="hold"/>
                                        <p:tgtEl>
                                          <p:spTgt spid="3850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2" dur="1" fill="hold"/>
                                        <p:tgtEl>
                                          <p:spTgt spid="3850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81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98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9326" fill="hold"/>
                                        <p:tgtEl>
                                          <p:spTgt spid="3850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21" dur="1" fill="hold"/>
                                        <p:tgtEl>
                                          <p:spTgt spid="3850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81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7" name="标题 943105"/>
          <p:cNvSpPr>
            <a:spLocks noGrp="1"/>
          </p:cNvSpPr>
          <p:nvPr>
            <p:ph type="ctrTitle"/>
          </p:nvPr>
        </p:nvSpPr>
        <p:spPr>
          <a:xfrm>
            <a:off x="2209800" y="-1684337"/>
            <a:ext cx="7772400" cy="1470025"/>
          </a:xfrm>
          <a:noFill/>
          <a:ln>
            <a:noFill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9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21858" name="文本框 943106"/>
          <p:cNvSpPr txBox="1"/>
          <p:nvPr/>
        </p:nvSpPr>
        <p:spPr>
          <a:xfrm>
            <a:off x="1992313" y="1196975"/>
            <a:ext cx="8280400" cy="27482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en-US" altLang="zh-CN" dirty="0">
                <a:latin typeface="Trebuchet MS" panose="020B0603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3. </a:t>
            </a:r>
            <a:r>
              <a:rPr lang="en-US" altLang="zh-CN" i="1">
                <a:latin typeface="Trebuchet MS" panose="020B0603020202020204" pitchFamily="34" charset="0"/>
                <a:ea typeface="宋体" panose="02010600030101010101" pitchFamily="2" charset="-122"/>
              </a:rPr>
              <a:t>Believe in yourself, even when no one else does.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Do you remember the four-minute mile? Athletes had been trying to do it for hundreds of years and finally decided it was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physically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impossible for humans. Our bone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structure 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was all wrong, our lung power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inadequate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err="1">
                <a:latin typeface="Trebuchet MS" panose="020B0603020202020204" pitchFamily="34" charset="0"/>
                <a:ea typeface="宋体" panose="02010600030101010101" pitchFamily="2" charset="-122"/>
              </a:rPr>
              <a:t>      Then one human proved the experts wrong. And, miracle of miracles, six weeks after Roger Bannister broke the four-minute mile, John Landy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beat Bannister’s time by nearly two full seconds. Since then, close to eight hundred runners have broken the four-minute mile!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1859" name="图片 943107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860" name="图片 943111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861" name="图片 943127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450" y="2636838"/>
            <a:ext cx="1368425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862" name="图片 943128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288" y="2636838"/>
            <a:ext cx="1368425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863" name="图片 943129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63" y="3068638"/>
            <a:ext cx="1584325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3131" name="t16.mp3">
            <a:hlinkClick r:id="" action="ppaction://media"/>
          </p:cNvPr>
          <p:cNvPicPr>
            <a:picLocks noRot="1"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54238" y="1343025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3132" name="t17.mp3">
            <a:hlinkClick r:id="" action="ppaction://media"/>
          </p:cNvPr>
          <p:cNvPicPr>
            <a:picLocks noRot="1"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link="rId8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90750" y="3556000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866" name="图片 943132" descr="图片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2800" y="1303338"/>
            <a:ext cx="436563" cy="325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867" name="图片 943133" descr="图片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3750" y="3535363"/>
            <a:ext cx="436563" cy="325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43131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43132"/>
                </p:tgtEl>
              </p:cMediaNode>
            </p:audio>
            <p:seq concurrent="1" nextAc="seek">
              <p:cTn id="4" restart="whenNotActive" fill="hold" evtFilter="cancelBubble" nodeType="interactiveSeq">
                <p:stCondLst>
                  <p:cond evt="onClick" delay="0">
                    <p:tgtEl>
                      <p:spTgt spid="1218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9462" fill="hold"/>
                                        <p:tgtEl>
                                          <p:spTgt spid="9431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2" dur="1" fill="hold"/>
                                        <p:tgtEl>
                                          <p:spTgt spid="9431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86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18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8939" fill="hold"/>
                                        <p:tgtEl>
                                          <p:spTgt spid="9431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21" dur="1" fill="hold"/>
                                        <p:tgtEl>
                                          <p:spTgt spid="9431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86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5" name="标题 945153"/>
          <p:cNvSpPr>
            <a:spLocks noGrp="1"/>
          </p:cNvSpPr>
          <p:nvPr>
            <p:ph type="ctrTitle"/>
          </p:nvPr>
        </p:nvSpPr>
        <p:spPr>
          <a:xfrm>
            <a:off x="2209800" y="-1684337"/>
            <a:ext cx="7772400" cy="1470025"/>
          </a:xfrm>
          <a:noFill/>
          <a:ln>
            <a:noFill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10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23906" name="文本框 945154"/>
          <p:cNvSpPr txBox="1"/>
          <p:nvPr/>
        </p:nvSpPr>
        <p:spPr>
          <a:xfrm>
            <a:off x="2063750" y="1196975"/>
            <a:ext cx="8135938" cy="16141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Several years ago my daughter Mimi and I took a crack at running the New York Marathon. At the gun, 23,000 runners started — and 21,244 finished. First place went to a Kenyan who completed the race in two hours, 11 minutes and one second. The 21,244th runner to finish was a Vietnam veteran. He did it in three days, nine </a:t>
            </a:r>
            <a:r>
              <a:rPr lang="zh-CN" altLang="zh-CN" dirty="0">
                <a:solidFill>
                  <a:schemeClr val="bg1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hours</a:t>
            </a:r>
            <a:endParaRPr lang="zh-CN" altLang="zh-CN" dirty="0">
              <a:solidFill>
                <a:schemeClr val="bg1"/>
              </a:solidFill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3907" name="图片 945155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3908" name="文本框 945162"/>
          <p:cNvSpPr txBox="1"/>
          <p:nvPr/>
        </p:nvSpPr>
        <p:spPr>
          <a:xfrm>
            <a:off x="2063750" y="3705225"/>
            <a:ext cx="5040313" cy="13093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hours and 37 minutes. With no legs, he covered 26.2  miles. After my daughter and I passed him in the first few minutes, we easily found more courage to finish ourselves.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3909" name="图片 945164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910" name="图片 945170" descr="P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438" y="3717925"/>
            <a:ext cx="3160712" cy="2016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5172" name="t18.mp3">
            <a:hlinkClick r:id="" action="ppaction://media"/>
          </p:cNvPr>
          <p:cNvPicPr>
            <a:picLocks noRot="1"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19313" y="1343025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912" name="图片 945172" descr="图片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1322388"/>
            <a:ext cx="436563" cy="325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45172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3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" dur="43390" fill="hold"/>
                                        <p:tgtEl>
                                          <p:spTgt spid="9451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1" dur="1" fill="hold"/>
                                        <p:tgtEl>
                                          <p:spTgt spid="9451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91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3" name="标题 1055745"/>
          <p:cNvSpPr>
            <a:spLocks noGrp="1"/>
          </p:cNvSpPr>
          <p:nvPr>
            <p:ph type="ctrTitle"/>
          </p:nvPr>
        </p:nvSpPr>
        <p:spPr>
          <a:xfrm>
            <a:off x="2209800" y="-1684337"/>
            <a:ext cx="7772400" cy="1470025"/>
          </a:xfrm>
          <a:noFill/>
          <a:ln>
            <a:noFill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11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25954" name="文本框 1055746"/>
          <p:cNvSpPr txBox="1"/>
          <p:nvPr/>
        </p:nvSpPr>
        <p:spPr>
          <a:xfrm>
            <a:off x="2063750" y="1196975"/>
            <a:ext cx="8135938" cy="2705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05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Don’t ever let anyone tell you that you can’t accomplish your goals. Who says you’re not tougher, harder working and more able than your competition? 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You see, a goal is a dream with a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deadline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: in writing, measurable, identifiable, attainable. </a:t>
            </a:r>
            <a:endParaRPr lang="en-US" altLang="zh-CN">
              <a:solidFill>
                <a:schemeClr val="accent2"/>
              </a:solidFill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05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4. </a:t>
            </a:r>
            <a:r>
              <a:rPr lang="en-US" altLang="zh-CN" i="1">
                <a:latin typeface="Trebuchet MS" panose="020B0603020202020204" pitchFamily="34" charset="0"/>
                <a:ea typeface="宋体" panose="02010600030101010101" pitchFamily="2" charset="-122"/>
              </a:rPr>
              <a:t>Find a way to </a:t>
            </a:r>
            <a:r>
              <a:rPr lang="en-US" altLang="zh-CN" i="1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make a</a:t>
            </a:r>
            <a:r>
              <a:rPr lang="en-US" altLang="zh-CN" i="1">
                <a:latin typeface="Trebuchet MS" panose="020B0603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difference</a:t>
            </a:r>
            <a:r>
              <a:rPr lang="en-US" altLang="zh-CN" i="1">
                <a:latin typeface="Trebuchet MS" panose="020B0603020202020204" pitchFamily="34" charset="0"/>
                <a:ea typeface="宋体" panose="02010600030101010101" pitchFamily="2" charset="-122"/>
              </a:rPr>
              <a:t>.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In my opinion,  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the majority of New York cabdrivers are unfriendly, if not downright rude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. Most of the cabs are filthy, and almost all of them sport an impenetrable, bulletproof partition. But recently I jumped into a cab at LaGuardia Airport and guess what? It was clean. There was beautiful music playing and no partition.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5955" name="图片 1055747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956" name="图片 1055752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957" name="图片 1055759" descr="图片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50" y="2422525"/>
            <a:ext cx="285750" cy="28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958" name="图片 1055760" descr="图片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50" y="3619500"/>
            <a:ext cx="285750" cy="28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959" name="图片 1055761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0" y="2420938"/>
            <a:ext cx="1225550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960" name="图片 1055762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375" y="3213100"/>
            <a:ext cx="2665413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5764" name="t19.mp3">
            <a:hlinkClick r:id="" action="ppaction://media"/>
          </p:cNvPr>
          <p:cNvPicPr>
            <a:picLocks noRot="1"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08213" y="1312863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962" name="图片 1055764" descr="图片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3275" y="1293813"/>
            <a:ext cx="436563" cy="325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5766" name="t20.mp3">
            <a:hlinkClick r:id="" action="ppaction://media"/>
          </p:cNvPr>
          <p:cNvPicPr>
            <a:picLocks noRot="1"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link="rId10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08213" y="3260725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964" name="图片 1055766" descr="图片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3750" y="3222625"/>
            <a:ext cx="436563" cy="325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576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5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" dur="18312" fill="hold"/>
                                        <p:tgtEl>
                                          <p:spTgt spid="10557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1" dur="1" fill="hold"/>
                                        <p:tgtEl>
                                          <p:spTgt spid="10557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962"/>
                  </p:tgtEl>
                </p:cond>
              </p:nextCondLst>
            </p:seq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5766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5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7638" fill="hold"/>
                                        <p:tgtEl>
                                          <p:spTgt spid="10557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21" dur="1" fill="hold"/>
                                        <p:tgtEl>
                                          <p:spTgt spid="10557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96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1" name="标题 1057793"/>
          <p:cNvSpPr>
            <a:spLocks noGrp="1"/>
          </p:cNvSpPr>
          <p:nvPr>
            <p:ph type="ctrTitle"/>
          </p:nvPr>
        </p:nvSpPr>
        <p:spPr>
          <a:xfrm>
            <a:off x="2209800" y="-1684337"/>
            <a:ext cx="7772400" cy="1470025"/>
          </a:xfrm>
          <a:noFill/>
          <a:ln>
            <a:noFill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12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28002" name="文本框 1057794"/>
          <p:cNvSpPr txBox="1"/>
          <p:nvPr/>
        </p:nvSpPr>
        <p:spPr>
          <a:xfrm>
            <a:off x="1992313" y="1052513"/>
            <a:ext cx="8135937" cy="13093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“Park Lane Hotel, please,” I said to the driver. With a broad smile, he said, “Hi, my name is Wally,” and he handed me a mission statement. A mission statement! It said he would get me there safely, courteously and on time.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8003" name="图片 1057795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004" name="图片 1057798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8005" name="文本框 1057801"/>
          <p:cNvSpPr txBox="1"/>
          <p:nvPr/>
        </p:nvSpPr>
        <p:spPr>
          <a:xfrm>
            <a:off x="1992313" y="3087688"/>
            <a:ext cx="5759450" cy="16141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As we drove off, he held up a choice of newspapers and said, “Be my guest.” He told me to help myself to the fruit in the basket on the back seat. He held up a cellular phone and said, “It’s a dollar a minute if you’d like to make a call.” 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8006" name="图片 1057802" descr="P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0" y="3214688"/>
            <a:ext cx="2514600" cy="2374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7804" name="t21.mp3">
            <a:hlinkClick r:id="" action="ppaction://media"/>
          </p:cNvPr>
          <p:cNvPicPr>
            <a:picLocks noRot="1"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19313" y="1179513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008" name="图片 1057804" descr="图片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1163638"/>
            <a:ext cx="436563" cy="325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7806" name="t22.mp3">
            <a:hlinkClick r:id="" action="ppaction://media"/>
          </p:cNvPr>
          <p:cNvPicPr>
            <a:picLocks noRot="1"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link="rId9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209800" y="3251200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010" name="图片 1057806" descr="图片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8038" y="3213100"/>
            <a:ext cx="436562" cy="325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780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8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" dur="17085" fill="hold"/>
                                        <p:tgtEl>
                                          <p:spTgt spid="10578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1" dur="1" fill="hold"/>
                                        <p:tgtEl>
                                          <p:spTgt spid="10578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008"/>
                  </p:tgtEl>
                </p:cond>
              </p:nextCondLst>
            </p:seq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7806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8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6745" fill="hold"/>
                                        <p:tgtEl>
                                          <p:spTgt spid="10578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21" dur="1" fill="hold"/>
                                        <p:tgtEl>
                                          <p:spTgt spid="10578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010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49" name="标题 1059841"/>
          <p:cNvSpPr>
            <a:spLocks noGrp="1"/>
          </p:cNvSpPr>
          <p:nvPr>
            <p:ph type="ctrTitle"/>
          </p:nvPr>
        </p:nvSpPr>
        <p:spPr>
          <a:xfrm>
            <a:off x="2209800" y="-1684337"/>
            <a:ext cx="7772400" cy="1470025"/>
          </a:xfrm>
          <a:noFill/>
          <a:ln>
            <a:noFill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13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30050" name="文本框 1059842"/>
          <p:cNvSpPr txBox="1"/>
          <p:nvPr/>
        </p:nvSpPr>
        <p:spPr>
          <a:xfrm>
            <a:off x="2136775" y="1416050"/>
            <a:ext cx="7991475" cy="2416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en-US" altLang="zh-CN" dirty="0">
                <a:latin typeface="Trebuchet MS" panose="020B0603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Shocked, I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blurted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, “How long have you been practicing this?” He answered, “Three or four years.”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 “I know this is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prying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.” I said, “but how much extra money do you earn in tips?”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“Between $12,000 and $14,000 a year!” he responded proudly.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He doesn’t know it, but he’s my hero.  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He’s living proof that you can always shift the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odds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 in your favor.</a:t>
            </a:r>
            <a:endParaRPr lang="en-US" altLang="zh-CN">
              <a:solidFill>
                <a:schemeClr val="accent2"/>
              </a:solidFill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0051" name="图片 1059843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52" name="图片 1059846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53" name="图片 1059854" descr="图片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588" y="4221163"/>
            <a:ext cx="285750" cy="28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54" name="图片 1059855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150" y="1528763"/>
            <a:ext cx="1152525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55" name="图片 1059856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475" y="2420938"/>
            <a:ext cx="865188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56" name="图片 1059857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063" y="4610100"/>
            <a:ext cx="64770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9859" name="t23.mp3">
            <a:hlinkClick r:id="" action="ppaction://media"/>
          </p:cNvPr>
          <p:cNvPicPr>
            <a:picLocks noRot="1"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79650" y="155733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9860" name="t24.mp3">
            <a:hlinkClick r:id="" action="ppaction://media"/>
          </p:cNvPr>
          <p:cNvPicPr>
            <a:picLocks noRot="1"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link="rId9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79650" y="2444750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9861" name="t25.mp3">
            <a:hlinkClick r:id="" action="ppaction://media"/>
          </p:cNvPr>
          <p:cNvPicPr>
            <a:picLocks noRot="1"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link="rId1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79650" y="3319463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9862" name="t26.mp3">
            <a:hlinkClick r:id="" action="ppaction://media"/>
          </p:cNvPr>
          <p:cNvPicPr>
            <a:picLocks noRot="1"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link="rId1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79650" y="42306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61" name="图片 1059862" descr="图片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68525" y="1528763"/>
            <a:ext cx="436563" cy="325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62" name="图片 1059863" descr="图片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35188" y="2444750"/>
            <a:ext cx="436562" cy="325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63" name="图片 1059864" descr="图片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35188" y="3314700"/>
            <a:ext cx="436562" cy="325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64" name="图片 1059865" descr="图片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35188" y="4192588"/>
            <a:ext cx="436562" cy="325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9859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9860"/>
                </p:tgtEl>
              </p:cMediaNode>
            </p:audio>
            <p:audio>
              <p:cMediaNode>
                <p:cTn id="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9861"/>
                </p:tgtEl>
              </p:cMediaNode>
            </p:audio>
            <p:audio>
              <p:cMediaNode>
                <p:cTn id="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9862"/>
                </p:tgtEl>
              </p:cMediaNode>
            </p:audio>
            <p:seq concurrent="1" nextAc="seek">
              <p:cTn id="6" restart="whenNotActive" fill="hold" evtFilter="cancelBubble" nodeType="interactiveSeq">
                <p:stCondLst>
                  <p:cond evt="onClick" delay="0">
                    <p:tgtEl>
                      <p:spTgt spid="1300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315" fill="hold"/>
                                        <p:tgtEl>
                                          <p:spTgt spid="10598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4" dur="1" fill="hold"/>
                                        <p:tgtEl>
                                          <p:spTgt spid="10598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061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300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5826" fill="hold"/>
                                        <p:tgtEl>
                                          <p:spTgt spid="10598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23" dur="1" fill="hold"/>
                                        <p:tgtEl>
                                          <p:spTgt spid="10598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06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300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5982" fill="hold"/>
                                        <p:tgtEl>
                                          <p:spTgt spid="10598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2" dur="1" fill="hold"/>
                                        <p:tgtEl>
                                          <p:spTgt spid="10598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06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300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7262" fill="hold"/>
                                        <p:tgtEl>
                                          <p:spTgt spid="10598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1" dur="1" fill="hold"/>
                                        <p:tgtEl>
                                          <p:spTgt spid="10598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06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061889"/>
          <p:cNvSpPr>
            <a:spLocks noGrp="1"/>
          </p:cNvSpPr>
          <p:nvPr>
            <p:ph type="ctrTitle"/>
          </p:nvPr>
        </p:nvSpPr>
        <p:spPr>
          <a:xfrm>
            <a:off x="2209800" y="-1684337"/>
            <a:ext cx="7772400" cy="1470025"/>
          </a:xfrm>
          <a:noFill/>
          <a:ln>
            <a:noFill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14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32098" name="文本框 1061890"/>
          <p:cNvSpPr txBox="1"/>
          <p:nvPr/>
        </p:nvSpPr>
        <p:spPr>
          <a:xfrm>
            <a:off x="2063750" y="1125538"/>
            <a:ext cx="8207375" cy="2705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05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My mentor, Curt Carlson, is the wealthiest man in Minnesota, owner of a hotel and travel company with sales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in the neighborhood of 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$9 billion. I had to get to a meeting in New York one day, and Curt generously offered me a ride in his jet. It happened to be a day Minnesota was hit with one of the worst snowstorms in years. Minneapolis-St. Paul International Airport was closed for the first time in decades. 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05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Then, though the storm continued to pound us, the airport opened a runway for small craft only.  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As we were taxiing down it to take off, Curt turned to me and said gleefully, “Look, Harvey, no tracks in the snow!”</a:t>
            </a:r>
            <a:endParaRPr lang="en-US" altLang="zh-CN">
              <a:solidFill>
                <a:schemeClr val="accent2"/>
              </a:solidFill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2099" name="图片 1061891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100" name="图片 1061893" descr="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050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101" name="图片 1061902" descr="图片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725" y="4724400"/>
            <a:ext cx="285750" cy="28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102" name="图片 1061903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00" y="1944688"/>
            <a:ext cx="3313113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1905" name="t27.mp3">
            <a:hlinkClick r:id="" action="ppaction://media"/>
          </p:cNvPr>
          <p:cNvPicPr>
            <a:picLocks noRot="1"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08213" y="1244600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1906" name="t28.mp3">
            <a:hlinkClick r:id="" action="ppaction://media"/>
          </p:cNvPr>
          <p:cNvPicPr>
            <a:picLocks noRot="1"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link="rId9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08213" y="4292600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105" name="图片 1061906" descr="图片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5188" y="1206500"/>
            <a:ext cx="436562" cy="325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106" name="图片 1061907" descr="图片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5188" y="4292600"/>
            <a:ext cx="436562" cy="325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61905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61906"/>
                </p:tgtEl>
              </p:cMediaNode>
            </p:audio>
            <p:seq concurrent="1" nextAc="seek">
              <p:cTn id="4" restart="whenNotActive" fill="hold" evtFilter="cancelBubble" nodeType="interactiveSeq">
                <p:stCondLst>
                  <p:cond evt="onClick" delay="0">
                    <p:tgtEl>
                      <p:spTgt spid="132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1138" fill="hold"/>
                                        <p:tgtEl>
                                          <p:spTgt spid="106190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2" dur="1" fill="hold"/>
                                        <p:tgtEl>
                                          <p:spTgt spid="106190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10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32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6040" fill="hold"/>
                                        <p:tgtEl>
                                          <p:spTgt spid="10619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21" dur="1" fill="hold"/>
                                        <p:tgtEl>
                                          <p:spTgt spid="10619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10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5" name="标题 1063937"/>
          <p:cNvSpPr>
            <a:spLocks noGrp="1"/>
          </p:cNvSpPr>
          <p:nvPr>
            <p:ph type="ctrTitle"/>
          </p:nvPr>
        </p:nvSpPr>
        <p:spPr>
          <a:xfrm>
            <a:off x="2209800" y="-1684337"/>
            <a:ext cx="7772400" cy="1470025"/>
          </a:xfrm>
          <a:noFill/>
          <a:ln>
            <a:noFill/>
          </a:ln>
        </p:spPr>
        <p:txBody>
          <a:bodyPr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+mj-lt"/>
                <a:ea typeface="+mj-ea"/>
                <a:cs typeface="+mj-cs"/>
              </a:rPr>
              <a:t>D R _ Text 15</a:t>
            </a:r>
            <a:endParaRPr lang="en-US" altLang="zh-CN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134146" name="文本框 1063938"/>
          <p:cNvSpPr txBox="1"/>
          <p:nvPr/>
        </p:nvSpPr>
        <p:spPr>
          <a:xfrm>
            <a:off x="1992313" y="1323975"/>
            <a:ext cx="8135937" cy="8102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Curt Carlson, 70 years old at the time, rich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beyond anyone’s dreams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, could still </a:t>
            </a:r>
            <a:r>
              <a:rPr lang="en-US" altLang="zh-CN">
                <a:solidFill>
                  <a:srgbClr val="CC3300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sparkle</a:t>
            </a: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with excitement about being first.</a:t>
            </a:r>
            <a:endParaRPr lang="en-US" altLang="zh-CN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4147" name="图片 1063939" descr="prev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725" y="59499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148" name="图片 1063950" descr="P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275" y="2924175"/>
            <a:ext cx="2357438" cy="2592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4149" name="文本框 1063951"/>
          <p:cNvSpPr txBox="1"/>
          <p:nvPr/>
        </p:nvSpPr>
        <p:spPr>
          <a:xfrm>
            <a:off x="1992313" y="2720975"/>
            <a:ext cx="5759450" cy="18897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>
                <a:latin typeface="Trebuchet MS" panose="020B0603020202020204" pitchFamily="34" charset="0"/>
                <a:ea typeface="宋体" panose="02010600030101010101" pitchFamily="2" charset="-122"/>
              </a:rPr>
              <a:t>      From my standpoint, that’s what it’s all about. Prepare to win. Never stop learning. Believe in yourself, even when no one else does. Find a way to make a difference.   </a:t>
            </a:r>
            <a:r>
              <a:rPr lang="en-US" altLang="zh-CN">
                <a:solidFill>
                  <a:schemeClr val="accent2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Then go out and make your own tracks in the snow.</a:t>
            </a:r>
            <a:endParaRPr lang="en-US" altLang="zh-CN">
              <a:solidFill>
                <a:schemeClr val="accent2"/>
              </a:solidFill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4150" name="图片 1063952" descr="图片1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038" y="4797425"/>
            <a:ext cx="285750" cy="28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151" name="图片 1063953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750" y="1944688"/>
            <a:ext cx="2447925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152" name="图片 1063954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0" y="1484313"/>
            <a:ext cx="1079500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153" name="图片 1063955" descr="1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913" y="1944688"/>
            <a:ext cx="1081087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3957" name="t29.mp3">
            <a:hlinkClick r:id="" action="ppaction://media"/>
          </p:cNvPr>
          <p:cNvPicPr>
            <a:picLocks noRot="1"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063750" y="15128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3958" name="t30.mp3">
            <a:hlinkClick r:id="" action="ppaction://media"/>
          </p:cNvPr>
          <p:cNvPicPr>
            <a:picLocks noRot="1"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link="rId9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063750" y="29098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156" name="图片 1063958" descr="图片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5175" y="1484313"/>
            <a:ext cx="436563" cy="325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157" name="图片 1063959" descr="图片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5175" y="2871788"/>
            <a:ext cx="436563" cy="325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63957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63958"/>
                </p:tgtEl>
              </p:cMediaNode>
            </p:audio>
            <p:seq concurrent="1" nextAc="seek">
              <p:cTn id="4" restart="whenNotActive" fill="hold" evtFilter="cancelBubble" nodeType="interactiveSeq">
                <p:stCondLst>
                  <p:cond evt="onClick" delay="0">
                    <p:tgtEl>
                      <p:spTgt spid="134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9065" fill="hold"/>
                                        <p:tgtEl>
                                          <p:spTgt spid="10639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2" dur="1" fill="hold"/>
                                        <p:tgtEl>
                                          <p:spTgt spid="10639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15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34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6667" fill="hold"/>
                                        <p:tgtEl>
                                          <p:spTgt spid="10639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21" dur="1" fill="hold"/>
                                        <p:tgtEl>
                                          <p:spTgt spid="10639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157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COMMONDATA" val="eyJoZGlkIjoiYzgzY2YwODcxYzA3MTNhZDUwMDhkNWI4MDNiNDgxMTY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7405</Words>
  <Application>WPS 演示</Application>
  <PresentationFormat>宽屏</PresentationFormat>
  <Paragraphs>88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Trebuchet MS</vt:lpstr>
      <vt:lpstr>Office 主题​​</vt:lpstr>
      <vt:lpstr>PowerPoint 演示文稿</vt:lpstr>
      <vt:lpstr>D R _ Text 1</vt:lpstr>
      <vt:lpstr>D R _ Text 2</vt:lpstr>
      <vt:lpstr>D R _ Text 3</vt:lpstr>
      <vt:lpstr>D R _ Text 4</vt:lpstr>
      <vt:lpstr>D R _ Text 5</vt:lpstr>
      <vt:lpstr>D R _ Text 6</vt:lpstr>
      <vt:lpstr>D R _ Text 7</vt:lpstr>
      <vt:lpstr>D R _ Text 8</vt:lpstr>
      <vt:lpstr>D R _ Text 9</vt:lpstr>
      <vt:lpstr>D R _ Text 10</vt:lpstr>
      <vt:lpstr>D R _ Text 11</vt:lpstr>
      <vt:lpstr>D R _ Text 12</vt:lpstr>
      <vt:lpstr>D R _ Text 13</vt:lpstr>
      <vt:lpstr>D R _ Text 14</vt:lpstr>
      <vt:lpstr>D R _ Text 15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weiwei</cp:lastModifiedBy>
  <cp:revision>177</cp:revision>
  <dcterms:created xsi:type="dcterms:W3CDTF">2019-06-19T02:08:00Z</dcterms:created>
  <dcterms:modified xsi:type="dcterms:W3CDTF">2022-11-17T03:27:39Z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FA91ABB0B2284F938FA1E638AFB0CE49</vt:lpwstr>
  </property>
</Properties>
</file>