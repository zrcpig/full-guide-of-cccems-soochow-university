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幻灯片图像占位符 13824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38243" name="文本占位符 13824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sz="1200" dirty="0"/>
            </a:fld>
            <a:endParaRPr lang="zh-C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幻灯片图像占位符 140289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40291" name="文本占位符 140290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sz="1200" dirty="0"/>
            </a:fld>
            <a:endParaRPr 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Enlarge Vocabulary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Comparison &amp; Contrast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标题 137217"/>
          <p:cNvSpPr>
            <a:spLocks noGrp="1"/>
          </p:cNvSpPr>
          <p:nvPr>
            <p:ph type="ctrTitle"/>
          </p:nvPr>
        </p:nvSpPr>
        <p:spPr>
          <a:xfrm>
            <a:off x="2209800" y="-581025"/>
            <a:ext cx="7772400" cy="581025"/>
          </a:xfrm>
        </p:spPr>
        <p:txBody>
          <a:bodyPr anchor="ctr"/>
          <a:p>
            <a:pPr defTabSz="914400">
              <a:buNone/>
            </a:pPr>
            <a:r>
              <a:rPr lang="en-US" altLang="zh-CN" sz="2000" b="1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Enlarge your vocabulary1.4</a:t>
            </a:r>
            <a:endParaRPr lang="en-US" altLang="zh-CN" sz="2000" b="1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219" name="矩形 137218"/>
          <p:cNvSpPr/>
          <p:nvPr/>
        </p:nvSpPr>
        <p:spPr>
          <a:xfrm>
            <a:off x="2187575" y="1272223"/>
            <a:ext cx="8070850" cy="155448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 lvl="0" algn="ctr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Exercise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Useful words and expressions to talk about similarities and differences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Comparison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0" name="矩形 137219"/>
          <p:cNvSpPr/>
          <p:nvPr/>
        </p:nvSpPr>
        <p:spPr>
          <a:xfrm>
            <a:off x="1524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137221" name="图片 137220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1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222" name="图片 137221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3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223" name="图片 137222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5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224" name="图片 137223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97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225" name="矩形 137224">
            <a:hlinkClick r:id="" action="ppaction://noaction"/>
          </p:cNvPr>
          <p:cNvSpPr/>
          <p:nvPr/>
        </p:nvSpPr>
        <p:spPr>
          <a:xfrm>
            <a:off x="6408738" y="781050"/>
            <a:ext cx="1800225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zh-CN" sz="1300" b="1">
                <a:latin typeface="Times New Roman" panose="02020603050405020304" pitchFamily="18" charset="0"/>
                <a:ea typeface="宋体" panose="02010600030101010101" pitchFamily="2" charset="-122"/>
              </a:rPr>
              <a:t>Writing and revising</a:t>
            </a:r>
            <a:endParaRPr lang="en-US" altLang="zh-CN" sz="13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6" name="矩形 137225">
            <a:hlinkClick r:id="" action="ppaction://noaction"/>
          </p:cNvPr>
          <p:cNvSpPr/>
          <p:nvPr/>
        </p:nvSpPr>
        <p:spPr>
          <a:xfrm>
            <a:off x="8609013" y="781050"/>
            <a:ext cx="1574800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en-US" sz="1300" b="1">
                <a:latin typeface="Times New Roman" panose="02020603050405020304" pitchFamily="18" charset="0"/>
                <a:ea typeface="宋体" panose="02010600030101010101" pitchFamily="2" charset="-122"/>
              </a:rPr>
              <a:t>Additional reading</a:t>
            </a:r>
            <a:endParaRPr lang="en-US" altLang="en-US" sz="13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7" name="矩形 137226">
            <a:hlinkClick r:id="rId2" action="ppaction://hlinksldjump"/>
          </p:cNvPr>
          <p:cNvSpPr/>
          <p:nvPr/>
        </p:nvSpPr>
        <p:spPr>
          <a:xfrm>
            <a:off x="2162175" y="781050"/>
            <a:ext cx="1784350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zh-CN" sz="1300" b="1">
                <a:latin typeface="Times New Roman" panose="02020603050405020304" pitchFamily="18" charset="0"/>
                <a:ea typeface="宋体" panose="02010600030101010101" pitchFamily="2" charset="-122"/>
              </a:rPr>
              <a:t>Warming-up activities</a:t>
            </a:r>
            <a:endParaRPr lang="en-US" altLang="zh-CN" sz="13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7228" name="图片 137227" descr="back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725" y="6280150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229" name="图片 137228" descr="next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25" y="6276975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230" name="矩形 137229"/>
          <p:cNvSpPr/>
          <p:nvPr/>
        </p:nvSpPr>
        <p:spPr>
          <a:xfrm>
            <a:off x="2187575" y="2875916"/>
            <a:ext cx="7943850" cy="301752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 lvl="0"/>
            <a:r>
              <a:rPr lang="en-US" altLang="zh-CN" sz="2400" err="1">
                <a:latin typeface="Times New Roman" panose="02020603050405020304" pitchFamily="18" charset="0"/>
                <a:ea typeface="宋体" panose="02010600030101010101" pitchFamily="2" charset="-122"/>
              </a:rPr>
              <a:t>similarly, like, the same as, likewise, correspondingly, too, also, both, in the same way, resemble, as … as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 be similar to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There are some similarities between X and Y.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 is similar to Y in that (they)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 and Y are similar in that (they)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Like X, Y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In like manner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One way in which X is similar to Y is (that)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31" name="矩形 137230">
            <a:hlinkClick r:id="rId5" action="ppaction://hlinksldjump"/>
          </p:cNvPr>
          <p:cNvSpPr/>
          <p:nvPr/>
        </p:nvSpPr>
        <p:spPr>
          <a:xfrm>
            <a:off x="4129088" y="781050"/>
            <a:ext cx="2136775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zh-CN" sz="1300" b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Preparing for your writing</a:t>
            </a:r>
            <a:endParaRPr lang="en-US" altLang="zh-CN" sz="1300" b="1">
              <a:solidFill>
                <a:srgbClr val="FFFF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标题 139265"/>
          <p:cNvSpPr>
            <a:spLocks noGrp="1"/>
          </p:cNvSpPr>
          <p:nvPr>
            <p:ph type="ctrTitle"/>
          </p:nvPr>
        </p:nvSpPr>
        <p:spPr>
          <a:xfrm>
            <a:off x="2209800" y="-581025"/>
            <a:ext cx="7772400" cy="581025"/>
          </a:xfrm>
        </p:spPr>
        <p:txBody>
          <a:bodyPr anchor="ctr"/>
          <a:p>
            <a:pPr defTabSz="914400">
              <a:buNone/>
            </a:pPr>
            <a:r>
              <a:rPr lang="en-US" altLang="zh-CN" sz="2000" b="1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Enlarge your vocabulary1.5</a:t>
            </a:r>
            <a:endParaRPr lang="en-US" altLang="zh-CN" sz="2000" b="1" kern="1200" baseline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267" name="矩形 139266"/>
          <p:cNvSpPr/>
          <p:nvPr/>
        </p:nvSpPr>
        <p:spPr>
          <a:xfrm>
            <a:off x="1524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39268" name="矩形 139267"/>
          <p:cNvSpPr/>
          <p:nvPr/>
        </p:nvSpPr>
        <p:spPr>
          <a:xfrm>
            <a:off x="1524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139269" name="图片 139268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1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270" name="图片 139269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3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271" name="图片 139270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5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272" name="图片 139271" descr="button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9775" y="695325"/>
            <a:ext cx="2038350" cy="50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273" name="矩形 139272">
            <a:hlinkClick r:id="" action="ppaction://noaction"/>
          </p:cNvPr>
          <p:cNvSpPr/>
          <p:nvPr/>
        </p:nvSpPr>
        <p:spPr>
          <a:xfrm>
            <a:off x="6408738" y="781050"/>
            <a:ext cx="1800225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zh-CN" sz="1300" b="1">
                <a:latin typeface="Times New Roman" panose="02020603050405020304" pitchFamily="18" charset="0"/>
                <a:ea typeface="宋体" panose="02010600030101010101" pitchFamily="2" charset="-122"/>
              </a:rPr>
              <a:t>Writing and revising</a:t>
            </a:r>
            <a:endParaRPr lang="en-US" altLang="zh-CN" sz="13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74" name="矩形 139273">
            <a:hlinkClick r:id="" action="ppaction://noaction"/>
          </p:cNvPr>
          <p:cNvSpPr/>
          <p:nvPr/>
        </p:nvSpPr>
        <p:spPr>
          <a:xfrm>
            <a:off x="8609013" y="781050"/>
            <a:ext cx="1574800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en-US" sz="1300" b="1">
                <a:latin typeface="Times New Roman" panose="02020603050405020304" pitchFamily="18" charset="0"/>
                <a:ea typeface="宋体" panose="02010600030101010101" pitchFamily="2" charset="-122"/>
              </a:rPr>
              <a:t>Additional reading</a:t>
            </a:r>
            <a:endParaRPr lang="en-US" altLang="en-US" sz="13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75" name="矩形 139274">
            <a:hlinkClick r:id="rId2" action="ppaction://hlinksldjump"/>
          </p:cNvPr>
          <p:cNvSpPr/>
          <p:nvPr/>
        </p:nvSpPr>
        <p:spPr>
          <a:xfrm>
            <a:off x="2162175" y="781050"/>
            <a:ext cx="1784350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zh-CN" sz="1300" b="1">
                <a:latin typeface="Times New Roman" panose="02020603050405020304" pitchFamily="18" charset="0"/>
                <a:ea typeface="宋体" panose="02010600030101010101" pitchFamily="2" charset="-122"/>
              </a:rPr>
              <a:t>Warming-up activities</a:t>
            </a:r>
            <a:endParaRPr lang="en-US" altLang="zh-CN" sz="13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9276" name="图片 139275" descr="prev">
            <a:hlinkClick r:id="" action="ppaction://noaction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725" y="6276975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277" name="矩形 139276"/>
          <p:cNvSpPr/>
          <p:nvPr/>
        </p:nvSpPr>
        <p:spPr>
          <a:xfrm>
            <a:off x="2282825" y="1247140"/>
            <a:ext cx="7943850" cy="499872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Another way in which X is similar to Y is (that)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There is something common in the ways we do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… are just the same as yours.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endParaRPr lang="en-US" altLang="zh-CN" sz="1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Contrast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differ from, different from, unlike, contrast with, even, though, in contrast, conversely, however, although, despite / in spite of, yet, but, while, whereas, alternatively, nevertheless, on the contrary / to the contrary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on the one hand, on the other hand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There are some differences between X and Y.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The difference between X and Y lies in …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Our ways of … are not the same as yours.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X differs from Y in a number of important ways.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9278" name="图片 139277" descr="next">
            <a:hlinkClick r:id="" action="ppaction://noactio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25" y="6276975"/>
            <a:ext cx="695325" cy="280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279" name="矩形 139278">
            <a:hlinkClick r:id="rId5" action="ppaction://hlinksldjump"/>
          </p:cNvPr>
          <p:cNvSpPr/>
          <p:nvPr/>
        </p:nvSpPr>
        <p:spPr>
          <a:xfrm>
            <a:off x="4129088" y="781050"/>
            <a:ext cx="2136775" cy="2895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/>
            <a:r>
              <a:rPr lang="en-US" altLang="zh-CN" sz="1300" b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Preparing for your writing</a:t>
            </a:r>
            <a:endParaRPr lang="en-US" altLang="zh-CN" sz="1300" b="1">
              <a:solidFill>
                <a:srgbClr val="FFFF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</Words>
  <Application>WPS 演示</Application>
  <PresentationFormat>宽屏</PresentationFormat>
  <Paragraphs>48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 Light</vt:lpstr>
      <vt:lpstr>Calibri</vt:lpstr>
      <vt:lpstr>微软雅黑</vt:lpstr>
      <vt:lpstr>Times New Roman</vt:lpstr>
      <vt:lpstr>Office 主题</vt:lpstr>
      <vt:lpstr>PowerPoint 演示文稿</vt:lpstr>
      <vt:lpstr>Enlarge your vocabulary1.4</vt:lpstr>
      <vt:lpstr>Enlarge your vocabulary1.5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</cp:revision>
  <dcterms:created xsi:type="dcterms:W3CDTF">2016-12-02T11:37:18Z</dcterms:created>
  <dcterms:modified xsi:type="dcterms:W3CDTF">2016-12-02T11:40:20Z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2052-10.1.0.6028</vt:lpwstr>
  </property>
</Properties>
</file>