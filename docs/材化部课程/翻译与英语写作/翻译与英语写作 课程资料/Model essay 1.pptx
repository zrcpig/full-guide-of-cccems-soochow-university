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409" r:id="rId3"/>
    <p:sldId id="410" r:id="rId4"/>
    <p:sldId id="411" r:id="rId6"/>
    <p:sldId id="412" r:id="rId7"/>
    <p:sldId id="413" r:id="rId8"/>
    <p:sldId id="414" r:id="rId9"/>
    <p:sldId id="415" r:id="rId10"/>
    <p:sldId id="416" r:id="rId11"/>
    <p:sldId id="417"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幻灯片图像占位符 80897"/>
          <p:cNvSpPr>
            <a:spLocks noRot="1" noTextEdit="1"/>
          </p:cNvSpPr>
          <p:nvPr>
            <p:ph type="sldImg"/>
          </p:nvPr>
        </p:nvSpPr>
        <p:spPr/>
      </p:sp>
      <p:sp>
        <p:nvSpPr>
          <p:cNvPr id="27650" name="文本占位符 80898"/>
          <p:cNvSpPr>
            <a:spLocks noGrp="1"/>
          </p:cNvSpPr>
          <p:nvPr>
            <p:ph type="body"/>
          </p:nvPr>
        </p:nvSpPr>
        <p:spPr/>
        <p:txBody>
          <a:bodyPr anchor="t"/>
          <a:p>
            <a:pPr lvl="0" indent="0"/>
            <a:endParaRPr lang="zh-CN" altLang="en-US" dirty="0"/>
          </a:p>
        </p:txBody>
      </p:sp>
      <p:sp>
        <p:nvSpPr>
          <p:cNvPr id="27651" name="灯片编号占位符 1"/>
          <p:cNvSpPr/>
          <p:nvPr>
            <p:ph type="sldNum" sz="quarter"/>
          </p:nvPr>
        </p:nvSpPr>
        <p:spPr>
          <a:xfrm>
            <a:off x="3884613" y="8685213"/>
            <a:ext cx="2971800" cy="457200"/>
          </a:xfrm>
          <a:prstGeom prst="rect">
            <a:avLst/>
          </a:prstGeom>
          <a:noFill/>
          <a:ln w="9525">
            <a:noFill/>
          </a:ln>
        </p:spPr>
        <p:txBody>
          <a:bodyPr anchor="b"/>
          <a:p>
            <a:pPr lvl="0" indent="0" algn="r"/>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幻灯片图像占位符 81921"/>
          <p:cNvSpPr>
            <a:spLocks noRot="1" noTextEdit="1"/>
          </p:cNvSpPr>
          <p:nvPr>
            <p:ph type="sldImg"/>
          </p:nvPr>
        </p:nvSpPr>
        <p:spPr/>
      </p:sp>
      <p:sp>
        <p:nvSpPr>
          <p:cNvPr id="29698" name="文本占位符 81922"/>
          <p:cNvSpPr>
            <a:spLocks noGrp="1"/>
          </p:cNvSpPr>
          <p:nvPr>
            <p:ph type="body"/>
          </p:nvPr>
        </p:nvSpPr>
        <p:spPr/>
        <p:txBody>
          <a:bodyPr anchor="t"/>
          <a:p>
            <a:pPr lvl="0" indent="0"/>
            <a:endParaRPr lang="zh-CN" altLang="en-US" dirty="0"/>
          </a:p>
        </p:txBody>
      </p:sp>
      <p:sp>
        <p:nvSpPr>
          <p:cNvPr id="29699" name="灯片编号占位符 1"/>
          <p:cNvSpPr/>
          <p:nvPr>
            <p:ph type="sldNum" sz="quarter"/>
          </p:nvPr>
        </p:nvSpPr>
        <p:spPr>
          <a:xfrm>
            <a:off x="3884613" y="8685213"/>
            <a:ext cx="2971800" cy="457200"/>
          </a:xfrm>
          <a:prstGeom prst="rect">
            <a:avLst/>
          </a:prstGeom>
          <a:noFill/>
          <a:ln w="9525">
            <a:noFill/>
          </a:ln>
        </p:spPr>
        <p:txBody>
          <a:bodyPr anchor="b"/>
          <a:p>
            <a:pPr lvl="0" indent="0" algn="r"/>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幻灯片图像占位符 268289"/>
          <p:cNvSpPr>
            <a:spLocks noRot="1" noTextEdit="1"/>
          </p:cNvSpPr>
          <p:nvPr>
            <p:ph type="sldImg"/>
          </p:nvPr>
        </p:nvSpPr>
        <p:spPr/>
      </p:sp>
      <p:sp>
        <p:nvSpPr>
          <p:cNvPr id="31746" name="文本占位符 268290"/>
          <p:cNvSpPr>
            <a:spLocks noGrp="1"/>
          </p:cNvSpPr>
          <p:nvPr>
            <p:ph type="body"/>
          </p:nvPr>
        </p:nvSpPr>
        <p:spPr/>
        <p:txBody>
          <a:bodyPr anchor="t"/>
          <a:p>
            <a:pPr lvl="0" indent="0"/>
            <a:endParaRPr lang="zh-CN" altLang="en-US" dirty="0"/>
          </a:p>
        </p:txBody>
      </p:sp>
      <p:sp>
        <p:nvSpPr>
          <p:cNvPr id="31747" name="灯片编号占位符 1"/>
          <p:cNvSpPr/>
          <p:nvPr>
            <p:ph type="sldNum" sz="quarter"/>
          </p:nvPr>
        </p:nvSpPr>
        <p:spPr>
          <a:xfrm>
            <a:off x="3884613" y="8685213"/>
            <a:ext cx="2971800" cy="457200"/>
          </a:xfrm>
          <a:prstGeom prst="rect">
            <a:avLst/>
          </a:prstGeom>
          <a:noFill/>
          <a:ln w="9525">
            <a:noFill/>
          </a:ln>
        </p:spPr>
        <p:txBody>
          <a:bodyPr anchor="b"/>
          <a:p>
            <a:pPr lvl="0" indent="0" algn="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幻灯片图像占位符 364545"/>
          <p:cNvSpPr>
            <a:spLocks noRot="1" noTextEdit="1"/>
          </p:cNvSpPr>
          <p:nvPr>
            <p:ph type="sldImg"/>
          </p:nvPr>
        </p:nvSpPr>
        <p:spPr/>
      </p:sp>
      <p:sp>
        <p:nvSpPr>
          <p:cNvPr id="33794" name="文本占位符 364546"/>
          <p:cNvSpPr>
            <a:spLocks noGrp="1"/>
          </p:cNvSpPr>
          <p:nvPr>
            <p:ph type="body"/>
          </p:nvPr>
        </p:nvSpPr>
        <p:spPr/>
        <p:txBody>
          <a:bodyPr anchor="t"/>
          <a:p>
            <a:pPr lvl="0" indent="0"/>
            <a:endParaRPr lang="zh-CN" altLang="en-US" dirty="0"/>
          </a:p>
        </p:txBody>
      </p:sp>
      <p:sp>
        <p:nvSpPr>
          <p:cNvPr id="33795" name="灯片编号占位符 1"/>
          <p:cNvSpPr/>
          <p:nvPr>
            <p:ph type="sldNum" sz="quarter"/>
          </p:nvPr>
        </p:nvSpPr>
        <p:spPr>
          <a:xfrm>
            <a:off x="3884613" y="8685213"/>
            <a:ext cx="2971800" cy="457200"/>
          </a:xfrm>
          <a:prstGeom prst="rect">
            <a:avLst/>
          </a:prstGeom>
          <a:noFill/>
          <a:ln w="9525">
            <a:noFill/>
          </a:ln>
        </p:spPr>
        <p:txBody>
          <a:bodyPr anchor="b"/>
          <a:p>
            <a:pPr lvl="0" indent="0" algn="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幻灯片图像占位符 423937"/>
          <p:cNvSpPr>
            <a:spLocks noRot="1" noTextEdit="1"/>
          </p:cNvSpPr>
          <p:nvPr>
            <p:ph type="sldImg"/>
          </p:nvPr>
        </p:nvSpPr>
        <p:spPr/>
      </p:sp>
      <p:sp>
        <p:nvSpPr>
          <p:cNvPr id="35842" name="文本占位符 423938"/>
          <p:cNvSpPr>
            <a:spLocks noGrp="1"/>
          </p:cNvSpPr>
          <p:nvPr>
            <p:ph type="body"/>
          </p:nvPr>
        </p:nvSpPr>
        <p:spPr/>
        <p:txBody>
          <a:bodyPr anchor="t"/>
          <a:p>
            <a:pPr lvl="0" indent="0"/>
            <a:endParaRPr lang="zh-CN" altLang="en-US" dirty="0"/>
          </a:p>
        </p:txBody>
      </p:sp>
      <p:sp>
        <p:nvSpPr>
          <p:cNvPr id="35843" name="灯片编号占位符 1"/>
          <p:cNvSpPr/>
          <p:nvPr>
            <p:ph type="sldNum" sz="quarter"/>
          </p:nvPr>
        </p:nvSpPr>
        <p:spPr>
          <a:xfrm>
            <a:off x="3884613" y="8685213"/>
            <a:ext cx="2971800" cy="457200"/>
          </a:xfrm>
          <a:prstGeom prst="rect">
            <a:avLst/>
          </a:prstGeom>
          <a:noFill/>
          <a:ln w="9525">
            <a:noFill/>
          </a:ln>
        </p:spPr>
        <p:txBody>
          <a:bodyPr anchor="b"/>
          <a:p>
            <a:pPr lvl="0" indent="0" algn="r"/>
            <a:fld id="{9A0DB2DC-4C9A-4742-B13C-FB6460FD3503}" type="slidenum">
              <a:rPr lang="zh-CN" altLang="en-US" sz="1200" dirty="0"/>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幻灯片图像占位符 425985"/>
          <p:cNvSpPr>
            <a:spLocks noRot="1" noTextEdit="1"/>
          </p:cNvSpPr>
          <p:nvPr>
            <p:ph type="sldImg"/>
          </p:nvPr>
        </p:nvSpPr>
        <p:spPr/>
      </p:sp>
      <p:sp>
        <p:nvSpPr>
          <p:cNvPr id="37890" name="文本占位符 425986"/>
          <p:cNvSpPr>
            <a:spLocks noGrp="1"/>
          </p:cNvSpPr>
          <p:nvPr>
            <p:ph type="body"/>
          </p:nvPr>
        </p:nvSpPr>
        <p:spPr/>
        <p:txBody>
          <a:bodyPr anchor="t"/>
          <a:p>
            <a:pPr lvl="0" indent="0"/>
            <a:endParaRPr lang="zh-CN" altLang="en-US" dirty="0"/>
          </a:p>
        </p:txBody>
      </p:sp>
      <p:sp>
        <p:nvSpPr>
          <p:cNvPr id="37891" name="灯片编号占位符 1"/>
          <p:cNvSpPr/>
          <p:nvPr>
            <p:ph type="sldNum" sz="quarter"/>
          </p:nvPr>
        </p:nvSpPr>
        <p:spPr>
          <a:xfrm>
            <a:off x="3884613" y="8685213"/>
            <a:ext cx="2971800" cy="457200"/>
          </a:xfrm>
          <a:prstGeom prst="rect">
            <a:avLst/>
          </a:prstGeom>
          <a:noFill/>
          <a:ln w="9525">
            <a:noFill/>
          </a:ln>
        </p:spPr>
        <p:txBody>
          <a:bodyPr anchor="b"/>
          <a:p>
            <a:pPr lvl="0" indent="0" algn="r"/>
            <a:fld id="{9A0DB2DC-4C9A-4742-B13C-FB6460FD3503}" type="slidenum">
              <a:rPr lang="zh-CN" altLang="en-US" sz="1200" dirty="0"/>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幻灯片图像占位符 428033"/>
          <p:cNvSpPr>
            <a:spLocks noRot="1" noTextEdit="1"/>
          </p:cNvSpPr>
          <p:nvPr>
            <p:ph type="sldImg"/>
          </p:nvPr>
        </p:nvSpPr>
        <p:spPr/>
      </p:sp>
      <p:sp>
        <p:nvSpPr>
          <p:cNvPr id="39938" name="文本占位符 428034"/>
          <p:cNvSpPr>
            <a:spLocks noGrp="1"/>
          </p:cNvSpPr>
          <p:nvPr>
            <p:ph type="body"/>
          </p:nvPr>
        </p:nvSpPr>
        <p:spPr/>
        <p:txBody>
          <a:bodyPr anchor="t"/>
          <a:p>
            <a:pPr lvl="0" indent="0"/>
            <a:endParaRPr lang="zh-CN" altLang="en-US" dirty="0"/>
          </a:p>
        </p:txBody>
      </p:sp>
      <p:sp>
        <p:nvSpPr>
          <p:cNvPr id="39939" name="灯片编号占位符 1"/>
          <p:cNvSpPr/>
          <p:nvPr>
            <p:ph type="sldNum" sz="quarter"/>
          </p:nvPr>
        </p:nvSpPr>
        <p:spPr>
          <a:xfrm>
            <a:off x="3884613" y="8685213"/>
            <a:ext cx="2971800" cy="457200"/>
          </a:xfrm>
          <a:prstGeom prst="rect">
            <a:avLst/>
          </a:prstGeom>
          <a:noFill/>
          <a:ln w="9525">
            <a:noFill/>
          </a:ln>
        </p:spPr>
        <p:txBody>
          <a:bodyPr anchor="b"/>
          <a:p>
            <a:pPr lvl="0" indent="0" algn="r"/>
            <a:fld id="{9A0DB2DC-4C9A-4742-B13C-FB6460FD3503}" type="slidenum">
              <a:rPr lang="zh-CN" altLang="en-US" sz="1200" dirty="0"/>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幻灯片图像占位符 473089"/>
          <p:cNvSpPr>
            <a:spLocks noRot="1" noTextEdit="1"/>
          </p:cNvSpPr>
          <p:nvPr>
            <p:ph type="sldImg"/>
          </p:nvPr>
        </p:nvSpPr>
        <p:spPr/>
      </p:sp>
      <p:sp>
        <p:nvSpPr>
          <p:cNvPr id="41986" name="文本占位符 473090"/>
          <p:cNvSpPr>
            <a:spLocks noGrp="1"/>
          </p:cNvSpPr>
          <p:nvPr>
            <p:ph type="body"/>
          </p:nvPr>
        </p:nvSpPr>
        <p:spPr/>
        <p:txBody>
          <a:bodyPr anchor="t"/>
          <a:p>
            <a:pPr lvl="0" indent="0"/>
            <a:endParaRPr lang="zh-CN" altLang="en-US" dirty="0"/>
          </a:p>
        </p:txBody>
      </p:sp>
      <p:sp>
        <p:nvSpPr>
          <p:cNvPr id="41987" name="灯片编号占位符 1"/>
          <p:cNvSpPr/>
          <p:nvPr>
            <p:ph type="sldNum" sz="quarter"/>
          </p:nvPr>
        </p:nvSpPr>
        <p:spPr>
          <a:xfrm>
            <a:off x="3884613" y="8685213"/>
            <a:ext cx="2971800" cy="457200"/>
          </a:xfrm>
          <a:prstGeom prst="rect">
            <a:avLst/>
          </a:prstGeom>
          <a:noFill/>
          <a:ln w="9525">
            <a:noFill/>
          </a:ln>
        </p:spPr>
        <p:txBody>
          <a:bodyPr anchor="b"/>
          <a:p>
            <a:pPr lvl="0" indent="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slide" Target="slide2.xml"/><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slide" Target="slide2.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slide" Target="slide2.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slide" Target="slide2.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slide" Target="slide2.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slide" Target="slide2.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slide" Target="slide2.xml"/><Relationship Id="rId4" Type="http://schemas.openxmlformats.org/officeDocument/2006/relationships/image" Target="../media/image4.png"/><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Model essays</a:t>
            </a:r>
            <a:endParaRPr lang="en-US" altLang="zh-CN"/>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57351"/>
          <p:cNvSpPr>
            <a:spLocks noGrp="1"/>
          </p:cNvSpPr>
          <p:nvPr>
            <p:ph type="ctrTitle"/>
          </p:nvPr>
        </p:nvSpPr>
        <p:spPr>
          <a:xfrm>
            <a:off x="2209800" y="-581025"/>
            <a:ext cx="7772400" cy="581025"/>
          </a:xfrm>
          <a:noFill/>
          <a:ln>
            <a:noFill/>
          </a:ln>
        </p:spPr>
        <p:txBody>
          <a:bodyPr anchor="t"/>
          <a:p>
            <a:pPr defTabSz="914400">
              <a:buClrTx/>
              <a:buSzTx/>
              <a:buFontTx/>
            </a:pPr>
            <a:r>
              <a:rPr lang="en-US" altLang="zh-CN" sz="2000" kern="1200" baseline="0">
                <a:latin typeface="+mj-lt"/>
                <a:ea typeface="+mj-ea"/>
                <a:cs typeface="+mj-cs"/>
              </a:rPr>
              <a:t>Task 2_Sample A_1-2</a:t>
            </a:r>
            <a:endParaRPr lang="en-US" altLang="zh-CN" sz="2000" kern="1200" baseline="0">
              <a:latin typeface="+mj-lt"/>
              <a:ea typeface="+mj-ea"/>
              <a:cs typeface="+mj-cs"/>
            </a:endParaRPr>
          </a:p>
        </p:txBody>
      </p:sp>
      <p:pic>
        <p:nvPicPr>
          <p:cNvPr id="26626" name="图片 57386" descr="button副本"/>
          <p:cNvPicPr>
            <a:picLocks noChangeAspect="1"/>
          </p:cNvPicPr>
          <p:nvPr/>
        </p:nvPicPr>
        <p:blipFill>
          <a:blip r:embed="rId1"/>
          <a:stretch>
            <a:fillRect/>
          </a:stretch>
        </p:blipFill>
        <p:spPr>
          <a:xfrm>
            <a:off x="2035175" y="695325"/>
            <a:ext cx="2038350" cy="501650"/>
          </a:xfrm>
          <a:prstGeom prst="rect">
            <a:avLst/>
          </a:prstGeom>
          <a:noFill/>
          <a:ln w="9525">
            <a:noFill/>
          </a:ln>
        </p:spPr>
      </p:pic>
      <p:pic>
        <p:nvPicPr>
          <p:cNvPr id="26627" name="图片 57387" descr="button副本"/>
          <p:cNvPicPr>
            <a:picLocks noChangeAspect="1"/>
          </p:cNvPicPr>
          <p:nvPr/>
        </p:nvPicPr>
        <p:blipFill>
          <a:blip r:embed="rId1"/>
          <a:stretch>
            <a:fillRect/>
          </a:stretch>
        </p:blipFill>
        <p:spPr>
          <a:xfrm>
            <a:off x="4143375" y="695325"/>
            <a:ext cx="2038350" cy="501650"/>
          </a:xfrm>
          <a:prstGeom prst="rect">
            <a:avLst/>
          </a:prstGeom>
          <a:noFill/>
          <a:ln w="9525">
            <a:noFill/>
          </a:ln>
        </p:spPr>
      </p:pic>
      <p:pic>
        <p:nvPicPr>
          <p:cNvPr id="26628" name="图片 57388" descr="button副本"/>
          <p:cNvPicPr>
            <a:picLocks noChangeAspect="1"/>
          </p:cNvPicPr>
          <p:nvPr/>
        </p:nvPicPr>
        <p:blipFill>
          <a:blip r:embed="rId1"/>
          <a:stretch>
            <a:fillRect/>
          </a:stretch>
        </p:blipFill>
        <p:spPr>
          <a:xfrm>
            <a:off x="6251575" y="695325"/>
            <a:ext cx="2038350" cy="501650"/>
          </a:xfrm>
          <a:prstGeom prst="rect">
            <a:avLst/>
          </a:prstGeom>
          <a:noFill/>
          <a:ln w="9525">
            <a:noFill/>
          </a:ln>
        </p:spPr>
      </p:pic>
      <p:pic>
        <p:nvPicPr>
          <p:cNvPr id="26629" name="图片 57389" descr="button副本"/>
          <p:cNvPicPr>
            <a:picLocks noChangeAspect="1"/>
          </p:cNvPicPr>
          <p:nvPr/>
        </p:nvPicPr>
        <p:blipFill>
          <a:blip r:embed="rId1"/>
          <a:stretch>
            <a:fillRect/>
          </a:stretch>
        </p:blipFill>
        <p:spPr>
          <a:xfrm>
            <a:off x="8359775" y="695325"/>
            <a:ext cx="2038350" cy="501650"/>
          </a:xfrm>
          <a:prstGeom prst="rect">
            <a:avLst/>
          </a:prstGeom>
          <a:noFill/>
          <a:ln w="9525">
            <a:noFill/>
          </a:ln>
        </p:spPr>
      </p:pic>
      <p:pic>
        <p:nvPicPr>
          <p:cNvPr id="26633" name="图片 57394" descr="next"/>
          <p:cNvPicPr>
            <a:picLocks noChangeAspect="1"/>
          </p:cNvPicPr>
          <p:nvPr/>
        </p:nvPicPr>
        <p:blipFill>
          <a:blip r:embed="rId2"/>
          <a:stretch>
            <a:fillRect/>
          </a:stretch>
        </p:blipFill>
        <p:spPr>
          <a:xfrm>
            <a:off x="9661525" y="6280150"/>
            <a:ext cx="695325" cy="280988"/>
          </a:xfrm>
          <a:prstGeom prst="rect">
            <a:avLst/>
          </a:prstGeom>
          <a:noFill/>
          <a:ln w="9525">
            <a:noFill/>
          </a:ln>
        </p:spPr>
      </p:pic>
      <p:sp>
        <p:nvSpPr>
          <p:cNvPr id="26634" name="文本框 57395"/>
          <p:cNvSpPr txBox="1"/>
          <p:nvPr/>
        </p:nvSpPr>
        <p:spPr>
          <a:xfrm>
            <a:off x="2066925" y="1112838"/>
            <a:ext cx="8286750" cy="368300"/>
          </a:xfrm>
          <a:prstGeom prst="rect">
            <a:avLst/>
          </a:prstGeom>
          <a:noFill/>
          <a:ln w="9525">
            <a:noFill/>
          </a:ln>
        </p:spPr>
        <p:txBody>
          <a:bodyPr anchor="t">
            <a:spAutoFit/>
          </a:bodyPr>
          <a:p>
            <a:pPr algn="ctr"/>
            <a:r>
              <a:rPr lang="en-US" altLang="zh-CN" b="1">
                <a:latin typeface="Times New Roman" panose="02020603050405020304" pitchFamily="18" charset="0"/>
                <a:ea typeface="宋体" panose="02010600030101010101" pitchFamily="2" charset="-122"/>
              </a:rPr>
              <a:t>Sample A</a:t>
            </a:r>
            <a:endParaRPr lang="en-US" altLang="zh-CN" b="1">
              <a:latin typeface="Times New Roman" panose="02020603050405020304" pitchFamily="18" charset="0"/>
              <a:ea typeface="宋体" panose="02010600030101010101" pitchFamily="2" charset="-122"/>
            </a:endParaRPr>
          </a:p>
        </p:txBody>
      </p:sp>
      <p:sp>
        <p:nvSpPr>
          <p:cNvPr id="26635" name="文本框 57396"/>
          <p:cNvSpPr txBox="1"/>
          <p:nvPr/>
        </p:nvSpPr>
        <p:spPr>
          <a:xfrm>
            <a:off x="2276475" y="1457325"/>
            <a:ext cx="7962900" cy="755650"/>
          </a:xfrm>
          <a:prstGeom prst="rect">
            <a:avLst/>
          </a:prstGeom>
          <a:noFill/>
          <a:ln w="9525">
            <a:noFill/>
          </a:ln>
        </p:spPr>
        <p:txBody>
          <a:bodyPr anchor="t">
            <a:spAutoFit/>
          </a:bodyPr>
          <a:p>
            <a:pPr indent="361950" algn="just">
              <a:lnSpc>
                <a:spcPct val="120000"/>
              </a:lnSpc>
            </a:pPr>
            <a:r>
              <a:rPr lang="en-US" altLang="zh-CN" b="1">
                <a:latin typeface="Times New Roman" panose="02020603050405020304" pitchFamily="18" charset="0"/>
                <a:ea typeface="宋体" panose="02010600030101010101" pitchFamily="2" charset="-122"/>
              </a:rPr>
              <a:t>          College Lectures: Is Anybody Listening?</a:t>
            </a:r>
            <a:endParaRPr lang="en-US" altLang="zh-CN" b="1">
              <a:latin typeface="Times New Roman" panose="02020603050405020304" pitchFamily="18" charset="0"/>
              <a:ea typeface="宋体" panose="02010600030101010101" pitchFamily="2" charset="-122"/>
            </a:endParaRPr>
          </a:p>
          <a:p>
            <a:pPr indent="361950" algn="r">
              <a:lnSpc>
                <a:spcPct val="120000"/>
              </a:lnSpc>
            </a:pP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by David Daniels</a:t>
            </a:r>
            <a:endParaRPr lang="en-US" altLang="zh-CN" i="1">
              <a:latin typeface="Times New Roman" panose="02020603050405020304" pitchFamily="18" charset="0"/>
              <a:ea typeface="宋体" panose="02010600030101010101" pitchFamily="2" charset="-122"/>
            </a:endParaRPr>
          </a:p>
        </p:txBody>
      </p:sp>
      <p:sp>
        <p:nvSpPr>
          <p:cNvPr id="26636" name="文本框 57400"/>
          <p:cNvSpPr txBox="1"/>
          <p:nvPr/>
        </p:nvSpPr>
        <p:spPr>
          <a:xfrm>
            <a:off x="2524125" y="2305050"/>
            <a:ext cx="7715250" cy="4092575"/>
          </a:xfrm>
          <a:prstGeom prst="rect">
            <a:avLst/>
          </a:prstGeom>
          <a:noFill/>
          <a:ln w="9525">
            <a:noFill/>
          </a:ln>
        </p:spPr>
        <p:txBody>
          <a:bodyPr anchor="t">
            <a:spAutoFit/>
          </a:bodyPr>
          <a:p>
            <a:pPr algn="just">
              <a:lnSpc>
                <a:spcPct val="130000"/>
              </a:lnSpc>
            </a:pPr>
            <a:r>
              <a:rPr lang="en-US" altLang="zh-CN" sz="2000" dirty="0">
                <a:latin typeface="Times New Roman" panose="02020603050405020304" pitchFamily="18" charset="0"/>
                <a:ea typeface="宋体" panose="02010600030101010101" pitchFamily="2" charset="-122"/>
              </a:rPr>
              <a:t>        </a:t>
            </a:r>
            <a:r>
              <a:rPr lang="en-US" altLang="zh-CN" sz="2000" err="1">
                <a:latin typeface="Times New Roman" panose="02020603050405020304" pitchFamily="18" charset="0"/>
                <a:ea typeface="宋体" panose="02010600030101010101" pitchFamily="2" charset="-122"/>
              </a:rPr>
              <a:t>A former teacher of mine, Robert A. Fowkes of New York University, likes to tell the story of a class he took in Old Welsh while studying in Germany during the 1930s. On the first day the professor strode up to the podium, shuffled his notes, coughed, and began, “Guten Tag, Meine Damen und Herren” (Good day, ladies and gentlemen). Fowkes</a:t>
            </a:r>
            <a:r>
              <a:rPr lang="en-US" altLang="zh-CN" sz="2000">
                <a:latin typeface="Times New Roman" panose="02020603050405020304" pitchFamily="18" charset="0"/>
                <a:ea typeface="宋体" panose="02010600030101010101" pitchFamily="2" charset="-122"/>
              </a:rPr>
              <a:t> glanced around uneasily. He was the only student in the course. </a:t>
            </a:r>
            <a:endParaRPr lang="en-US" altLang="zh-CN" sz="2000">
              <a:latin typeface="Times New Roman" panose="02020603050405020304" pitchFamily="18" charset="0"/>
              <a:ea typeface="宋体" panose="02010600030101010101" pitchFamily="2" charset="-122"/>
            </a:endParaRPr>
          </a:p>
          <a:p>
            <a:pPr algn="dist">
              <a:lnSpc>
                <a:spcPct val="130000"/>
              </a:lnSpc>
            </a:pPr>
            <a:r>
              <a:rPr lang="en-US" altLang="zh-CN" sz="2000" err="1">
                <a:latin typeface="Times New Roman" panose="02020603050405020304" pitchFamily="18" charset="0"/>
                <a:ea typeface="宋体" panose="02010600030101010101" pitchFamily="2" charset="-122"/>
              </a:rPr>
              <a:t>        Toward the middle of the semester, Fowkes fell ill and missed a class. When he returned, the professor nodded vaguely and, to Fowkes</a:t>
            </a:r>
            <a:r>
              <a:rPr lang="en-US" altLang="zh-CN" sz="2000">
                <a:latin typeface="Times New Roman" panose="02020603050405020304" pitchFamily="18" charset="0"/>
                <a:ea typeface="宋体" panose="02010600030101010101" pitchFamily="2" charset="-122"/>
              </a:rPr>
              <a:t>’ astonishment, began to deliver not the next lecture in the sequence but the one after. Had he, in fact, lectured to an empty hall in the absence of his</a:t>
            </a:r>
            <a:endParaRPr lang="en-US" altLang="zh-CN" sz="2000">
              <a:latin typeface="Times New Roman" panose="02020603050405020304" pitchFamily="18" charset="0"/>
              <a:ea typeface="宋体" panose="02010600030101010101" pitchFamily="2" charset="-122"/>
            </a:endParaRPr>
          </a:p>
        </p:txBody>
      </p:sp>
      <p:sp>
        <p:nvSpPr>
          <p:cNvPr id="26637" name="文本框 57401"/>
          <p:cNvSpPr txBox="1"/>
          <p:nvPr/>
        </p:nvSpPr>
        <p:spPr>
          <a:xfrm>
            <a:off x="2254250" y="2327275"/>
            <a:ext cx="373380" cy="491490"/>
          </a:xfrm>
          <a:prstGeom prst="rect">
            <a:avLst/>
          </a:prstGeom>
          <a:noFill/>
          <a:ln w="9525">
            <a:noFill/>
          </a:ln>
        </p:spPr>
        <p:txBody>
          <a:bodyPr wrap="none" anchor="t">
            <a:spAutoFit/>
          </a:bodyPr>
          <a:p>
            <a:pPr>
              <a:lnSpc>
                <a:spcPct val="130000"/>
              </a:lnSpc>
            </a:pPr>
            <a:r>
              <a:rPr lang="en-US" altLang="zh-CN" sz="2000">
                <a:latin typeface="Times New Roman" panose="02020603050405020304" pitchFamily="18" charset="0"/>
                <a:ea typeface="宋体" panose="02010600030101010101" pitchFamily="2" charset="-122"/>
              </a:rPr>
              <a:t>1.</a:t>
            </a:r>
            <a:endParaRPr lang="en-US" altLang="zh-CN" sz="2000">
              <a:latin typeface="Times New Roman" panose="02020603050405020304" pitchFamily="18" charset="0"/>
              <a:ea typeface="宋体" panose="02010600030101010101" pitchFamily="2" charset="-122"/>
            </a:endParaRPr>
          </a:p>
        </p:txBody>
      </p:sp>
      <p:sp>
        <p:nvSpPr>
          <p:cNvPr id="26638" name="文本框 57402"/>
          <p:cNvSpPr txBox="1"/>
          <p:nvPr/>
        </p:nvSpPr>
        <p:spPr>
          <a:xfrm>
            <a:off x="2254250" y="4695825"/>
            <a:ext cx="373380" cy="491490"/>
          </a:xfrm>
          <a:prstGeom prst="rect">
            <a:avLst/>
          </a:prstGeom>
          <a:noFill/>
          <a:ln w="9525">
            <a:noFill/>
          </a:ln>
        </p:spPr>
        <p:txBody>
          <a:bodyPr wrap="none" anchor="t">
            <a:spAutoFit/>
          </a:bodyPr>
          <a:p>
            <a:pPr>
              <a:lnSpc>
                <a:spcPct val="130000"/>
              </a:lnSpc>
            </a:pPr>
            <a:r>
              <a:rPr lang="en-US" altLang="zh-CN" sz="2000">
                <a:latin typeface="Times New Roman" panose="02020603050405020304" pitchFamily="18" charset="0"/>
                <a:ea typeface="宋体" panose="02010600030101010101" pitchFamily="2" charset="-122"/>
              </a:rPr>
              <a:t>2.</a:t>
            </a:r>
            <a:endParaRPr lang="en-US" altLang="zh-CN" sz="2000">
              <a:latin typeface="Times New Roman" panose="02020603050405020304" pitchFamily="18" charset="0"/>
              <a:ea typeface="宋体" panose="02010600030101010101" pitchFamily="2" charset="-122"/>
            </a:endParaRPr>
          </a:p>
        </p:txBody>
      </p:sp>
      <p:pic>
        <p:nvPicPr>
          <p:cNvPr id="26639" name="图片 57403" descr="prev"/>
          <p:cNvPicPr>
            <a:picLocks noChangeAspect="1"/>
          </p:cNvPicPr>
          <p:nvPr/>
        </p:nvPicPr>
        <p:blipFill>
          <a:blip r:embed="rId3"/>
          <a:stretch>
            <a:fillRect/>
          </a:stretch>
        </p:blipFill>
        <p:spPr>
          <a:xfrm>
            <a:off x="8975725" y="6280150"/>
            <a:ext cx="695325" cy="280988"/>
          </a:xfrm>
          <a:prstGeom prst="rect">
            <a:avLst/>
          </a:prstGeom>
          <a:noFill/>
          <a:ln w="9525">
            <a:noFill/>
          </a:ln>
        </p:spPr>
      </p:pic>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58375"/>
          <p:cNvSpPr>
            <a:spLocks noGrp="1"/>
          </p:cNvSpPr>
          <p:nvPr>
            <p:ph type="ctrTitle"/>
          </p:nvPr>
        </p:nvSpPr>
        <p:spPr>
          <a:xfrm>
            <a:off x="2209800" y="-581025"/>
            <a:ext cx="7772400" cy="581025"/>
          </a:xfrm>
          <a:noFill/>
          <a:ln>
            <a:noFill/>
          </a:ln>
        </p:spPr>
        <p:txBody>
          <a:bodyPr anchor="t"/>
          <a:p>
            <a:pPr defTabSz="914400">
              <a:buClrTx/>
              <a:buSzTx/>
              <a:buFontTx/>
            </a:pPr>
            <a:r>
              <a:rPr lang="en-US" altLang="zh-CN" sz="2000" kern="1200" baseline="0">
                <a:latin typeface="+mj-lt"/>
                <a:ea typeface="+mj-ea"/>
                <a:cs typeface="+mj-cs"/>
              </a:rPr>
              <a:t>Task 2_</a:t>
            </a:r>
            <a:r>
              <a:rPr lang="en-US" altLang="zh-CN" sz="1800" kern="1200" baseline="0">
                <a:latin typeface="+mj-lt"/>
                <a:ea typeface="+mj-ea"/>
                <a:cs typeface="+mj-cs"/>
              </a:rPr>
              <a:t>Sample A_3-4</a:t>
            </a:r>
            <a:endParaRPr lang="en-US" altLang="zh-CN" sz="1800" kern="1200" baseline="0">
              <a:latin typeface="+mj-lt"/>
              <a:ea typeface="+mj-ea"/>
              <a:cs typeface="+mj-cs"/>
            </a:endParaRPr>
          </a:p>
        </p:txBody>
      </p:sp>
      <p:pic>
        <p:nvPicPr>
          <p:cNvPr id="28674" name="图片 58402" descr="next">
            <a:hlinkClick r:id="" action="ppaction://noaction"/>
          </p:cNvPr>
          <p:cNvPicPr>
            <a:picLocks noChangeAspect="1"/>
          </p:cNvPicPr>
          <p:nvPr/>
        </p:nvPicPr>
        <p:blipFill>
          <a:blip r:embed="rId1"/>
          <a:stretch>
            <a:fillRect/>
          </a:stretch>
        </p:blipFill>
        <p:spPr>
          <a:xfrm>
            <a:off x="9661525" y="6280150"/>
            <a:ext cx="695325" cy="280988"/>
          </a:xfrm>
          <a:prstGeom prst="rect">
            <a:avLst/>
          </a:prstGeom>
          <a:noFill/>
          <a:ln w="9525">
            <a:noFill/>
          </a:ln>
        </p:spPr>
      </p:pic>
      <p:pic>
        <p:nvPicPr>
          <p:cNvPr id="28675" name="图片 58415" descr="button副本"/>
          <p:cNvPicPr>
            <a:picLocks noChangeAspect="1"/>
          </p:cNvPicPr>
          <p:nvPr/>
        </p:nvPicPr>
        <p:blipFill>
          <a:blip r:embed="rId2"/>
          <a:stretch>
            <a:fillRect/>
          </a:stretch>
        </p:blipFill>
        <p:spPr>
          <a:xfrm>
            <a:off x="2035175" y="695325"/>
            <a:ext cx="2038350" cy="501650"/>
          </a:xfrm>
          <a:prstGeom prst="rect">
            <a:avLst/>
          </a:prstGeom>
          <a:noFill/>
          <a:ln w="9525">
            <a:noFill/>
          </a:ln>
        </p:spPr>
      </p:pic>
      <p:pic>
        <p:nvPicPr>
          <p:cNvPr id="28676" name="图片 58416" descr="button副本"/>
          <p:cNvPicPr>
            <a:picLocks noChangeAspect="1"/>
          </p:cNvPicPr>
          <p:nvPr/>
        </p:nvPicPr>
        <p:blipFill>
          <a:blip r:embed="rId2"/>
          <a:stretch>
            <a:fillRect/>
          </a:stretch>
        </p:blipFill>
        <p:spPr>
          <a:xfrm>
            <a:off x="4143375" y="695325"/>
            <a:ext cx="2038350" cy="501650"/>
          </a:xfrm>
          <a:prstGeom prst="rect">
            <a:avLst/>
          </a:prstGeom>
          <a:noFill/>
          <a:ln w="9525">
            <a:noFill/>
          </a:ln>
        </p:spPr>
      </p:pic>
      <p:pic>
        <p:nvPicPr>
          <p:cNvPr id="28677" name="图片 58417" descr="button副本"/>
          <p:cNvPicPr>
            <a:picLocks noChangeAspect="1"/>
          </p:cNvPicPr>
          <p:nvPr/>
        </p:nvPicPr>
        <p:blipFill>
          <a:blip r:embed="rId2"/>
          <a:stretch>
            <a:fillRect/>
          </a:stretch>
        </p:blipFill>
        <p:spPr>
          <a:xfrm>
            <a:off x="6251575" y="695325"/>
            <a:ext cx="2038350" cy="501650"/>
          </a:xfrm>
          <a:prstGeom prst="rect">
            <a:avLst/>
          </a:prstGeom>
          <a:noFill/>
          <a:ln w="9525">
            <a:noFill/>
          </a:ln>
        </p:spPr>
      </p:pic>
      <p:pic>
        <p:nvPicPr>
          <p:cNvPr id="28678" name="图片 58418" descr="button副本"/>
          <p:cNvPicPr>
            <a:picLocks noChangeAspect="1"/>
          </p:cNvPicPr>
          <p:nvPr/>
        </p:nvPicPr>
        <p:blipFill>
          <a:blip r:embed="rId2"/>
          <a:stretch>
            <a:fillRect/>
          </a:stretch>
        </p:blipFill>
        <p:spPr>
          <a:xfrm>
            <a:off x="8359775" y="695325"/>
            <a:ext cx="2038350" cy="501650"/>
          </a:xfrm>
          <a:prstGeom prst="rect">
            <a:avLst/>
          </a:prstGeom>
          <a:noFill/>
          <a:ln w="9525">
            <a:noFill/>
          </a:ln>
        </p:spPr>
      </p:pic>
      <p:sp>
        <p:nvSpPr>
          <p:cNvPr id="28679" name="矩形 58420">
            <a:hlinkClick r:id="" action="ppaction://noaction"/>
          </p:cNvPr>
          <p:cNvSpPr/>
          <p:nvPr/>
        </p:nvSpPr>
        <p:spPr>
          <a:xfrm>
            <a:off x="6408738" y="781050"/>
            <a:ext cx="1800225"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Writing and revising</a:t>
            </a:r>
            <a:endParaRPr lang="en-US" altLang="zh-CN" sz="1300" b="1">
              <a:latin typeface="Times New Roman" panose="02020603050405020304" pitchFamily="18" charset="0"/>
              <a:ea typeface="宋体" panose="02010600030101010101" pitchFamily="2" charset="-122"/>
            </a:endParaRPr>
          </a:p>
        </p:txBody>
      </p:sp>
      <p:sp>
        <p:nvSpPr>
          <p:cNvPr id="28680" name="矩形 58421">
            <a:hlinkClick r:id="" action="ppaction://noaction"/>
          </p:cNvPr>
          <p:cNvSpPr/>
          <p:nvPr/>
        </p:nvSpPr>
        <p:spPr>
          <a:xfrm>
            <a:off x="8609013" y="781050"/>
            <a:ext cx="1574800" cy="291465"/>
          </a:xfrm>
          <a:prstGeom prst="rect">
            <a:avLst/>
          </a:prstGeom>
          <a:noFill/>
          <a:ln w="9525">
            <a:noFill/>
          </a:ln>
        </p:spPr>
        <p:txBody>
          <a:bodyPr anchor="t">
            <a:spAutoFit/>
          </a:bodyPr>
          <a:p>
            <a:r>
              <a:rPr lang="en-US" altLang="en-US" sz="1300" b="1">
                <a:latin typeface="Times New Roman" panose="02020603050405020304" pitchFamily="18" charset="0"/>
                <a:ea typeface="宋体" panose="02010600030101010101" pitchFamily="2" charset="-122"/>
              </a:rPr>
              <a:t>Additional reading</a:t>
            </a:r>
            <a:endParaRPr lang="en-US" altLang="en-US" sz="1300" b="1">
              <a:latin typeface="Times New Roman" panose="02020603050405020304" pitchFamily="18" charset="0"/>
              <a:ea typeface="宋体" panose="02010600030101010101" pitchFamily="2" charset="-122"/>
            </a:endParaRPr>
          </a:p>
        </p:txBody>
      </p:sp>
      <p:sp>
        <p:nvSpPr>
          <p:cNvPr id="28681" name="矩形 58422"/>
          <p:cNvSpPr/>
          <p:nvPr/>
        </p:nvSpPr>
        <p:spPr>
          <a:xfrm>
            <a:off x="2162175" y="781050"/>
            <a:ext cx="1784350"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Warming-up activities</a:t>
            </a:r>
            <a:endParaRPr lang="en-US" altLang="zh-CN" sz="1300" b="1">
              <a:latin typeface="Times New Roman" panose="02020603050405020304" pitchFamily="18" charset="0"/>
              <a:ea typeface="宋体" panose="02010600030101010101" pitchFamily="2" charset="-122"/>
            </a:endParaRPr>
          </a:p>
        </p:txBody>
      </p:sp>
      <p:pic>
        <p:nvPicPr>
          <p:cNvPr id="28682" name="图片 58423" descr="prev"/>
          <p:cNvPicPr>
            <a:picLocks noChangeAspect="1"/>
          </p:cNvPicPr>
          <p:nvPr/>
        </p:nvPicPr>
        <p:blipFill>
          <a:blip r:embed="rId3"/>
          <a:stretch>
            <a:fillRect/>
          </a:stretch>
        </p:blipFill>
        <p:spPr>
          <a:xfrm>
            <a:off x="8975725" y="6280150"/>
            <a:ext cx="695325" cy="280988"/>
          </a:xfrm>
          <a:prstGeom prst="rect">
            <a:avLst/>
          </a:prstGeom>
          <a:noFill/>
          <a:ln w="9525">
            <a:noFill/>
          </a:ln>
        </p:spPr>
      </p:pic>
      <p:sp>
        <p:nvSpPr>
          <p:cNvPr id="28683" name="文本框 58433"/>
          <p:cNvSpPr txBox="1"/>
          <p:nvPr/>
        </p:nvSpPr>
        <p:spPr>
          <a:xfrm>
            <a:off x="2524125" y="1181100"/>
            <a:ext cx="7724775" cy="4892675"/>
          </a:xfrm>
          <a:prstGeom prst="rect">
            <a:avLst/>
          </a:prstGeom>
          <a:noFill/>
          <a:ln w="9525">
            <a:noFill/>
          </a:ln>
        </p:spPr>
        <p:txBody>
          <a:bodyPr anchor="t">
            <a:spAutoFit/>
          </a:bodyPr>
          <a:p>
            <a:pPr algn="just">
              <a:lnSpc>
                <a:spcPct val="130000"/>
              </a:lnSpc>
            </a:pPr>
            <a:r>
              <a:rPr lang="en-US" altLang="zh-CN" sz="2000" err="1">
                <a:latin typeface="Times New Roman" panose="02020603050405020304" pitchFamily="18" charset="0"/>
                <a:ea typeface="宋体" panose="02010600030101010101" pitchFamily="2" charset="-122"/>
              </a:rPr>
              <a:t>solitary student? Fowkes</a:t>
            </a:r>
            <a:r>
              <a:rPr lang="en-US" altLang="zh-CN" sz="2000">
                <a:latin typeface="Times New Roman" panose="02020603050405020304" pitchFamily="18" charset="0"/>
                <a:ea typeface="宋体" panose="02010600030101010101" pitchFamily="2" charset="-122"/>
              </a:rPr>
              <a:t> thought it perfectly possible.</a:t>
            </a:r>
            <a:endParaRPr lang="en-US" altLang="zh-CN" sz="2000">
              <a:latin typeface="Times New Roman" panose="02020603050405020304" pitchFamily="18" charset="0"/>
              <a:ea typeface="宋体" panose="02010600030101010101" pitchFamily="2" charset="-122"/>
            </a:endParaRPr>
          </a:p>
          <a:p>
            <a:pPr algn="just">
              <a:lnSpc>
                <a:spcPct val="130000"/>
              </a:lnSpc>
            </a:pPr>
            <a:r>
              <a:rPr lang="en-US" altLang="zh-CN" sz="2000">
                <a:latin typeface="Times New Roman" panose="02020603050405020304" pitchFamily="18" charset="0"/>
                <a:ea typeface="宋体" panose="02010600030101010101" pitchFamily="2" charset="-122"/>
              </a:rPr>
              <a:t>        One aspect of American education too seldom challenged is the lecture system. Professors continue to lecture and students to take notes much as they did in the thirteenth century, when books were so scarce and expensive that few students could own them. </a:t>
            </a:r>
            <a:r>
              <a:rPr lang="en-US" altLang="zh-CN" sz="2000">
                <a:solidFill>
                  <a:schemeClr val="tx1"/>
                </a:solidFill>
                <a:latin typeface="Times New Roman" panose="02020603050405020304" pitchFamily="18" charset="0"/>
                <a:ea typeface="宋体" panose="02010600030101010101" pitchFamily="2" charset="-122"/>
              </a:rPr>
              <a:t>The time is long overdue for us to abandon the lecture system and turn to methods that really work.</a:t>
            </a:r>
            <a:r>
              <a:rPr lang="en-US" altLang="zh-CN" sz="2000">
                <a:latin typeface="Times New Roman" panose="02020603050405020304" pitchFamily="18" charset="0"/>
                <a:ea typeface="宋体" panose="02010600030101010101" pitchFamily="2" charset="-122"/>
              </a:rPr>
              <a:t> </a:t>
            </a:r>
            <a:endParaRPr lang="en-US" altLang="zh-CN" sz="2000">
              <a:latin typeface="Times New Roman" panose="02020603050405020304" pitchFamily="18" charset="0"/>
              <a:ea typeface="宋体" panose="02010600030101010101" pitchFamily="2" charset="-122"/>
            </a:endParaRPr>
          </a:p>
          <a:p>
            <a:pPr algn="dist">
              <a:lnSpc>
                <a:spcPct val="130000"/>
              </a:lnSpc>
            </a:pPr>
            <a:r>
              <a:rPr lang="en-US" altLang="zh-CN" sz="2000">
                <a:solidFill>
                  <a:srgbClr val="000099"/>
                </a:solidFill>
                <a:latin typeface="Times New Roman" panose="02020603050405020304" pitchFamily="18" charset="0"/>
                <a:ea typeface="宋体" panose="02010600030101010101" pitchFamily="2" charset="-122"/>
              </a:rPr>
              <a:t>     </a:t>
            </a:r>
            <a:r>
              <a:rPr lang="en-US" altLang="zh-CN" sz="2000">
                <a:solidFill>
                  <a:schemeClr val="tx1"/>
                </a:solidFill>
                <a:latin typeface="Times New Roman" panose="02020603050405020304" pitchFamily="18" charset="0"/>
                <a:ea typeface="宋体" panose="02010600030101010101" pitchFamily="2" charset="-122"/>
              </a:rPr>
              <a:t>   One problem with lectures is that listening intelligently is hard work. Reading the same material in a textbook is a more efficient way to learn because students can proceed as slowly as they need to until the subject matter becomes clear to them. Many students believe years of watching</a:t>
            </a:r>
            <a:endParaRPr lang="en-US" altLang="zh-CN" sz="2000">
              <a:solidFill>
                <a:schemeClr val="tx1"/>
              </a:solidFill>
              <a:latin typeface="Times New Roman" panose="02020603050405020304" pitchFamily="18" charset="0"/>
              <a:ea typeface="宋体" panose="02010600030101010101" pitchFamily="2" charset="-122"/>
            </a:endParaRPr>
          </a:p>
          <a:p>
            <a:pPr>
              <a:lnSpc>
                <a:spcPct val="130000"/>
              </a:lnSpc>
            </a:pPr>
            <a:r>
              <a:rPr lang="en-US" altLang="zh-CN" sz="2000">
                <a:solidFill>
                  <a:schemeClr val="tx1"/>
                </a:solidFill>
                <a:latin typeface="Times New Roman" panose="02020603050405020304" pitchFamily="18" charset="0"/>
                <a:ea typeface="宋体" panose="02010600030101010101" pitchFamily="2" charset="-122"/>
              </a:rPr>
              <a:t>television have sabotaged their attention span, but their real problem is that listening attentively is much harder than they think. </a:t>
            </a:r>
            <a:r>
              <a:rPr lang="en-US" altLang="zh-CN" sz="2000">
                <a:latin typeface="Times New Roman" panose="02020603050405020304" pitchFamily="18" charset="0"/>
                <a:ea typeface="宋体" panose="02010600030101010101" pitchFamily="2" charset="-122"/>
              </a:rPr>
              <a:t> </a:t>
            </a:r>
            <a:endParaRPr lang="en-US" altLang="zh-CN" sz="2000">
              <a:latin typeface="Times New Roman" panose="02020603050405020304" pitchFamily="18" charset="0"/>
              <a:ea typeface="宋体" panose="02010600030101010101" pitchFamily="2" charset="-122"/>
            </a:endParaRPr>
          </a:p>
        </p:txBody>
      </p:sp>
      <p:sp>
        <p:nvSpPr>
          <p:cNvPr id="28684" name="文本框 58438"/>
          <p:cNvSpPr txBox="1"/>
          <p:nvPr/>
        </p:nvSpPr>
        <p:spPr>
          <a:xfrm>
            <a:off x="2254250" y="1574800"/>
            <a:ext cx="373380" cy="491490"/>
          </a:xfrm>
          <a:prstGeom prst="rect">
            <a:avLst/>
          </a:prstGeom>
          <a:noFill/>
          <a:ln w="9525">
            <a:noFill/>
          </a:ln>
        </p:spPr>
        <p:txBody>
          <a:bodyPr wrap="none" anchor="t">
            <a:spAutoFit/>
          </a:bodyPr>
          <a:p>
            <a:pPr>
              <a:lnSpc>
                <a:spcPct val="130000"/>
              </a:lnSpc>
            </a:pPr>
            <a:r>
              <a:rPr lang="en-US" altLang="zh-CN" sz="2000">
                <a:latin typeface="Times New Roman" panose="02020603050405020304" pitchFamily="18" charset="0"/>
                <a:ea typeface="宋体" panose="02010600030101010101" pitchFamily="2" charset="-122"/>
              </a:rPr>
              <a:t>3.</a:t>
            </a:r>
            <a:endParaRPr lang="en-US" altLang="zh-CN" sz="2000">
              <a:latin typeface="Times New Roman" panose="02020603050405020304" pitchFamily="18" charset="0"/>
              <a:ea typeface="宋体" panose="02010600030101010101" pitchFamily="2" charset="-122"/>
            </a:endParaRPr>
          </a:p>
        </p:txBody>
      </p:sp>
      <p:sp>
        <p:nvSpPr>
          <p:cNvPr id="28685" name="文本框 58439"/>
          <p:cNvSpPr txBox="1"/>
          <p:nvPr/>
        </p:nvSpPr>
        <p:spPr>
          <a:xfrm>
            <a:off x="2247900" y="3562350"/>
            <a:ext cx="373380" cy="491490"/>
          </a:xfrm>
          <a:prstGeom prst="rect">
            <a:avLst/>
          </a:prstGeom>
          <a:noFill/>
          <a:ln w="9525">
            <a:noFill/>
          </a:ln>
        </p:spPr>
        <p:txBody>
          <a:bodyPr wrap="none" anchor="t">
            <a:spAutoFit/>
          </a:bodyPr>
          <a:p>
            <a:pPr>
              <a:lnSpc>
                <a:spcPct val="130000"/>
              </a:lnSpc>
            </a:pPr>
            <a:r>
              <a:rPr lang="en-US" altLang="zh-CN" sz="2000">
                <a:latin typeface="Times New Roman" panose="02020603050405020304" pitchFamily="18" charset="0"/>
                <a:ea typeface="宋体" panose="02010600030101010101" pitchFamily="2" charset="-122"/>
              </a:rPr>
              <a:t>4.</a:t>
            </a:r>
            <a:endParaRPr lang="en-US" altLang="zh-CN" sz="2000">
              <a:latin typeface="Times New Roman" panose="02020603050405020304" pitchFamily="18" charset="0"/>
              <a:ea typeface="宋体" panose="02010600030101010101" pitchFamily="2" charset="-122"/>
            </a:endParaRPr>
          </a:p>
        </p:txBody>
      </p:sp>
      <p:sp>
        <p:nvSpPr>
          <p:cNvPr id="28686" name="文本框 58440">
            <a:hlinkClick r:id="" action="ppaction://noaction"/>
          </p:cNvPr>
          <p:cNvSpPr txBox="1"/>
          <p:nvPr/>
        </p:nvSpPr>
        <p:spPr>
          <a:xfrm>
            <a:off x="2828925" y="3752850"/>
            <a:ext cx="3638550" cy="245110"/>
          </a:xfrm>
          <a:prstGeom prst="rect">
            <a:avLst/>
          </a:prstGeom>
          <a:noFill/>
          <a:ln w="9525">
            <a:noFill/>
          </a:ln>
        </p:spPr>
        <p:txBody>
          <a:bodyPr anchor="t">
            <a:spAutoFit/>
          </a:bodyPr>
          <a:p>
            <a:pPr>
              <a:spcBef>
                <a:spcPct val="50000"/>
              </a:spcBef>
            </a:pPr>
            <a:endParaRPr lang="zh-CN" altLang="en-US" sz="1000" dirty="0">
              <a:latin typeface="Arial" panose="020B0604020202020204" pitchFamily="34" charset="0"/>
              <a:ea typeface="宋体" panose="02010600030101010101" pitchFamily="2" charset="-122"/>
            </a:endParaRPr>
          </a:p>
        </p:txBody>
      </p:sp>
      <p:sp>
        <p:nvSpPr>
          <p:cNvPr id="28687" name="文本框 58441">
            <a:hlinkClick r:id="" action="ppaction://noaction"/>
          </p:cNvPr>
          <p:cNvSpPr txBox="1"/>
          <p:nvPr/>
        </p:nvSpPr>
        <p:spPr>
          <a:xfrm>
            <a:off x="7212330" y="2897505"/>
            <a:ext cx="2971800" cy="306705"/>
          </a:xfrm>
          <a:prstGeom prst="rect">
            <a:avLst/>
          </a:prstGeom>
          <a:noFill/>
          <a:ln w="9525">
            <a:noFill/>
          </a:ln>
        </p:spPr>
        <p:txBody>
          <a:bodyPr wrap="square"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28688" name="文本框 58442">
            <a:hlinkClick r:id="" action="ppaction://noaction"/>
          </p:cNvPr>
          <p:cNvSpPr txBox="1"/>
          <p:nvPr/>
        </p:nvSpPr>
        <p:spPr>
          <a:xfrm>
            <a:off x="2609850" y="3295650"/>
            <a:ext cx="705802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28689" name="文本框 58443">
            <a:hlinkClick r:id="" action="ppaction://noaction"/>
          </p:cNvPr>
          <p:cNvSpPr txBox="1"/>
          <p:nvPr/>
        </p:nvSpPr>
        <p:spPr>
          <a:xfrm>
            <a:off x="6515100" y="3686175"/>
            <a:ext cx="36099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28690" name="文本框 58444">
            <a:hlinkClick r:id="" action="ppaction://noaction"/>
          </p:cNvPr>
          <p:cNvSpPr txBox="1"/>
          <p:nvPr/>
        </p:nvSpPr>
        <p:spPr>
          <a:xfrm>
            <a:off x="2609850" y="4086225"/>
            <a:ext cx="75628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28691" name="文本框 58445">
            <a:hlinkClick r:id="" action="ppaction://noaction"/>
          </p:cNvPr>
          <p:cNvSpPr txBox="1"/>
          <p:nvPr/>
        </p:nvSpPr>
        <p:spPr>
          <a:xfrm>
            <a:off x="2609850" y="4495800"/>
            <a:ext cx="75628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28692" name="文本框 58446">
            <a:hlinkClick r:id="" action="ppaction://noaction"/>
          </p:cNvPr>
          <p:cNvSpPr txBox="1"/>
          <p:nvPr/>
        </p:nvSpPr>
        <p:spPr>
          <a:xfrm>
            <a:off x="2543175" y="4905375"/>
            <a:ext cx="75628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28693" name="文本框 58447">
            <a:hlinkClick r:id="" action="ppaction://noaction"/>
          </p:cNvPr>
          <p:cNvSpPr txBox="1"/>
          <p:nvPr/>
        </p:nvSpPr>
        <p:spPr>
          <a:xfrm>
            <a:off x="2533650" y="5267325"/>
            <a:ext cx="717232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28694" name="文本框 58448">
            <a:hlinkClick r:id="" action="ppaction://noaction"/>
          </p:cNvPr>
          <p:cNvSpPr txBox="1"/>
          <p:nvPr/>
        </p:nvSpPr>
        <p:spPr>
          <a:xfrm>
            <a:off x="2571750" y="5667375"/>
            <a:ext cx="57054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28695" name="矩形 58449">
            <a:hlinkClick r:id="rId4" action="ppaction://hlinksldjump"/>
          </p:cNvPr>
          <p:cNvSpPr/>
          <p:nvPr/>
        </p:nvSpPr>
        <p:spPr>
          <a:xfrm>
            <a:off x="4129088" y="781050"/>
            <a:ext cx="2136775" cy="291465"/>
          </a:xfrm>
          <a:prstGeom prst="rect">
            <a:avLst/>
          </a:prstGeom>
          <a:noFill/>
          <a:ln w="9525">
            <a:noFill/>
          </a:ln>
        </p:spPr>
        <p:txBody>
          <a:bodyPr anchor="t">
            <a:spAutoFit/>
          </a:bodyPr>
          <a:p>
            <a:r>
              <a:rPr lang="en-US" altLang="zh-CN" sz="1300" b="1">
                <a:solidFill>
                  <a:srgbClr val="FFFF66"/>
                </a:solidFill>
                <a:latin typeface="Times New Roman" panose="02020603050405020304" pitchFamily="18" charset="0"/>
                <a:ea typeface="宋体" panose="02010600030101010101" pitchFamily="2" charset="-122"/>
              </a:rPr>
              <a:t>Preparing for your writing</a:t>
            </a:r>
            <a:endParaRPr lang="en-US" altLang="zh-CN" sz="1300" b="1">
              <a:solidFill>
                <a:srgbClr val="FFFF66"/>
              </a:solidFill>
              <a:latin typeface="Times New Roman" panose="02020603050405020304" pitchFamily="18" charset="0"/>
              <a:ea typeface="宋体" panose="02010600030101010101" pitchFamily="2" charset="-122"/>
            </a:endParaRPr>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267265"/>
          <p:cNvSpPr>
            <a:spLocks noGrp="1"/>
          </p:cNvSpPr>
          <p:nvPr>
            <p:ph type="ctrTitle"/>
          </p:nvPr>
        </p:nvSpPr>
        <p:spPr>
          <a:xfrm>
            <a:off x="2209800" y="-581025"/>
            <a:ext cx="7772400" cy="581025"/>
          </a:xfrm>
          <a:noFill/>
          <a:ln>
            <a:noFill/>
          </a:ln>
        </p:spPr>
        <p:txBody>
          <a:bodyPr anchor="t"/>
          <a:p>
            <a:pPr defTabSz="914400">
              <a:buClrTx/>
              <a:buSzTx/>
              <a:buFontTx/>
            </a:pPr>
            <a:r>
              <a:rPr lang="en-US" altLang="zh-CN" sz="2000" kern="1200" baseline="0">
                <a:latin typeface="+mj-lt"/>
                <a:ea typeface="+mj-ea"/>
                <a:cs typeface="+mj-cs"/>
              </a:rPr>
              <a:t>Task 2_Sample A_5</a:t>
            </a:r>
            <a:endParaRPr lang="en-US" altLang="zh-CN" sz="2000" kern="1200" baseline="0">
              <a:latin typeface="+mj-lt"/>
              <a:ea typeface="+mj-ea"/>
              <a:cs typeface="+mj-cs"/>
            </a:endParaRPr>
          </a:p>
        </p:txBody>
      </p:sp>
      <p:pic>
        <p:nvPicPr>
          <p:cNvPr id="30722" name="图片 267270" descr="button副本"/>
          <p:cNvPicPr>
            <a:picLocks noChangeAspect="1"/>
          </p:cNvPicPr>
          <p:nvPr/>
        </p:nvPicPr>
        <p:blipFill>
          <a:blip r:embed="rId1"/>
          <a:stretch>
            <a:fillRect/>
          </a:stretch>
        </p:blipFill>
        <p:spPr>
          <a:xfrm>
            <a:off x="2035175" y="695325"/>
            <a:ext cx="2038350" cy="501650"/>
          </a:xfrm>
          <a:prstGeom prst="rect">
            <a:avLst/>
          </a:prstGeom>
          <a:noFill/>
          <a:ln w="9525">
            <a:noFill/>
          </a:ln>
        </p:spPr>
      </p:pic>
      <p:pic>
        <p:nvPicPr>
          <p:cNvPr id="30723" name="图片 267271" descr="button副本"/>
          <p:cNvPicPr>
            <a:picLocks noChangeAspect="1"/>
          </p:cNvPicPr>
          <p:nvPr/>
        </p:nvPicPr>
        <p:blipFill>
          <a:blip r:embed="rId1"/>
          <a:stretch>
            <a:fillRect/>
          </a:stretch>
        </p:blipFill>
        <p:spPr>
          <a:xfrm>
            <a:off x="4143375" y="695325"/>
            <a:ext cx="2038350" cy="501650"/>
          </a:xfrm>
          <a:prstGeom prst="rect">
            <a:avLst/>
          </a:prstGeom>
          <a:noFill/>
          <a:ln w="9525">
            <a:noFill/>
          </a:ln>
        </p:spPr>
      </p:pic>
      <p:pic>
        <p:nvPicPr>
          <p:cNvPr id="30724" name="图片 267272" descr="button副本"/>
          <p:cNvPicPr>
            <a:picLocks noChangeAspect="1"/>
          </p:cNvPicPr>
          <p:nvPr/>
        </p:nvPicPr>
        <p:blipFill>
          <a:blip r:embed="rId1"/>
          <a:stretch>
            <a:fillRect/>
          </a:stretch>
        </p:blipFill>
        <p:spPr>
          <a:xfrm>
            <a:off x="6251575" y="695325"/>
            <a:ext cx="2038350" cy="501650"/>
          </a:xfrm>
          <a:prstGeom prst="rect">
            <a:avLst/>
          </a:prstGeom>
          <a:noFill/>
          <a:ln w="9525">
            <a:noFill/>
          </a:ln>
        </p:spPr>
      </p:pic>
      <p:pic>
        <p:nvPicPr>
          <p:cNvPr id="30725" name="图片 267273" descr="button副本"/>
          <p:cNvPicPr>
            <a:picLocks noChangeAspect="1"/>
          </p:cNvPicPr>
          <p:nvPr/>
        </p:nvPicPr>
        <p:blipFill>
          <a:blip r:embed="rId1"/>
          <a:stretch>
            <a:fillRect/>
          </a:stretch>
        </p:blipFill>
        <p:spPr>
          <a:xfrm>
            <a:off x="8359775" y="695325"/>
            <a:ext cx="2038350" cy="501650"/>
          </a:xfrm>
          <a:prstGeom prst="rect">
            <a:avLst/>
          </a:prstGeom>
          <a:noFill/>
          <a:ln w="9525">
            <a:noFill/>
          </a:ln>
        </p:spPr>
      </p:pic>
      <p:sp>
        <p:nvSpPr>
          <p:cNvPr id="30726" name="矩形 267275">
            <a:hlinkClick r:id="" action="ppaction://noaction"/>
          </p:cNvPr>
          <p:cNvSpPr/>
          <p:nvPr/>
        </p:nvSpPr>
        <p:spPr>
          <a:xfrm>
            <a:off x="6408738" y="781050"/>
            <a:ext cx="1800225"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Writing and revising</a:t>
            </a:r>
            <a:endParaRPr lang="en-US" altLang="zh-CN" sz="1300" b="1">
              <a:latin typeface="Times New Roman" panose="02020603050405020304" pitchFamily="18" charset="0"/>
              <a:ea typeface="宋体" panose="02010600030101010101" pitchFamily="2" charset="-122"/>
            </a:endParaRPr>
          </a:p>
        </p:txBody>
      </p:sp>
      <p:sp>
        <p:nvSpPr>
          <p:cNvPr id="30727" name="矩形 267276">
            <a:hlinkClick r:id="" action="ppaction://noaction"/>
          </p:cNvPr>
          <p:cNvSpPr/>
          <p:nvPr/>
        </p:nvSpPr>
        <p:spPr>
          <a:xfrm>
            <a:off x="8609013" y="781050"/>
            <a:ext cx="1574800" cy="291465"/>
          </a:xfrm>
          <a:prstGeom prst="rect">
            <a:avLst/>
          </a:prstGeom>
          <a:noFill/>
          <a:ln w="9525">
            <a:noFill/>
          </a:ln>
        </p:spPr>
        <p:txBody>
          <a:bodyPr anchor="t">
            <a:spAutoFit/>
          </a:bodyPr>
          <a:p>
            <a:r>
              <a:rPr lang="en-US" altLang="en-US" sz="1300" b="1">
                <a:latin typeface="Times New Roman" panose="02020603050405020304" pitchFamily="18" charset="0"/>
                <a:ea typeface="宋体" panose="02010600030101010101" pitchFamily="2" charset="-122"/>
              </a:rPr>
              <a:t>Additional reading</a:t>
            </a:r>
            <a:endParaRPr lang="en-US" altLang="en-US" sz="1300" b="1">
              <a:latin typeface="Times New Roman" panose="02020603050405020304" pitchFamily="18" charset="0"/>
              <a:ea typeface="宋体" panose="02010600030101010101" pitchFamily="2" charset="-122"/>
            </a:endParaRPr>
          </a:p>
        </p:txBody>
      </p:sp>
      <p:sp>
        <p:nvSpPr>
          <p:cNvPr id="30728" name="矩形 267277"/>
          <p:cNvSpPr/>
          <p:nvPr/>
        </p:nvSpPr>
        <p:spPr>
          <a:xfrm>
            <a:off x="2162175" y="781050"/>
            <a:ext cx="1784350"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Warming-up activities</a:t>
            </a:r>
            <a:endParaRPr lang="en-US" altLang="zh-CN" sz="1300" b="1">
              <a:latin typeface="Times New Roman" panose="02020603050405020304" pitchFamily="18" charset="0"/>
              <a:ea typeface="宋体" panose="02010600030101010101" pitchFamily="2" charset="-122"/>
            </a:endParaRPr>
          </a:p>
        </p:txBody>
      </p:sp>
      <p:pic>
        <p:nvPicPr>
          <p:cNvPr id="30729" name="图片 267278" descr="prev"/>
          <p:cNvPicPr>
            <a:picLocks noChangeAspect="1"/>
          </p:cNvPicPr>
          <p:nvPr/>
        </p:nvPicPr>
        <p:blipFill>
          <a:blip r:embed="rId2"/>
          <a:stretch>
            <a:fillRect/>
          </a:stretch>
        </p:blipFill>
        <p:spPr>
          <a:xfrm>
            <a:off x="8975725" y="6280150"/>
            <a:ext cx="695325" cy="280988"/>
          </a:xfrm>
          <a:prstGeom prst="rect">
            <a:avLst/>
          </a:prstGeom>
          <a:noFill/>
          <a:ln w="9525">
            <a:noFill/>
          </a:ln>
        </p:spPr>
      </p:pic>
      <p:sp>
        <p:nvSpPr>
          <p:cNvPr id="30730" name="文本框 267297"/>
          <p:cNvSpPr txBox="1"/>
          <p:nvPr/>
        </p:nvSpPr>
        <p:spPr>
          <a:xfrm>
            <a:off x="2533650" y="1370013"/>
            <a:ext cx="7610475" cy="4492625"/>
          </a:xfrm>
          <a:prstGeom prst="rect">
            <a:avLst/>
          </a:prstGeom>
          <a:noFill/>
          <a:ln w="9525">
            <a:noFill/>
          </a:ln>
        </p:spPr>
        <p:txBody>
          <a:bodyPr anchor="t">
            <a:spAutoFit/>
          </a:bodyPr>
          <a:p>
            <a:pPr algn="just">
              <a:lnSpc>
                <a:spcPct val="130000"/>
              </a:lnSpc>
            </a:pPr>
            <a:endParaRPr lang="en-US" altLang="zh-CN" sz="2000">
              <a:solidFill>
                <a:srgbClr val="000000"/>
              </a:solidFill>
              <a:latin typeface="Times New Roman" panose="02020603050405020304" pitchFamily="18" charset="0"/>
              <a:ea typeface="宋体" panose="02010600030101010101" pitchFamily="2" charset="-122"/>
            </a:endParaRPr>
          </a:p>
          <a:p>
            <a:pPr algn="just">
              <a:lnSpc>
                <a:spcPct val="130000"/>
              </a:lnSpc>
            </a:pPr>
            <a:r>
              <a:rPr lang="en-US" altLang="zh-CN" sz="2000" dirty="0">
                <a:solidFill>
                  <a:schemeClr val="tx1"/>
                </a:solidFill>
                <a:latin typeface="Times New Roman" panose="02020603050405020304" pitchFamily="18" charset="0"/>
                <a:ea typeface="宋体" panose="02010600030101010101" pitchFamily="2" charset="-122"/>
              </a:rPr>
              <a:t>       </a:t>
            </a:r>
            <a:r>
              <a:rPr lang="en-US" altLang="zh-CN" sz="2000">
                <a:solidFill>
                  <a:schemeClr val="tx1"/>
                </a:solidFill>
                <a:latin typeface="Times New Roman" panose="02020603050405020304" pitchFamily="18" charset="0"/>
                <a:ea typeface="宋体" panose="02010600030101010101" pitchFamily="2" charset="-122"/>
              </a:rPr>
              <a:t>Worse still, attending lectures is passive learning, at least for inexperienced listeners. Active learning, in which students write essays or perform experiments and then have their work evaluated by an instructor, is far more beneficial for those who have not yet fully learned how to learn. While it’s true that techniques of active listening, such as trying to anticipate the speaker’s next point or taking notes selectively, can enhance the value of a lecture, few students possess such skills at the beginning of their college careers. More commonly, students try to write everything down and even bring recorders to class in a clumsy effort to capture every word</a:t>
            </a:r>
            <a:r>
              <a:rPr lang="en-US" altLang="zh-CN" sz="2000" u="sng">
                <a:solidFill>
                  <a:schemeClr val="hlink"/>
                </a:solidFill>
                <a:latin typeface="Times New Roman" panose="02020603050405020304" pitchFamily="18" charset="0"/>
                <a:ea typeface="宋体" panose="02010600030101010101" pitchFamily="2" charset="-122"/>
              </a:rPr>
              <a:t>.</a:t>
            </a:r>
            <a:endParaRPr lang="en-US" altLang="zh-CN" sz="2000" u="sng">
              <a:solidFill>
                <a:schemeClr val="hlink"/>
              </a:solidFill>
              <a:latin typeface="Times New Roman" panose="02020603050405020304" pitchFamily="18" charset="0"/>
              <a:ea typeface="Times New Roman" panose="02020603050405020304" pitchFamily="18" charset="0"/>
            </a:endParaRPr>
          </a:p>
        </p:txBody>
      </p:sp>
      <p:sp>
        <p:nvSpPr>
          <p:cNvPr id="30731" name="文本框 267302"/>
          <p:cNvSpPr txBox="1"/>
          <p:nvPr/>
        </p:nvSpPr>
        <p:spPr>
          <a:xfrm>
            <a:off x="2305050" y="1836738"/>
            <a:ext cx="373380" cy="398780"/>
          </a:xfrm>
          <a:prstGeom prst="rect">
            <a:avLst/>
          </a:prstGeom>
          <a:noFill/>
          <a:ln w="9525">
            <a:noFill/>
          </a:ln>
        </p:spPr>
        <p:txBody>
          <a:bodyPr wrap="none" anchor="t">
            <a:spAutoFit/>
          </a:bodyPr>
          <a:p>
            <a:r>
              <a:rPr lang="en-US" altLang="zh-CN" sz="2000">
                <a:latin typeface="Times New Roman" panose="02020603050405020304" pitchFamily="18" charset="0"/>
                <a:ea typeface="宋体" panose="02010600030101010101" pitchFamily="2" charset="-122"/>
              </a:rPr>
              <a:t>5.</a:t>
            </a:r>
            <a:endParaRPr lang="en-US" altLang="zh-CN" sz="2000">
              <a:latin typeface="Times New Roman" panose="02020603050405020304" pitchFamily="18" charset="0"/>
              <a:ea typeface="宋体" panose="02010600030101010101" pitchFamily="2" charset="-122"/>
            </a:endParaRPr>
          </a:p>
        </p:txBody>
      </p:sp>
      <p:pic>
        <p:nvPicPr>
          <p:cNvPr id="30732" name="图片 267303" descr="next">
            <a:hlinkClick r:id="" action="ppaction://noaction"/>
          </p:cNvPr>
          <p:cNvPicPr>
            <a:picLocks noChangeAspect="1"/>
          </p:cNvPicPr>
          <p:nvPr/>
        </p:nvPicPr>
        <p:blipFill>
          <a:blip r:embed="rId3"/>
          <a:stretch>
            <a:fillRect/>
          </a:stretch>
        </p:blipFill>
        <p:spPr>
          <a:xfrm>
            <a:off x="9661525" y="6280150"/>
            <a:ext cx="695325" cy="280988"/>
          </a:xfrm>
          <a:prstGeom prst="rect">
            <a:avLst/>
          </a:prstGeom>
          <a:noFill/>
          <a:ln w="9525">
            <a:noFill/>
          </a:ln>
        </p:spPr>
      </p:pic>
      <p:sp>
        <p:nvSpPr>
          <p:cNvPr id="30733" name="文本框 267307">
            <a:hlinkClick r:id="" action="ppaction://noaction"/>
          </p:cNvPr>
          <p:cNvSpPr txBox="1"/>
          <p:nvPr/>
        </p:nvSpPr>
        <p:spPr>
          <a:xfrm>
            <a:off x="2638425" y="2314575"/>
            <a:ext cx="7419975" cy="245110"/>
          </a:xfrm>
          <a:prstGeom prst="rect">
            <a:avLst/>
          </a:prstGeom>
          <a:noFill/>
          <a:ln w="9525">
            <a:noFill/>
          </a:ln>
        </p:spPr>
        <p:txBody>
          <a:bodyPr anchor="t">
            <a:spAutoFit/>
          </a:bodyPr>
          <a:p>
            <a:pPr>
              <a:spcBef>
                <a:spcPct val="50000"/>
              </a:spcBef>
            </a:pPr>
            <a:endParaRPr lang="zh-CN" altLang="en-US" sz="1000" dirty="0">
              <a:latin typeface="Arial" panose="020B0604020202020204" pitchFamily="34" charset="0"/>
              <a:ea typeface="宋体" panose="02010600030101010101" pitchFamily="2" charset="-122"/>
            </a:endParaRPr>
          </a:p>
        </p:txBody>
      </p:sp>
      <p:sp>
        <p:nvSpPr>
          <p:cNvPr id="30734" name="文本框 267308">
            <a:hlinkClick r:id="" action="ppaction://noaction"/>
          </p:cNvPr>
          <p:cNvSpPr txBox="1"/>
          <p:nvPr/>
        </p:nvSpPr>
        <p:spPr>
          <a:xfrm>
            <a:off x="4076700" y="3495675"/>
            <a:ext cx="1962150" cy="245110"/>
          </a:xfrm>
          <a:prstGeom prst="rect">
            <a:avLst/>
          </a:prstGeom>
          <a:noFill/>
          <a:ln w="9525">
            <a:noFill/>
          </a:ln>
        </p:spPr>
        <p:txBody>
          <a:bodyPr anchor="t">
            <a:spAutoFit/>
          </a:bodyPr>
          <a:p>
            <a:pPr>
              <a:spcBef>
                <a:spcPct val="50000"/>
              </a:spcBef>
            </a:pPr>
            <a:endParaRPr lang="zh-CN" altLang="en-US" sz="1000" dirty="0">
              <a:latin typeface="Arial" panose="020B0604020202020204" pitchFamily="34" charset="0"/>
              <a:ea typeface="宋体" panose="02010600030101010101" pitchFamily="2" charset="-122"/>
            </a:endParaRPr>
          </a:p>
        </p:txBody>
      </p:sp>
      <p:sp>
        <p:nvSpPr>
          <p:cNvPr id="30735" name="文本框 267309">
            <a:hlinkClick r:id="" action="ppaction://noaction"/>
          </p:cNvPr>
          <p:cNvSpPr txBox="1"/>
          <p:nvPr/>
        </p:nvSpPr>
        <p:spPr>
          <a:xfrm>
            <a:off x="2905125" y="1913890"/>
            <a:ext cx="1238250" cy="245110"/>
          </a:xfrm>
          <a:prstGeom prst="rect">
            <a:avLst/>
          </a:prstGeom>
          <a:noFill/>
          <a:ln w="9525">
            <a:noFill/>
          </a:ln>
        </p:spPr>
        <p:txBody>
          <a:bodyPr anchor="t">
            <a:spAutoFit/>
          </a:bodyPr>
          <a:p>
            <a:pPr>
              <a:spcBef>
                <a:spcPct val="50000"/>
              </a:spcBef>
            </a:pPr>
            <a:endParaRPr lang="zh-CN" altLang="en-US" sz="1000" dirty="0">
              <a:latin typeface="Arial" panose="020B0604020202020204" pitchFamily="34" charset="0"/>
              <a:ea typeface="宋体" panose="02010600030101010101" pitchFamily="2" charset="-122"/>
            </a:endParaRPr>
          </a:p>
        </p:txBody>
      </p:sp>
      <p:sp>
        <p:nvSpPr>
          <p:cNvPr id="30736" name="文本框 267310">
            <a:hlinkClick r:id="" action="ppaction://noaction"/>
          </p:cNvPr>
          <p:cNvSpPr txBox="1"/>
          <p:nvPr/>
        </p:nvSpPr>
        <p:spPr>
          <a:xfrm>
            <a:off x="4371975" y="1876425"/>
            <a:ext cx="560070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37" name="文本框 267311">
            <a:hlinkClick r:id="" action="ppaction://noaction"/>
          </p:cNvPr>
          <p:cNvSpPr txBox="1"/>
          <p:nvPr/>
        </p:nvSpPr>
        <p:spPr>
          <a:xfrm>
            <a:off x="2590800" y="2705100"/>
            <a:ext cx="73723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38" name="文本框 267312">
            <a:hlinkClick r:id="" action="ppaction://noaction"/>
          </p:cNvPr>
          <p:cNvSpPr txBox="1"/>
          <p:nvPr/>
        </p:nvSpPr>
        <p:spPr>
          <a:xfrm>
            <a:off x="2628900" y="3086100"/>
            <a:ext cx="73723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39" name="文本框 267313">
            <a:hlinkClick r:id="" action="ppaction://noaction"/>
          </p:cNvPr>
          <p:cNvSpPr txBox="1"/>
          <p:nvPr/>
        </p:nvSpPr>
        <p:spPr>
          <a:xfrm>
            <a:off x="2552700" y="3514725"/>
            <a:ext cx="14668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40" name="文本框 267314">
            <a:hlinkClick r:id="" action="ppaction://noaction"/>
          </p:cNvPr>
          <p:cNvSpPr txBox="1"/>
          <p:nvPr/>
        </p:nvSpPr>
        <p:spPr>
          <a:xfrm>
            <a:off x="6096000" y="3486150"/>
            <a:ext cx="38766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41" name="文本框 267315">
            <a:hlinkClick r:id="" action="ppaction://noaction"/>
          </p:cNvPr>
          <p:cNvSpPr txBox="1"/>
          <p:nvPr/>
        </p:nvSpPr>
        <p:spPr>
          <a:xfrm>
            <a:off x="2619375" y="3943350"/>
            <a:ext cx="739140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42" name="文本框 267316">
            <a:hlinkClick r:id="" action="ppaction://noaction"/>
          </p:cNvPr>
          <p:cNvSpPr txBox="1"/>
          <p:nvPr/>
        </p:nvSpPr>
        <p:spPr>
          <a:xfrm>
            <a:off x="2628900" y="4343400"/>
            <a:ext cx="739140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43" name="文本框 267317">
            <a:hlinkClick r:id="" action="ppaction://noaction"/>
          </p:cNvPr>
          <p:cNvSpPr txBox="1"/>
          <p:nvPr/>
        </p:nvSpPr>
        <p:spPr>
          <a:xfrm>
            <a:off x="2647950" y="4705350"/>
            <a:ext cx="739140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44" name="文本框 267318">
            <a:hlinkClick r:id="" action="ppaction://noaction"/>
          </p:cNvPr>
          <p:cNvSpPr txBox="1"/>
          <p:nvPr/>
        </p:nvSpPr>
        <p:spPr>
          <a:xfrm>
            <a:off x="2628900" y="5086350"/>
            <a:ext cx="739140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45" name="文本框 267319">
            <a:hlinkClick r:id="" action="ppaction://noaction"/>
          </p:cNvPr>
          <p:cNvSpPr txBox="1"/>
          <p:nvPr/>
        </p:nvSpPr>
        <p:spPr>
          <a:xfrm>
            <a:off x="2628900" y="5514975"/>
            <a:ext cx="205740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0746" name="矩形 267320">
            <a:hlinkClick r:id="rId4" action="ppaction://hlinksldjump"/>
          </p:cNvPr>
          <p:cNvSpPr/>
          <p:nvPr/>
        </p:nvSpPr>
        <p:spPr>
          <a:xfrm>
            <a:off x="4129088" y="781050"/>
            <a:ext cx="2136775" cy="291465"/>
          </a:xfrm>
          <a:prstGeom prst="rect">
            <a:avLst/>
          </a:prstGeom>
          <a:noFill/>
          <a:ln w="9525">
            <a:noFill/>
          </a:ln>
        </p:spPr>
        <p:txBody>
          <a:bodyPr anchor="t">
            <a:spAutoFit/>
          </a:bodyPr>
          <a:p>
            <a:r>
              <a:rPr lang="en-US" altLang="zh-CN" sz="1300" b="1">
                <a:solidFill>
                  <a:srgbClr val="FFFF66"/>
                </a:solidFill>
                <a:latin typeface="Times New Roman" panose="02020603050405020304" pitchFamily="18" charset="0"/>
                <a:ea typeface="宋体" panose="02010600030101010101" pitchFamily="2" charset="-122"/>
              </a:rPr>
              <a:t>Preparing for your writing</a:t>
            </a:r>
            <a:endParaRPr lang="en-US" altLang="zh-CN" sz="1300" b="1">
              <a:solidFill>
                <a:srgbClr val="FFFF66"/>
              </a:solidFill>
              <a:latin typeface="Times New Roman" panose="02020603050405020304" pitchFamily="18" charset="0"/>
              <a:ea typeface="宋体" panose="02010600030101010101" pitchFamily="2" charset="-122"/>
            </a:endParaRP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363521"/>
          <p:cNvSpPr>
            <a:spLocks noGrp="1"/>
          </p:cNvSpPr>
          <p:nvPr>
            <p:ph type="ctrTitle"/>
          </p:nvPr>
        </p:nvSpPr>
        <p:spPr>
          <a:xfrm>
            <a:off x="2209800" y="-581025"/>
            <a:ext cx="7772400" cy="581025"/>
          </a:xfrm>
          <a:noFill/>
          <a:ln>
            <a:noFill/>
          </a:ln>
        </p:spPr>
        <p:txBody>
          <a:bodyPr anchor="t"/>
          <a:p>
            <a:pPr defTabSz="914400">
              <a:buClrTx/>
              <a:buSzTx/>
              <a:buFontTx/>
            </a:pPr>
            <a:r>
              <a:rPr lang="en-US" altLang="zh-CN" sz="2000" kern="1200" baseline="0">
                <a:latin typeface="+mj-lt"/>
                <a:ea typeface="+mj-ea"/>
                <a:cs typeface="+mj-cs"/>
              </a:rPr>
              <a:t>Task 2_Sample A_6</a:t>
            </a:r>
            <a:endParaRPr lang="en-US" altLang="zh-CN" sz="2000" kern="1200" baseline="0">
              <a:latin typeface="+mj-lt"/>
              <a:ea typeface="+mj-ea"/>
              <a:cs typeface="+mj-cs"/>
            </a:endParaRPr>
          </a:p>
        </p:txBody>
      </p:sp>
      <p:pic>
        <p:nvPicPr>
          <p:cNvPr id="32770" name="图片 363522" descr="button副本"/>
          <p:cNvPicPr>
            <a:picLocks noChangeAspect="1"/>
          </p:cNvPicPr>
          <p:nvPr/>
        </p:nvPicPr>
        <p:blipFill>
          <a:blip r:embed="rId1"/>
          <a:stretch>
            <a:fillRect/>
          </a:stretch>
        </p:blipFill>
        <p:spPr>
          <a:xfrm>
            <a:off x="2035175" y="695325"/>
            <a:ext cx="2038350" cy="501650"/>
          </a:xfrm>
          <a:prstGeom prst="rect">
            <a:avLst/>
          </a:prstGeom>
          <a:noFill/>
          <a:ln w="9525">
            <a:noFill/>
          </a:ln>
        </p:spPr>
      </p:pic>
      <p:pic>
        <p:nvPicPr>
          <p:cNvPr id="32771" name="图片 363523" descr="button副本"/>
          <p:cNvPicPr>
            <a:picLocks noChangeAspect="1"/>
          </p:cNvPicPr>
          <p:nvPr/>
        </p:nvPicPr>
        <p:blipFill>
          <a:blip r:embed="rId1"/>
          <a:stretch>
            <a:fillRect/>
          </a:stretch>
        </p:blipFill>
        <p:spPr>
          <a:xfrm>
            <a:off x="4143375" y="695325"/>
            <a:ext cx="2038350" cy="501650"/>
          </a:xfrm>
          <a:prstGeom prst="rect">
            <a:avLst/>
          </a:prstGeom>
          <a:noFill/>
          <a:ln w="9525">
            <a:noFill/>
          </a:ln>
        </p:spPr>
      </p:pic>
      <p:pic>
        <p:nvPicPr>
          <p:cNvPr id="32772" name="图片 363524" descr="button副本"/>
          <p:cNvPicPr>
            <a:picLocks noChangeAspect="1"/>
          </p:cNvPicPr>
          <p:nvPr/>
        </p:nvPicPr>
        <p:blipFill>
          <a:blip r:embed="rId1"/>
          <a:stretch>
            <a:fillRect/>
          </a:stretch>
        </p:blipFill>
        <p:spPr>
          <a:xfrm>
            <a:off x="6251575" y="695325"/>
            <a:ext cx="2038350" cy="501650"/>
          </a:xfrm>
          <a:prstGeom prst="rect">
            <a:avLst/>
          </a:prstGeom>
          <a:noFill/>
          <a:ln w="9525">
            <a:noFill/>
          </a:ln>
        </p:spPr>
      </p:pic>
      <p:pic>
        <p:nvPicPr>
          <p:cNvPr id="32773" name="图片 363525" descr="button副本"/>
          <p:cNvPicPr>
            <a:picLocks noChangeAspect="1"/>
          </p:cNvPicPr>
          <p:nvPr/>
        </p:nvPicPr>
        <p:blipFill>
          <a:blip r:embed="rId1"/>
          <a:stretch>
            <a:fillRect/>
          </a:stretch>
        </p:blipFill>
        <p:spPr>
          <a:xfrm>
            <a:off x="8359775" y="695325"/>
            <a:ext cx="2038350" cy="501650"/>
          </a:xfrm>
          <a:prstGeom prst="rect">
            <a:avLst/>
          </a:prstGeom>
          <a:noFill/>
          <a:ln w="9525">
            <a:noFill/>
          </a:ln>
        </p:spPr>
      </p:pic>
      <p:sp>
        <p:nvSpPr>
          <p:cNvPr id="32774" name="矩形 363527">
            <a:hlinkClick r:id="" action="ppaction://noaction"/>
          </p:cNvPr>
          <p:cNvSpPr/>
          <p:nvPr/>
        </p:nvSpPr>
        <p:spPr>
          <a:xfrm>
            <a:off x="6408738" y="781050"/>
            <a:ext cx="1800225"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Writing and revising</a:t>
            </a:r>
            <a:endParaRPr lang="en-US" altLang="zh-CN" sz="1300" b="1">
              <a:latin typeface="Times New Roman" panose="02020603050405020304" pitchFamily="18" charset="0"/>
              <a:ea typeface="宋体" panose="02010600030101010101" pitchFamily="2" charset="-122"/>
            </a:endParaRPr>
          </a:p>
        </p:txBody>
      </p:sp>
      <p:sp>
        <p:nvSpPr>
          <p:cNvPr id="32775" name="矩形 363528">
            <a:hlinkClick r:id="" action="ppaction://noaction"/>
          </p:cNvPr>
          <p:cNvSpPr/>
          <p:nvPr/>
        </p:nvSpPr>
        <p:spPr>
          <a:xfrm>
            <a:off x="8609013" y="781050"/>
            <a:ext cx="1574800" cy="291465"/>
          </a:xfrm>
          <a:prstGeom prst="rect">
            <a:avLst/>
          </a:prstGeom>
          <a:noFill/>
          <a:ln w="9525">
            <a:noFill/>
          </a:ln>
        </p:spPr>
        <p:txBody>
          <a:bodyPr anchor="t">
            <a:spAutoFit/>
          </a:bodyPr>
          <a:p>
            <a:r>
              <a:rPr lang="en-US" altLang="en-US" sz="1300" b="1">
                <a:latin typeface="Times New Roman" panose="02020603050405020304" pitchFamily="18" charset="0"/>
                <a:ea typeface="宋体" panose="02010600030101010101" pitchFamily="2" charset="-122"/>
              </a:rPr>
              <a:t>Additional reading</a:t>
            </a:r>
            <a:endParaRPr lang="en-US" altLang="en-US" sz="1300" b="1">
              <a:latin typeface="Times New Roman" panose="02020603050405020304" pitchFamily="18" charset="0"/>
              <a:ea typeface="宋体" panose="02010600030101010101" pitchFamily="2" charset="-122"/>
            </a:endParaRPr>
          </a:p>
        </p:txBody>
      </p:sp>
      <p:sp>
        <p:nvSpPr>
          <p:cNvPr id="32776" name="矩形 363529"/>
          <p:cNvSpPr/>
          <p:nvPr/>
        </p:nvSpPr>
        <p:spPr>
          <a:xfrm>
            <a:off x="2162175" y="781050"/>
            <a:ext cx="1784350"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Warming-up activities</a:t>
            </a:r>
            <a:endParaRPr lang="en-US" altLang="zh-CN" sz="1300" b="1">
              <a:latin typeface="Times New Roman" panose="02020603050405020304" pitchFamily="18" charset="0"/>
              <a:ea typeface="宋体" panose="02010600030101010101" pitchFamily="2" charset="-122"/>
            </a:endParaRPr>
          </a:p>
        </p:txBody>
      </p:sp>
      <p:pic>
        <p:nvPicPr>
          <p:cNvPr id="32777" name="图片 363530" descr="prev">
            <a:hlinkClick r:id="" action="ppaction://noaction"/>
          </p:cNvPr>
          <p:cNvPicPr>
            <a:picLocks noChangeAspect="1"/>
          </p:cNvPicPr>
          <p:nvPr/>
        </p:nvPicPr>
        <p:blipFill>
          <a:blip r:embed="rId2"/>
          <a:stretch>
            <a:fillRect/>
          </a:stretch>
        </p:blipFill>
        <p:spPr>
          <a:xfrm>
            <a:off x="8975725" y="6280150"/>
            <a:ext cx="695325" cy="280988"/>
          </a:xfrm>
          <a:prstGeom prst="rect">
            <a:avLst/>
          </a:prstGeom>
          <a:noFill/>
          <a:ln w="9525">
            <a:noFill/>
          </a:ln>
        </p:spPr>
      </p:pic>
      <p:sp>
        <p:nvSpPr>
          <p:cNvPr id="32778" name="文本框 363532"/>
          <p:cNvSpPr txBox="1"/>
          <p:nvPr/>
        </p:nvSpPr>
        <p:spPr>
          <a:xfrm>
            <a:off x="2533650" y="1655763"/>
            <a:ext cx="7610475" cy="3291840"/>
          </a:xfrm>
          <a:prstGeom prst="rect">
            <a:avLst/>
          </a:prstGeom>
          <a:noFill/>
          <a:ln w="9525">
            <a:noFill/>
          </a:ln>
        </p:spPr>
        <p:txBody>
          <a:bodyPr anchor="t">
            <a:spAutoFit/>
          </a:bodyPr>
          <a:p>
            <a:pPr algn="just">
              <a:lnSpc>
                <a:spcPct val="130000"/>
              </a:lnSpc>
            </a:pPr>
            <a:r>
              <a:rPr lang="en-US" altLang="zh-CN" sz="2000" dirty="0">
                <a:solidFill>
                  <a:srgbClr val="000000"/>
                </a:solidFill>
                <a:latin typeface="Times New Roman" panose="02020603050405020304" pitchFamily="18" charset="0"/>
                <a:ea typeface="宋体" panose="02010600030101010101" pitchFamily="2" charset="-122"/>
              </a:rPr>
              <a:t>  </a:t>
            </a:r>
            <a:r>
              <a:rPr lang="en-US" altLang="zh-CN" sz="2000" dirty="0">
                <a:solidFill>
                  <a:schemeClr val="tx1"/>
                </a:solidFill>
                <a:latin typeface="Times New Roman" panose="02020603050405020304" pitchFamily="18" charset="0"/>
                <a:ea typeface="宋体" panose="02010600030101010101" pitchFamily="2" charset="-122"/>
              </a:rPr>
              <a:t>     </a:t>
            </a:r>
            <a:r>
              <a:rPr lang="en-US" altLang="zh-CN" sz="2000">
                <a:solidFill>
                  <a:schemeClr val="tx1"/>
                </a:solidFill>
                <a:latin typeface="Times New Roman" panose="02020603050405020304" pitchFamily="18" charset="0"/>
                <a:ea typeface="宋体" panose="02010600030101010101" pitchFamily="2" charset="-122"/>
              </a:rPr>
              <a:t>Students need to question their professors and to have their ideas taken seriously. Only then will they develop the analytical skills required to think intelligently and creatively. Most students learn best by engaging in frequent and even heated debate, not by scribbling down a professor’s often unsatisfactory summary of complicated issues. They need small discussion classes that demand the common labors of teacher and students rather than classes in which one person, however, learned, propounds his or her own ideas.  </a:t>
            </a:r>
            <a:r>
              <a:rPr lang="en-US" altLang="zh-CN" sz="2000">
                <a:solidFill>
                  <a:srgbClr val="000000"/>
                </a:solidFill>
                <a:latin typeface="Times New Roman" panose="02020603050405020304" pitchFamily="18" charset="0"/>
                <a:ea typeface="宋体" panose="02010600030101010101" pitchFamily="2" charset="-122"/>
              </a:rPr>
              <a:t>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32779" name="文本框 363534"/>
          <p:cNvSpPr txBox="1"/>
          <p:nvPr/>
        </p:nvSpPr>
        <p:spPr>
          <a:xfrm>
            <a:off x="2228850" y="1722438"/>
            <a:ext cx="373380" cy="398780"/>
          </a:xfrm>
          <a:prstGeom prst="rect">
            <a:avLst/>
          </a:prstGeom>
          <a:noFill/>
          <a:ln w="9525">
            <a:noFill/>
          </a:ln>
        </p:spPr>
        <p:txBody>
          <a:bodyPr wrap="none" anchor="t">
            <a:spAutoFit/>
          </a:bodyPr>
          <a:p>
            <a:r>
              <a:rPr lang="en-US" altLang="zh-CN" sz="2000">
                <a:latin typeface="Times New Roman" panose="02020603050405020304" pitchFamily="18" charset="0"/>
                <a:ea typeface="宋体" panose="02010600030101010101" pitchFamily="2" charset="-122"/>
              </a:rPr>
              <a:t>6.</a:t>
            </a:r>
            <a:endParaRPr lang="en-US" altLang="zh-CN" sz="2000">
              <a:latin typeface="Times New Roman" panose="02020603050405020304" pitchFamily="18" charset="0"/>
              <a:ea typeface="宋体" panose="02010600030101010101" pitchFamily="2" charset="-122"/>
            </a:endParaRPr>
          </a:p>
        </p:txBody>
      </p:sp>
      <p:pic>
        <p:nvPicPr>
          <p:cNvPr id="32780" name="图片 363537" descr="next">
            <a:hlinkClick r:id="" action="ppaction://noaction"/>
          </p:cNvPr>
          <p:cNvPicPr>
            <a:picLocks noChangeAspect="1"/>
          </p:cNvPicPr>
          <p:nvPr/>
        </p:nvPicPr>
        <p:blipFill>
          <a:blip r:embed="rId3"/>
          <a:stretch>
            <a:fillRect/>
          </a:stretch>
        </p:blipFill>
        <p:spPr>
          <a:xfrm>
            <a:off x="9661525" y="6280150"/>
            <a:ext cx="695325" cy="280988"/>
          </a:xfrm>
          <a:prstGeom prst="rect">
            <a:avLst/>
          </a:prstGeom>
          <a:noFill/>
          <a:ln w="9525">
            <a:noFill/>
          </a:ln>
        </p:spPr>
      </p:pic>
      <p:sp>
        <p:nvSpPr>
          <p:cNvPr id="32781" name="文本框 363540">
            <a:hlinkClick r:id="" action="ppaction://noaction"/>
          </p:cNvPr>
          <p:cNvSpPr txBox="1"/>
          <p:nvPr/>
        </p:nvSpPr>
        <p:spPr>
          <a:xfrm>
            <a:off x="2638425" y="2171700"/>
            <a:ext cx="72199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2782" name="文本框 363541">
            <a:hlinkClick r:id="" action="ppaction://noaction"/>
          </p:cNvPr>
          <p:cNvSpPr txBox="1"/>
          <p:nvPr/>
        </p:nvSpPr>
        <p:spPr>
          <a:xfrm>
            <a:off x="2647950" y="2543175"/>
            <a:ext cx="72199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2783" name="文本框 363542">
            <a:hlinkClick r:id="" action="ppaction://noaction"/>
          </p:cNvPr>
          <p:cNvSpPr txBox="1"/>
          <p:nvPr/>
        </p:nvSpPr>
        <p:spPr>
          <a:xfrm>
            <a:off x="2695575" y="2943225"/>
            <a:ext cx="72199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2784" name="文本框 363543">
            <a:hlinkClick r:id="" action="ppaction://noaction"/>
          </p:cNvPr>
          <p:cNvSpPr txBox="1"/>
          <p:nvPr/>
        </p:nvSpPr>
        <p:spPr>
          <a:xfrm>
            <a:off x="2695575" y="3324225"/>
            <a:ext cx="72199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2785" name="文本框 363544">
            <a:hlinkClick r:id="" action="ppaction://noaction"/>
          </p:cNvPr>
          <p:cNvSpPr txBox="1"/>
          <p:nvPr/>
        </p:nvSpPr>
        <p:spPr>
          <a:xfrm>
            <a:off x="2695575" y="3705225"/>
            <a:ext cx="72199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2786" name="文本框 363545">
            <a:hlinkClick r:id="" action="ppaction://noaction"/>
          </p:cNvPr>
          <p:cNvSpPr txBox="1"/>
          <p:nvPr/>
        </p:nvSpPr>
        <p:spPr>
          <a:xfrm>
            <a:off x="2695575" y="4200525"/>
            <a:ext cx="72199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2787" name="文本框 363546">
            <a:hlinkClick r:id="" action="ppaction://noaction"/>
          </p:cNvPr>
          <p:cNvSpPr txBox="1"/>
          <p:nvPr/>
        </p:nvSpPr>
        <p:spPr>
          <a:xfrm>
            <a:off x="2638425" y="4562475"/>
            <a:ext cx="32956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2788" name="矩形 363547">
            <a:hlinkClick r:id="rId4" action="ppaction://hlinksldjump"/>
          </p:cNvPr>
          <p:cNvSpPr/>
          <p:nvPr/>
        </p:nvSpPr>
        <p:spPr>
          <a:xfrm>
            <a:off x="4129088" y="781050"/>
            <a:ext cx="2136775" cy="291465"/>
          </a:xfrm>
          <a:prstGeom prst="rect">
            <a:avLst/>
          </a:prstGeom>
          <a:noFill/>
          <a:ln w="9525">
            <a:noFill/>
          </a:ln>
        </p:spPr>
        <p:txBody>
          <a:bodyPr anchor="t">
            <a:spAutoFit/>
          </a:bodyPr>
          <a:p>
            <a:r>
              <a:rPr lang="en-US" altLang="zh-CN" sz="1300" b="1">
                <a:solidFill>
                  <a:srgbClr val="FFFF66"/>
                </a:solidFill>
                <a:latin typeface="Times New Roman" panose="02020603050405020304" pitchFamily="18" charset="0"/>
                <a:ea typeface="宋体" panose="02010600030101010101" pitchFamily="2" charset="-122"/>
              </a:rPr>
              <a:t>Preparing for your writing</a:t>
            </a:r>
            <a:endParaRPr lang="en-US" altLang="zh-CN" sz="1300" b="1">
              <a:solidFill>
                <a:srgbClr val="FFFF66"/>
              </a:solidFill>
              <a:latin typeface="Times New Roman" panose="02020603050405020304" pitchFamily="18" charset="0"/>
              <a:ea typeface="宋体" panose="02010600030101010101" pitchFamily="2" charset="-122"/>
            </a:endParaRPr>
          </a:p>
        </p:txBody>
      </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422913"/>
          <p:cNvSpPr>
            <a:spLocks noGrp="1"/>
          </p:cNvSpPr>
          <p:nvPr>
            <p:ph type="ctrTitle"/>
          </p:nvPr>
        </p:nvSpPr>
        <p:spPr>
          <a:xfrm>
            <a:off x="2209800" y="-581025"/>
            <a:ext cx="7772400" cy="581025"/>
          </a:xfrm>
          <a:noFill/>
          <a:ln>
            <a:noFill/>
          </a:ln>
        </p:spPr>
        <p:txBody>
          <a:bodyPr anchor="t"/>
          <a:p>
            <a:pPr defTabSz="914400">
              <a:buClrTx/>
              <a:buSzTx/>
              <a:buFontTx/>
            </a:pPr>
            <a:r>
              <a:rPr lang="en-US" altLang="zh-CN" sz="2000" kern="1200" baseline="0">
                <a:latin typeface="+mj-lt"/>
                <a:ea typeface="+mj-ea"/>
                <a:cs typeface="+mj-cs"/>
              </a:rPr>
              <a:t>Task 2_Sample A_7</a:t>
            </a:r>
            <a:endParaRPr lang="en-US" altLang="zh-CN" sz="2000" kern="1200" baseline="0">
              <a:latin typeface="+mj-lt"/>
              <a:ea typeface="+mj-ea"/>
              <a:cs typeface="+mj-cs"/>
            </a:endParaRPr>
          </a:p>
        </p:txBody>
      </p:sp>
      <p:pic>
        <p:nvPicPr>
          <p:cNvPr id="34818" name="图片 422914" descr="button副本"/>
          <p:cNvPicPr>
            <a:picLocks noChangeAspect="1"/>
          </p:cNvPicPr>
          <p:nvPr/>
        </p:nvPicPr>
        <p:blipFill>
          <a:blip r:embed="rId1"/>
          <a:stretch>
            <a:fillRect/>
          </a:stretch>
        </p:blipFill>
        <p:spPr>
          <a:xfrm>
            <a:off x="2035175" y="695325"/>
            <a:ext cx="2038350" cy="501650"/>
          </a:xfrm>
          <a:prstGeom prst="rect">
            <a:avLst/>
          </a:prstGeom>
          <a:noFill/>
          <a:ln w="9525">
            <a:noFill/>
          </a:ln>
        </p:spPr>
      </p:pic>
      <p:pic>
        <p:nvPicPr>
          <p:cNvPr id="34819" name="图片 422915" descr="button副本"/>
          <p:cNvPicPr>
            <a:picLocks noChangeAspect="1"/>
          </p:cNvPicPr>
          <p:nvPr/>
        </p:nvPicPr>
        <p:blipFill>
          <a:blip r:embed="rId1"/>
          <a:stretch>
            <a:fillRect/>
          </a:stretch>
        </p:blipFill>
        <p:spPr>
          <a:xfrm>
            <a:off x="4143375" y="695325"/>
            <a:ext cx="2038350" cy="501650"/>
          </a:xfrm>
          <a:prstGeom prst="rect">
            <a:avLst/>
          </a:prstGeom>
          <a:noFill/>
          <a:ln w="9525">
            <a:noFill/>
          </a:ln>
        </p:spPr>
      </p:pic>
      <p:pic>
        <p:nvPicPr>
          <p:cNvPr id="34820" name="图片 422916" descr="button副本"/>
          <p:cNvPicPr>
            <a:picLocks noChangeAspect="1"/>
          </p:cNvPicPr>
          <p:nvPr/>
        </p:nvPicPr>
        <p:blipFill>
          <a:blip r:embed="rId1"/>
          <a:stretch>
            <a:fillRect/>
          </a:stretch>
        </p:blipFill>
        <p:spPr>
          <a:xfrm>
            <a:off x="6251575" y="695325"/>
            <a:ext cx="2038350" cy="501650"/>
          </a:xfrm>
          <a:prstGeom prst="rect">
            <a:avLst/>
          </a:prstGeom>
          <a:noFill/>
          <a:ln w="9525">
            <a:noFill/>
          </a:ln>
        </p:spPr>
      </p:pic>
      <p:pic>
        <p:nvPicPr>
          <p:cNvPr id="34821" name="图片 422917" descr="button副本"/>
          <p:cNvPicPr>
            <a:picLocks noChangeAspect="1"/>
          </p:cNvPicPr>
          <p:nvPr/>
        </p:nvPicPr>
        <p:blipFill>
          <a:blip r:embed="rId1"/>
          <a:stretch>
            <a:fillRect/>
          </a:stretch>
        </p:blipFill>
        <p:spPr>
          <a:xfrm>
            <a:off x="8359775" y="695325"/>
            <a:ext cx="2038350" cy="501650"/>
          </a:xfrm>
          <a:prstGeom prst="rect">
            <a:avLst/>
          </a:prstGeom>
          <a:noFill/>
          <a:ln w="9525">
            <a:noFill/>
          </a:ln>
        </p:spPr>
      </p:pic>
      <p:sp>
        <p:nvSpPr>
          <p:cNvPr id="34822" name="矩形 422919">
            <a:hlinkClick r:id="" action="ppaction://noaction"/>
          </p:cNvPr>
          <p:cNvSpPr/>
          <p:nvPr/>
        </p:nvSpPr>
        <p:spPr>
          <a:xfrm>
            <a:off x="6408738" y="781050"/>
            <a:ext cx="1800225"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Writing and revising</a:t>
            </a:r>
            <a:endParaRPr lang="en-US" altLang="zh-CN" sz="1300" b="1">
              <a:latin typeface="Times New Roman" panose="02020603050405020304" pitchFamily="18" charset="0"/>
              <a:ea typeface="宋体" panose="02010600030101010101" pitchFamily="2" charset="-122"/>
            </a:endParaRPr>
          </a:p>
        </p:txBody>
      </p:sp>
      <p:sp>
        <p:nvSpPr>
          <p:cNvPr id="34823" name="矩形 422920">
            <a:hlinkClick r:id="" action="ppaction://noaction"/>
          </p:cNvPr>
          <p:cNvSpPr/>
          <p:nvPr/>
        </p:nvSpPr>
        <p:spPr>
          <a:xfrm>
            <a:off x="8609013" y="781050"/>
            <a:ext cx="1574800" cy="291465"/>
          </a:xfrm>
          <a:prstGeom prst="rect">
            <a:avLst/>
          </a:prstGeom>
          <a:noFill/>
          <a:ln w="9525">
            <a:noFill/>
          </a:ln>
        </p:spPr>
        <p:txBody>
          <a:bodyPr anchor="t">
            <a:spAutoFit/>
          </a:bodyPr>
          <a:p>
            <a:r>
              <a:rPr lang="en-US" altLang="en-US" sz="1300" b="1">
                <a:latin typeface="Times New Roman" panose="02020603050405020304" pitchFamily="18" charset="0"/>
                <a:ea typeface="宋体" panose="02010600030101010101" pitchFamily="2" charset="-122"/>
              </a:rPr>
              <a:t>Additional reading</a:t>
            </a:r>
            <a:endParaRPr lang="en-US" altLang="en-US" sz="1300" b="1">
              <a:latin typeface="Times New Roman" panose="02020603050405020304" pitchFamily="18" charset="0"/>
              <a:ea typeface="宋体" panose="02010600030101010101" pitchFamily="2" charset="-122"/>
            </a:endParaRPr>
          </a:p>
        </p:txBody>
      </p:sp>
      <p:sp>
        <p:nvSpPr>
          <p:cNvPr id="34824" name="矩形 422921"/>
          <p:cNvSpPr/>
          <p:nvPr/>
        </p:nvSpPr>
        <p:spPr>
          <a:xfrm>
            <a:off x="2162175" y="781050"/>
            <a:ext cx="1784350"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Warming-up activities</a:t>
            </a:r>
            <a:endParaRPr lang="en-US" altLang="zh-CN" sz="1300" b="1">
              <a:latin typeface="Times New Roman" panose="02020603050405020304" pitchFamily="18" charset="0"/>
              <a:ea typeface="宋体" panose="02010600030101010101" pitchFamily="2" charset="-122"/>
            </a:endParaRPr>
          </a:p>
        </p:txBody>
      </p:sp>
      <p:pic>
        <p:nvPicPr>
          <p:cNvPr id="34825" name="图片 422922" descr="prev">
            <a:hlinkClick r:id="" action="ppaction://noaction"/>
          </p:cNvPr>
          <p:cNvPicPr>
            <a:picLocks noChangeAspect="1"/>
          </p:cNvPicPr>
          <p:nvPr/>
        </p:nvPicPr>
        <p:blipFill>
          <a:blip r:embed="rId2"/>
          <a:stretch>
            <a:fillRect/>
          </a:stretch>
        </p:blipFill>
        <p:spPr>
          <a:xfrm>
            <a:off x="8975725" y="6280150"/>
            <a:ext cx="695325" cy="280988"/>
          </a:xfrm>
          <a:prstGeom prst="rect">
            <a:avLst/>
          </a:prstGeom>
          <a:noFill/>
          <a:ln w="9525">
            <a:noFill/>
          </a:ln>
        </p:spPr>
      </p:pic>
      <p:sp>
        <p:nvSpPr>
          <p:cNvPr id="34826" name="文本框 422924"/>
          <p:cNvSpPr txBox="1"/>
          <p:nvPr/>
        </p:nvSpPr>
        <p:spPr>
          <a:xfrm>
            <a:off x="2533650" y="1817688"/>
            <a:ext cx="7610475" cy="3692525"/>
          </a:xfrm>
          <a:prstGeom prst="rect">
            <a:avLst/>
          </a:prstGeom>
          <a:noFill/>
          <a:ln w="9525">
            <a:noFill/>
          </a:ln>
        </p:spPr>
        <p:txBody>
          <a:bodyPr anchor="t">
            <a:spAutoFit/>
          </a:bodyPr>
          <a:p>
            <a:pPr algn="just">
              <a:lnSpc>
                <a:spcPct val="130000"/>
              </a:lnSpc>
            </a:pPr>
            <a:r>
              <a:rPr lang="en-US" altLang="zh-CN" sz="2000" dirty="0">
                <a:solidFill>
                  <a:schemeClr val="tx1"/>
                </a:solidFill>
                <a:latin typeface="Times New Roman" panose="02020603050405020304" pitchFamily="18" charset="0"/>
                <a:ea typeface="宋体" panose="02010600030101010101" pitchFamily="2" charset="-122"/>
              </a:rPr>
              <a:t>       </a:t>
            </a:r>
            <a:r>
              <a:rPr lang="en-US" altLang="zh-CN" sz="2000">
                <a:solidFill>
                  <a:schemeClr val="tx1"/>
                </a:solidFill>
                <a:latin typeface="Times New Roman" panose="02020603050405020304" pitchFamily="18" charset="0"/>
                <a:ea typeface="宋体" panose="02010600030101010101" pitchFamily="2" charset="-122"/>
              </a:rPr>
              <a:t>The lecture system ultimately harms professors as well. It reduces feedback to a minimum, so that the lecturer can neither judge how well students understand the material nor benefit from their questions or comments. Questions that require the speaker to clarify obscure points</a:t>
            </a:r>
            <a:endParaRPr lang="en-US" altLang="zh-CN" sz="2000">
              <a:solidFill>
                <a:schemeClr val="tx1"/>
              </a:solidFill>
              <a:latin typeface="Times New Roman" panose="02020603050405020304" pitchFamily="18" charset="0"/>
              <a:ea typeface="宋体" panose="02010600030101010101" pitchFamily="2" charset="-122"/>
            </a:endParaRPr>
          </a:p>
          <a:p>
            <a:pPr algn="just">
              <a:lnSpc>
                <a:spcPct val="130000"/>
              </a:lnSpc>
            </a:pPr>
            <a:r>
              <a:rPr lang="en-US" altLang="zh-CN" sz="2000">
                <a:solidFill>
                  <a:schemeClr val="tx1"/>
                </a:solidFill>
                <a:latin typeface="Times New Roman" panose="02020603050405020304" pitchFamily="18" charset="0"/>
                <a:ea typeface="宋体" panose="02010600030101010101" pitchFamily="2" charset="-122"/>
              </a:rPr>
              <a:t>and comments that challenge sloppily constructed arguments are indispensable to scholarship. Without them, the liveliest mind can atrophy. Undergraduates may not be able to make telling contributions very often, but lecturing insulates a professor even from the beginner’s naive question that could have triggered a fruitful line of thought</a:t>
            </a:r>
            <a:r>
              <a:rPr lang="en-US" altLang="zh-CN" sz="2000" u="sng">
                <a:solidFill>
                  <a:schemeClr val="hlink"/>
                </a:solidFill>
                <a:latin typeface="Times New Roman" panose="02020603050405020304" pitchFamily="18" charset="0"/>
                <a:ea typeface="宋体" panose="02010600030101010101" pitchFamily="2" charset="-122"/>
              </a:rPr>
              <a:t>.    </a:t>
            </a:r>
            <a:endParaRPr lang="en-US" altLang="zh-CN" sz="2000" u="sng">
              <a:solidFill>
                <a:schemeClr val="hlink"/>
              </a:solidFill>
              <a:latin typeface="Times New Roman" panose="02020603050405020304" pitchFamily="18" charset="0"/>
              <a:ea typeface="Times New Roman" panose="02020603050405020304" pitchFamily="18" charset="0"/>
            </a:endParaRPr>
          </a:p>
        </p:txBody>
      </p:sp>
      <p:pic>
        <p:nvPicPr>
          <p:cNvPr id="34827" name="图片 422927" descr="next">
            <a:hlinkClick r:id="" action="ppaction://noaction"/>
          </p:cNvPr>
          <p:cNvPicPr>
            <a:picLocks noChangeAspect="1"/>
          </p:cNvPicPr>
          <p:nvPr/>
        </p:nvPicPr>
        <p:blipFill>
          <a:blip r:embed="rId3"/>
          <a:stretch>
            <a:fillRect/>
          </a:stretch>
        </p:blipFill>
        <p:spPr>
          <a:xfrm>
            <a:off x="9661525" y="6280150"/>
            <a:ext cx="695325" cy="280988"/>
          </a:xfrm>
          <a:prstGeom prst="rect">
            <a:avLst/>
          </a:prstGeom>
          <a:noFill/>
          <a:ln w="9525">
            <a:noFill/>
          </a:ln>
        </p:spPr>
      </p:pic>
      <p:sp>
        <p:nvSpPr>
          <p:cNvPr id="34828" name="文本框 422928"/>
          <p:cNvSpPr txBox="1"/>
          <p:nvPr/>
        </p:nvSpPr>
        <p:spPr>
          <a:xfrm>
            <a:off x="2190750" y="1905000"/>
            <a:ext cx="438150" cy="398780"/>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7.</a:t>
            </a:r>
            <a:endParaRPr lang="en-US" altLang="zh-CN" sz="2000">
              <a:latin typeface="Times New Roman" panose="02020603050405020304" pitchFamily="18" charset="0"/>
              <a:ea typeface="宋体" panose="02010600030101010101" pitchFamily="2" charset="-122"/>
            </a:endParaRPr>
          </a:p>
        </p:txBody>
      </p:sp>
      <p:sp>
        <p:nvSpPr>
          <p:cNvPr id="34829" name="文本框 422930">
            <a:hlinkClick r:id="" action="ppaction://noaction"/>
          </p:cNvPr>
          <p:cNvSpPr txBox="1"/>
          <p:nvPr/>
        </p:nvSpPr>
        <p:spPr>
          <a:xfrm>
            <a:off x="3000375" y="1876425"/>
            <a:ext cx="491490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0" name="文本框 422931">
            <a:hlinkClick r:id="" action="ppaction://noaction"/>
          </p:cNvPr>
          <p:cNvSpPr txBox="1"/>
          <p:nvPr/>
        </p:nvSpPr>
        <p:spPr>
          <a:xfrm>
            <a:off x="9029700" y="1905000"/>
            <a:ext cx="10953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1" name="文本框 422932">
            <a:hlinkClick r:id="" action="ppaction://noaction"/>
          </p:cNvPr>
          <p:cNvSpPr txBox="1"/>
          <p:nvPr/>
        </p:nvSpPr>
        <p:spPr>
          <a:xfrm>
            <a:off x="2647950" y="2324100"/>
            <a:ext cx="728662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2" name="文本框 422933">
            <a:hlinkClick r:id="" action="ppaction://noaction"/>
          </p:cNvPr>
          <p:cNvSpPr txBox="1"/>
          <p:nvPr/>
        </p:nvSpPr>
        <p:spPr>
          <a:xfrm>
            <a:off x="2667000" y="2733675"/>
            <a:ext cx="728662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3" name="文本框 422934">
            <a:hlinkClick r:id="" action="ppaction://noaction"/>
          </p:cNvPr>
          <p:cNvSpPr txBox="1"/>
          <p:nvPr/>
        </p:nvSpPr>
        <p:spPr>
          <a:xfrm>
            <a:off x="2600325" y="3143250"/>
            <a:ext cx="728662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4" name="文本框 422935">
            <a:hlinkClick r:id="" action="ppaction://noaction"/>
          </p:cNvPr>
          <p:cNvSpPr txBox="1"/>
          <p:nvPr/>
        </p:nvSpPr>
        <p:spPr>
          <a:xfrm>
            <a:off x="2638425" y="3543300"/>
            <a:ext cx="728662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5" name="文本框 422936">
            <a:hlinkClick r:id="" action="ppaction://noaction"/>
          </p:cNvPr>
          <p:cNvSpPr txBox="1"/>
          <p:nvPr/>
        </p:nvSpPr>
        <p:spPr>
          <a:xfrm>
            <a:off x="2676525" y="3905250"/>
            <a:ext cx="728662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6" name="文本框 422937">
            <a:hlinkClick r:id="" action="ppaction://noaction"/>
          </p:cNvPr>
          <p:cNvSpPr txBox="1"/>
          <p:nvPr/>
        </p:nvSpPr>
        <p:spPr>
          <a:xfrm>
            <a:off x="2724150" y="4333875"/>
            <a:ext cx="728662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7" name="文本框 422938">
            <a:hlinkClick r:id="" action="ppaction://noaction"/>
          </p:cNvPr>
          <p:cNvSpPr txBox="1"/>
          <p:nvPr/>
        </p:nvSpPr>
        <p:spPr>
          <a:xfrm>
            <a:off x="2667000" y="4762500"/>
            <a:ext cx="728662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8" name="文本框 422939">
            <a:hlinkClick r:id="" action="ppaction://noaction"/>
          </p:cNvPr>
          <p:cNvSpPr txBox="1"/>
          <p:nvPr/>
        </p:nvSpPr>
        <p:spPr>
          <a:xfrm>
            <a:off x="2600325" y="5172075"/>
            <a:ext cx="6534150"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34839" name="矩形 422940">
            <a:hlinkClick r:id="rId4" action="ppaction://hlinksldjump"/>
          </p:cNvPr>
          <p:cNvSpPr/>
          <p:nvPr/>
        </p:nvSpPr>
        <p:spPr>
          <a:xfrm>
            <a:off x="4129088" y="781050"/>
            <a:ext cx="2136775" cy="291465"/>
          </a:xfrm>
          <a:prstGeom prst="rect">
            <a:avLst/>
          </a:prstGeom>
          <a:noFill/>
          <a:ln w="9525">
            <a:noFill/>
          </a:ln>
        </p:spPr>
        <p:txBody>
          <a:bodyPr anchor="t">
            <a:spAutoFit/>
          </a:bodyPr>
          <a:p>
            <a:r>
              <a:rPr lang="en-US" altLang="zh-CN" sz="1300" b="1">
                <a:solidFill>
                  <a:srgbClr val="FFFF66"/>
                </a:solidFill>
                <a:latin typeface="Times New Roman" panose="02020603050405020304" pitchFamily="18" charset="0"/>
                <a:ea typeface="宋体" panose="02010600030101010101" pitchFamily="2" charset="-122"/>
              </a:rPr>
              <a:t>Preparing for your writing</a:t>
            </a:r>
            <a:endParaRPr lang="en-US" altLang="zh-CN" sz="1300" b="1">
              <a:solidFill>
                <a:srgbClr val="FFFF66"/>
              </a:solidFill>
              <a:latin typeface="Times New Roman" panose="02020603050405020304" pitchFamily="18" charset="0"/>
              <a:ea typeface="宋体" panose="02010600030101010101" pitchFamily="2" charset="-122"/>
            </a:endParaRPr>
          </a:p>
        </p:txBody>
      </p:sp>
      <p:sp>
        <p:nvSpPr>
          <p:cNvPr id="34840" name="文本框 422941">
            <a:hlinkClick r:id="" action="ppaction://noaction"/>
          </p:cNvPr>
          <p:cNvSpPr txBox="1"/>
          <p:nvPr/>
        </p:nvSpPr>
        <p:spPr>
          <a:xfrm>
            <a:off x="8067675" y="1943100"/>
            <a:ext cx="8667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424961"/>
          <p:cNvSpPr>
            <a:spLocks noGrp="1"/>
          </p:cNvSpPr>
          <p:nvPr>
            <p:ph type="ctrTitle"/>
          </p:nvPr>
        </p:nvSpPr>
        <p:spPr>
          <a:xfrm>
            <a:off x="2209800" y="-581025"/>
            <a:ext cx="7772400" cy="581025"/>
          </a:xfrm>
          <a:noFill/>
          <a:ln>
            <a:noFill/>
          </a:ln>
        </p:spPr>
        <p:txBody>
          <a:bodyPr anchor="t"/>
          <a:p>
            <a:pPr defTabSz="914400">
              <a:buClrTx/>
              <a:buSzTx/>
              <a:buFontTx/>
            </a:pPr>
            <a:r>
              <a:rPr lang="en-US" altLang="zh-CN" sz="2000" kern="1200" baseline="0">
                <a:latin typeface="+mj-lt"/>
                <a:ea typeface="+mj-ea"/>
                <a:cs typeface="+mj-cs"/>
              </a:rPr>
              <a:t>Task 2_Sample A_8</a:t>
            </a:r>
            <a:endParaRPr lang="en-US" altLang="zh-CN" sz="2000" kern="1200" baseline="0">
              <a:latin typeface="+mj-lt"/>
              <a:ea typeface="+mj-ea"/>
              <a:cs typeface="+mj-cs"/>
            </a:endParaRPr>
          </a:p>
        </p:txBody>
      </p:sp>
      <p:pic>
        <p:nvPicPr>
          <p:cNvPr id="36866" name="图片 424962" descr="button副本"/>
          <p:cNvPicPr>
            <a:picLocks noChangeAspect="1"/>
          </p:cNvPicPr>
          <p:nvPr/>
        </p:nvPicPr>
        <p:blipFill>
          <a:blip r:embed="rId1"/>
          <a:stretch>
            <a:fillRect/>
          </a:stretch>
        </p:blipFill>
        <p:spPr>
          <a:xfrm>
            <a:off x="2035175" y="695325"/>
            <a:ext cx="2038350" cy="501650"/>
          </a:xfrm>
          <a:prstGeom prst="rect">
            <a:avLst/>
          </a:prstGeom>
          <a:noFill/>
          <a:ln w="9525">
            <a:noFill/>
          </a:ln>
        </p:spPr>
      </p:pic>
      <p:pic>
        <p:nvPicPr>
          <p:cNvPr id="36867" name="图片 424963" descr="button副本"/>
          <p:cNvPicPr>
            <a:picLocks noChangeAspect="1"/>
          </p:cNvPicPr>
          <p:nvPr/>
        </p:nvPicPr>
        <p:blipFill>
          <a:blip r:embed="rId1"/>
          <a:stretch>
            <a:fillRect/>
          </a:stretch>
        </p:blipFill>
        <p:spPr>
          <a:xfrm>
            <a:off x="4143375" y="695325"/>
            <a:ext cx="2038350" cy="501650"/>
          </a:xfrm>
          <a:prstGeom prst="rect">
            <a:avLst/>
          </a:prstGeom>
          <a:noFill/>
          <a:ln w="9525">
            <a:noFill/>
          </a:ln>
        </p:spPr>
      </p:pic>
      <p:pic>
        <p:nvPicPr>
          <p:cNvPr id="36868" name="图片 424964" descr="button副本"/>
          <p:cNvPicPr>
            <a:picLocks noChangeAspect="1"/>
          </p:cNvPicPr>
          <p:nvPr/>
        </p:nvPicPr>
        <p:blipFill>
          <a:blip r:embed="rId1"/>
          <a:stretch>
            <a:fillRect/>
          </a:stretch>
        </p:blipFill>
        <p:spPr>
          <a:xfrm>
            <a:off x="6251575" y="695325"/>
            <a:ext cx="2038350" cy="501650"/>
          </a:xfrm>
          <a:prstGeom prst="rect">
            <a:avLst/>
          </a:prstGeom>
          <a:noFill/>
          <a:ln w="9525">
            <a:noFill/>
          </a:ln>
        </p:spPr>
      </p:pic>
      <p:pic>
        <p:nvPicPr>
          <p:cNvPr id="36869" name="图片 424965" descr="button副本"/>
          <p:cNvPicPr>
            <a:picLocks noChangeAspect="1"/>
          </p:cNvPicPr>
          <p:nvPr/>
        </p:nvPicPr>
        <p:blipFill>
          <a:blip r:embed="rId1"/>
          <a:stretch>
            <a:fillRect/>
          </a:stretch>
        </p:blipFill>
        <p:spPr>
          <a:xfrm>
            <a:off x="8359775" y="695325"/>
            <a:ext cx="2038350" cy="501650"/>
          </a:xfrm>
          <a:prstGeom prst="rect">
            <a:avLst/>
          </a:prstGeom>
          <a:noFill/>
          <a:ln w="9525">
            <a:noFill/>
          </a:ln>
        </p:spPr>
      </p:pic>
      <p:sp>
        <p:nvSpPr>
          <p:cNvPr id="36870" name="矩形 424967">
            <a:hlinkClick r:id="" action="ppaction://noaction"/>
          </p:cNvPr>
          <p:cNvSpPr/>
          <p:nvPr/>
        </p:nvSpPr>
        <p:spPr>
          <a:xfrm>
            <a:off x="6408738" y="781050"/>
            <a:ext cx="1800225"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Writing and revising</a:t>
            </a:r>
            <a:endParaRPr lang="en-US" altLang="zh-CN" sz="1300" b="1">
              <a:latin typeface="Times New Roman" panose="02020603050405020304" pitchFamily="18" charset="0"/>
              <a:ea typeface="宋体" panose="02010600030101010101" pitchFamily="2" charset="-122"/>
            </a:endParaRPr>
          </a:p>
        </p:txBody>
      </p:sp>
      <p:sp>
        <p:nvSpPr>
          <p:cNvPr id="36871" name="矩形 424968">
            <a:hlinkClick r:id="" action="ppaction://noaction"/>
          </p:cNvPr>
          <p:cNvSpPr/>
          <p:nvPr/>
        </p:nvSpPr>
        <p:spPr>
          <a:xfrm>
            <a:off x="8609013" y="781050"/>
            <a:ext cx="1574800" cy="291465"/>
          </a:xfrm>
          <a:prstGeom prst="rect">
            <a:avLst/>
          </a:prstGeom>
          <a:noFill/>
          <a:ln w="9525">
            <a:noFill/>
          </a:ln>
        </p:spPr>
        <p:txBody>
          <a:bodyPr anchor="t">
            <a:spAutoFit/>
          </a:bodyPr>
          <a:p>
            <a:r>
              <a:rPr lang="en-US" altLang="en-US" sz="1300" b="1">
                <a:latin typeface="Times New Roman" panose="02020603050405020304" pitchFamily="18" charset="0"/>
                <a:ea typeface="宋体" panose="02010600030101010101" pitchFamily="2" charset="-122"/>
              </a:rPr>
              <a:t>Additional reading</a:t>
            </a:r>
            <a:endParaRPr lang="en-US" altLang="en-US" sz="1300" b="1">
              <a:latin typeface="Times New Roman" panose="02020603050405020304" pitchFamily="18" charset="0"/>
              <a:ea typeface="宋体" panose="02010600030101010101" pitchFamily="2" charset="-122"/>
            </a:endParaRPr>
          </a:p>
        </p:txBody>
      </p:sp>
      <p:sp>
        <p:nvSpPr>
          <p:cNvPr id="36872" name="矩形 424969"/>
          <p:cNvSpPr/>
          <p:nvPr/>
        </p:nvSpPr>
        <p:spPr>
          <a:xfrm>
            <a:off x="2162175" y="781050"/>
            <a:ext cx="1784350"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Warming-up activities</a:t>
            </a:r>
            <a:endParaRPr lang="en-US" altLang="zh-CN" sz="1300" b="1">
              <a:latin typeface="Times New Roman" panose="02020603050405020304" pitchFamily="18" charset="0"/>
              <a:ea typeface="宋体" panose="02010600030101010101" pitchFamily="2" charset="-122"/>
            </a:endParaRPr>
          </a:p>
        </p:txBody>
      </p:sp>
      <p:pic>
        <p:nvPicPr>
          <p:cNvPr id="36873" name="图片 424970" descr="prev">
            <a:hlinkClick r:id="" action="ppaction://noaction"/>
          </p:cNvPr>
          <p:cNvPicPr>
            <a:picLocks noChangeAspect="1"/>
          </p:cNvPicPr>
          <p:nvPr/>
        </p:nvPicPr>
        <p:blipFill>
          <a:blip r:embed="rId2"/>
          <a:stretch>
            <a:fillRect/>
          </a:stretch>
        </p:blipFill>
        <p:spPr>
          <a:xfrm>
            <a:off x="8975725" y="6280150"/>
            <a:ext cx="695325" cy="280988"/>
          </a:xfrm>
          <a:prstGeom prst="rect">
            <a:avLst/>
          </a:prstGeom>
          <a:noFill/>
          <a:ln w="9525">
            <a:noFill/>
          </a:ln>
        </p:spPr>
      </p:pic>
      <p:sp>
        <p:nvSpPr>
          <p:cNvPr id="36874" name="文本框 424972"/>
          <p:cNvSpPr txBox="1"/>
          <p:nvPr/>
        </p:nvSpPr>
        <p:spPr>
          <a:xfrm>
            <a:off x="2514600" y="1390650"/>
            <a:ext cx="7610475" cy="4892675"/>
          </a:xfrm>
          <a:prstGeom prst="rect">
            <a:avLst/>
          </a:prstGeom>
          <a:noFill/>
          <a:ln w="9525">
            <a:noFill/>
          </a:ln>
        </p:spPr>
        <p:txBody>
          <a:bodyPr anchor="t">
            <a:spAutoFit/>
          </a:bodyPr>
          <a:p>
            <a:pPr algn="just">
              <a:lnSpc>
                <a:spcPct val="120000"/>
              </a:lnSpc>
            </a:pPr>
            <a:r>
              <a:rPr lang="en-US" altLang="zh-CN" sz="2000" dirty="0">
                <a:solidFill>
                  <a:srgbClr val="000000"/>
                </a:solidFill>
                <a:latin typeface="Times New Roman" panose="02020603050405020304" pitchFamily="18" charset="0"/>
                <a:ea typeface="宋体" panose="02010600030101010101" pitchFamily="2" charset="-122"/>
              </a:rPr>
              <a:t>       </a:t>
            </a:r>
            <a:r>
              <a:rPr lang="en-US" altLang="zh-CN" sz="2000">
                <a:solidFill>
                  <a:srgbClr val="000000"/>
                </a:solidFill>
                <a:latin typeface="Times New Roman" panose="02020603050405020304" pitchFamily="18" charset="0"/>
                <a:ea typeface="宋体" panose="02010600030101010101" pitchFamily="2" charset="-122"/>
              </a:rPr>
              <a:t>If lectures make so little sense, why have they been allowed to continue? Administrators love them, of course. They can cram far more students into a lecture hall than into a discussion class, and for many administrators that is almost the end of the story. But the truth is that faculty members, and even students, conspire with them to keep the lecture system alive and well. Lectures are easier on everyone than debates. Professors can pretend to teach by lecturing just as students can pretend to learn by attending lectures, with no one the wiser, including the participants. </a:t>
            </a:r>
            <a:r>
              <a:rPr lang="en-US" altLang="zh-CN" sz="2000">
                <a:solidFill>
                  <a:srgbClr val="000099"/>
                </a:solidFill>
                <a:latin typeface="Times New Roman" panose="02020603050405020304" pitchFamily="18" charset="0"/>
                <a:ea typeface="宋体" panose="02010600030101010101" pitchFamily="2" charset="-122"/>
              </a:rPr>
              <a:t>Moreover</a:t>
            </a:r>
            <a:r>
              <a:rPr lang="en-US" altLang="zh-CN" sz="2000">
                <a:solidFill>
                  <a:srgbClr val="000000"/>
                </a:solidFill>
                <a:latin typeface="Times New Roman" panose="02020603050405020304" pitchFamily="18" charset="0"/>
                <a:ea typeface="宋体" panose="02010600030101010101" pitchFamily="2" charset="-122"/>
              </a:rPr>
              <a:t>, if lectures afford some students an opportunity to sit back and let the professor run the show, they offer some professors an irresistible forum for showing off. In a classroom where everyone contributes, students are less able to hide and professors less tempted to engage in intellectual exhibitionism.    </a:t>
            </a:r>
            <a:endParaRPr lang="en-US" altLang="zh-CN" sz="2000">
              <a:solidFill>
                <a:srgbClr val="000000"/>
              </a:solidFill>
              <a:latin typeface="Times New Roman" panose="02020603050405020304" pitchFamily="18" charset="0"/>
              <a:ea typeface="Times New Roman" panose="02020603050405020304" pitchFamily="18" charset="0"/>
            </a:endParaRPr>
          </a:p>
        </p:txBody>
      </p:sp>
      <p:pic>
        <p:nvPicPr>
          <p:cNvPr id="36875" name="图片 424974" descr="next">
            <a:hlinkClick r:id="" action="ppaction://noaction"/>
          </p:cNvPr>
          <p:cNvPicPr>
            <a:picLocks noChangeAspect="1"/>
          </p:cNvPicPr>
          <p:nvPr/>
        </p:nvPicPr>
        <p:blipFill>
          <a:blip r:embed="rId3"/>
          <a:stretch>
            <a:fillRect/>
          </a:stretch>
        </p:blipFill>
        <p:spPr>
          <a:xfrm>
            <a:off x="9661525" y="6280150"/>
            <a:ext cx="695325" cy="280988"/>
          </a:xfrm>
          <a:prstGeom prst="rect">
            <a:avLst/>
          </a:prstGeom>
          <a:noFill/>
          <a:ln w="9525">
            <a:noFill/>
          </a:ln>
        </p:spPr>
      </p:pic>
      <p:sp>
        <p:nvSpPr>
          <p:cNvPr id="36876" name="文本框 424975">
            <a:hlinkClick r:id="" action="ppaction://noaction"/>
          </p:cNvPr>
          <p:cNvSpPr txBox="1"/>
          <p:nvPr/>
        </p:nvSpPr>
        <p:spPr>
          <a:xfrm>
            <a:off x="4514850" y="4438650"/>
            <a:ext cx="1028700" cy="245110"/>
          </a:xfrm>
          <a:prstGeom prst="rect">
            <a:avLst/>
          </a:prstGeom>
          <a:noFill/>
          <a:ln w="9525">
            <a:noFill/>
          </a:ln>
        </p:spPr>
        <p:txBody>
          <a:bodyPr anchor="t">
            <a:spAutoFit/>
          </a:bodyPr>
          <a:p>
            <a:pPr>
              <a:spcBef>
                <a:spcPct val="50000"/>
              </a:spcBef>
            </a:pPr>
            <a:endParaRPr lang="zh-CN" altLang="en-US" sz="1000" dirty="0">
              <a:latin typeface="Arial" panose="020B0604020202020204" pitchFamily="34" charset="0"/>
              <a:ea typeface="宋体" panose="02010600030101010101" pitchFamily="2" charset="-122"/>
            </a:endParaRPr>
          </a:p>
        </p:txBody>
      </p:sp>
      <p:sp>
        <p:nvSpPr>
          <p:cNvPr id="36877" name="文本框 424976"/>
          <p:cNvSpPr txBox="1"/>
          <p:nvPr/>
        </p:nvSpPr>
        <p:spPr>
          <a:xfrm>
            <a:off x="2228850" y="1419225"/>
            <a:ext cx="438150" cy="398780"/>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8.</a:t>
            </a:r>
            <a:endParaRPr lang="en-US" altLang="zh-CN" sz="2000">
              <a:latin typeface="Times New Roman" panose="02020603050405020304" pitchFamily="18" charset="0"/>
              <a:ea typeface="宋体" panose="02010600030101010101" pitchFamily="2" charset="-122"/>
            </a:endParaRPr>
          </a:p>
        </p:txBody>
      </p:sp>
      <p:sp>
        <p:nvSpPr>
          <p:cNvPr id="36878" name="矩形 424977">
            <a:hlinkClick r:id="rId4" action="ppaction://hlinksldjump"/>
          </p:cNvPr>
          <p:cNvSpPr/>
          <p:nvPr/>
        </p:nvSpPr>
        <p:spPr>
          <a:xfrm>
            <a:off x="4129088" y="781050"/>
            <a:ext cx="2136775" cy="291465"/>
          </a:xfrm>
          <a:prstGeom prst="rect">
            <a:avLst/>
          </a:prstGeom>
          <a:noFill/>
          <a:ln w="9525">
            <a:noFill/>
          </a:ln>
        </p:spPr>
        <p:txBody>
          <a:bodyPr anchor="t">
            <a:spAutoFit/>
          </a:bodyPr>
          <a:p>
            <a:r>
              <a:rPr lang="en-US" altLang="zh-CN" sz="1300" b="1">
                <a:solidFill>
                  <a:srgbClr val="FFFF66"/>
                </a:solidFill>
                <a:latin typeface="Times New Roman" panose="02020603050405020304" pitchFamily="18" charset="0"/>
                <a:ea typeface="宋体" panose="02010600030101010101" pitchFamily="2" charset="-122"/>
              </a:rPr>
              <a:t>Preparing for your writing</a:t>
            </a:r>
            <a:endParaRPr lang="en-US" altLang="zh-CN" sz="1300" b="1">
              <a:solidFill>
                <a:srgbClr val="FFFF66"/>
              </a:solidFill>
              <a:latin typeface="Times New Roman" panose="02020603050405020304" pitchFamily="18" charset="0"/>
              <a:ea typeface="宋体" panose="02010600030101010101" pitchFamily="2" charset="-122"/>
            </a:endParaRP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427009"/>
          <p:cNvSpPr>
            <a:spLocks noGrp="1"/>
          </p:cNvSpPr>
          <p:nvPr>
            <p:ph type="ctrTitle"/>
          </p:nvPr>
        </p:nvSpPr>
        <p:spPr>
          <a:xfrm>
            <a:off x="2209800" y="-581025"/>
            <a:ext cx="7772400" cy="581025"/>
          </a:xfrm>
          <a:noFill/>
          <a:ln>
            <a:noFill/>
          </a:ln>
        </p:spPr>
        <p:txBody>
          <a:bodyPr anchor="t"/>
          <a:p>
            <a:pPr defTabSz="914400">
              <a:buClrTx/>
              <a:buSzTx/>
              <a:buFontTx/>
            </a:pPr>
            <a:r>
              <a:rPr lang="en-US" altLang="zh-CN" sz="2000" kern="1200" baseline="0">
                <a:latin typeface="+mj-lt"/>
                <a:ea typeface="+mj-ea"/>
                <a:cs typeface="+mj-cs"/>
              </a:rPr>
              <a:t>Task 2_Sample A_9</a:t>
            </a:r>
            <a:endParaRPr lang="en-US" altLang="zh-CN" sz="2000" kern="1200" baseline="0">
              <a:latin typeface="+mj-lt"/>
              <a:ea typeface="+mj-ea"/>
              <a:cs typeface="+mj-cs"/>
            </a:endParaRPr>
          </a:p>
        </p:txBody>
      </p:sp>
      <p:pic>
        <p:nvPicPr>
          <p:cNvPr id="38914" name="图片 427010" descr="button副本"/>
          <p:cNvPicPr>
            <a:picLocks noChangeAspect="1"/>
          </p:cNvPicPr>
          <p:nvPr/>
        </p:nvPicPr>
        <p:blipFill>
          <a:blip r:embed="rId1"/>
          <a:stretch>
            <a:fillRect/>
          </a:stretch>
        </p:blipFill>
        <p:spPr>
          <a:xfrm>
            <a:off x="2035175" y="695325"/>
            <a:ext cx="2038350" cy="501650"/>
          </a:xfrm>
          <a:prstGeom prst="rect">
            <a:avLst/>
          </a:prstGeom>
          <a:noFill/>
          <a:ln w="9525">
            <a:noFill/>
          </a:ln>
        </p:spPr>
      </p:pic>
      <p:pic>
        <p:nvPicPr>
          <p:cNvPr id="38915" name="图片 427011" descr="button副本"/>
          <p:cNvPicPr>
            <a:picLocks noChangeAspect="1"/>
          </p:cNvPicPr>
          <p:nvPr/>
        </p:nvPicPr>
        <p:blipFill>
          <a:blip r:embed="rId1"/>
          <a:stretch>
            <a:fillRect/>
          </a:stretch>
        </p:blipFill>
        <p:spPr>
          <a:xfrm>
            <a:off x="4143375" y="695325"/>
            <a:ext cx="2038350" cy="501650"/>
          </a:xfrm>
          <a:prstGeom prst="rect">
            <a:avLst/>
          </a:prstGeom>
          <a:noFill/>
          <a:ln w="9525">
            <a:noFill/>
          </a:ln>
        </p:spPr>
      </p:pic>
      <p:pic>
        <p:nvPicPr>
          <p:cNvPr id="38916" name="图片 427012" descr="button副本"/>
          <p:cNvPicPr>
            <a:picLocks noChangeAspect="1"/>
          </p:cNvPicPr>
          <p:nvPr/>
        </p:nvPicPr>
        <p:blipFill>
          <a:blip r:embed="rId1"/>
          <a:stretch>
            <a:fillRect/>
          </a:stretch>
        </p:blipFill>
        <p:spPr>
          <a:xfrm>
            <a:off x="6251575" y="695325"/>
            <a:ext cx="2038350" cy="501650"/>
          </a:xfrm>
          <a:prstGeom prst="rect">
            <a:avLst/>
          </a:prstGeom>
          <a:noFill/>
          <a:ln w="9525">
            <a:noFill/>
          </a:ln>
        </p:spPr>
      </p:pic>
      <p:pic>
        <p:nvPicPr>
          <p:cNvPr id="38917" name="图片 427013" descr="button副本"/>
          <p:cNvPicPr>
            <a:picLocks noChangeAspect="1"/>
          </p:cNvPicPr>
          <p:nvPr/>
        </p:nvPicPr>
        <p:blipFill>
          <a:blip r:embed="rId1"/>
          <a:stretch>
            <a:fillRect/>
          </a:stretch>
        </p:blipFill>
        <p:spPr>
          <a:xfrm>
            <a:off x="8359775" y="695325"/>
            <a:ext cx="2038350" cy="501650"/>
          </a:xfrm>
          <a:prstGeom prst="rect">
            <a:avLst/>
          </a:prstGeom>
          <a:noFill/>
          <a:ln w="9525">
            <a:noFill/>
          </a:ln>
        </p:spPr>
      </p:pic>
      <p:sp>
        <p:nvSpPr>
          <p:cNvPr id="38918" name="矩形 427015">
            <a:hlinkClick r:id="" action="ppaction://noaction"/>
          </p:cNvPr>
          <p:cNvSpPr/>
          <p:nvPr/>
        </p:nvSpPr>
        <p:spPr>
          <a:xfrm>
            <a:off x="6408738" y="781050"/>
            <a:ext cx="1800225"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Writing and revising</a:t>
            </a:r>
            <a:endParaRPr lang="en-US" altLang="zh-CN" sz="1300" b="1">
              <a:latin typeface="Times New Roman" panose="02020603050405020304" pitchFamily="18" charset="0"/>
              <a:ea typeface="宋体" panose="02010600030101010101" pitchFamily="2" charset="-122"/>
            </a:endParaRPr>
          </a:p>
        </p:txBody>
      </p:sp>
      <p:sp>
        <p:nvSpPr>
          <p:cNvPr id="38919" name="矩形 427016">
            <a:hlinkClick r:id="" action="ppaction://noaction"/>
          </p:cNvPr>
          <p:cNvSpPr/>
          <p:nvPr/>
        </p:nvSpPr>
        <p:spPr>
          <a:xfrm>
            <a:off x="8609013" y="781050"/>
            <a:ext cx="1574800" cy="291465"/>
          </a:xfrm>
          <a:prstGeom prst="rect">
            <a:avLst/>
          </a:prstGeom>
          <a:noFill/>
          <a:ln w="9525">
            <a:noFill/>
          </a:ln>
        </p:spPr>
        <p:txBody>
          <a:bodyPr anchor="t">
            <a:spAutoFit/>
          </a:bodyPr>
          <a:p>
            <a:r>
              <a:rPr lang="en-US" altLang="en-US" sz="1300" b="1">
                <a:latin typeface="Times New Roman" panose="02020603050405020304" pitchFamily="18" charset="0"/>
                <a:ea typeface="宋体" panose="02010600030101010101" pitchFamily="2" charset="-122"/>
              </a:rPr>
              <a:t>Additional reading</a:t>
            </a:r>
            <a:endParaRPr lang="en-US" altLang="en-US" sz="1300" b="1">
              <a:latin typeface="Times New Roman" panose="02020603050405020304" pitchFamily="18" charset="0"/>
              <a:ea typeface="宋体" panose="02010600030101010101" pitchFamily="2" charset="-122"/>
            </a:endParaRPr>
          </a:p>
        </p:txBody>
      </p:sp>
      <p:sp>
        <p:nvSpPr>
          <p:cNvPr id="38920" name="矩形 427017"/>
          <p:cNvSpPr/>
          <p:nvPr/>
        </p:nvSpPr>
        <p:spPr>
          <a:xfrm>
            <a:off x="2162175" y="781050"/>
            <a:ext cx="1784350"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Warming-up activities</a:t>
            </a:r>
            <a:endParaRPr lang="en-US" altLang="zh-CN" sz="1300" b="1">
              <a:latin typeface="Times New Roman" panose="02020603050405020304" pitchFamily="18" charset="0"/>
              <a:ea typeface="宋体" panose="02010600030101010101" pitchFamily="2" charset="-122"/>
            </a:endParaRPr>
          </a:p>
        </p:txBody>
      </p:sp>
      <p:pic>
        <p:nvPicPr>
          <p:cNvPr id="38921" name="图片 427018" descr="prev">
            <a:hlinkClick r:id="" action="ppaction://noaction"/>
          </p:cNvPr>
          <p:cNvPicPr>
            <a:picLocks noChangeAspect="1"/>
          </p:cNvPicPr>
          <p:nvPr/>
        </p:nvPicPr>
        <p:blipFill>
          <a:blip r:embed="rId2"/>
          <a:stretch>
            <a:fillRect/>
          </a:stretch>
        </p:blipFill>
        <p:spPr>
          <a:xfrm>
            <a:off x="8975725" y="6280150"/>
            <a:ext cx="695325" cy="280988"/>
          </a:xfrm>
          <a:prstGeom prst="rect">
            <a:avLst/>
          </a:prstGeom>
          <a:noFill/>
          <a:ln w="9525">
            <a:noFill/>
          </a:ln>
        </p:spPr>
      </p:pic>
      <p:sp>
        <p:nvSpPr>
          <p:cNvPr id="38922" name="文本框 427020"/>
          <p:cNvSpPr txBox="1"/>
          <p:nvPr/>
        </p:nvSpPr>
        <p:spPr>
          <a:xfrm>
            <a:off x="2533650" y="1389063"/>
            <a:ext cx="7610475" cy="4892675"/>
          </a:xfrm>
          <a:prstGeom prst="rect">
            <a:avLst/>
          </a:prstGeom>
          <a:noFill/>
          <a:ln w="9525">
            <a:noFill/>
          </a:ln>
        </p:spPr>
        <p:txBody>
          <a:bodyPr anchor="t">
            <a:spAutoFit/>
          </a:bodyPr>
          <a:p>
            <a:pPr algn="just">
              <a:lnSpc>
                <a:spcPct val="130000"/>
              </a:lnSpc>
            </a:pPr>
            <a:r>
              <a:rPr lang="en-US" altLang="zh-CN" sz="2000" dirty="0">
                <a:solidFill>
                  <a:schemeClr val="tx1"/>
                </a:solidFill>
                <a:latin typeface="Times New Roman" panose="02020603050405020304" pitchFamily="18" charset="0"/>
                <a:ea typeface="宋体" panose="02010600030101010101" pitchFamily="2" charset="-122"/>
              </a:rPr>
              <a:t>       </a:t>
            </a:r>
            <a:r>
              <a:rPr lang="en-US" altLang="zh-CN" sz="2000">
                <a:solidFill>
                  <a:schemeClr val="tx1"/>
                </a:solidFill>
                <a:latin typeface="Times New Roman" panose="02020603050405020304" pitchFamily="18" charset="0"/>
                <a:ea typeface="宋体" panose="02010600030101010101" pitchFamily="2" charset="-122"/>
              </a:rPr>
              <a:t>Smaller classes in which students are required to involve themselves in discussion put an end to students’ passivity. </a:t>
            </a:r>
            <a:r>
              <a:rPr lang="en-US" altLang="zh-CN" sz="2000" err="1">
                <a:solidFill>
                  <a:srgbClr val="000000"/>
                </a:solidFill>
                <a:latin typeface="Times New Roman" panose="02020603050405020304" pitchFamily="18" charset="0"/>
                <a:ea typeface="宋体" panose="02010600030101010101" pitchFamily="2" charset="-122"/>
              </a:rPr>
              <a:t>Students become actively involved when forced to question their own ideas as well as their instructor’s. Their listening skills improve dramatically in the excitement of intellectual give and take with their instructors and fellow students. Such interchanges help professors do their job better because they allowthem</a:t>
            </a:r>
            <a:r>
              <a:rPr lang="en-US" altLang="zh-CN" sz="2000">
                <a:solidFill>
                  <a:srgbClr val="000000"/>
                </a:solidFill>
                <a:latin typeface="Times New Roman" panose="02020603050405020304" pitchFamily="18" charset="0"/>
                <a:ea typeface="宋体" panose="02010600030101010101" pitchFamily="2" charset="-122"/>
              </a:rPr>
              <a:t> to discover who knows what </a:t>
            </a:r>
            <a:r>
              <a:rPr lang="en-US" altLang="zh-CN" sz="2000">
                <a:solidFill>
                  <a:srgbClr val="000000"/>
                </a:solidFill>
                <a:latin typeface="Times New Roman" panose="02020603050405020304" pitchFamily="18" charset="0"/>
                <a:ea typeface="Times New Roman" panose="02020603050405020304" pitchFamily="18" charset="0"/>
              </a:rPr>
              <a:t>—</a:t>
            </a:r>
            <a:r>
              <a:rPr lang="en-US" altLang="zh-CN" sz="2000">
                <a:solidFill>
                  <a:srgbClr val="000000"/>
                </a:solidFill>
                <a:latin typeface="Times New Roman" panose="02020603050405020304" pitchFamily="18" charset="0"/>
                <a:ea typeface="宋体" panose="02010600030101010101" pitchFamily="2" charset="-122"/>
              </a:rPr>
              <a:t> before final exams, not after. When exams are given in this type of course, they require analysis and synthesis from students, not empty memorization. Classes like this require energy, imagination, and commitment from professors, all of which can be exhausting. But they compel students to share responsibility for their own intellectual growth.      </a:t>
            </a:r>
            <a:endParaRPr lang="en-US" altLang="zh-CN" sz="2000">
              <a:solidFill>
                <a:srgbClr val="000000"/>
              </a:solidFill>
              <a:latin typeface="Times New Roman" panose="02020603050405020304" pitchFamily="18" charset="0"/>
              <a:ea typeface="Times New Roman" panose="02020603050405020304" pitchFamily="18" charset="0"/>
            </a:endParaRPr>
          </a:p>
        </p:txBody>
      </p:sp>
      <p:pic>
        <p:nvPicPr>
          <p:cNvPr id="38923" name="图片 427022" descr="next">
            <a:hlinkClick r:id="" action="ppaction://noaction"/>
          </p:cNvPr>
          <p:cNvPicPr>
            <a:picLocks noChangeAspect="1"/>
          </p:cNvPicPr>
          <p:nvPr/>
        </p:nvPicPr>
        <p:blipFill>
          <a:blip r:embed="rId3"/>
          <a:stretch>
            <a:fillRect/>
          </a:stretch>
        </p:blipFill>
        <p:spPr>
          <a:xfrm>
            <a:off x="9661525" y="6280150"/>
            <a:ext cx="695325" cy="280988"/>
          </a:xfrm>
          <a:prstGeom prst="rect">
            <a:avLst/>
          </a:prstGeom>
          <a:noFill/>
          <a:ln w="9525">
            <a:noFill/>
          </a:ln>
        </p:spPr>
      </p:pic>
      <p:sp>
        <p:nvSpPr>
          <p:cNvPr id="38924" name="文本框 427023"/>
          <p:cNvSpPr txBox="1"/>
          <p:nvPr/>
        </p:nvSpPr>
        <p:spPr>
          <a:xfrm>
            <a:off x="2219325" y="1457325"/>
            <a:ext cx="438150" cy="398780"/>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9.</a:t>
            </a:r>
            <a:endParaRPr lang="en-US" altLang="zh-CN" sz="2000">
              <a:latin typeface="Times New Roman" panose="02020603050405020304" pitchFamily="18" charset="0"/>
              <a:ea typeface="宋体" panose="02010600030101010101" pitchFamily="2" charset="-122"/>
            </a:endParaRPr>
          </a:p>
        </p:txBody>
      </p:sp>
      <p:sp>
        <p:nvSpPr>
          <p:cNvPr id="38925" name="文本框 427024">
            <a:hlinkClick r:id="" action="ppaction://noaction"/>
          </p:cNvPr>
          <p:cNvSpPr txBox="1"/>
          <p:nvPr/>
        </p:nvSpPr>
        <p:spPr>
          <a:xfrm>
            <a:off x="2936875" y="1457325"/>
            <a:ext cx="7023100" cy="306705"/>
          </a:xfrm>
          <a:prstGeom prst="rect">
            <a:avLst/>
          </a:prstGeom>
          <a:noFill/>
          <a:ln w="9525">
            <a:noFill/>
          </a:ln>
        </p:spPr>
        <p:txBody>
          <a:bodyPr anchor="t">
            <a:spAutoFit/>
          </a:bodyPr>
          <a:p>
            <a:endParaRPr lang="zh-CN" altLang="en-US" sz="1400" dirty="0">
              <a:latin typeface="Arial" panose="020B0604020202020204" pitchFamily="34" charset="0"/>
              <a:ea typeface="宋体" panose="02010600030101010101" pitchFamily="2" charset="-122"/>
            </a:endParaRPr>
          </a:p>
        </p:txBody>
      </p:sp>
      <p:sp>
        <p:nvSpPr>
          <p:cNvPr id="38926" name="文本框 427025">
            <a:hlinkClick r:id="" action="ppaction://noaction"/>
          </p:cNvPr>
          <p:cNvSpPr txBox="1"/>
          <p:nvPr/>
        </p:nvSpPr>
        <p:spPr>
          <a:xfrm>
            <a:off x="2755900" y="1905000"/>
            <a:ext cx="4451350" cy="306705"/>
          </a:xfrm>
          <a:prstGeom prst="rect">
            <a:avLst/>
          </a:prstGeom>
          <a:noFill/>
          <a:ln w="9525">
            <a:noFill/>
          </a:ln>
        </p:spPr>
        <p:txBody>
          <a:bodyPr anchor="t">
            <a:spAutoFit/>
          </a:bodyPr>
          <a:p>
            <a:endParaRPr lang="zh-CN" altLang="en-US" sz="1400" dirty="0">
              <a:latin typeface="Arial" panose="020B0604020202020204" pitchFamily="34" charset="0"/>
              <a:ea typeface="宋体" panose="02010600030101010101" pitchFamily="2" charset="-122"/>
            </a:endParaRPr>
          </a:p>
        </p:txBody>
      </p:sp>
      <p:sp>
        <p:nvSpPr>
          <p:cNvPr id="38927" name="矩形 427026">
            <a:hlinkClick r:id="rId4" action="ppaction://hlinksldjump"/>
          </p:cNvPr>
          <p:cNvSpPr/>
          <p:nvPr/>
        </p:nvSpPr>
        <p:spPr>
          <a:xfrm>
            <a:off x="4129088" y="781050"/>
            <a:ext cx="2136775" cy="291465"/>
          </a:xfrm>
          <a:prstGeom prst="rect">
            <a:avLst/>
          </a:prstGeom>
          <a:noFill/>
          <a:ln w="9525">
            <a:noFill/>
          </a:ln>
        </p:spPr>
        <p:txBody>
          <a:bodyPr anchor="t">
            <a:spAutoFit/>
          </a:bodyPr>
          <a:p>
            <a:r>
              <a:rPr lang="en-US" altLang="zh-CN" sz="1300" b="1">
                <a:solidFill>
                  <a:srgbClr val="FFFF66"/>
                </a:solidFill>
                <a:latin typeface="Times New Roman" panose="02020603050405020304" pitchFamily="18" charset="0"/>
                <a:ea typeface="宋体" panose="02010600030101010101" pitchFamily="2" charset="-122"/>
              </a:rPr>
              <a:t>Preparing for your writing</a:t>
            </a:r>
            <a:endParaRPr lang="en-US" altLang="zh-CN" sz="1300" b="1">
              <a:solidFill>
                <a:srgbClr val="FFFF66"/>
              </a:solidFill>
              <a:latin typeface="Times New Roman" panose="02020603050405020304" pitchFamily="18" charset="0"/>
              <a:ea typeface="宋体" panose="02010600030101010101" pitchFamily="2" charset="-122"/>
            </a:endParaRPr>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472065"/>
          <p:cNvSpPr>
            <a:spLocks noGrp="1"/>
          </p:cNvSpPr>
          <p:nvPr>
            <p:ph type="ctrTitle"/>
          </p:nvPr>
        </p:nvSpPr>
        <p:spPr>
          <a:xfrm>
            <a:off x="2209800" y="-581025"/>
            <a:ext cx="7772400" cy="581025"/>
          </a:xfrm>
          <a:noFill/>
          <a:ln>
            <a:noFill/>
          </a:ln>
        </p:spPr>
        <p:txBody>
          <a:bodyPr anchor="t"/>
          <a:p>
            <a:pPr defTabSz="914400">
              <a:buClrTx/>
              <a:buSzTx/>
              <a:buFontTx/>
            </a:pPr>
            <a:r>
              <a:rPr lang="en-US" altLang="zh-CN" sz="2000" kern="1200" baseline="0">
                <a:latin typeface="+mj-lt"/>
                <a:ea typeface="+mj-ea"/>
                <a:cs typeface="+mj-cs"/>
              </a:rPr>
              <a:t>Task 2_Sample A_10</a:t>
            </a:r>
            <a:endParaRPr lang="en-US" altLang="zh-CN" sz="2000" kern="1200" baseline="0">
              <a:latin typeface="+mj-lt"/>
              <a:ea typeface="+mj-ea"/>
              <a:cs typeface="+mj-cs"/>
            </a:endParaRPr>
          </a:p>
        </p:txBody>
      </p:sp>
      <p:pic>
        <p:nvPicPr>
          <p:cNvPr id="40962" name="图片 472066" descr="button副本"/>
          <p:cNvPicPr>
            <a:picLocks noChangeAspect="1"/>
          </p:cNvPicPr>
          <p:nvPr/>
        </p:nvPicPr>
        <p:blipFill>
          <a:blip r:embed="rId1"/>
          <a:stretch>
            <a:fillRect/>
          </a:stretch>
        </p:blipFill>
        <p:spPr>
          <a:xfrm>
            <a:off x="2035175" y="695325"/>
            <a:ext cx="2038350" cy="501650"/>
          </a:xfrm>
          <a:prstGeom prst="rect">
            <a:avLst/>
          </a:prstGeom>
          <a:noFill/>
          <a:ln w="9525">
            <a:noFill/>
          </a:ln>
        </p:spPr>
      </p:pic>
      <p:pic>
        <p:nvPicPr>
          <p:cNvPr id="40963" name="图片 472067" descr="button副本"/>
          <p:cNvPicPr>
            <a:picLocks noChangeAspect="1"/>
          </p:cNvPicPr>
          <p:nvPr/>
        </p:nvPicPr>
        <p:blipFill>
          <a:blip r:embed="rId1"/>
          <a:stretch>
            <a:fillRect/>
          </a:stretch>
        </p:blipFill>
        <p:spPr>
          <a:xfrm>
            <a:off x="4143375" y="695325"/>
            <a:ext cx="2038350" cy="501650"/>
          </a:xfrm>
          <a:prstGeom prst="rect">
            <a:avLst/>
          </a:prstGeom>
          <a:noFill/>
          <a:ln w="9525">
            <a:noFill/>
          </a:ln>
        </p:spPr>
      </p:pic>
      <p:pic>
        <p:nvPicPr>
          <p:cNvPr id="40964" name="图片 472068" descr="button副本"/>
          <p:cNvPicPr>
            <a:picLocks noChangeAspect="1"/>
          </p:cNvPicPr>
          <p:nvPr/>
        </p:nvPicPr>
        <p:blipFill>
          <a:blip r:embed="rId1"/>
          <a:stretch>
            <a:fillRect/>
          </a:stretch>
        </p:blipFill>
        <p:spPr>
          <a:xfrm>
            <a:off x="6251575" y="695325"/>
            <a:ext cx="2038350" cy="501650"/>
          </a:xfrm>
          <a:prstGeom prst="rect">
            <a:avLst/>
          </a:prstGeom>
          <a:noFill/>
          <a:ln w="9525">
            <a:noFill/>
          </a:ln>
        </p:spPr>
      </p:pic>
      <p:pic>
        <p:nvPicPr>
          <p:cNvPr id="40965" name="图片 472069" descr="button副本"/>
          <p:cNvPicPr>
            <a:picLocks noChangeAspect="1"/>
          </p:cNvPicPr>
          <p:nvPr/>
        </p:nvPicPr>
        <p:blipFill>
          <a:blip r:embed="rId1"/>
          <a:stretch>
            <a:fillRect/>
          </a:stretch>
        </p:blipFill>
        <p:spPr>
          <a:xfrm>
            <a:off x="8359775" y="695325"/>
            <a:ext cx="2038350" cy="501650"/>
          </a:xfrm>
          <a:prstGeom prst="rect">
            <a:avLst/>
          </a:prstGeom>
          <a:noFill/>
          <a:ln w="9525">
            <a:noFill/>
          </a:ln>
        </p:spPr>
      </p:pic>
      <p:sp>
        <p:nvSpPr>
          <p:cNvPr id="40966" name="矩形 472071">
            <a:hlinkClick r:id="" action="ppaction://noaction"/>
          </p:cNvPr>
          <p:cNvSpPr/>
          <p:nvPr/>
        </p:nvSpPr>
        <p:spPr>
          <a:xfrm>
            <a:off x="6408738" y="781050"/>
            <a:ext cx="1800225"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Writing and revising</a:t>
            </a:r>
            <a:endParaRPr lang="en-US" altLang="zh-CN" sz="1300" b="1">
              <a:latin typeface="Times New Roman" panose="02020603050405020304" pitchFamily="18" charset="0"/>
              <a:ea typeface="宋体" panose="02010600030101010101" pitchFamily="2" charset="-122"/>
            </a:endParaRPr>
          </a:p>
        </p:txBody>
      </p:sp>
      <p:sp>
        <p:nvSpPr>
          <p:cNvPr id="40967" name="矩形 472072">
            <a:hlinkClick r:id="" action="ppaction://noaction"/>
          </p:cNvPr>
          <p:cNvSpPr/>
          <p:nvPr/>
        </p:nvSpPr>
        <p:spPr>
          <a:xfrm>
            <a:off x="8609013" y="781050"/>
            <a:ext cx="1574800" cy="291465"/>
          </a:xfrm>
          <a:prstGeom prst="rect">
            <a:avLst/>
          </a:prstGeom>
          <a:noFill/>
          <a:ln w="9525">
            <a:noFill/>
          </a:ln>
        </p:spPr>
        <p:txBody>
          <a:bodyPr anchor="t">
            <a:spAutoFit/>
          </a:bodyPr>
          <a:p>
            <a:r>
              <a:rPr lang="en-US" altLang="en-US" sz="1300" b="1">
                <a:latin typeface="Times New Roman" panose="02020603050405020304" pitchFamily="18" charset="0"/>
                <a:ea typeface="宋体" panose="02010600030101010101" pitchFamily="2" charset="-122"/>
              </a:rPr>
              <a:t>Additional reading</a:t>
            </a:r>
            <a:endParaRPr lang="en-US" altLang="en-US" sz="1300" b="1">
              <a:latin typeface="Times New Roman" panose="02020603050405020304" pitchFamily="18" charset="0"/>
              <a:ea typeface="宋体" panose="02010600030101010101" pitchFamily="2" charset="-122"/>
            </a:endParaRPr>
          </a:p>
        </p:txBody>
      </p:sp>
      <p:sp>
        <p:nvSpPr>
          <p:cNvPr id="40968" name="矩形 472073"/>
          <p:cNvSpPr/>
          <p:nvPr/>
        </p:nvSpPr>
        <p:spPr>
          <a:xfrm>
            <a:off x="2162175" y="781050"/>
            <a:ext cx="1784350" cy="291465"/>
          </a:xfrm>
          <a:prstGeom prst="rect">
            <a:avLst/>
          </a:prstGeom>
          <a:noFill/>
          <a:ln w="9525">
            <a:noFill/>
          </a:ln>
        </p:spPr>
        <p:txBody>
          <a:bodyPr anchor="t">
            <a:spAutoFit/>
          </a:bodyPr>
          <a:p>
            <a:r>
              <a:rPr lang="en-US" altLang="zh-CN" sz="1300" b="1">
                <a:latin typeface="Times New Roman" panose="02020603050405020304" pitchFamily="18" charset="0"/>
                <a:ea typeface="宋体" panose="02010600030101010101" pitchFamily="2" charset="-122"/>
              </a:rPr>
              <a:t>Warming-up activities</a:t>
            </a:r>
            <a:endParaRPr lang="en-US" altLang="zh-CN" sz="1300" b="1">
              <a:latin typeface="Times New Roman" panose="02020603050405020304" pitchFamily="18" charset="0"/>
              <a:ea typeface="宋体" panose="02010600030101010101" pitchFamily="2" charset="-122"/>
            </a:endParaRPr>
          </a:p>
        </p:txBody>
      </p:sp>
      <p:pic>
        <p:nvPicPr>
          <p:cNvPr id="40969" name="图片 472074" descr="prev">
            <a:hlinkClick r:id="" action="ppaction://noaction"/>
          </p:cNvPr>
          <p:cNvPicPr>
            <a:picLocks noChangeAspect="1"/>
          </p:cNvPicPr>
          <p:nvPr/>
        </p:nvPicPr>
        <p:blipFill>
          <a:blip r:embed="rId2"/>
          <a:stretch>
            <a:fillRect/>
          </a:stretch>
        </p:blipFill>
        <p:spPr>
          <a:xfrm>
            <a:off x="8975725" y="6280150"/>
            <a:ext cx="695325" cy="280988"/>
          </a:xfrm>
          <a:prstGeom prst="rect">
            <a:avLst/>
          </a:prstGeom>
          <a:noFill/>
          <a:ln w="9525">
            <a:noFill/>
          </a:ln>
        </p:spPr>
      </p:pic>
      <p:pic>
        <p:nvPicPr>
          <p:cNvPr id="40970" name="图片 472075" descr="back1">
            <a:hlinkClick r:id="rId3" action="ppaction://hlinksldjump"/>
          </p:cNvPr>
          <p:cNvPicPr>
            <a:picLocks noChangeAspect="1"/>
          </p:cNvPicPr>
          <p:nvPr/>
        </p:nvPicPr>
        <p:blipFill>
          <a:blip r:embed="rId4"/>
          <a:stretch>
            <a:fillRect/>
          </a:stretch>
        </p:blipFill>
        <p:spPr>
          <a:xfrm>
            <a:off x="9661525" y="6280150"/>
            <a:ext cx="695325" cy="280988"/>
          </a:xfrm>
          <a:prstGeom prst="rect">
            <a:avLst/>
          </a:prstGeom>
          <a:noFill/>
          <a:ln w="9525">
            <a:noFill/>
          </a:ln>
        </p:spPr>
      </p:pic>
      <p:sp>
        <p:nvSpPr>
          <p:cNvPr id="40971" name="文本框 472076"/>
          <p:cNvSpPr txBox="1"/>
          <p:nvPr/>
        </p:nvSpPr>
        <p:spPr>
          <a:xfrm>
            <a:off x="2609850" y="1179513"/>
            <a:ext cx="7610475" cy="4492625"/>
          </a:xfrm>
          <a:prstGeom prst="rect">
            <a:avLst/>
          </a:prstGeom>
          <a:noFill/>
          <a:ln w="9525">
            <a:noFill/>
          </a:ln>
        </p:spPr>
        <p:txBody>
          <a:bodyPr anchor="t">
            <a:spAutoFit/>
          </a:bodyPr>
          <a:p>
            <a:pPr algn="just">
              <a:lnSpc>
                <a:spcPct val="130000"/>
              </a:lnSpc>
            </a:pPr>
            <a:r>
              <a:rPr lang="en-US" altLang="zh-CN" sz="2000" dirty="0">
                <a:solidFill>
                  <a:schemeClr val="tx1"/>
                </a:solidFill>
                <a:latin typeface="Times New Roman" panose="02020603050405020304" pitchFamily="18" charset="0"/>
                <a:ea typeface="宋体" panose="02010600030101010101" pitchFamily="2" charset="-122"/>
              </a:rPr>
              <a:t>       </a:t>
            </a:r>
            <a:r>
              <a:rPr lang="en-US" altLang="zh-CN" sz="2000">
                <a:solidFill>
                  <a:schemeClr val="tx1"/>
                </a:solidFill>
                <a:latin typeface="Times New Roman" panose="02020603050405020304" pitchFamily="18" charset="0"/>
                <a:ea typeface="宋体" panose="02010600030101010101" pitchFamily="2" charset="-122"/>
              </a:rPr>
              <a:t>Lectures will never entirely disappear from the university scene both because they seem to be economically necessary and because they spring from a long tradition in a setting that values tradition for its own sake. But the lectures too frequently come at the wrong end of the students’ educational careers </a:t>
            </a:r>
            <a:r>
              <a:rPr lang="en-US" altLang="zh-CN" sz="2000">
                <a:solidFill>
                  <a:schemeClr val="tx1"/>
                </a:solidFill>
                <a:latin typeface="Times New Roman" panose="02020603050405020304" pitchFamily="18" charset="0"/>
                <a:ea typeface="Times New Roman" panose="02020603050405020304" pitchFamily="18" charset="0"/>
              </a:rPr>
              <a:t>—</a:t>
            </a:r>
            <a:r>
              <a:rPr lang="en-US" altLang="zh-CN" sz="2000">
                <a:solidFill>
                  <a:schemeClr val="tx1"/>
                </a:solidFill>
                <a:latin typeface="Times New Roman" panose="02020603050405020304" pitchFamily="18" charset="0"/>
                <a:ea typeface="宋体" panose="02010600030101010101" pitchFamily="2" charset="-122"/>
              </a:rPr>
              <a:t> during the first two years, when they most need close, individual instruction. If lectures were restricted to junior and senior undergraduates and to graduate students, who are less in need of scholarly nurturing and more able to prepare work on their own, they would be far less destructive of students’ interests and enthusiasms than the present system. After all, students must learn to listen before they can listen to learn. </a:t>
            </a:r>
            <a:endParaRPr lang="en-US" altLang="zh-CN" sz="2000">
              <a:solidFill>
                <a:schemeClr val="tx1"/>
              </a:solidFill>
              <a:latin typeface="Times New Roman" panose="02020603050405020304" pitchFamily="18" charset="0"/>
              <a:ea typeface="宋体" panose="02010600030101010101" pitchFamily="2" charset="-122"/>
            </a:endParaRPr>
          </a:p>
        </p:txBody>
      </p:sp>
      <p:sp>
        <p:nvSpPr>
          <p:cNvPr id="40972" name="文本框 472077"/>
          <p:cNvSpPr txBox="1"/>
          <p:nvPr/>
        </p:nvSpPr>
        <p:spPr>
          <a:xfrm>
            <a:off x="3362325" y="5610225"/>
            <a:ext cx="6953250" cy="706755"/>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(Taken from</a:t>
            </a:r>
            <a:r>
              <a:rPr lang="en-US" altLang="zh-CN" sz="2000" i="1">
                <a:latin typeface="Times New Roman" panose="02020603050405020304" pitchFamily="18" charset="0"/>
                <a:ea typeface="宋体" panose="02010600030101010101" pitchFamily="2" charset="-122"/>
              </a:rPr>
              <a:t> College Writing Skills with Readings</a:t>
            </a:r>
            <a:r>
              <a:rPr lang="en-US" altLang="zh-CN" sz="2000" err="1">
                <a:latin typeface="Times New Roman" panose="02020603050405020304" pitchFamily="18" charset="0"/>
                <a:ea typeface="宋体" panose="02010600030101010101" pitchFamily="2" charset="-122"/>
              </a:rPr>
              <a:t> by John Langan, McGraw-Hill Humanities / Social Sciences / Langua</a:t>
            </a:r>
            <a:r>
              <a:rPr lang="en-US" altLang="zh-CN" sz="2000">
                <a:latin typeface="Times New Roman" panose="02020603050405020304" pitchFamily="18" charset="0"/>
                <a:ea typeface="宋体" panose="02010600030101010101" pitchFamily="2" charset="-122"/>
              </a:rPr>
              <a:t>, 2005.)</a:t>
            </a:r>
            <a:endParaRPr lang="en-US" altLang="zh-CN" sz="2000">
              <a:latin typeface="Times New Roman" panose="02020603050405020304" pitchFamily="18" charset="0"/>
              <a:ea typeface="宋体" panose="02010600030101010101" pitchFamily="2" charset="-122"/>
            </a:endParaRPr>
          </a:p>
        </p:txBody>
      </p:sp>
      <p:sp>
        <p:nvSpPr>
          <p:cNvPr id="40973" name="文本框 472078"/>
          <p:cNvSpPr txBox="1"/>
          <p:nvPr/>
        </p:nvSpPr>
        <p:spPr>
          <a:xfrm>
            <a:off x="2219325" y="1266825"/>
            <a:ext cx="438150" cy="398780"/>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10.</a:t>
            </a:r>
            <a:endParaRPr lang="en-US" altLang="zh-CN" sz="2000">
              <a:latin typeface="Times New Roman" panose="02020603050405020304" pitchFamily="18" charset="0"/>
              <a:ea typeface="宋体" panose="02010600030101010101" pitchFamily="2" charset="-122"/>
            </a:endParaRPr>
          </a:p>
        </p:txBody>
      </p:sp>
      <p:sp>
        <p:nvSpPr>
          <p:cNvPr id="40974" name="文本框 472079">
            <a:hlinkClick r:id="" action="ppaction://noaction"/>
          </p:cNvPr>
          <p:cNvSpPr txBox="1"/>
          <p:nvPr/>
        </p:nvSpPr>
        <p:spPr>
          <a:xfrm>
            <a:off x="2962275" y="1343025"/>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75" name="文本框 472080">
            <a:hlinkClick r:id="" action="ppaction://noaction"/>
          </p:cNvPr>
          <p:cNvSpPr txBox="1"/>
          <p:nvPr/>
        </p:nvSpPr>
        <p:spPr>
          <a:xfrm>
            <a:off x="2781300" y="1752600"/>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76" name="文本框 472081">
            <a:hlinkClick r:id="" action="ppaction://noaction"/>
          </p:cNvPr>
          <p:cNvSpPr txBox="1"/>
          <p:nvPr/>
        </p:nvSpPr>
        <p:spPr>
          <a:xfrm>
            <a:off x="2762250" y="2105025"/>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77" name="文本框 472082">
            <a:hlinkClick r:id="" action="ppaction://noaction"/>
          </p:cNvPr>
          <p:cNvSpPr txBox="1"/>
          <p:nvPr/>
        </p:nvSpPr>
        <p:spPr>
          <a:xfrm>
            <a:off x="2762250" y="2466975"/>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78" name="文本框 472083">
            <a:hlinkClick r:id="" action="ppaction://noaction"/>
          </p:cNvPr>
          <p:cNvSpPr txBox="1"/>
          <p:nvPr/>
        </p:nvSpPr>
        <p:spPr>
          <a:xfrm>
            <a:off x="2771775" y="2867025"/>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79" name="文本框 472084">
            <a:hlinkClick r:id="" action="ppaction://noaction"/>
          </p:cNvPr>
          <p:cNvSpPr txBox="1"/>
          <p:nvPr/>
        </p:nvSpPr>
        <p:spPr>
          <a:xfrm>
            <a:off x="2762250" y="3257550"/>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80" name="文本框 472085">
            <a:hlinkClick r:id="" action="ppaction://noaction"/>
          </p:cNvPr>
          <p:cNvSpPr txBox="1"/>
          <p:nvPr/>
        </p:nvSpPr>
        <p:spPr>
          <a:xfrm>
            <a:off x="2828925" y="3638550"/>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81" name="文本框 472086">
            <a:hlinkClick r:id="" action="ppaction://noaction"/>
          </p:cNvPr>
          <p:cNvSpPr txBox="1"/>
          <p:nvPr/>
        </p:nvSpPr>
        <p:spPr>
          <a:xfrm>
            <a:off x="2905125" y="4076700"/>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82" name="文本框 472087">
            <a:hlinkClick r:id="" action="ppaction://noaction"/>
          </p:cNvPr>
          <p:cNvSpPr txBox="1"/>
          <p:nvPr/>
        </p:nvSpPr>
        <p:spPr>
          <a:xfrm>
            <a:off x="2905125" y="4086225"/>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83" name="文本框 472088">
            <a:hlinkClick r:id="" action="ppaction://noaction"/>
          </p:cNvPr>
          <p:cNvSpPr txBox="1"/>
          <p:nvPr/>
        </p:nvSpPr>
        <p:spPr>
          <a:xfrm>
            <a:off x="2857500" y="4476750"/>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84" name="文本框 472089">
            <a:hlinkClick r:id="" action="ppaction://noaction"/>
          </p:cNvPr>
          <p:cNvSpPr txBox="1"/>
          <p:nvPr/>
        </p:nvSpPr>
        <p:spPr>
          <a:xfrm>
            <a:off x="2857500" y="4867275"/>
            <a:ext cx="71532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85" name="文本框 472090">
            <a:hlinkClick r:id="" action="ppaction://noaction"/>
          </p:cNvPr>
          <p:cNvSpPr txBox="1"/>
          <p:nvPr/>
        </p:nvSpPr>
        <p:spPr>
          <a:xfrm>
            <a:off x="2619375" y="5276850"/>
            <a:ext cx="2009775" cy="306705"/>
          </a:xfrm>
          <a:prstGeom prst="rect">
            <a:avLst/>
          </a:prstGeom>
          <a:noFill/>
          <a:ln w="9525">
            <a:noFill/>
          </a:ln>
        </p:spPr>
        <p:txBody>
          <a:bodyPr anchor="t">
            <a:spAutoFit/>
          </a:bodyPr>
          <a:p>
            <a:pPr>
              <a:spcBef>
                <a:spcPct val="50000"/>
              </a:spcBef>
            </a:pPr>
            <a:endParaRPr lang="zh-CN" altLang="en-US" sz="1400" dirty="0">
              <a:latin typeface="Arial" panose="020B0604020202020204" pitchFamily="34" charset="0"/>
              <a:ea typeface="宋体" panose="02010600030101010101" pitchFamily="2" charset="-122"/>
            </a:endParaRPr>
          </a:p>
        </p:txBody>
      </p:sp>
      <p:sp>
        <p:nvSpPr>
          <p:cNvPr id="40986" name="矩形 472091">
            <a:hlinkClick r:id="rId5" action="ppaction://hlinksldjump"/>
          </p:cNvPr>
          <p:cNvSpPr/>
          <p:nvPr/>
        </p:nvSpPr>
        <p:spPr>
          <a:xfrm>
            <a:off x="4129088" y="781050"/>
            <a:ext cx="2136775" cy="291465"/>
          </a:xfrm>
          <a:prstGeom prst="rect">
            <a:avLst/>
          </a:prstGeom>
          <a:noFill/>
          <a:ln w="9525">
            <a:noFill/>
          </a:ln>
        </p:spPr>
        <p:txBody>
          <a:bodyPr anchor="t">
            <a:spAutoFit/>
          </a:bodyPr>
          <a:p>
            <a:r>
              <a:rPr lang="en-US" altLang="zh-CN" sz="1300" b="1">
                <a:solidFill>
                  <a:srgbClr val="FFFF66"/>
                </a:solidFill>
                <a:latin typeface="Times New Roman" panose="02020603050405020304" pitchFamily="18" charset="0"/>
                <a:ea typeface="宋体" panose="02010600030101010101" pitchFamily="2" charset="-122"/>
              </a:rPr>
              <a:t>Preparing for your writing</a:t>
            </a:r>
            <a:endParaRPr lang="en-US" altLang="zh-CN" sz="1300" b="1">
              <a:solidFill>
                <a:srgbClr val="FFFF66"/>
              </a:solidFill>
              <a:latin typeface="Times New Roman" panose="02020603050405020304" pitchFamily="18" charset="0"/>
              <a:ea typeface="宋体" panose="02010600030101010101" pitchFamily="2" charset="-122"/>
            </a:endParaRPr>
          </a:p>
        </p:txBody>
      </p:sp>
    </p:spTree>
  </p:cSld>
  <p:clrMapOvr>
    <a:masterClrMapping/>
  </p:clrMapOvr>
  <p:transition advClick="0"/>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6832</Words>
  <Application>WPS 演示</Application>
  <PresentationFormat>宽屏</PresentationFormat>
  <Paragraphs>122</Paragraphs>
  <Slides>9</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宋体</vt:lpstr>
      <vt:lpstr>Wingdings</vt:lpstr>
      <vt:lpstr>微软雅黑</vt:lpstr>
      <vt:lpstr>Wingdings</vt:lpstr>
      <vt:lpstr>Arial Unicode MS</vt:lpstr>
      <vt:lpstr>Calibri</vt:lpstr>
      <vt:lpstr>Times New Roman</vt:lpstr>
      <vt:lpstr>Office 主题​​</vt:lpstr>
      <vt:lpstr>空白演示</vt:lpstr>
      <vt:lpstr>Task 2_Sample A_1-2</vt:lpstr>
      <vt:lpstr>Task 2_Sample A_3-4</vt:lpstr>
      <vt:lpstr>Task 2_Sample A_5</vt:lpstr>
      <vt:lpstr>Task 2_Sample A_6</vt:lpstr>
      <vt:lpstr>Task 2_Sample A_7</vt:lpstr>
      <vt:lpstr>Task 2_Sample A_8</vt:lpstr>
      <vt:lpstr>Task 2_Sample A_9</vt:lpstr>
      <vt:lpstr>Task 2_Sample A_10</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86138</dc:creator>
  <cp:lastModifiedBy>风吹荷叶煞</cp:lastModifiedBy>
  <cp:revision>150</cp:revision>
  <dcterms:created xsi:type="dcterms:W3CDTF">2019-06-19T02:08:00Z</dcterms:created>
  <dcterms:modified xsi:type="dcterms:W3CDTF">2020-12-14T12:52:28Z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