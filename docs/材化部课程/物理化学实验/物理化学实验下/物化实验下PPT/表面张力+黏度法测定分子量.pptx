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59" r:id="rId4"/>
    <p:sldId id="260" r:id="rId5"/>
    <p:sldId id="261" r:id="rId6"/>
    <p:sldId id="262" r:id="rId7"/>
    <p:sldId id="263" r:id="rId8"/>
    <p:sldId id="265" r:id="rId9"/>
    <p:sldId id="266" r:id="rId10"/>
    <p:sldId id="267"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3" r:id="rId25"/>
    <p:sldId id="284" r:id="rId26"/>
    <p:sldId id="285" r:id="rId27"/>
    <p:sldId id="286" r:id="rId28"/>
    <p:sldId id="287" r:id="rId2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74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8.wmf"/><Relationship Id="rId1" Type="http://schemas.openxmlformats.org/officeDocument/2006/relationships/image" Target="../media/image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ACC4CD-A886-4C46-8D85-05B8CE406940}" type="datetimeFigureOut">
              <a:rPr lang="zh-CN" altLang="en-US" smtClean="0"/>
              <a:t>2017/2/23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67C15C-B512-404B-AB59-B10DB5317D1C}" type="slidenum">
              <a:rPr lang="zh-CN" altLang="en-US" smtClean="0"/>
              <a:t>‹#›</a:t>
            </a:fld>
            <a:endParaRPr lang="zh-CN" altLang="en-US"/>
          </a:p>
        </p:txBody>
      </p:sp>
    </p:spTree>
    <p:extLst>
      <p:ext uri="{BB962C8B-B14F-4D97-AF65-F5344CB8AC3E}">
        <p14:creationId xmlns:p14="http://schemas.microsoft.com/office/powerpoint/2010/main" val="4168642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C67C15C-B512-404B-AB59-B10DB5317D1C}" type="slidenum">
              <a:rPr lang="zh-CN" altLang="en-US" smtClean="0"/>
              <a:t>1</a:t>
            </a:fld>
            <a:endParaRPr lang="zh-CN" altLang="en-US"/>
          </a:p>
        </p:txBody>
      </p:sp>
    </p:spTree>
    <p:extLst>
      <p:ext uri="{BB962C8B-B14F-4D97-AF65-F5344CB8AC3E}">
        <p14:creationId xmlns:p14="http://schemas.microsoft.com/office/powerpoint/2010/main" val="2736694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17746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484881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111616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1321855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1640003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257778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2627167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3983199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3816354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3645205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8A9079-3296-4FDD-9FD7-650726466477}" type="datetimeFigureOut">
              <a:rPr lang="zh-CN" altLang="en-US" smtClean="0"/>
              <a:t>2017/2/23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515110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CD86E576-6F34-4FF1-A6B7-B114AF65C73B}" type="datetime1">
              <a:rPr lang="zh-CN" altLang="en-US"/>
              <a:pPr>
                <a:defRPr/>
              </a:pPr>
              <a:t>2017/2/23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7825D3A-C1D3-4A24-B018-3785477D1330}" type="slidenum">
              <a:rPr lang="zh-CN" altLang="en-US"/>
              <a:pPr>
                <a:defRPr/>
              </a:pPr>
              <a:t>‹#›</a:t>
            </a:fld>
            <a:endParaRPr lang="en-US"/>
          </a:p>
        </p:txBody>
      </p:sp>
    </p:spTree>
    <p:extLst>
      <p:ext uri="{BB962C8B-B14F-4D97-AF65-F5344CB8AC3E}">
        <p14:creationId xmlns:p14="http://schemas.microsoft.com/office/powerpoint/2010/main" val="3047055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A9079-3296-4FDD-9FD7-650726466477}" type="datetimeFigureOut">
              <a:rPr lang="zh-CN" altLang="en-US" smtClean="0"/>
              <a:t>2017/2/23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B80D49-B5EB-42DF-A153-F12EA78E7E0C}" type="slidenum">
              <a:rPr lang="zh-CN" altLang="en-US" smtClean="0"/>
              <a:t>‹#›</a:t>
            </a:fld>
            <a:endParaRPr lang="zh-CN" altLang="en-US"/>
          </a:p>
        </p:txBody>
      </p:sp>
    </p:spTree>
    <p:extLst>
      <p:ext uri="{BB962C8B-B14F-4D97-AF65-F5344CB8AC3E}">
        <p14:creationId xmlns:p14="http://schemas.microsoft.com/office/powerpoint/2010/main" val="4241211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5.bin"/><Relationship Id="rId10" Type="http://schemas.openxmlformats.org/officeDocument/2006/relationships/image" Target="../media/image7.emf"/><Relationship Id="rId4" Type="http://schemas.openxmlformats.org/officeDocument/2006/relationships/image" Target="../media/image4.wmf"/><Relationship Id="rId9"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11.wmf"/><Relationship Id="rId5" Type="http://schemas.openxmlformats.org/officeDocument/2006/relationships/oleObject" Target="../embeddings/oleObject10.bin"/><Relationship Id="rId4" Type="http://schemas.openxmlformats.org/officeDocument/2006/relationships/image" Target="../media/image10.wmf"/></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4.wmf"/><Relationship Id="rId5" Type="http://schemas.openxmlformats.org/officeDocument/2006/relationships/oleObject" Target="../embeddings/oleObject13.bin"/><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6.wmf"/><Relationship Id="rId5" Type="http://schemas.openxmlformats.org/officeDocument/2006/relationships/oleObject" Target="../embeddings/oleObject16.bin"/><Relationship Id="rId4" Type="http://schemas.openxmlformats.org/officeDocument/2006/relationships/image" Target="../media/image1.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6.wmf"/><Relationship Id="rId5" Type="http://schemas.openxmlformats.org/officeDocument/2006/relationships/oleObject" Target="../embeddings/oleObject18.bin"/><Relationship Id="rId4" Type="http://schemas.openxmlformats.org/officeDocument/2006/relationships/image" Target="../media/image1.wmf"/></Relationships>
</file>

<file path=ppt/slides/_rels/slide14.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8.wmf"/><Relationship Id="rId5" Type="http://schemas.openxmlformats.org/officeDocument/2006/relationships/oleObject" Target="../embeddings/oleObject20.bin"/><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9.wmf"/><Relationship Id="rId5" Type="http://schemas.openxmlformats.org/officeDocument/2006/relationships/oleObject" Target="../embeddings/oleObject23.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25.bin"/></Relationships>
</file>

<file path=ppt/slides/_rels/slide19.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31.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3.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9.bin"/><Relationship Id="rId14" Type="http://schemas.openxmlformats.org/officeDocument/2006/relationships/image" Target="../media/image2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8.wmf"/></Relationships>
</file>

<file path=ppt/slides/_rels/slide21.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30.wmf"/><Relationship Id="rId5" Type="http://schemas.openxmlformats.org/officeDocument/2006/relationships/oleObject" Target="../embeddings/oleObject34.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6.bin"/></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28.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457200" y="1988840"/>
            <a:ext cx="822960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buFontTx/>
              <a:buNone/>
            </a:pPr>
            <a:r>
              <a:rPr lang="zh-CN" altLang="en-US" sz="2200" b="1" dirty="0">
                <a:ea typeface="黑体" pitchFamily="49" charset="-122"/>
              </a:rPr>
              <a:t>一、实验目的</a:t>
            </a:r>
          </a:p>
          <a:p>
            <a:pPr eaLnBrk="1" hangingPunct="1">
              <a:lnSpc>
                <a:spcPct val="150000"/>
              </a:lnSpc>
              <a:buFontTx/>
              <a:buNone/>
            </a:pPr>
            <a:r>
              <a:rPr lang="zh-CN" altLang="en-US" sz="2200" dirty="0">
                <a:latin typeface="楷体_GB2312" pitchFamily="49" charset="-122"/>
                <a:ea typeface="黑体" pitchFamily="49" charset="-122"/>
              </a:rPr>
              <a:t>1、掌握最大气泡法测定表面张力的原理和方法</a:t>
            </a:r>
          </a:p>
          <a:p>
            <a:pPr eaLnBrk="1" hangingPunct="1">
              <a:lnSpc>
                <a:spcPct val="150000"/>
              </a:lnSpc>
              <a:buFontTx/>
              <a:buNone/>
            </a:pPr>
            <a:r>
              <a:rPr lang="zh-CN" altLang="en-US" sz="2200" dirty="0">
                <a:latin typeface="楷体_GB2312" pitchFamily="49" charset="-122"/>
                <a:ea typeface="黑体" pitchFamily="49" charset="-122"/>
              </a:rPr>
              <a:t>2、测定不同浓度乙醇水溶液的表面张力</a:t>
            </a:r>
          </a:p>
          <a:p>
            <a:pPr eaLnBrk="1" hangingPunct="1">
              <a:lnSpc>
                <a:spcPct val="150000"/>
              </a:lnSpc>
              <a:buFontTx/>
              <a:buNone/>
            </a:pPr>
            <a:r>
              <a:rPr lang="zh-CN" altLang="en-US" sz="2200" dirty="0">
                <a:latin typeface="楷体_GB2312" pitchFamily="49" charset="-122"/>
                <a:ea typeface="黑体" pitchFamily="49" charset="-122"/>
              </a:rPr>
              <a:t>3、计算表面吸附量，乙醇分子横截面积</a:t>
            </a:r>
          </a:p>
          <a:p>
            <a:pPr eaLnBrk="1" hangingPunct="1">
              <a:lnSpc>
                <a:spcPct val="150000"/>
              </a:lnSpc>
              <a:buFontTx/>
              <a:buNone/>
            </a:pPr>
            <a:r>
              <a:rPr lang="zh-CN" altLang="en-US" sz="2200" dirty="0">
                <a:latin typeface="楷体_GB2312" pitchFamily="49" charset="-122"/>
                <a:ea typeface="黑体" pitchFamily="49" charset="-122"/>
              </a:rPr>
              <a:t>4、了解表面张力的性质及表面张力与表面吸附量的关系</a:t>
            </a:r>
          </a:p>
        </p:txBody>
      </p:sp>
      <p:sp>
        <p:nvSpPr>
          <p:cNvPr id="35843" name="Text Box 3"/>
          <p:cNvSpPr txBox="1">
            <a:spLocks noChangeArrowheads="1"/>
          </p:cNvSpPr>
          <p:nvPr/>
        </p:nvSpPr>
        <p:spPr bwMode="auto">
          <a:xfrm>
            <a:off x="1619672" y="758825"/>
            <a:ext cx="57534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b="1" dirty="0">
                <a:ea typeface="黑体" pitchFamily="49" charset="-122"/>
              </a:rPr>
              <a:t>实验三、最大气泡法测定液体的表面张力</a:t>
            </a:r>
            <a:endParaRPr lang="zh-CN" altLang="en-US" sz="2400" b="1" dirty="0"/>
          </a:p>
        </p:txBody>
      </p:sp>
      <p:sp>
        <p:nvSpPr>
          <p:cNvPr id="35844" name="Text Box 4"/>
          <p:cNvSpPr txBox="1">
            <a:spLocks noChangeArrowheads="1"/>
          </p:cNvSpPr>
          <p:nvPr/>
        </p:nvSpPr>
        <p:spPr bwMode="auto">
          <a:xfrm>
            <a:off x="6462713" y="1427163"/>
            <a:ext cx="1649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1800"/>
              <a:t>p116</a:t>
            </a:r>
          </a:p>
        </p:txBody>
      </p:sp>
    </p:spTree>
    <p:extLst>
      <p:ext uri="{BB962C8B-B14F-4D97-AF65-F5344CB8AC3E}">
        <p14:creationId xmlns:p14="http://schemas.microsoft.com/office/powerpoint/2010/main" val="2525371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1445" y="822003"/>
            <a:ext cx="7520955" cy="4047157"/>
          </a:xfrm>
        </p:spPr>
        <p:txBody>
          <a:bodyPr/>
          <a:lstStyle/>
          <a:p>
            <a:pPr marL="0" indent="0">
              <a:lnSpc>
                <a:spcPct val="150000"/>
              </a:lnSpc>
              <a:buFontTx/>
              <a:buNone/>
              <a:defRPr/>
            </a:pPr>
            <a:r>
              <a:rPr lang="en-US" altLang="zh-CN" sz="2200" dirty="0" smtClean="0">
                <a:latin typeface="黑体" panose="02010609060101010101" pitchFamily="49" charset="-122"/>
                <a:ea typeface="黑体" panose="02010609060101010101" pitchFamily="49" charset="-122"/>
              </a:rPr>
              <a:t>1</a:t>
            </a:r>
            <a:r>
              <a:rPr lang="zh-CN" altLang="en-US" sz="2200" dirty="0" smtClean="0">
                <a:latin typeface="黑体" panose="02010609060101010101" pitchFamily="49" charset="-122"/>
                <a:ea typeface="黑体" panose="02010609060101010101" pitchFamily="49" charset="-122"/>
              </a:rPr>
              <a:t>、什么是液体表面张力？</a:t>
            </a:r>
            <a:endParaRPr lang="en-US" altLang="zh-CN" sz="2200" dirty="0" smtClean="0">
              <a:latin typeface="黑体" panose="02010609060101010101" pitchFamily="49" charset="-122"/>
              <a:ea typeface="黑体" panose="02010609060101010101" pitchFamily="49" charset="-122"/>
            </a:endParaRPr>
          </a:p>
          <a:p>
            <a:pPr marL="0" indent="0">
              <a:lnSpc>
                <a:spcPct val="150000"/>
              </a:lnSpc>
              <a:buFontTx/>
              <a:buNone/>
              <a:defRPr/>
            </a:pPr>
            <a:r>
              <a:rPr lang="en-US" altLang="zh-CN" sz="2200" dirty="0" smtClean="0">
                <a:latin typeface="黑体" panose="02010609060101010101" pitchFamily="49" charset="-122"/>
                <a:ea typeface="黑体" panose="02010609060101010101" pitchFamily="49" charset="-122"/>
              </a:rPr>
              <a:t>2</a:t>
            </a:r>
            <a:r>
              <a:rPr lang="zh-CN" altLang="en-US" sz="2200" dirty="0" smtClean="0">
                <a:latin typeface="黑体" panose="02010609060101010101" pitchFamily="49" charset="-122"/>
                <a:ea typeface="黑体" panose="02010609060101010101" pitchFamily="49" charset="-122"/>
              </a:rPr>
              <a:t>、吉布斯等温式的表达式及各符号的意义？</a:t>
            </a:r>
            <a:endParaRPr lang="en-US" altLang="zh-CN" sz="2200" dirty="0" smtClean="0">
              <a:latin typeface="黑体" panose="02010609060101010101" pitchFamily="49" charset="-122"/>
              <a:ea typeface="黑体" panose="02010609060101010101" pitchFamily="49" charset="-122"/>
            </a:endParaRPr>
          </a:p>
          <a:p>
            <a:pPr marL="0" indent="0">
              <a:lnSpc>
                <a:spcPct val="150000"/>
              </a:lnSpc>
              <a:buFontTx/>
              <a:buNone/>
              <a:defRPr/>
            </a:pPr>
            <a:r>
              <a:rPr lang="en-US" altLang="zh-CN" sz="2200" dirty="0" smtClean="0">
                <a:latin typeface="黑体" panose="02010609060101010101" pitchFamily="49" charset="-122"/>
                <a:ea typeface="黑体" panose="02010609060101010101" pitchFamily="49" charset="-122"/>
              </a:rPr>
              <a:t>3</a:t>
            </a:r>
            <a:r>
              <a:rPr lang="zh-CN" altLang="en-US" sz="2200" dirty="0" smtClean="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cs typeface="Times New Roman" panose="02020603050405020304" pitchFamily="18" charset="0"/>
              </a:rPr>
              <a:t>Lanmuir</a:t>
            </a:r>
            <a:r>
              <a:rPr lang="zh-CN" altLang="en-US" sz="2200" dirty="0">
                <a:latin typeface="黑体" panose="02010609060101010101" pitchFamily="49" charset="-122"/>
                <a:ea typeface="黑体" panose="02010609060101010101" pitchFamily="49" charset="-122"/>
              </a:rPr>
              <a:t> </a:t>
            </a:r>
            <a:r>
              <a:rPr lang="zh-CN" altLang="en-US" sz="2200" dirty="0" smtClean="0">
                <a:latin typeface="黑体" panose="02010609060101010101" pitchFamily="49" charset="-122"/>
                <a:ea typeface="黑体" panose="02010609060101010101" pitchFamily="49" charset="-122"/>
              </a:rPr>
              <a:t>吸附等温式表达式及各符号的意义？</a:t>
            </a:r>
            <a:endParaRPr lang="en-US" altLang="zh-CN" sz="2200" dirty="0" smtClean="0">
              <a:latin typeface="黑体" panose="02010609060101010101" pitchFamily="49" charset="-122"/>
              <a:ea typeface="黑体" panose="02010609060101010101" pitchFamily="49" charset="-122"/>
            </a:endParaRPr>
          </a:p>
          <a:p>
            <a:pPr marL="0" indent="0">
              <a:lnSpc>
                <a:spcPct val="150000"/>
              </a:lnSpc>
              <a:buFontTx/>
              <a:buNone/>
              <a:defRPr/>
            </a:pPr>
            <a:r>
              <a:rPr lang="en-US" altLang="zh-CN" sz="2200" dirty="0" smtClean="0">
                <a:latin typeface="黑体" panose="02010609060101010101" pitchFamily="49" charset="-122"/>
                <a:ea typeface="黑体" panose="02010609060101010101" pitchFamily="49" charset="-122"/>
              </a:rPr>
              <a:t>4</a:t>
            </a:r>
            <a:r>
              <a:rPr lang="zh-CN" altLang="en-US" sz="2200" dirty="0" smtClean="0">
                <a:latin typeface="黑体" panose="02010609060101010101" pitchFamily="49" charset="-122"/>
                <a:ea typeface="黑体" panose="02010609060101010101" pitchFamily="49" charset="-122"/>
              </a:rPr>
              <a:t>、</a:t>
            </a:r>
            <a:r>
              <a:rPr lang="zh-CN" altLang="en-US" sz="2200" dirty="0" smtClean="0">
                <a:latin typeface="黑体" panose="02010609060101010101" pitchFamily="49" charset="-122"/>
                <a:ea typeface="黑体" panose="02010609060101010101" pitchFamily="49" charset="-122"/>
                <a:sym typeface="黑体" pitchFamily="49" charset="-122"/>
              </a:rPr>
              <a:t>每个分子表面所占据的截面积</a:t>
            </a:r>
            <a:r>
              <a:rPr lang="zh-CN" altLang="en-US" sz="2200" dirty="0" smtClean="0">
                <a:latin typeface="黑体" panose="02010609060101010101" pitchFamily="49" charset="-122"/>
                <a:ea typeface="黑体" panose="02010609060101010101" pitchFamily="49" charset="-122"/>
                <a:cs typeface="Times New Roman" panose="02020603050405020304" pitchFamily="18" charset="0"/>
                <a:sym typeface="黑体" pitchFamily="49" charset="-122"/>
              </a:rPr>
              <a:t>A</a:t>
            </a:r>
            <a:r>
              <a:rPr lang="zh-CN" altLang="en-US" sz="2200" baseline="-25000" dirty="0" smtClean="0">
                <a:latin typeface="黑体" panose="02010609060101010101" pitchFamily="49" charset="-122"/>
                <a:ea typeface="黑体" panose="02010609060101010101" pitchFamily="49" charset="-122"/>
                <a:cs typeface="Times New Roman" panose="02020603050405020304" pitchFamily="18" charset="0"/>
                <a:sym typeface="黑体" pitchFamily="49" charset="-122"/>
              </a:rPr>
              <a:t>m</a:t>
            </a:r>
            <a:r>
              <a:rPr lang="zh-CN" altLang="en-US" sz="2200" dirty="0" smtClean="0">
                <a:latin typeface="黑体" panose="02010609060101010101" pitchFamily="49" charset="-122"/>
                <a:ea typeface="黑体" panose="02010609060101010101" pitchFamily="49" charset="-122"/>
                <a:sym typeface="黑体" pitchFamily="49" charset="-122"/>
              </a:rPr>
              <a:t>与饱和吸附量的关系？</a:t>
            </a:r>
            <a:endParaRPr lang="en-US" altLang="zh-CN" sz="2200" dirty="0" smtClean="0">
              <a:latin typeface="黑体" panose="02010609060101010101" pitchFamily="49" charset="-122"/>
              <a:ea typeface="黑体" panose="02010609060101010101" pitchFamily="49" charset="-122"/>
              <a:sym typeface="黑体" pitchFamily="49" charset="-122"/>
            </a:endParaRPr>
          </a:p>
          <a:p>
            <a:pPr marL="0" indent="0">
              <a:lnSpc>
                <a:spcPct val="150000"/>
              </a:lnSpc>
              <a:buFontTx/>
              <a:buNone/>
              <a:defRPr/>
            </a:pPr>
            <a:r>
              <a:rPr lang="en-US" altLang="zh-CN" sz="2200" dirty="0" smtClean="0">
                <a:latin typeface="黑体" panose="02010609060101010101" pitchFamily="49" charset="-122"/>
                <a:ea typeface="黑体" panose="02010609060101010101" pitchFamily="49" charset="-122"/>
                <a:sym typeface="黑体" pitchFamily="49" charset="-122"/>
              </a:rPr>
              <a:t>5</a:t>
            </a:r>
            <a:r>
              <a:rPr lang="zh-CN" altLang="en-US" sz="2200" dirty="0" smtClean="0">
                <a:latin typeface="黑体" panose="02010609060101010101" pitchFamily="49" charset="-122"/>
                <a:ea typeface="黑体" panose="02010609060101010101" pitchFamily="49" charset="-122"/>
                <a:sym typeface="黑体" pitchFamily="49" charset="-122"/>
              </a:rPr>
              <a:t>、</a:t>
            </a:r>
            <a:r>
              <a:rPr lang="zh-CN" altLang="en-US" sz="2200" dirty="0" smtClean="0">
                <a:latin typeface="黑体" panose="02010609060101010101" pitchFamily="49" charset="-122"/>
                <a:ea typeface="黑体" panose="02010609060101010101" pitchFamily="49" charset="-122"/>
              </a:rPr>
              <a:t>杨-拉普拉斯公式的表达式和各符号的意义？</a:t>
            </a:r>
            <a:endParaRPr lang="en-US" altLang="zh-CN" sz="2200" dirty="0" smtClean="0">
              <a:latin typeface="黑体" panose="02010609060101010101" pitchFamily="49" charset="-122"/>
              <a:ea typeface="黑体" panose="02010609060101010101" pitchFamily="49" charset="-122"/>
            </a:endParaRPr>
          </a:p>
          <a:p>
            <a:pPr marL="0" indent="0">
              <a:lnSpc>
                <a:spcPct val="150000"/>
              </a:lnSpc>
              <a:buFontTx/>
              <a:buNone/>
              <a:defRPr/>
            </a:pPr>
            <a:r>
              <a:rPr lang="en-US" altLang="zh-CN" sz="2200" dirty="0" smtClean="0">
                <a:latin typeface="黑体" panose="02010609060101010101" pitchFamily="49" charset="-122"/>
                <a:ea typeface="黑体" panose="02010609060101010101" pitchFamily="49" charset="-122"/>
              </a:rPr>
              <a:t>6</a:t>
            </a:r>
            <a:r>
              <a:rPr lang="zh-CN" altLang="en-US" sz="2200" dirty="0" smtClean="0">
                <a:latin typeface="黑体" panose="02010609060101010101" pitchFamily="49" charset="-122"/>
                <a:ea typeface="黑体" panose="02010609060101010101" pitchFamily="49" charset="-122"/>
              </a:rPr>
              <a:t>、在实验中所要测定的实验数据？</a:t>
            </a:r>
          </a:p>
          <a:p>
            <a:pPr marL="0" indent="0">
              <a:buFontTx/>
              <a:buNone/>
              <a:defRPr/>
            </a:pPr>
            <a:endParaRPr lang="en-US" altLang="zh-CN" sz="2400" dirty="0" smtClean="0">
              <a:latin typeface="+mn-ea"/>
              <a:sym typeface="黑体" pitchFamily="49" charset="-122"/>
            </a:endParaRPr>
          </a:p>
          <a:p>
            <a:pPr marL="0" indent="0">
              <a:buFontTx/>
              <a:buNone/>
              <a:defRPr/>
            </a:pPr>
            <a:endParaRPr lang="en-US" altLang="zh-CN" sz="2400" dirty="0" smtClean="0">
              <a:latin typeface="+mn-ea"/>
            </a:endParaRPr>
          </a:p>
          <a:p>
            <a:pPr marL="0" indent="0">
              <a:buFontTx/>
              <a:buNone/>
              <a:defRPr/>
            </a:pPr>
            <a:endParaRPr lang="zh-CN" altLang="en-US" sz="2400" dirty="0"/>
          </a:p>
          <a:p>
            <a:pPr marL="0" indent="0">
              <a:buFontTx/>
              <a:buNone/>
              <a:defRPr/>
            </a:pPr>
            <a:endParaRPr lang="zh-CN" altLang="en-US" sz="2400" dirty="0"/>
          </a:p>
        </p:txBody>
      </p:sp>
    </p:spTree>
    <p:extLst>
      <p:ext uri="{BB962C8B-B14F-4D97-AF65-F5344CB8AC3E}">
        <p14:creationId xmlns:p14="http://schemas.microsoft.com/office/powerpoint/2010/main" val="1629534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468313" y="908050"/>
            <a:ext cx="8242300" cy="256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Clr>
                <a:srgbClr val="0000FF"/>
              </a:buClr>
              <a:buFont typeface="Wingdings" pitchFamily="2" charset="2"/>
              <a:buNone/>
            </a:pPr>
            <a:r>
              <a:rPr lang="zh-CN" altLang="en-US" sz="2200" dirty="0">
                <a:latin typeface="Times New Roman" pitchFamily="18" charset="0"/>
                <a:ea typeface="楷体_GB2312" pitchFamily="49" charset="-122"/>
              </a:rPr>
              <a:t>       </a:t>
            </a:r>
            <a:r>
              <a:rPr lang="zh-CN" altLang="en-US" sz="2200" dirty="0">
                <a:latin typeface="黑体" pitchFamily="49" charset="-122"/>
                <a:ea typeface="黑体" pitchFamily="49" charset="-122"/>
              </a:rPr>
              <a:t>气液界面分子受液体内部分子的吸引力远大于外部蒸汽分子对它的吸引力，致使表面层分子受到向内的拉力使表面积趋于最小（球形），以达到受力平衡。表面张力表征了界面的这一特性。液体的表面张力与温度，溶液的组成等因素有关。表面张力随组成的变化</a:t>
            </a:r>
            <a:r>
              <a:rPr lang="zh-CN" altLang="en-US" sz="2200" dirty="0" smtClean="0">
                <a:latin typeface="黑体" pitchFamily="49" charset="-122"/>
                <a:ea typeface="黑体" pitchFamily="49" charset="-122"/>
              </a:rPr>
              <a:t>取决于溶质</a:t>
            </a:r>
            <a:r>
              <a:rPr lang="zh-CN" altLang="en-US" sz="2200" dirty="0">
                <a:latin typeface="黑体" pitchFamily="49" charset="-122"/>
                <a:ea typeface="黑体" pitchFamily="49" charset="-122"/>
              </a:rPr>
              <a:t>的性质和加入量的</a:t>
            </a:r>
            <a:r>
              <a:rPr lang="zh-CN" altLang="en-US" sz="2200" dirty="0" smtClean="0">
                <a:latin typeface="黑体" pitchFamily="49" charset="-122"/>
                <a:ea typeface="黑体" pitchFamily="49" charset="-122"/>
              </a:rPr>
              <a:t>多少。 </a:t>
            </a:r>
            <a:endParaRPr lang="zh-CN" altLang="en-US" sz="2200" dirty="0">
              <a:latin typeface="Times New Roman" pitchFamily="18" charset="0"/>
              <a:ea typeface="楷体_GB2312" pitchFamily="49" charset="-122"/>
            </a:endParaRPr>
          </a:p>
        </p:txBody>
      </p:sp>
      <p:sp>
        <p:nvSpPr>
          <p:cNvPr id="37891" name="Rectangle 3"/>
          <p:cNvSpPr>
            <a:spLocks noChangeArrowheads="1"/>
          </p:cNvSpPr>
          <p:nvPr/>
        </p:nvSpPr>
        <p:spPr bwMode="auto">
          <a:xfrm>
            <a:off x="468313" y="333375"/>
            <a:ext cx="338296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200" b="1" dirty="0">
                <a:ea typeface="黑体" pitchFamily="49" charset="-122"/>
              </a:rPr>
              <a:t>二、实验原理</a:t>
            </a:r>
          </a:p>
        </p:txBody>
      </p:sp>
      <p:sp>
        <p:nvSpPr>
          <p:cNvPr id="37892" name="Text Box 4"/>
          <p:cNvSpPr txBox="1">
            <a:spLocks noChangeArrowheads="1"/>
          </p:cNvSpPr>
          <p:nvPr/>
        </p:nvSpPr>
        <p:spPr bwMode="auto">
          <a:xfrm>
            <a:off x="468369" y="3475291"/>
            <a:ext cx="8339137"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200" dirty="0" smtClean="0">
                <a:ea typeface="黑体" pitchFamily="49" charset="-122"/>
              </a:rPr>
              <a:t>       根据</a:t>
            </a:r>
            <a:r>
              <a:rPr lang="zh-CN" altLang="en-US" sz="2200" dirty="0">
                <a:ea typeface="黑体" pitchFamily="49" charset="-122"/>
              </a:rPr>
              <a:t>能量最低原理，若溶质能降低溶剂的表面张力，则表面层溶质的浓度应比溶液内部的浓度高；若溶质使溶剂的表面张力增加，则表面层溶质的浓度应比溶液内部的浓度低，这种现象称为溶液的表面</a:t>
            </a:r>
            <a:r>
              <a:rPr lang="zh-CN" altLang="en-US" sz="2200" dirty="0" smtClean="0">
                <a:ea typeface="黑体" pitchFamily="49" charset="-122"/>
              </a:rPr>
              <a:t>吸附。</a:t>
            </a:r>
            <a:endParaRPr lang="zh-CN" altLang="en-US" sz="2200" dirty="0">
              <a:ea typeface="黑体" pitchFamily="49" charset="-122"/>
            </a:endParaRPr>
          </a:p>
        </p:txBody>
      </p:sp>
    </p:spTree>
    <p:extLst>
      <p:ext uri="{BB962C8B-B14F-4D97-AF65-F5344CB8AC3E}">
        <p14:creationId xmlns:p14="http://schemas.microsoft.com/office/powerpoint/2010/main" val="1492674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aphicFrame>
        <p:nvGraphicFramePr>
          <p:cNvPr id="38915" name="Object 3"/>
          <p:cNvGraphicFramePr>
            <a:graphicFrameLocks noChangeAspect="1"/>
          </p:cNvGraphicFramePr>
          <p:nvPr/>
        </p:nvGraphicFramePr>
        <p:xfrm>
          <a:off x="2268538" y="1412875"/>
          <a:ext cx="3351212" cy="1038225"/>
        </p:xfrm>
        <a:graphic>
          <a:graphicData uri="http://schemas.openxmlformats.org/presentationml/2006/ole">
            <mc:AlternateContent xmlns:mc="http://schemas.openxmlformats.org/markup-compatibility/2006">
              <mc:Choice xmlns:v="urn:schemas-microsoft-com:vml" Requires="v">
                <p:oleObj spid="_x0000_s1215" name="Equation" r:id="rId3" imgW="1131822" imgH="470541" progId="Equation.DSMT4">
                  <p:embed/>
                </p:oleObj>
              </mc:Choice>
              <mc:Fallback>
                <p:oleObj name="Equation" r:id="rId3" imgW="1131822" imgH="47054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1412875"/>
                        <a:ext cx="3351212"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6" name="Rectangle 4"/>
          <p:cNvSpPr>
            <a:spLocks noChangeArrowheads="1"/>
          </p:cNvSpPr>
          <p:nvPr/>
        </p:nvSpPr>
        <p:spPr bwMode="auto">
          <a:xfrm>
            <a:off x="395288" y="4187825"/>
            <a:ext cx="874871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buFontTx/>
              <a:buNone/>
            </a:pPr>
            <a:r>
              <a:rPr lang="zh-CN" altLang="en-US" sz="2400" dirty="0">
                <a:latin typeface="Times New Roman" pitchFamily="18" charset="0"/>
                <a:ea typeface="黑体" pitchFamily="49" charset="-122"/>
                <a:cs typeface="Times New Roman" pitchFamily="18" charset="0"/>
              </a:rPr>
              <a:t>                       时</a:t>
            </a:r>
            <a:r>
              <a:rPr lang="zh-CN" altLang="en-US" sz="2400" dirty="0">
                <a:latin typeface="Times New Roman" pitchFamily="18" charset="0"/>
                <a:ea typeface="楷体_GB2312" pitchFamily="49" charset="-122"/>
                <a:cs typeface="Times New Roman" pitchFamily="18" charset="0"/>
              </a:rPr>
              <a:t>，</a:t>
            </a:r>
            <a:r>
              <a:rPr lang="zh-CN" altLang="en-US" sz="2400" dirty="0">
                <a:latin typeface="Times New Roman" pitchFamily="18" charset="0"/>
                <a:ea typeface="黑体" pitchFamily="49" charset="-122"/>
                <a:cs typeface="Times New Roman" pitchFamily="18" charset="0"/>
              </a:rPr>
              <a:t>则</a:t>
            </a:r>
            <a:r>
              <a:rPr lang="zh-CN" altLang="en-US" sz="2400" dirty="0">
                <a:latin typeface="Times New Roman" pitchFamily="18" charset="0"/>
                <a:ea typeface="楷体_GB2312" pitchFamily="49" charset="-122"/>
                <a:cs typeface="Times New Roman" pitchFamily="18" charset="0"/>
              </a:rPr>
              <a:t>Γ&gt;0 ，</a:t>
            </a:r>
            <a:r>
              <a:rPr lang="zh-CN" altLang="en-US" sz="2400" b="1" dirty="0">
                <a:latin typeface="Times New Roman" pitchFamily="18" charset="0"/>
                <a:ea typeface="楷体_GB2312" pitchFamily="49" charset="-122"/>
                <a:cs typeface="Times New Roman" pitchFamily="18" charset="0"/>
              </a:rPr>
              <a:t>溶质表面层的浓度大于内部浓度</a:t>
            </a:r>
            <a:r>
              <a:rPr lang="zh-CN" altLang="en-US" sz="2400" b="1" dirty="0" smtClean="0">
                <a:latin typeface="Times New Roman" pitchFamily="18" charset="0"/>
                <a:ea typeface="楷体_GB2312" pitchFamily="49" charset="-122"/>
                <a:cs typeface="Times New Roman" pitchFamily="18" charset="0"/>
              </a:rPr>
              <a:t>，</a:t>
            </a:r>
            <a:endParaRPr lang="en-US" altLang="zh-CN" sz="2400" b="1" dirty="0" smtClean="0">
              <a:latin typeface="Times New Roman" pitchFamily="18" charset="0"/>
              <a:ea typeface="楷体_GB2312" pitchFamily="49" charset="-122"/>
              <a:cs typeface="Times New Roman" pitchFamily="18" charset="0"/>
            </a:endParaRPr>
          </a:p>
          <a:p>
            <a:pPr eaLnBrk="1" hangingPunct="1">
              <a:lnSpc>
                <a:spcPct val="135000"/>
              </a:lnSpc>
              <a:buFontTx/>
              <a:buNone/>
            </a:pPr>
            <a:r>
              <a:rPr lang="zh-CN" altLang="en-US" sz="2400" b="1" dirty="0" smtClean="0">
                <a:latin typeface="Times New Roman" pitchFamily="18" charset="0"/>
                <a:ea typeface="楷体_GB2312" pitchFamily="49" charset="-122"/>
                <a:cs typeface="Times New Roman" pitchFamily="18" charset="0"/>
              </a:rPr>
              <a:t>                       </a:t>
            </a:r>
            <a:r>
              <a:rPr lang="zh-CN" altLang="en-US" sz="2400" dirty="0" smtClean="0">
                <a:latin typeface="Times New Roman" pitchFamily="18" charset="0"/>
                <a:ea typeface="黑体" pitchFamily="49" charset="-122"/>
                <a:cs typeface="Times New Roman" pitchFamily="18" charset="0"/>
              </a:rPr>
              <a:t>称为</a:t>
            </a:r>
            <a:r>
              <a:rPr lang="zh-CN" altLang="en-US" sz="2400" b="1" dirty="0">
                <a:latin typeface="Times New Roman" pitchFamily="18" charset="0"/>
                <a:ea typeface="黑体" pitchFamily="49" charset="-122"/>
                <a:cs typeface="Times New Roman" pitchFamily="18" charset="0"/>
              </a:rPr>
              <a:t>正吸附</a:t>
            </a:r>
            <a:r>
              <a:rPr lang="zh-CN" altLang="en-US" sz="2400" dirty="0">
                <a:latin typeface="Times New Roman" pitchFamily="18" charset="0"/>
                <a:ea typeface="楷体_GB2312" pitchFamily="49" charset="-122"/>
                <a:cs typeface="Times New Roman" pitchFamily="18" charset="0"/>
              </a:rPr>
              <a:t>；</a:t>
            </a:r>
          </a:p>
          <a:p>
            <a:pPr eaLnBrk="1" hangingPunct="1">
              <a:lnSpc>
                <a:spcPct val="135000"/>
              </a:lnSpc>
              <a:buFontTx/>
              <a:buNone/>
            </a:pPr>
            <a:r>
              <a:rPr lang="zh-CN" altLang="en-US" sz="2400" b="1" dirty="0">
                <a:latin typeface="Times New Roman" pitchFamily="18" charset="0"/>
                <a:ea typeface="楷体_GB2312" pitchFamily="49" charset="-122"/>
                <a:cs typeface="Times New Roman" pitchFamily="18" charset="0"/>
              </a:rPr>
              <a:t>  </a:t>
            </a:r>
            <a:r>
              <a:rPr lang="zh-CN" altLang="en-US" sz="2400" b="1" dirty="0">
                <a:latin typeface="Times New Roman" pitchFamily="18" charset="0"/>
                <a:ea typeface="黑体" pitchFamily="49" charset="-122"/>
                <a:cs typeface="Times New Roman" pitchFamily="18" charset="0"/>
              </a:rPr>
              <a:t>                  </a:t>
            </a:r>
            <a:r>
              <a:rPr lang="zh-CN" altLang="en-US" sz="2400" b="1" dirty="0" smtClean="0">
                <a:latin typeface="Times New Roman" pitchFamily="18" charset="0"/>
                <a:ea typeface="黑体" pitchFamily="49" charset="-122"/>
                <a:cs typeface="Times New Roman" pitchFamily="18" charset="0"/>
              </a:rPr>
              <a:t>   </a:t>
            </a:r>
            <a:r>
              <a:rPr lang="zh-CN" altLang="en-US" sz="2400" dirty="0" smtClean="0">
                <a:latin typeface="Times New Roman" pitchFamily="18" charset="0"/>
                <a:ea typeface="黑体" pitchFamily="49" charset="-122"/>
                <a:cs typeface="Times New Roman" pitchFamily="18" charset="0"/>
              </a:rPr>
              <a:t>时</a:t>
            </a:r>
            <a:r>
              <a:rPr lang="zh-CN" altLang="en-US" sz="2400" dirty="0">
                <a:latin typeface="Times New Roman" pitchFamily="18" charset="0"/>
                <a:ea typeface="黑体" pitchFamily="49" charset="-122"/>
                <a:cs typeface="Times New Roman" pitchFamily="18" charset="0"/>
              </a:rPr>
              <a:t>，则</a:t>
            </a:r>
            <a:r>
              <a:rPr lang="zh-CN" altLang="en-US" sz="2400" dirty="0">
                <a:latin typeface="Times New Roman" pitchFamily="18" charset="0"/>
                <a:ea typeface="楷体_GB2312" pitchFamily="49" charset="-122"/>
                <a:cs typeface="Times New Roman" pitchFamily="18" charset="0"/>
              </a:rPr>
              <a:t>Γ</a:t>
            </a:r>
            <a:r>
              <a:rPr lang="en-US" altLang="zh-CN" sz="2400" dirty="0">
                <a:latin typeface="Times New Roman" pitchFamily="18" charset="0"/>
                <a:ea typeface="楷体_GB2312" pitchFamily="49" charset="-122"/>
                <a:cs typeface="Times New Roman" pitchFamily="18" charset="0"/>
              </a:rPr>
              <a:t>&lt;</a:t>
            </a:r>
            <a:r>
              <a:rPr lang="zh-CN" altLang="en-US" sz="2400" dirty="0">
                <a:latin typeface="Times New Roman" pitchFamily="18" charset="0"/>
                <a:ea typeface="楷体_GB2312" pitchFamily="49" charset="-122"/>
                <a:cs typeface="Times New Roman" pitchFamily="18" charset="0"/>
              </a:rPr>
              <a:t>0 ，</a:t>
            </a:r>
            <a:r>
              <a:rPr lang="zh-CN" altLang="en-US" sz="2400" b="1" dirty="0">
                <a:latin typeface="Times New Roman" pitchFamily="18" charset="0"/>
                <a:ea typeface="楷体_GB2312" pitchFamily="49" charset="-122"/>
                <a:cs typeface="Times New Roman" pitchFamily="18" charset="0"/>
              </a:rPr>
              <a:t>溶质表面层的浓度小于内部浓度，</a:t>
            </a:r>
            <a:endParaRPr lang="en-US" altLang="zh-CN" sz="2400" b="1" dirty="0">
              <a:latin typeface="Times New Roman" pitchFamily="18" charset="0"/>
              <a:ea typeface="楷体_GB2312" pitchFamily="49" charset="-122"/>
              <a:cs typeface="Times New Roman" pitchFamily="18" charset="0"/>
            </a:endParaRPr>
          </a:p>
          <a:p>
            <a:pPr eaLnBrk="1" hangingPunct="1">
              <a:lnSpc>
                <a:spcPct val="135000"/>
              </a:lnSpc>
              <a:buFontTx/>
              <a:buNone/>
            </a:pPr>
            <a:r>
              <a:rPr lang="zh-CN" altLang="en-US" sz="2400" dirty="0">
                <a:latin typeface="Times New Roman" pitchFamily="18" charset="0"/>
                <a:ea typeface="楷体_GB2312" pitchFamily="49" charset="-122"/>
                <a:cs typeface="Times New Roman" pitchFamily="18" charset="0"/>
              </a:rPr>
              <a:t>                   </a:t>
            </a:r>
            <a:r>
              <a:rPr lang="zh-CN" altLang="en-US" sz="2400" dirty="0" smtClean="0">
                <a:latin typeface="Times New Roman" pitchFamily="18" charset="0"/>
                <a:ea typeface="楷体_GB2312" pitchFamily="49" charset="-122"/>
                <a:cs typeface="Times New Roman" pitchFamily="18" charset="0"/>
              </a:rPr>
              <a:t>    </a:t>
            </a:r>
            <a:r>
              <a:rPr lang="zh-CN" altLang="en-US" sz="2400" dirty="0" smtClean="0">
                <a:latin typeface="Times New Roman" pitchFamily="18" charset="0"/>
                <a:ea typeface="黑体" pitchFamily="49" charset="-122"/>
                <a:cs typeface="Times New Roman" pitchFamily="18" charset="0"/>
              </a:rPr>
              <a:t>称为负吸附。</a:t>
            </a:r>
            <a:endParaRPr lang="zh-CN" altLang="en-US" sz="2400" dirty="0">
              <a:latin typeface="Times New Roman" pitchFamily="18" charset="0"/>
              <a:ea typeface="楷体_GB2312" pitchFamily="49" charset="-122"/>
              <a:cs typeface="Times New Roman" pitchFamily="18" charset="0"/>
            </a:endParaRPr>
          </a:p>
          <a:p>
            <a:pPr eaLnBrk="1" hangingPunct="1">
              <a:lnSpc>
                <a:spcPct val="135000"/>
              </a:lnSpc>
              <a:buFontTx/>
              <a:buNone/>
            </a:pPr>
            <a:r>
              <a:rPr lang="zh-CN" altLang="en-US" sz="2400" dirty="0">
                <a:latin typeface="Times New Roman" pitchFamily="18" charset="0"/>
                <a:ea typeface="楷体_GB2312" pitchFamily="49" charset="-122"/>
                <a:cs typeface="Times New Roman" pitchFamily="18" charset="0"/>
              </a:rPr>
              <a:t>  </a:t>
            </a:r>
            <a:endParaRPr lang="zh-CN" altLang="en-US" sz="2400" dirty="0">
              <a:latin typeface="Times New Roman" pitchFamily="18" charset="0"/>
              <a:ea typeface="黑体" pitchFamily="49" charset="-122"/>
              <a:cs typeface="Times New Roman" pitchFamily="18" charset="0"/>
            </a:endParaRPr>
          </a:p>
        </p:txBody>
      </p:sp>
      <p:sp>
        <p:nvSpPr>
          <p:cNvPr id="38917" name="Rectangle 5"/>
          <p:cNvSpPr>
            <a:spLocks noChangeArrowheads="1"/>
          </p:cNvSpPr>
          <p:nvPr/>
        </p:nvSpPr>
        <p:spPr bwMode="auto">
          <a:xfrm>
            <a:off x="971550" y="2451100"/>
            <a:ext cx="7272338" cy="1536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200" dirty="0">
                <a:latin typeface="黑体" pitchFamily="49" charset="-122"/>
                <a:ea typeface="黑体" pitchFamily="49" charset="-122"/>
              </a:rPr>
              <a:t>式中  </a:t>
            </a:r>
            <a:r>
              <a:rPr lang="zh-CN" altLang="en-US" sz="2200" i="1" dirty="0">
                <a:latin typeface="黑体" pitchFamily="49" charset="-122"/>
                <a:ea typeface="黑体" pitchFamily="49" charset="-122"/>
                <a:sym typeface="Times New Roman" pitchFamily="18" charset="0"/>
              </a:rPr>
              <a:t>Γ</a:t>
            </a:r>
            <a:r>
              <a:rPr lang="zh-CN" altLang="en-US" sz="2200" dirty="0">
                <a:latin typeface="黑体" pitchFamily="49" charset="-122"/>
                <a:ea typeface="黑体" pitchFamily="49" charset="-122"/>
              </a:rPr>
              <a:t>——表面吸附量，</a:t>
            </a:r>
            <a:r>
              <a:rPr lang="zh-CN" altLang="en-US" sz="2200" dirty="0">
                <a:latin typeface="Times New Roman" pitchFamily="18" charset="0"/>
                <a:cs typeface="Times New Roman" pitchFamily="18" charset="0"/>
              </a:rPr>
              <a:t>mol·m</a:t>
            </a:r>
            <a:r>
              <a:rPr lang="zh-CN" altLang="en-US" sz="2200" baseline="30000" dirty="0">
                <a:latin typeface="Times New Roman" pitchFamily="18" charset="0"/>
                <a:cs typeface="Times New Roman" pitchFamily="18" charset="0"/>
              </a:rPr>
              <a:t>-2</a:t>
            </a:r>
            <a:r>
              <a:rPr lang="zh-CN" altLang="en-US" sz="2200" dirty="0">
                <a:latin typeface="黑体" pitchFamily="49" charset="-122"/>
                <a:ea typeface="黑体" pitchFamily="49" charset="-122"/>
              </a:rPr>
              <a:t>；</a:t>
            </a:r>
          </a:p>
          <a:p>
            <a:pPr eaLnBrk="1" hangingPunct="1">
              <a:lnSpc>
                <a:spcPct val="150000"/>
              </a:lnSpc>
              <a:spcBef>
                <a:spcPct val="0"/>
              </a:spcBef>
              <a:buFontTx/>
              <a:buNone/>
            </a:pPr>
            <a:r>
              <a:rPr lang="zh-CN" altLang="en-US" sz="2200" dirty="0">
                <a:latin typeface="黑体" pitchFamily="49" charset="-122"/>
                <a:ea typeface="黑体" pitchFamily="49" charset="-122"/>
              </a:rPr>
              <a:t>      </a:t>
            </a:r>
            <a:r>
              <a:rPr lang="zh-CN" altLang="en-US" sz="2200" dirty="0">
                <a:latin typeface="黑体" pitchFamily="49" charset="-122"/>
                <a:ea typeface="黑体" pitchFamily="49" charset="-122"/>
                <a:sym typeface="Times New Roman" pitchFamily="18" charset="0"/>
              </a:rPr>
              <a:t>γ</a:t>
            </a:r>
            <a:r>
              <a:rPr lang="zh-CN" altLang="en-US" sz="2200" dirty="0">
                <a:latin typeface="黑体" pitchFamily="49" charset="-122"/>
                <a:ea typeface="黑体" pitchFamily="49" charset="-122"/>
              </a:rPr>
              <a:t>——溶液的表面张力，</a:t>
            </a:r>
            <a:r>
              <a:rPr lang="zh-CN" altLang="en-US" sz="2200" dirty="0">
                <a:latin typeface="Times New Roman" pitchFamily="18" charset="0"/>
                <a:cs typeface="Times New Roman" pitchFamily="18" charset="0"/>
              </a:rPr>
              <a:t>N·m</a:t>
            </a:r>
            <a:r>
              <a:rPr lang="zh-CN" altLang="en-US" sz="2200" baseline="30000" dirty="0">
                <a:latin typeface="Times New Roman" pitchFamily="18" charset="0"/>
                <a:cs typeface="Times New Roman" pitchFamily="18" charset="0"/>
              </a:rPr>
              <a:t>-1</a:t>
            </a:r>
            <a:r>
              <a:rPr lang="zh-CN" altLang="en-US" sz="2200" dirty="0">
                <a:latin typeface="Times New Roman" pitchFamily="18" charset="0"/>
                <a:cs typeface="Times New Roman" pitchFamily="18" charset="0"/>
              </a:rPr>
              <a:t>；</a:t>
            </a:r>
          </a:p>
          <a:p>
            <a:pPr eaLnBrk="1" hangingPunct="1">
              <a:lnSpc>
                <a:spcPct val="150000"/>
              </a:lnSpc>
              <a:spcBef>
                <a:spcPct val="0"/>
              </a:spcBef>
              <a:buFontTx/>
              <a:buNone/>
            </a:pPr>
            <a:r>
              <a:rPr lang="zh-CN" altLang="en-US" sz="2200" dirty="0">
                <a:latin typeface="黑体" pitchFamily="49" charset="-122"/>
                <a:ea typeface="黑体" pitchFamily="49" charset="-122"/>
              </a:rPr>
              <a:t>      c ——溶液的浓度，mol·m</a:t>
            </a:r>
            <a:r>
              <a:rPr lang="zh-CN" altLang="en-US" sz="2200" baseline="30000" dirty="0">
                <a:latin typeface="Times New Roman" pitchFamily="18" charset="0"/>
                <a:cs typeface="Times New Roman" pitchFamily="18" charset="0"/>
              </a:rPr>
              <a:t>-3</a:t>
            </a:r>
            <a:r>
              <a:rPr lang="zh-CN" altLang="en-US" sz="2200" dirty="0">
                <a:latin typeface="黑体" pitchFamily="49" charset="-122"/>
                <a:ea typeface="黑体" pitchFamily="49" charset="-122"/>
              </a:rPr>
              <a:t>。</a:t>
            </a:r>
          </a:p>
        </p:txBody>
      </p:sp>
      <p:sp>
        <p:nvSpPr>
          <p:cNvPr id="38918" name="Rectangle 6"/>
          <p:cNvSpPr>
            <a:spLocks noChangeArrowheads="1"/>
          </p:cNvSpPr>
          <p:nvPr/>
        </p:nvSpPr>
        <p:spPr bwMode="auto">
          <a:xfrm>
            <a:off x="612775" y="223838"/>
            <a:ext cx="8135938" cy="104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buFontTx/>
              <a:buNone/>
            </a:pPr>
            <a:r>
              <a:rPr lang="zh-CN" altLang="zh-CN" sz="2200" dirty="0">
                <a:latin typeface="Times New Roman" pitchFamily="18" charset="0"/>
                <a:ea typeface="黑体" pitchFamily="49" charset="-122"/>
              </a:rPr>
              <a:t>指定温度和压力下，溶质的表面吸附量与溶液的表面张力及溶液的浓度之间的定量关系遵守吉布斯吸附等温方程式：</a:t>
            </a:r>
          </a:p>
        </p:txBody>
      </p:sp>
      <p:graphicFrame>
        <p:nvGraphicFramePr>
          <p:cNvPr id="38919" name="Object 7"/>
          <p:cNvGraphicFramePr>
            <a:graphicFrameLocks noChangeAspect="1"/>
          </p:cNvGraphicFramePr>
          <p:nvPr/>
        </p:nvGraphicFramePr>
        <p:xfrm>
          <a:off x="612775" y="4157663"/>
          <a:ext cx="1331913" cy="808037"/>
        </p:xfrm>
        <a:graphic>
          <a:graphicData uri="http://schemas.openxmlformats.org/presentationml/2006/ole">
            <mc:AlternateContent xmlns:mc="http://schemas.openxmlformats.org/markup-compatibility/2006">
              <mc:Choice xmlns:v="urn:schemas-microsoft-com:vml" Requires="v">
                <p:oleObj spid="_x0000_s1216" name="Equation" r:id="rId5" imgW="774364" imgH="469696" progId="Equation.DSMT4">
                  <p:embed/>
                </p:oleObj>
              </mc:Choice>
              <mc:Fallback>
                <p:oleObj name="Equation" r:id="rId5" imgW="774364" imgH="46969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775" y="4157663"/>
                        <a:ext cx="1331913" cy="80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20" name="Object 8"/>
          <p:cNvGraphicFramePr>
            <a:graphicFrameLocks noChangeAspect="1"/>
          </p:cNvGraphicFramePr>
          <p:nvPr/>
        </p:nvGraphicFramePr>
        <p:xfrm>
          <a:off x="612775" y="5222875"/>
          <a:ext cx="1331913" cy="808038"/>
        </p:xfrm>
        <a:graphic>
          <a:graphicData uri="http://schemas.openxmlformats.org/presentationml/2006/ole">
            <mc:AlternateContent xmlns:mc="http://schemas.openxmlformats.org/markup-compatibility/2006">
              <mc:Choice xmlns:v="urn:schemas-microsoft-com:vml" Requires="v">
                <p:oleObj spid="_x0000_s1217" name="Equation" r:id="rId7" imgW="774364" imgH="469696" progId="Equation.DSMT4">
                  <p:embed/>
                </p:oleObj>
              </mc:Choice>
              <mc:Fallback>
                <p:oleObj name="Equation" r:id="rId7" imgW="774364" imgH="46969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775" y="5222875"/>
                        <a:ext cx="1331913"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8042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2"/>
          <p:cNvGraphicFramePr>
            <a:graphicFrameLocks noChangeAspect="1"/>
          </p:cNvGraphicFramePr>
          <p:nvPr/>
        </p:nvGraphicFramePr>
        <p:xfrm>
          <a:off x="1033463" y="1674813"/>
          <a:ext cx="2087562" cy="950912"/>
        </p:xfrm>
        <a:graphic>
          <a:graphicData uri="http://schemas.openxmlformats.org/presentationml/2006/ole">
            <mc:AlternateContent xmlns:mc="http://schemas.openxmlformats.org/markup-compatibility/2006">
              <mc:Choice xmlns:v="urn:schemas-microsoft-com:vml" Requires="v">
                <p:oleObj spid="_x0000_s2298" r:id="rId3" imgW="864726" imgH="394213" progId="Equation.3">
                  <p:embed/>
                </p:oleObj>
              </mc:Choice>
              <mc:Fallback>
                <p:oleObj r:id="rId3" imgW="864726" imgH="3942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3463" y="1674813"/>
                        <a:ext cx="2087562"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39" name="Object 3"/>
          <p:cNvGraphicFramePr>
            <a:graphicFrameLocks noChangeAspect="1"/>
          </p:cNvGraphicFramePr>
          <p:nvPr/>
        </p:nvGraphicFramePr>
        <p:xfrm>
          <a:off x="849313" y="3754438"/>
          <a:ext cx="2271712" cy="1042987"/>
        </p:xfrm>
        <a:graphic>
          <a:graphicData uri="http://schemas.openxmlformats.org/presentationml/2006/ole">
            <mc:AlternateContent xmlns:mc="http://schemas.openxmlformats.org/markup-compatibility/2006">
              <mc:Choice xmlns:v="urn:schemas-microsoft-com:vml" Requires="v">
                <p:oleObj spid="_x0000_s2299" r:id="rId5" imgW="941025" imgH="432363" progId="Equation.3">
                  <p:embed/>
                </p:oleObj>
              </mc:Choice>
              <mc:Fallback>
                <p:oleObj r:id="rId5" imgW="941025" imgH="43236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9313" y="3754438"/>
                        <a:ext cx="2271712" cy="1042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0" name="Rectangle 4"/>
          <p:cNvSpPr>
            <a:spLocks noChangeArrowheads="1"/>
          </p:cNvSpPr>
          <p:nvPr/>
        </p:nvSpPr>
        <p:spPr bwMode="auto">
          <a:xfrm>
            <a:off x="539750" y="4797425"/>
            <a:ext cx="309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zh-CN" sz="2400" b="1">
              <a:solidFill>
                <a:schemeClr val="tx2"/>
              </a:solidFill>
              <a:latin typeface="Times New Roman" pitchFamily="18" charset="0"/>
              <a:ea typeface="楷体_GB2312" pitchFamily="49" charset="-122"/>
            </a:endParaRPr>
          </a:p>
        </p:txBody>
      </p:sp>
      <p:sp>
        <p:nvSpPr>
          <p:cNvPr id="39941" name="Text Box 5"/>
          <p:cNvSpPr txBox="1">
            <a:spLocks noChangeArrowheads="1"/>
          </p:cNvSpPr>
          <p:nvPr/>
        </p:nvSpPr>
        <p:spPr bwMode="auto">
          <a:xfrm>
            <a:off x="606425" y="485775"/>
            <a:ext cx="7593013"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dirty="0">
                <a:latin typeface="黑体" pitchFamily="49" charset="-122"/>
                <a:ea typeface="黑体" pitchFamily="49" charset="-122"/>
              </a:rPr>
              <a:t>溶质吸附量</a:t>
            </a:r>
            <a:r>
              <a:rPr lang="zh-CN" altLang="en-US" sz="2400" dirty="0">
                <a:latin typeface="黑体" pitchFamily="49" charset="-122"/>
                <a:ea typeface="黑体" pitchFamily="49" charset="-122"/>
                <a:sym typeface="Times New Roman" pitchFamily="18" charset="0"/>
              </a:rPr>
              <a:t>Γ</a:t>
            </a:r>
            <a:r>
              <a:rPr lang="zh-CN" altLang="en-US" sz="2400" dirty="0">
                <a:latin typeface="黑体" pitchFamily="49" charset="-122"/>
                <a:ea typeface="黑体" pitchFamily="49" charset="-122"/>
                <a:sym typeface="黑体" pitchFamily="49" charset="-122"/>
              </a:rPr>
              <a:t>与浓度</a:t>
            </a:r>
            <a:r>
              <a:rPr lang="zh-CN" altLang="en-US" sz="2400" dirty="0">
                <a:latin typeface="Times New Roman" pitchFamily="18" charset="0"/>
                <a:ea typeface="黑体" pitchFamily="49" charset="-122"/>
                <a:sym typeface="黑体" pitchFamily="49" charset="-122"/>
              </a:rPr>
              <a:t>c</a:t>
            </a:r>
            <a:r>
              <a:rPr lang="zh-CN" altLang="en-US" sz="2400" dirty="0">
                <a:latin typeface="黑体" pitchFamily="49" charset="-122"/>
                <a:ea typeface="黑体" pitchFamily="49" charset="-122"/>
                <a:sym typeface="黑体" pitchFamily="49" charset="-122"/>
              </a:rPr>
              <a:t>之间的关系可以</a:t>
            </a:r>
            <a:r>
              <a:rPr lang="zh-CN" altLang="en-US" sz="2400" dirty="0" smtClean="0">
                <a:latin typeface="黑体" pitchFamily="49" charset="-122"/>
                <a:ea typeface="黑体" pitchFamily="49" charset="-122"/>
                <a:sym typeface="黑体" pitchFamily="49" charset="-122"/>
              </a:rPr>
              <a:t>用</a:t>
            </a:r>
            <a:endParaRPr lang="en-US" altLang="zh-CN" sz="2400" dirty="0" smtClean="0">
              <a:latin typeface="黑体" pitchFamily="49" charset="-122"/>
              <a:ea typeface="黑体" pitchFamily="49" charset="-122"/>
              <a:sym typeface="黑体" pitchFamily="49" charset="-122"/>
            </a:endParaRPr>
          </a:p>
          <a:p>
            <a:pPr eaLnBrk="1" hangingPunct="1">
              <a:lnSpc>
                <a:spcPct val="150000"/>
              </a:lnSpc>
              <a:spcBef>
                <a:spcPct val="0"/>
              </a:spcBef>
              <a:buFontTx/>
              <a:buNone/>
            </a:pPr>
            <a:r>
              <a:rPr lang="zh-CN" altLang="en-US" sz="2400" dirty="0" smtClean="0">
                <a:solidFill>
                  <a:srgbClr val="0000FF"/>
                </a:solidFill>
                <a:latin typeface="Times New Roman" pitchFamily="18" charset="0"/>
                <a:ea typeface="黑体" pitchFamily="49" charset="-122"/>
              </a:rPr>
              <a:t>Lanmuir </a:t>
            </a:r>
            <a:r>
              <a:rPr lang="zh-CN" altLang="en-US" sz="2400" dirty="0">
                <a:solidFill>
                  <a:srgbClr val="0000FF"/>
                </a:solidFill>
                <a:latin typeface="黑体" pitchFamily="49" charset="-122"/>
                <a:ea typeface="黑体" pitchFamily="49" charset="-122"/>
              </a:rPr>
              <a:t>吸附等温式表示</a:t>
            </a:r>
          </a:p>
        </p:txBody>
      </p:sp>
      <p:sp>
        <p:nvSpPr>
          <p:cNvPr id="39942" name="Text Box 6"/>
          <p:cNvSpPr txBox="1">
            <a:spLocks noChangeArrowheads="1"/>
          </p:cNvSpPr>
          <p:nvPr/>
        </p:nvSpPr>
        <p:spPr bwMode="auto">
          <a:xfrm>
            <a:off x="849313" y="2962275"/>
            <a:ext cx="7807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a:latin typeface="黑体" pitchFamily="49" charset="-122"/>
                <a:ea typeface="黑体" pitchFamily="49" charset="-122"/>
              </a:rPr>
              <a:t>式中</a:t>
            </a:r>
            <a:r>
              <a:rPr lang="zh-CN" altLang="en-US" sz="2400">
                <a:latin typeface="黑体" pitchFamily="49" charset="-122"/>
                <a:ea typeface="黑体" pitchFamily="49" charset="-122"/>
                <a:sym typeface="Times New Roman" pitchFamily="18" charset="0"/>
              </a:rPr>
              <a:t>Γ</a:t>
            </a:r>
            <a:r>
              <a:rPr lang="zh-CN" altLang="en-US" sz="2400" baseline="-25000">
                <a:latin typeface="黑体" pitchFamily="49" charset="-122"/>
                <a:ea typeface="黑体" pitchFamily="49" charset="-122"/>
                <a:sym typeface="Times New Roman" pitchFamily="18" charset="0"/>
              </a:rPr>
              <a:t>∞</a:t>
            </a:r>
            <a:r>
              <a:rPr lang="zh-CN" altLang="en-US" sz="2400">
                <a:latin typeface="黑体" pitchFamily="49" charset="-122"/>
                <a:ea typeface="黑体" pitchFamily="49" charset="-122"/>
                <a:sym typeface="黑体" pitchFamily="49" charset="-122"/>
              </a:rPr>
              <a:t>表示饱和吸附量，</a:t>
            </a:r>
            <a:r>
              <a:rPr lang="zh-CN" altLang="en-US" sz="2400">
                <a:latin typeface="Times New Roman" pitchFamily="18" charset="0"/>
                <a:ea typeface="黑体" pitchFamily="49" charset="-122"/>
                <a:sym typeface="黑体" pitchFamily="49" charset="-122"/>
              </a:rPr>
              <a:t>K</a:t>
            </a:r>
            <a:r>
              <a:rPr lang="zh-CN" altLang="en-US" sz="2400">
                <a:latin typeface="黑体" pitchFamily="49" charset="-122"/>
                <a:ea typeface="黑体" pitchFamily="49" charset="-122"/>
                <a:sym typeface="黑体" pitchFamily="49" charset="-122"/>
              </a:rPr>
              <a:t>为常数。上式整理后得</a:t>
            </a:r>
            <a:endParaRPr lang="zh-CN" altLang="en-US" sz="2400" baseline="-25000">
              <a:latin typeface="黑体" pitchFamily="49" charset="-122"/>
              <a:ea typeface="黑体" pitchFamily="49" charset="-122"/>
              <a:sym typeface="黑体" pitchFamily="49" charset="-122"/>
            </a:endParaRPr>
          </a:p>
        </p:txBody>
      </p:sp>
      <p:sp>
        <p:nvSpPr>
          <p:cNvPr id="39943" name="Text Box 7"/>
          <p:cNvSpPr txBox="1">
            <a:spLocks noChangeArrowheads="1"/>
          </p:cNvSpPr>
          <p:nvPr/>
        </p:nvSpPr>
        <p:spPr bwMode="auto">
          <a:xfrm>
            <a:off x="827088" y="5092700"/>
            <a:ext cx="48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a:ea typeface="黑体" pitchFamily="49" charset="-122"/>
              </a:rPr>
              <a:t>作</a:t>
            </a:r>
          </a:p>
        </p:txBody>
      </p:sp>
      <p:graphicFrame>
        <p:nvGraphicFramePr>
          <p:cNvPr id="39944" name="Object 8"/>
          <p:cNvGraphicFramePr>
            <a:graphicFrameLocks noChangeAspect="1"/>
          </p:cNvGraphicFramePr>
          <p:nvPr/>
        </p:nvGraphicFramePr>
        <p:xfrm>
          <a:off x="4114800" y="3206750"/>
          <a:ext cx="914400" cy="444500"/>
        </p:xfrm>
        <a:graphic>
          <a:graphicData uri="http://schemas.openxmlformats.org/presentationml/2006/ole">
            <mc:AlternateContent xmlns:mc="http://schemas.openxmlformats.org/markup-compatibility/2006">
              <mc:Choice xmlns:v="urn:schemas-microsoft-com:vml" Requires="v">
                <p:oleObj spid="_x0000_s2300" r:id="rId7" imgW="915842" imgH="444941" progId="Equation.3">
                  <p:embed/>
                </p:oleObj>
              </mc:Choice>
              <mc:Fallback>
                <p:oleObj r:id="rId7" imgW="915842" imgH="44494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3206750"/>
                        <a:ext cx="9144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45" name="Object 9"/>
          <p:cNvGraphicFramePr>
            <a:graphicFrameLocks/>
          </p:cNvGraphicFramePr>
          <p:nvPr/>
        </p:nvGraphicFramePr>
        <p:xfrm>
          <a:off x="1631950" y="4803775"/>
          <a:ext cx="876300" cy="901700"/>
        </p:xfrm>
        <a:graphic>
          <a:graphicData uri="http://schemas.openxmlformats.org/presentationml/2006/ole">
            <mc:AlternateContent xmlns:mc="http://schemas.openxmlformats.org/markup-compatibility/2006">
              <mc:Choice xmlns:v="urn:schemas-microsoft-com:vml" Requires="v">
                <p:oleObj spid="_x0000_s2301" r:id="rId9" imgW="850680" imgH="876240" progId="Equation.3">
                  <p:embed/>
                </p:oleObj>
              </mc:Choice>
              <mc:Fallback>
                <p:oleObj r:id="rId9" imgW="850680" imgH="87624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1950" y="4803775"/>
                        <a:ext cx="8763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6" name="Text Box 10"/>
          <p:cNvSpPr txBox="1">
            <a:spLocks noChangeArrowheads="1"/>
          </p:cNvSpPr>
          <p:nvPr/>
        </p:nvSpPr>
        <p:spPr bwMode="auto">
          <a:xfrm>
            <a:off x="2770188" y="4924425"/>
            <a:ext cx="6165850" cy="1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dirty="0">
                <a:latin typeface="黑体" pitchFamily="49" charset="-122"/>
                <a:ea typeface="黑体" pitchFamily="49" charset="-122"/>
              </a:rPr>
              <a:t>图，得一直线，由此直线的斜率和截距可求得常数</a:t>
            </a:r>
            <a:r>
              <a:rPr lang="zh-CN" altLang="en-US" sz="2400" dirty="0">
                <a:latin typeface="黑体" pitchFamily="49" charset="-122"/>
                <a:ea typeface="黑体" pitchFamily="49" charset="-122"/>
                <a:sym typeface="Times New Roman" pitchFamily="18" charset="0"/>
              </a:rPr>
              <a:t>Γ</a:t>
            </a:r>
            <a:r>
              <a:rPr lang="zh-CN" altLang="en-US" sz="2400" baseline="-25000" dirty="0">
                <a:latin typeface="黑体" pitchFamily="49" charset="-122"/>
                <a:ea typeface="黑体" pitchFamily="49" charset="-122"/>
                <a:sym typeface="Times New Roman" pitchFamily="18" charset="0"/>
              </a:rPr>
              <a:t>∞</a:t>
            </a:r>
            <a:r>
              <a:rPr lang="zh-CN" altLang="en-US" sz="2400" dirty="0">
                <a:latin typeface="黑体" pitchFamily="49" charset="-122"/>
                <a:ea typeface="黑体" pitchFamily="49" charset="-122"/>
                <a:sym typeface="Times New Roman" pitchFamily="18" charset="0"/>
              </a:rPr>
              <a:t>和</a:t>
            </a:r>
            <a:r>
              <a:rPr lang="zh-CN" altLang="en-US" sz="2400" dirty="0">
                <a:latin typeface="Times New Roman" pitchFamily="18" charset="0"/>
                <a:ea typeface="黑体" pitchFamily="49" charset="-122"/>
                <a:sym typeface="Times New Roman" pitchFamily="18" charset="0"/>
              </a:rPr>
              <a:t>K</a:t>
            </a:r>
          </a:p>
        </p:txBody>
      </p:sp>
    </p:spTree>
    <p:extLst>
      <p:ext uri="{BB962C8B-B14F-4D97-AF65-F5344CB8AC3E}">
        <p14:creationId xmlns:p14="http://schemas.microsoft.com/office/powerpoint/2010/main" val="1295451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xfrm>
            <a:off x="457200" y="647700"/>
            <a:ext cx="8229600" cy="5478463"/>
          </a:xfrm>
        </p:spPr>
        <p:txBody>
          <a:bodyPr/>
          <a:lstStyle/>
          <a:p>
            <a:pPr eaLnBrk="1" hangingPunct="1">
              <a:buFontTx/>
              <a:buNone/>
            </a:pPr>
            <a:r>
              <a:rPr lang="zh-CN" altLang="en-US" sz="2400" dirty="0" smtClean="0">
                <a:latin typeface="黑体" pitchFamily="49" charset="-122"/>
                <a:ea typeface="黑体" pitchFamily="49" charset="-122"/>
              </a:rPr>
              <a:t>如果以</a:t>
            </a:r>
            <a:r>
              <a:rPr lang="zh-CN" altLang="en-US" sz="2400" dirty="0" smtClean="0">
                <a:latin typeface="Times New Roman" pitchFamily="18" charset="0"/>
                <a:ea typeface="黑体" pitchFamily="49" charset="-122"/>
                <a:cs typeface="Times New Roman" pitchFamily="18" charset="0"/>
              </a:rPr>
              <a:t>N</a:t>
            </a:r>
            <a:r>
              <a:rPr lang="zh-CN" altLang="en-US" sz="2400" dirty="0" smtClean="0">
                <a:latin typeface="黑体" pitchFamily="49" charset="-122"/>
                <a:ea typeface="黑体" pitchFamily="49" charset="-122"/>
              </a:rPr>
              <a:t>代表</a:t>
            </a:r>
            <a:r>
              <a:rPr lang="zh-CN" altLang="en-US" sz="2400" dirty="0" smtClean="0">
                <a:latin typeface="Times New Roman" pitchFamily="18" charset="0"/>
                <a:ea typeface="黑体" pitchFamily="49" charset="-122"/>
              </a:rPr>
              <a:t>1m</a:t>
            </a:r>
            <a:r>
              <a:rPr lang="zh-CN" altLang="en-US" sz="2400" baseline="30000" dirty="0" smtClean="0">
                <a:latin typeface="Times New Roman" pitchFamily="18" charset="0"/>
                <a:ea typeface="黑体" pitchFamily="49" charset="-122"/>
              </a:rPr>
              <a:t>2</a:t>
            </a:r>
            <a:r>
              <a:rPr lang="zh-CN" altLang="en-US" sz="2400" dirty="0" smtClean="0">
                <a:latin typeface="黑体" pitchFamily="49" charset="-122"/>
                <a:ea typeface="黑体" pitchFamily="49" charset="-122"/>
              </a:rPr>
              <a:t>表面溶质的分子数，则</a:t>
            </a:r>
            <a:r>
              <a:rPr lang="zh-CN" altLang="en-US" sz="2400" dirty="0" smtClean="0">
                <a:latin typeface="Times New Roman" pitchFamily="18" charset="0"/>
                <a:cs typeface="Times New Roman" pitchFamily="18" charset="0"/>
              </a:rPr>
              <a:t>N=</a:t>
            </a:r>
            <a:r>
              <a:rPr lang="zh-CN" altLang="en-US" sz="2400" dirty="0" smtClean="0">
                <a:latin typeface="Times New Roman" pitchFamily="18" charset="0"/>
                <a:cs typeface="Times New Roman" pitchFamily="18" charset="0"/>
                <a:sym typeface="黑体" pitchFamily="49" charset="-122"/>
              </a:rPr>
              <a:t>Γ</a:t>
            </a:r>
            <a:r>
              <a:rPr lang="zh-CN" altLang="en-US" sz="2400" baseline="-25000" dirty="0" smtClean="0">
                <a:latin typeface="Times New Roman" pitchFamily="18" charset="0"/>
                <a:cs typeface="Times New Roman" pitchFamily="18" charset="0"/>
                <a:sym typeface="黑体" pitchFamily="49" charset="-122"/>
              </a:rPr>
              <a:t>∞</a:t>
            </a:r>
            <a:r>
              <a:rPr lang="zh-CN" altLang="en-US" sz="2400" dirty="0" smtClean="0">
                <a:latin typeface="Times New Roman" pitchFamily="18" charset="0"/>
                <a:cs typeface="Times New Roman" pitchFamily="18" charset="0"/>
                <a:sym typeface="黑体" pitchFamily="49" charset="-122"/>
              </a:rPr>
              <a:t>L</a:t>
            </a:r>
          </a:p>
          <a:p>
            <a:pPr eaLnBrk="1" hangingPunct="1">
              <a:lnSpc>
                <a:spcPct val="150000"/>
              </a:lnSpc>
              <a:buFontTx/>
              <a:buNone/>
            </a:pPr>
            <a:r>
              <a:rPr lang="zh-CN" altLang="en-US" sz="2400" dirty="0" smtClean="0">
                <a:latin typeface="Times New Roman" pitchFamily="18" charset="0"/>
                <a:cs typeface="Times New Roman" pitchFamily="18" charset="0"/>
                <a:sym typeface="黑体" pitchFamily="49" charset="-122"/>
              </a:rPr>
              <a:t>L</a:t>
            </a:r>
            <a:r>
              <a:rPr lang="zh-CN" altLang="en-US" sz="2400" dirty="0" smtClean="0">
                <a:latin typeface="Times New Roman" pitchFamily="18" charset="0"/>
                <a:ea typeface="黑体" pitchFamily="49" charset="-122"/>
                <a:sym typeface="黑体" pitchFamily="49" charset="-122"/>
              </a:rPr>
              <a:t>为阿伏伽德罗常数，每个分子在表面所占据的截面积A</a:t>
            </a:r>
            <a:r>
              <a:rPr lang="zh-CN" altLang="en-US" sz="2400" baseline="-25000" dirty="0" smtClean="0">
                <a:latin typeface="Times New Roman" pitchFamily="18" charset="0"/>
                <a:ea typeface="黑体" pitchFamily="49" charset="-122"/>
                <a:sym typeface="黑体" pitchFamily="49" charset="-122"/>
              </a:rPr>
              <a:t>m</a:t>
            </a:r>
            <a:r>
              <a:rPr lang="zh-CN" altLang="en-US" sz="2400" dirty="0" smtClean="0">
                <a:latin typeface="Times New Roman" pitchFamily="18" charset="0"/>
                <a:ea typeface="黑体" pitchFamily="49" charset="-122"/>
                <a:sym typeface="黑体" pitchFamily="49" charset="-122"/>
              </a:rPr>
              <a:t>为</a:t>
            </a:r>
          </a:p>
          <a:p>
            <a:pPr eaLnBrk="1" hangingPunct="1">
              <a:lnSpc>
                <a:spcPct val="150000"/>
              </a:lnSpc>
              <a:buFontTx/>
              <a:buNone/>
            </a:pPr>
            <a:endParaRPr lang="zh-CN" altLang="en-US" sz="2400" dirty="0" smtClean="0">
              <a:latin typeface="Times New Roman" pitchFamily="18" charset="0"/>
              <a:ea typeface="黑体" pitchFamily="49" charset="-122"/>
              <a:sym typeface="黑体" pitchFamily="49" charset="-122"/>
            </a:endParaRPr>
          </a:p>
          <a:p>
            <a:pPr eaLnBrk="1" hangingPunct="1">
              <a:lnSpc>
                <a:spcPct val="150000"/>
              </a:lnSpc>
              <a:buFontTx/>
              <a:buNone/>
            </a:pPr>
            <a:endParaRPr lang="zh-CN" altLang="en-US" sz="2400" dirty="0" smtClean="0">
              <a:latin typeface="Times New Roman" pitchFamily="18" charset="0"/>
              <a:ea typeface="黑体" pitchFamily="49" charset="-122"/>
              <a:sym typeface="黑体" pitchFamily="49" charset="-122"/>
            </a:endParaRPr>
          </a:p>
          <a:p>
            <a:pPr eaLnBrk="1" hangingPunct="1">
              <a:lnSpc>
                <a:spcPct val="150000"/>
              </a:lnSpc>
              <a:buFontTx/>
              <a:buNone/>
            </a:pPr>
            <a:endParaRPr lang="zh-CN" altLang="en-US" sz="2400" dirty="0" smtClean="0">
              <a:latin typeface="Times New Roman" pitchFamily="18" charset="0"/>
              <a:ea typeface="黑体" pitchFamily="49" charset="-122"/>
              <a:sym typeface="黑体" pitchFamily="49" charset="-122"/>
            </a:endParaRPr>
          </a:p>
          <a:p>
            <a:pPr eaLnBrk="1" hangingPunct="1">
              <a:lnSpc>
                <a:spcPct val="150000"/>
              </a:lnSpc>
              <a:buFontTx/>
              <a:buNone/>
            </a:pPr>
            <a:r>
              <a:rPr lang="zh-CN" altLang="en-US" sz="2400" dirty="0" smtClean="0">
                <a:latin typeface="Times New Roman" pitchFamily="18" charset="0"/>
                <a:ea typeface="黑体" pitchFamily="49" charset="-122"/>
                <a:sym typeface="黑体" pitchFamily="49" charset="-122"/>
              </a:rPr>
              <a:t> </a:t>
            </a:r>
            <a:r>
              <a:rPr lang="zh-CN" altLang="en-US" sz="2200" dirty="0" smtClean="0">
                <a:latin typeface="Times New Roman" pitchFamily="18" charset="0"/>
                <a:ea typeface="黑体" pitchFamily="49" charset="-122"/>
                <a:sym typeface="黑体" pitchFamily="49" charset="-122"/>
              </a:rPr>
              <a:t>测定表面张力的方法很多：最大泡压法、拉环法、张力计法等。</a:t>
            </a:r>
            <a:endParaRPr lang="en-US" altLang="zh-CN" sz="2200" dirty="0" smtClean="0">
              <a:latin typeface="Times New Roman" pitchFamily="18" charset="0"/>
              <a:ea typeface="黑体" pitchFamily="49" charset="-122"/>
              <a:sym typeface="黑体" pitchFamily="49" charset="-122"/>
            </a:endParaRPr>
          </a:p>
          <a:p>
            <a:pPr eaLnBrk="1" hangingPunct="1">
              <a:lnSpc>
                <a:spcPct val="150000"/>
              </a:lnSpc>
              <a:buFontTx/>
              <a:buNone/>
            </a:pPr>
            <a:r>
              <a:rPr lang="en-US" altLang="zh-CN" sz="2200" dirty="0">
                <a:latin typeface="Times New Roman" pitchFamily="18" charset="0"/>
                <a:ea typeface="黑体" pitchFamily="49" charset="-122"/>
                <a:sym typeface="黑体" pitchFamily="49" charset="-122"/>
              </a:rPr>
              <a:t> </a:t>
            </a:r>
            <a:r>
              <a:rPr lang="en-US" altLang="zh-CN" sz="2200" dirty="0" smtClean="0">
                <a:latin typeface="Times New Roman" pitchFamily="18" charset="0"/>
                <a:ea typeface="黑体" pitchFamily="49" charset="-122"/>
                <a:sym typeface="黑体" pitchFamily="49" charset="-122"/>
              </a:rPr>
              <a:t> </a:t>
            </a:r>
            <a:r>
              <a:rPr lang="zh-CN" altLang="en-US" sz="2200" dirty="0" smtClean="0">
                <a:latin typeface="Times New Roman" pitchFamily="18" charset="0"/>
                <a:ea typeface="黑体" pitchFamily="49" charset="-122"/>
                <a:sym typeface="黑体" pitchFamily="49" charset="-122"/>
              </a:rPr>
              <a:t>本实验中采用</a:t>
            </a:r>
            <a:r>
              <a:rPr lang="zh-CN" altLang="en-US" sz="2200" dirty="0" smtClean="0">
                <a:solidFill>
                  <a:srgbClr val="0000FF"/>
                </a:solidFill>
                <a:latin typeface="Times New Roman" pitchFamily="18" charset="0"/>
                <a:ea typeface="黑体" pitchFamily="49" charset="-122"/>
                <a:sym typeface="黑体" pitchFamily="49" charset="-122"/>
              </a:rPr>
              <a:t>最大泡压法来测定液体的表面张力</a:t>
            </a:r>
          </a:p>
          <a:p>
            <a:pPr eaLnBrk="1" hangingPunct="1">
              <a:lnSpc>
                <a:spcPct val="150000"/>
              </a:lnSpc>
              <a:buFontTx/>
              <a:buNone/>
            </a:pPr>
            <a:endParaRPr lang="zh-CN" altLang="en-US" sz="2400" dirty="0" smtClean="0">
              <a:latin typeface="Times New Roman" pitchFamily="18" charset="0"/>
              <a:ea typeface="黑体" pitchFamily="49" charset="-122"/>
              <a:sym typeface="黑体" pitchFamily="49" charset="-122"/>
            </a:endParaRPr>
          </a:p>
        </p:txBody>
      </p:sp>
      <p:graphicFrame>
        <p:nvGraphicFramePr>
          <p:cNvPr id="40963" name="Object 3"/>
          <p:cNvGraphicFramePr>
            <a:graphicFrameLocks noChangeAspect="1"/>
          </p:cNvGraphicFramePr>
          <p:nvPr/>
        </p:nvGraphicFramePr>
        <p:xfrm>
          <a:off x="1392238" y="1927225"/>
          <a:ext cx="2233612" cy="977900"/>
        </p:xfrm>
        <a:graphic>
          <a:graphicData uri="http://schemas.openxmlformats.org/presentationml/2006/ole">
            <mc:AlternateContent xmlns:mc="http://schemas.openxmlformats.org/markup-compatibility/2006">
              <mc:Choice xmlns:v="urn:schemas-microsoft-com:vml" Requires="v">
                <p:oleObj spid="_x0000_s3137" r:id="rId3" imgW="2235760" imgH="978145" progId="Equation.3">
                  <p:embed/>
                </p:oleObj>
              </mc:Choice>
              <mc:Fallback>
                <p:oleObj r:id="rId3" imgW="2235760" imgH="97814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238" y="1927225"/>
                        <a:ext cx="223361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59309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ChangeArrowheads="1"/>
          </p:cNvSpPr>
          <p:nvPr/>
        </p:nvSpPr>
        <p:spPr bwMode="auto">
          <a:xfrm>
            <a:off x="2771800" y="317599"/>
            <a:ext cx="33988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800" b="1" dirty="0">
                <a:solidFill>
                  <a:srgbClr val="0000FF"/>
                </a:solidFill>
              </a:rPr>
              <a:t>表面张力测量装置图</a:t>
            </a:r>
          </a:p>
        </p:txBody>
      </p:sp>
      <p:pic>
        <p:nvPicPr>
          <p:cNvPr id="41987"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1600" y="980728"/>
            <a:ext cx="7114073" cy="361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11560" y="4725144"/>
            <a:ext cx="8280920" cy="1754326"/>
          </a:xfrm>
          <a:prstGeom prst="rect">
            <a:avLst/>
          </a:prstGeom>
          <a:noFill/>
        </p:spPr>
        <p:txBody>
          <a:bodyPr wrap="square" rtlCol="0">
            <a:spAutoFit/>
          </a:bodyPr>
          <a:lstStyle/>
          <a:p>
            <a:pPr>
              <a:lnSpc>
                <a:spcPct val="150000"/>
              </a:lnSpc>
            </a:pPr>
            <a:r>
              <a:rPr lang="zh-CN" altLang="en-US" dirty="0" smtClean="0">
                <a:latin typeface="黑体" pitchFamily="49" charset="-122"/>
                <a:ea typeface="黑体" pitchFamily="49" charset="-122"/>
              </a:rPr>
              <a:t>    将</a:t>
            </a:r>
            <a:r>
              <a:rPr lang="zh-CN" altLang="en-US" dirty="0">
                <a:latin typeface="黑体" pitchFamily="49" charset="-122"/>
                <a:ea typeface="黑体" pitchFamily="49" charset="-122"/>
              </a:rPr>
              <a:t>待测液体置于样品管中，使毛细管端面与液面相切，此时，液面沿毛细管上升至一定高度。打开滴液漏斗缓慢抽气，此时，样品管中的压力渐减少，毛细管中的大气压力增大就会将管中液面压至管口，并形成气泡，其曲率半径恰好等于毛细管半径</a:t>
            </a:r>
            <a:r>
              <a:rPr lang="zh-CN" altLang="en-US" dirty="0">
                <a:latin typeface="Times New Roman" pitchFamily="18" charset="0"/>
                <a:ea typeface="黑体" pitchFamily="49" charset="-122"/>
              </a:rPr>
              <a:t>R时，根据杨-拉普拉斯公式，此时能承受的压力差为</a:t>
            </a:r>
            <a:r>
              <a:rPr lang="zh-CN" altLang="en-US" dirty="0" smtClean="0">
                <a:latin typeface="Times New Roman" pitchFamily="18" charset="0"/>
                <a:ea typeface="黑体" pitchFamily="49" charset="-122"/>
              </a:rPr>
              <a:t>最大。</a:t>
            </a:r>
            <a:endParaRPr lang="zh-CN" altLang="en-US" dirty="0"/>
          </a:p>
        </p:txBody>
      </p:sp>
    </p:spTree>
    <p:extLst>
      <p:ext uri="{BB962C8B-B14F-4D97-AF65-F5344CB8AC3E}">
        <p14:creationId xmlns:p14="http://schemas.microsoft.com/office/powerpoint/2010/main" val="4228423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aphicFrame>
        <p:nvGraphicFramePr>
          <p:cNvPr id="44035" name="Object 3"/>
          <p:cNvGraphicFramePr>
            <a:graphicFrameLocks noChangeAspect="1"/>
          </p:cNvGraphicFramePr>
          <p:nvPr/>
        </p:nvGraphicFramePr>
        <p:xfrm>
          <a:off x="4060825" y="0"/>
          <a:ext cx="1130300" cy="828675"/>
        </p:xfrm>
        <a:graphic>
          <a:graphicData uri="http://schemas.openxmlformats.org/presentationml/2006/ole">
            <mc:AlternateContent xmlns:mc="http://schemas.openxmlformats.org/markup-compatibility/2006">
              <mc:Choice xmlns:v="urn:schemas-microsoft-com:vml" Requires="v">
                <p:oleObj spid="_x0000_s4278" name="Equation" r:id="rId3" imgW="520474" imgH="393529" progId="Equation.DSMT4">
                  <p:embed/>
                </p:oleObj>
              </mc:Choice>
              <mc:Fallback>
                <p:oleObj name="Equation" r:id="rId3" imgW="520474"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0825" y="0"/>
                        <a:ext cx="11303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4037" name="Rectangle 5"/>
          <p:cNvSpPr>
            <a:spLocks noChangeArrowheads="1"/>
          </p:cNvSpPr>
          <p:nvPr/>
        </p:nvSpPr>
        <p:spPr bwMode="auto">
          <a:xfrm>
            <a:off x="539750" y="247650"/>
            <a:ext cx="25058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杨-拉普拉斯公式</a:t>
            </a:r>
          </a:p>
        </p:txBody>
      </p:sp>
      <p:sp>
        <p:nvSpPr>
          <p:cNvPr id="44038" name="Rectangle 6"/>
          <p:cNvSpPr>
            <a:spLocks noChangeArrowheads="1"/>
          </p:cNvSpPr>
          <p:nvPr/>
        </p:nvSpPr>
        <p:spPr bwMode="auto">
          <a:xfrm>
            <a:off x="1907704" y="841283"/>
            <a:ext cx="58324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000" dirty="0">
                <a:latin typeface="Times New Roman" pitchFamily="18" charset="0"/>
                <a:ea typeface="楷体_GB2312" pitchFamily="49" charset="-122"/>
              </a:rPr>
              <a:t>      </a:t>
            </a:r>
            <a:r>
              <a:rPr lang="zh-CN" altLang="en-US" sz="2000" dirty="0">
                <a:latin typeface="Times New Roman" pitchFamily="18" charset="0"/>
                <a:cs typeface="Times New Roman" pitchFamily="18" charset="0"/>
              </a:rPr>
              <a:t>   </a:t>
            </a:r>
            <a:r>
              <a:rPr lang="zh-CN" altLang="en-US" sz="2000" i="1" dirty="0">
                <a:latin typeface="Times New Roman" pitchFamily="18" charset="0"/>
                <a:cs typeface="Times New Roman" pitchFamily="18" charset="0"/>
              </a:rPr>
              <a:t>p</a:t>
            </a:r>
            <a:r>
              <a:rPr lang="zh-CN" altLang="en-US" sz="2000" i="1" dirty="0">
                <a:latin typeface="Times New Roman" pitchFamily="18" charset="0"/>
                <a:ea typeface="楷体_GB2312" pitchFamily="49" charset="-122"/>
              </a:rPr>
              <a:t> </a:t>
            </a:r>
            <a:r>
              <a:rPr lang="en-US" altLang="zh-CN" sz="2000" i="1" baseline="-25000" dirty="0">
                <a:latin typeface="Times New Roman" pitchFamily="18" charset="0"/>
                <a:ea typeface="楷体_GB2312" pitchFamily="49" charset="-122"/>
              </a:rPr>
              <a:t>s</a:t>
            </a:r>
            <a:r>
              <a:rPr lang="zh-CN" altLang="en-US" sz="2000" dirty="0">
                <a:latin typeface="Times New Roman" pitchFamily="18" charset="0"/>
                <a:ea typeface="楷体_GB2312" pitchFamily="49" charset="-122"/>
              </a:rPr>
              <a:t>—— </a:t>
            </a:r>
            <a:r>
              <a:rPr lang="zh-CN" altLang="en-US" sz="2000" dirty="0">
                <a:latin typeface="Times New Roman" pitchFamily="18" charset="0"/>
                <a:ea typeface="黑体" pitchFamily="49" charset="-122"/>
              </a:rPr>
              <a:t>弯曲液面的附加压力</a:t>
            </a:r>
            <a:r>
              <a:rPr lang="zh-CN" altLang="en-US" sz="2000" dirty="0">
                <a:latin typeface="Times New Roman" pitchFamily="18" charset="0"/>
                <a:ea typeface="楷体_GB2312" pitchFamily="49" charset="-122"/>
              </a:rPr>
              <a:t>，Pa；</a:t>
            </a:r>
          </a:p>
          <a:p>
            <a:pPr eaLnBrk="1" hangingPunct="1">
              <a:lnSpc>
                <a:spcPct val="150000"/>
              </a:lnSpc>
              <a:spcBef>
                <a:spcPct val="0"/>
              </a:spcBef>
              <a:buFontTx/>
              <a:buNone/>
            </a:pPr>
            <a:r>
              <a:rPr lang="zh-CN" altLang="en-US" sz="2000" dirty="0">
                <a:latin typeface="Times New Roman" pitchFamily="18" charset="0"/>
                <a:ea typeface="楷体_GB2312" pitchFamily="49" charset="-122"/>
              </a:rPr>
              <a:t>         </a:t>
            </a:r>
            <a:r>
              <a:rPr lang="zh-CN" altLang="en-US" sz="2000" i="1" dirty="0">
                <a:latin typeface="Times New Roman" pitchFamily="18" charset="0"/>
                <a:ea typeface="楷体_GB2312" pitchFamily="49" charset="-122"/>
                <a:sym typeface="黑体" pitchFamily="49" charset="-122"/>
              </a:rPr>
              <a:t>γ</a:t>
            </a:r>
            <a:r>
              <a:rPr lang="zh-CN" altLang="en-US" sz="2000" i="1" dirty="0">
                <a:latin typeface="Times New Roman" pitchFamily="18" charset="0"/>
                <a:ea typeface="楷体_GB2312" pitchFamily="49" charset="-122"/>
              </a:rPr>
              <a:t> </a:t>
            </a:r>
            <a:r>
              <a:rPr lang="zh-CN" altLang="en-US" sz="2000" dirty="0">
                <a:latin typeface="Times New Roman" pitchFamily="18" charset="0"/>
                <a:ea typeface="楷体_GB2312" pitchFamily="49" charset="-122"/>
              </a:rPr>
              <a:t>—— </a:t>
            </a:r>
            <a:r>
              <a:rPr lang="zh-CN" altLang="en-US" sz="2000" dirty="0">
                <a:latin typeface="Times New Roman" pitchFamily="18" charset="0"/>
                <a:ea typeface="黑体" pitchFamily="49" charset="-122"/>
              </a:rPr>
              <a:t>溶液的表面张力</a:t>
            </a:r>
            <a:r>
              <a:rPr lang="zh-CN" altLang="en-US" sz="2000" dirty="0">
                <a:latin typeface="Times New Roman" pitchFamily="18" charset="0"/>
                <a:ea typeface="楷体_GB2312" pitchFamily="49" charset="-122"/>
              </a:rPr>
              <a:t>，N·m</a:t>
            </a:r>
            <a:r>
              <a:rPr lang="zh-CN" altLang="en-US" sz="2000" baseline="30000" dirty="0">
                <a:latin typeface="Times New Roman" pitchFamily="18" charset="0"/>
                <a:ea typeface="楷体_GB2312" pitchFamily="49" charset="-122"/>
              </a:rPr>
              <a:t>-1</a:t>
            </a:r>
            <a:r>
              <a:rPr lang="zh-CN" altLang="en-US" sz="2000" dirty="0">
                <a:latin typeface="Times New Roman" pitchFamily="18" charset="0"/>
                <a:ea typeface="楷体_GB2312" pitchFamily="49" charset="-122"/>
              </a:rPr>
              <a:t>；</a:t>
            </a:r>
          </a:p>
          <a:p>
            <a:pPr eaLnBrk="1" hangingPunct="1">
              <a:lnSpc>
                <a:spcPct val="150000"/>
              </a:lnSpc>
              <a:spcBef>
                <a:spcPct val="0"/>
              </a:spcBef>
              <a:buFontTx/>
              <a:buNone/>
            </a:pPr>
            <a:r>
              <a:rPr lang="zh-CN" altLang="en-US" sz="2000" dirty="0">
                <a:latin typeface="Times New Roman" pitchFamily="18" charset="0"/>
                <a:ea typeface="楷体_GB2312" pitchFamily="49" charset="-122"/>
              </a:rPr>
              <a:t>         </a:t>
            </a:r>
            <a:r>
              <a:rPr lang="zh-CN" altLang="en-US" sz="2000" dirty="0" smtClean="0">
                <a:latin typeface="Times New Roman" pitchFamily="18" charset="0"/>
                <a:ea typeface="楷体_GB2312" pitchFamily="49" charset="-122"/>
              </a:rPr>
              <a:t>R</a:t>
            </a:r>
            <a:r>
              <a:rPr lang="zh-CN" altLang="en-US" sz="2000" i="1" dirty="0" smtClean="0">
                <a:latin typeface="Times New Roman" pitchFamily="18" charset="0"/>
                <a:ea typeface="楷体_GB2312" pitchFamily="49" charset="-122"/>
              </a:rPr>
              <a:t>  </a:t>
            </a:r>
            <a:r>
              <a:rPr lang="zh-CN" altLang="en-US" sz="2000" dirty="0">
                <a:latin typeface="Times New Roman" pitchFamily="18" charset="0"/>
                <a:ea typeface="楷体_GB2312" pitchFamily="49" charset="-122"/>
              </a:rPr>
              <a:t>—— </a:t>
            </a:r>
            <a:r>
              <a:rPr lang="zh-CN" altLang="en-US" sz="2000" dirty="0">
                <a:latin typeface="Times New Roman" pitchFamily="18" charset="0"/>
                <a:ea typeface="黑体" pitchFamily="49" charset="-122"/>
              </a:rPr>
              <a:t>气泡的曲率半径，即毛细管半径，m；</a:t>
            </a:r>
          </a:p>
        </p:txBody>
      </p:sp>
      <p:sp>
        <p:nvSpPr>
          <p:cNvPr id="44039" name="Rectangle 7"/>
          <p:cNvSpPr>
            <a:spLocks noChangeArrowheads="1"/>
          </p:cNvSpPr>
          <p:nvPr/>
        </p:nvSpPr>
        <p:spPr bwMode="auto">
          <a:xfrm>
            <a:off x="828873" y="2348880"/>
            <a:ext cx="7775575" cy="94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000" dirty="0">
                <a:latin typeface="黑体" pitchFamily="49" charset="-122"/>
                <a:ea typeface="黑体" pitchFamily="49" charset="-122"/>
              </a:rPr>
              <a:t>因</a:t>
            </a:r>
            <a:r>
              <a:rPr lang="zh-CN" altLang="en-US" sz="2000" i="1" dirty="0">
                <a:latin typeface="Times New Roman" pitchFamily="18" charset="0"/>
                <a:ea typeface="黑体" pitchFamily="49" charset="-122"/>
              </a:rPr>
              <a:t>R</a:t>
            </a:r>
            <a:r>
              <a:rPr lang="zh-CN" altLang="en-US" sz="2000" dirty="0">
                <a:latin typeface="黑体" pitchFamily="49" charset="-122"/>
                <a:ea typeface="黑体" pitchFamily="49" charset="-122"/>
              </a:rPr>
              <a:t>很小，测量困难，所以使用已知表面张力的液体</a:t>
            </a:r>
            <a:r>
              <a:rPr lang="en-US" altLang="zh-CN" sz="2000" dirty="0">
                <a:latin typeface="黑体" pitchFamily="49" charset="-122"/>
                <a:ea typeface="黑体" pitchFamily="49" charset="-122"/>
              </a:rPr>
              <a:t>1</a:t>
            </a:r>
            <a:r>
              <a:rPr lang="zh-CN" altLang="en-US" sz="2000" dirty="0">
                <a:latin typeface="黑体" pitchFamily="49" charset="-122"/>
                <a:ea typeface="黑体" pitchFamily="49" charset="-122"/>
              </a:rPr>
              <a:t>（通常为水）来测定毛细管常数，然后再进行其他溶液</a:t>
            </a:r>
            <a:r>
              <a:rPr lang="en-US" altLang="zh-CN" sz="2000" dirty="0">
                <a:latin typeface="黑体" pitchFamily="49" charset="-122"/>
                <a:ea typeface="黑体" pitchFamily="49" charset="-122"/>
              </a:rPr>
              <a:t>2</a:t>
            </a:r>
            <a:r>
              <a:rPr lang="zh-CN" altLang="en-US" sz="2000" dirty="0">
                <a:latin typeface="黑体" pitchFamily="49" charset="-122"/>
                <a:ea typeface="黑体" pitchFamily="49" charset="-122"/>
              </a:rPr>
              <a:t>表面张力的测定</a:t>
            </a:r>
          </a:p>
        </p:txBody>
      </p:sp>
      <p:graphicFrame>
        <p:nvGraphicFramePr>
          <p:cNvPr id="44040" name="Object 8"/>
          <p:cNvGraphicFramePr>
            <a:graphicFrameLocks noGrp="1" noChangeAspect="1"/>
          </p:cNvGraphicFramePr>
          <p:nvPr>
            <p:ph sz="half" idx="1"/>
            <p:extLst>
              <p:ext uri="{D42A27DB-BD31-4B8C-83A1-F6EECF244321}">
                <p14:modId xmlns:p14="http://schemas.microsoft.com/office/powerpoint/2010/main" val="3872364226"/>
              </p:ext>
            </p:extLst>
          </p:nvPr>
        </p:nvGraphicFramePr>
        <p:xfrm>
          <a:off x="4064000" y="2996952"/>
          <a:ext cx="1016000" cy="1147763"/>
        </p:xfrm>
        <a:graphic>
          <a:graphicData uri="http://schemas.openxmlformats.org/presentationml/2006/ole">
            <mc:AlternateContent xmlns:mc="http://schemas.openxmlformats.org/markup-compatibility/2006">
              <mc:Choice xmlns:v="urn:schemas-microsoft-com:vml" Requires="v">
                <p:oleObj spid="_x0000_s4279" name="Equation" r:id="rId5" imgW="583947" imgH="660113" progId="Equation.DSMT4">
                  <p:embed/>
                </p:oleObj>
              </mc:Choice>
              <mc:Fallback>
                <p:oleObj name="Equation" r:id="rId5" imgW="583947" imgH="66011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4000" y="2996952"/>
                        <a:ext cx="1016000" cy="114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1" name="Text Box 9"/>
          <p:cNvSpPr txBox="1">
            <a:spLocks noChangeArrowheads="1"/>
          </p:cNvSpPr>
          <p:nvPr/>
        </p:nvSpPr>
        <p:spPr bwMode="auto">
          <a:xfrm>
            <a:off x="833636" y="4160088"/>
            <a:ext cx="7770812"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000" dirty="0">
                <a:latin typeface="黑体" pitchFamily="49" charset="-122"/>
                <a:ea typeface="黑体" pitchFamily="49" charset="-122"/>
              </a:rPr>
              <a:t>本实验以</a:t>
            </a:r>
            <a:r>
              <a:rPr lang="zh-CN" altLang="en-US" sz="2000" dirty="0">
                <a:solidFill>
                  <a:srgbClr val="0000FF"/>
                </a:solidFill>
                <a:latin typeface="黑体" pitchFamily="49" charset="-122"/>
                <a:ea typeface="黑体" pitchFamily="49" charset="-122"/>
              </a:rPr>
              <a:t>蒸馏水</a:t>
            </a:r>
            <a:r>
              <a:rPr lang="zh-CN" altLang="en-US" sz="2000" dirty="0">
                <a:latin typeface="黑体" pitchFamily="49" charset="-122"/>
                <a:ea typeface="黑体" pitchFamily="49" charset="-122"/>
              </a:rPr>
              <a:t>为标准物质，先测定水的最大附加压力</a:t>
            </a:r>
            <a:r>
              <a:rPr lang="zh-CN" altLang="en-US" sz="2000" dirty="0">
                <a:latin typeface="Times New Roman" pitchFamily="18" charset="0"/>
                <a:cs typeface="Times New Roman" pitchFamily="18" charset="0"/>
                <a:sym typeface="Times New Roman" pitchFamily="18" charset="0"/>
              </a:rPr>
              <a:t>p</a:t>
            </a:r>
            <a:r>
              <a:rPr lang="en-US" altLang="zh-CN" sz="2000" baseline="-25000" dirty="0">
                <a:latin typeface="Times New Roman" pitchFamily="18" charset="0"/>
                <a:cs typeface="Times New Roman" pitchFamily="18" charset="0"/>
                <a:sym typeface="Times New Roman" pitchFamily="18" charset="0"/>
              </a:rPr>
              <a:t>s</a:t>
            </a:r>
            <a:r>
              <a:rPr lang="zh-CN" altLang="en-US" sz="2000" baseline="-25000" dirty="0">
                <a:latin typeface="Times New Roman" pitchFamily="18" charset="0"/>
                <a:cs typeface="Times New Roman" pitchFamily="18" charset="0"/>
                <a:sym typeface="Times New Roman" pitchFamily="18" charset="0"/>
              </a:rPr>
              <a:t>1</a:t>
            </a:r>
            <a:r>
              <a:rPr lang="zh-CN" altLang="en-US" sz="2000" dirty="0">
                <a:latin typeface="黑体" pitchFamily="49" charset="-122"/>
                <a:ea typeface="黑体" pitchFamily="49" charset="-122"/>
              </a:rPr>
              <a:t>，</a:t>
            </a:r>
            <a:r>
              <a:rPr lang="zh-CN" altLang="en-US" sz="2000" dirty="0">
                <a:latin typeface="Times New Roman" pitchFamily="18" charset="0"/>
                <a:ea typeface="黑体" pitchFamily="49" charset="-122"/>
                <a:sym typeface="Times New Roman" pitchFamily="18" charset="0"/>
              </a:rPr>
              <a:t>查文献得到实验温度下水的表面张力</a:t>
            </a:r>
            <a:r>
              <a:rPr lang="zh-CN" altLang="en-US" sz="2000" dirty="0">
                <a:latin typeface="Times New Roman" pitchFamily="18" charset="0"/>
                <a:ea typeface="黑体" pitchFamily="49" charset="-122"/>
                <a:sym typeface="黑体" pitchFamily="49" charset="-122"/>
              </a:rPr>
              <a:t>γ</a:t>
            </a:r>
            <a:r>
              <a:rPr lang="zh-CN" altLang="en-US" sz="2000" baseline="-25000" dirty="0">
                <a:latin typeface="Times New Roman" pitchFamily="18" charset="0"/>
                <a:ea typeface="黑体" pitchFamily="49" charset="-122"/>
                <a:sym typeface="黑体" pitchFamily="49" charset="-122"/>
              </a:rPr>
              <a:t>1</a:t>
            </a:r>
            <a:r>
              <a:rPr lang="zh-CN" altLang="en-US" sz="2000" dirty="0">
                <a:latin typeface="Times New Roman" pitchFamily="18" charset="0"/>
                <a:ea typeface="黑体" pitchFamily="49" charset="-122"/>
                <a:sym typeface="黑体" pitchFamily="49" charset="-122"/>
              </a:rPr>
              <a:t>，</a:t>
            </a:r>
            <a:r>
              <a:rPr lang="zh-CN" altLang="en-US" sz="2000" dirty="0" smtClean="0">
                <a:latin typeface="Times New Roman" pitchFamily="18" charset="0"/>
                <a:ea typeface="黑体" pitchFamily="49" charset="-122"/>
                <a:sym typeface="黑体" pitchFamily="49" charset="-122"/>
              </a:rPr>
              <a:t>则</a:t>
            </a:r>
            <a:r>
              <a:rPr lang="zh-CN" altLang="en-US" sz="2000" dirty="0">
                <a:latin typeface="黑体" pitchFamily="49" charset="-122"/>
                <a:ea typeface="黑体" pitchFamily="49" charset="-122"/>
              </a:rPr>
              <a:t>溶液的表面张力可以用以下公式计算得到</a:t>
            </a:r>
            <a:endParaRPr lang="zh-CN" altLang="en-US" sz="2000" dirty="0">
              <a:latin typeface="Times New Roman" pitchFamily="18" charset="0"/>
              <a:ea typeface="黑体" pitchFamily="49" charset="-122"/>
              <a:sym typeface="黑体" pitchFamily="49"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634458786"/>
              </p:ext>
            </p:extLst>
          </p:nvPr>
        </p:nvGraphicFramePr>
        <p:xfrm>
          <a:off x="2620479" y="5229200"/>
          <a:ext cx="2203450" cy="1401763"/>
        </p:xfrm>
        <a:graphic>
          <a:graphicData uri="http://schemas.openxmlformats.org/presentationml/2006/ole">
            <mc:AlternateContent xmlns:mc="http://schemas.openxmlformats.org/markup-compatibility/2006">
              <mc:Choice xmlns:v="urn:schemas-microsoft-com:vml" Requires="v">
                <p:oleObj spid="_x0000_s4280" name="Equation" r:id="rId7" imgW="698197" imgH="444307" progId="Equation.DSMT4">
                  <p:embed/>
                </p:oleObj>
              </mc:Choice>
              <mc:Fallback>
                <p:oleObj name="Equation" r:id="rId7" imgW="698197" imgH="444307"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0479" y="5229200"/>
                        <a:ext cx="220345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240184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Text Box 4"/>
          <p:cNvSpPr txBox="1">
            <a:spLocks noChangeArrowheads="1"/>
          </p:cNvSpPr>
          <p:nvPr/>
        </p:nvSpPr>
        <p:spPr bwMode="auto">
          <a:xfrm>
            <a:off x="539552" y="260648"/>
            <a:ext cx="8229600"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b="1" dirty="0">
                <a:latin typeface="黑体" pitchFamily="49" charset="-122"/>
                <a:ea typeface="黑体" pitchFamily="49" charset="-122"/>
              </a:rPr>
              <a:t>三、实验步骤</a:t>
            </a:r>
          </a:p>
          <a:p>
            <a:pPr eaLnBrk="1" hangingPunct="1">
              <a:lnSpc>
                <a:spcPct val="150000"/>
              </a:lnSpc>
              <a:spcBef>
                <a:spcPct val="0"/>
              </a:spcBef>
              <a:buFontTx/>
              <a:buNone/>
            </a:pPr>
            <a:r>
              <a:rPr lang="zh-CN" altLang="en-US" sz="2200" dirty="0">
                <a:latin typeface="黑体" pitchFamily="49" charset="-122"/>
                <a:ea typeface="黑体" pitchFamily="49" charset="-122"/>
              </a:rPr>
              <a:t>1．用称重法粗略配制</a:t>
            </a:r>
            <a:r>
              <a:rPr lang="zh-CN" altLang="en-US" sz="2200" dirty="0">
                <a:latin typeface="Times New Roman" pitchFamily="18" charset="0"/>
                <a:ea typeface="黑体" pitchFamily="49" charset="-122"/>
              </a:rPr>
              <a:t>5%、10%、15%、20%、25%、30%、35%</a:t>
            </a:r>
            <a:r>
              <a:rPr lang="zh-CN" altLang="en-US" sz="2200" dirty="0" smtClean="0">
                <a:latin typeface="Times New Roman" pitchFamily="18" charset="0"/>
                <a:ea typeface="黑体" pitchFamily="49" charset="-122"/>
              </a:rPr>
              <a:t>、   </a:t>
            </a:r>
            <a:endParaRPr lang="en-US" altLang="zh-CN" sz="2200" dirty="0" smtClean="0">
              <a:latin typeface="Times New Roman" pitchFamily="18" charset="0"/>
              <a:ea typeface="黑体" pitchFamily="49" charset="-122"/>
            </a:endParaRPr>
          </a:p>
          <a:p>
            <a:pPr eaLnBrk="1" hangingPunct="1">
              <a:lnSpc>
                <a:spcPct val="150000"/>
              </a:lnSpc>
              <a:spcBef>
                <a:spcPct val="0"/>
              </a:spcBef>
              <a:buFontTx/>
              <a:buNone/>
            </a:pPr>
            <a:r>
              <a:rPr lang="en-US" altLang="zh-CN" sz="2200" dirty="0">
                <a:latin typeface="Times New Roman" pitchFamily="18" charset="0"/>
                <a:ea typeface="黑体" pitchFamily="49" charset="-122"/>
              </a:rPr>
              <a:t> </a:t>
            </a:r>
            <a:r>
              <a:rPr lang="en-US" altLang="zh-CN" sz="2200" dirty="0" smtClean="0">
                <a:latin typeface="Times New Roman" pitchFamily="18" charset="0"/>
                <a:ea typeface="黑体" pitchFamily="49" charset="-122"/>
              </a:rPr>
              <a:t>     </a:t>
            </a:r>
            <a:r>
              <a:rPr lang="zh-CN" altLang="en-US" sz="2200" dirty="0" smtClean="0">
                <a:latin typeface="Times New Roman" pitchFamily="18" charset="0"/>
                <a:ea typeface="黑体" pitchFamily="49" charset="-122"/>
              </a:rPr>
              <a:t>40</a:t>
            </a:r>
            <a:r>
              <a:rPr lang="zh-CN" altLang="en-US" sz="2200" dirty="0">
                <a:latin typeface="Times New Roman" pitchFamily="18" charset="0"/>
                <a:ea typeface="黑体" pitchFamily="49" charset="-122"/>
              </a:rPr>
              <a:t>%</a:t>
            </a:r>
            <a:r>
              <a:rPr lang="zh-CN" altLang="en-US" sz="2200" dirty="0">
                <a:latin typeface="黑体" pitchFamily="49" charset="-122"/>
                <a:ea typeface="黑体" pitchFamily="49" charset="-122"/>
              </a:rPr>
              <a:t>的乙醇水溶液各50</a:t>
            </a:r>
            <a:r>
              <a:rPr lang="zh-CN" altLang="en-US" sz="2200" dirty="0">
                <a:latin typeface="Times New Roman" pitchFamily="18" charset="0"/>
                <a:ea typeface="黑体" pitchFamily="49" charset="-122"/>
              </a:rPr>
              <a:t>ml</a:t>
            </a:r>
            <a:r>
              <a:rPr lang="zh-CN" altLang="en-US" sz="2200" dirty="0">
                <a:latin typeface="黑体" pitchFamily="49" charset="-122"/>
                <a:ea typeface="黑体" pitchFamily="49" charset="-122"/>
              </a:rPr>
              <a:t>待用（已配好，直接使用）。</a:t>
            </a:r>
          </a:p>
          <a:p>
            <a:pPr eaLnBrk="1" hangingPunct="1">
              <a:lnSpc>
                <a:spcPct val="150000"/>
              </a:lnSpc>
              <a:spcBef>
                <a:spcPct val="0"/>
              </a:spcBef>
              <a:buFontTx/>
              <a:buNone/>
            </a:pPr>
            <a:r>
              <a:rPr lang="zh-CN" altLang="en-US" sz="2200" dirty="0">
                <a:latin typeface="黑体" pitchFamily="49" charset="-122"/>
                <a:ea typeface="黑体" pitchFamily="49" charset="-122"/>
              </a:rPr>
              <a:t>2．实验前将毛细管和试管用洗液洗净，按图装好全套装置，将</a:t>
            </a:r>
            <a:r>
              <a:rPr lang="zh-CN" altLang="en-US" sz="2200" dirty="0" smtClean="0">
                <a:latin typeface="黑体" pitchFamily="49" charset="-122"/>
                <a:ea typeface="黑体" pitchFamily="49" charset="-122"/>
              </a:rPr>
              <a:t>温  </a:t>
            </a:r>
            <a:endParaRPr lang="en-US" altLang="zh-CN" sz="2200" dirty="0" smtClean="0">
              <a:latin typeface="黑体" pitchFamily="49" charset="-122"/>
              <a:ea typeface="黑体" pitchFamily="49" charset="-122"/>
            </a:endParaRPr>
          </a:p>
          <a:p>
            <a:pPr eaLnBrk="1" hangingPunct="1">
              <a:lnSpc>
                <a:spcPct val="150000"/>
              </a:lnSpc>
              <a:spcBef>
                <a:spcPct val="0"/>
              </a:spcBef>
              <a:buFontTx/>
              <a:buNone/>
            </a:pPr>
            <a:r>
              <a:rPr lang="en-US" altLang="zh-CN" sz="2200" dirty="0">
                <a:latin typeface="黑体" pitchFamily="49" charset="-122"/>
                <a:ea typeface="黑体" pitchFamily="49" charset="-122"/>
              </a:rPr>
              <a:t> </a:t>
            </a:r>
            <a:r>
              <a:rPr lang="en-US" altLang="zh-CN" sz="2200" dirty="0" smtClean="0">
                <a:latin typeface="黑体" pitchFamily="49" charset="-122"/>
                <a:ea typeface="黑体" pitchFamily="49" charset="-122"/>
              </a:rPr>
              <a:t>  </a:t>
            </a:r>
            <a:r>
              <a:rPr lang="zh-CN" altLang="en-US" sz="2200" dirty="0" smtClean="0">
                <a:latin typeface="黑体" pitchFamily="49" charset="-122"/>
                <a:ea typeface="黑体" pitchFamily="49" charset="-122"/>
              </a:rPr>
              <a:t>度</a:t>
            </a:r>
            <a:r>
              <a:rPr lang="zh-CN" altLang="en-US" sz="2200" dirty="0">
                <a:latin typeface="黑体" pitchFamily="49" charset="-122"/>
                <a:ea typeface="黑体" pitchFamily="49" charset="-122"/>
              </a:rPr>
              <a:t>调至25℃。</a:t>
            </a:r>
          </a:p>
          <a:p>
            <a:pPr eaLnBrk="1" hangingPunct="1">
              <a:lnSpc>
                <a:spcPct val="150000"/>
              </a:lnSpc>
              <a:spcBef>
                <a:spcPct val="0"/>
              </a:spcBef>
              <a:buFontTx/>
              <a:buNone/>
            </a:pPr>
            <a:r>
              <a:rPr lang="zh-CN" altLang="en-US" sz="2400" dirty="0">
                <a:latin typeface="黑体" pitchFamily="49" charset="-122"/>
                <a:ea typeface="黑体" pitchFamily="49" charset="-122"/>
              </a:rPr>
              <a:t>      </a:t>
            </a:r>
          </a:p>
          <a:p>
            <a:pPr eaLnBrk="1" hangingPunct="1">
              <a:lnSpc>
                <a:spcPct val="150000"/>
              </a:lnSpc>
              <a:spcBef>
                <a:spcPct val="0"/>
              </a:spcBef>
              <a:buFontTx/>
              <a:buNone/>
            </a:pPr>
            <a:r>
              <a:rPr lang="zh-CN" altLang="en-US" sz="2400" dirty="0">
                <a:latin typeface="黑体" pitchFamily="49" charset="-122"/>
                <a:ea typeface="黑体" pitchFamily="49" charset="-122"/>
              </a:rPr>
              <a:t> </a:t>
            </a:r>
          </a:p>
        </p:txBody>
      </p:sp>
      <p:pic>
        <p:nvPicPr>
          <p:cNvPr id="26" name="Picture 2" descr="泡沫法测液体表面张力装置PA150018"/>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600" b="3815"/>
          <a:stretch/>
        </p:blipFill>
        <p:spPr bwMode="auto">
          <a:xfrm>
            <a:off x="1872000" y="2969496"/>
            <a:ext cx="5400000" cy="3709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26387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457200" y="476672"/>
            <a:ext cx="8229600" cy="5965825"/>
          </a:xfrm>
        </p:spPr>
        <p:txBody>
          <a:bodyPr/>
          <a:lstStyle/>
          <a:p>
            <a:pPr eaLnBrk="1" hangingPunct="1">
              <a:lnSpc>
                <a:spcPct val="150000"/>
              </a:lnSpc>
              <a:buFontTx/>
              <a:buNone/>
            </a:pPr>
            <a:r>
              <a:rPr lang="zh-CN" altLang="en-US" sz="2200" dirty="0" smtClean="0">
                <a:latin typeface="黑体" pitchFamily="49" charset="-122"/>
                <a:ea typeface="黑体" pitchFamily="49" charset="-122"/>
              </a:rPr>
              <a:t>3．在大试管中盛入水，放入毛细管，使毛细管管口刚好与液面相接触，放入恒温水浴中恒温</a:t>
            </a:r>
            <a:r>
              <a:rPr lang="zh-CN" altLang="en-US" sz="2200" dirty="0" smtClean="0">
                <a:latin typeface="Times New Roman" pitchFamily="18" charset="0"/>
                <a:ea typeface="黑体" pitchFamily="49" charset="-122"/>
              </a:rPr>
              <a:t>5</a:t>
            </a:r>
            <a:r>
              <a:rPr lang="zh-CN" altLang="en-US" sz="2200" dirty="0" smtClean="0">
                <a:latin typeface="黑体" pitchFamily="49" charset="-122"/>
                <a:ea typeface="黑体" pitchFamily="49" charset="-122"/>
              </a:rPr>
              <a:t>分钟，缓慢打开水活塞，使气泡从毛细管端尽可能慢慢地放出(每分钟</a:t>
            </a:r>
            <a:r>
              <a:rPr lang="zh-CN" altLang="en-US" sz="2200" dirty="0" smtClean="0">
                <a:latin typeface="Times New Roman" pitchFamily="18" charset="0"/>
                <a:cs typeface="Times New Roman" pitchFamily="18" charset="0"/>
              </a:rPr>
              <a:t>8～12</a:t>
            </a:r>
            <a:r>
              <a:rPr lang="zh-CN" altLang="en-US" sz="2200" dirty="0" smtClean="0">
                <a:latin typeface="黑体" pitchFamily="49" charset="-122"/>
                <a:ea typeface="黑体" pitchFamily="49" charset="-122"/>
              </a:rPr>
              <a:t>个气泡)，待气泡均匀稳定的放出时，读取压差计上的最大数值</a:t>
            </a:r>
            <a:r>
              <a:rPr lang="zh-CN" altLang="en-US" sz="2200" i="1" dirty="0" smtClean="0">
                <a:latin typeface="Times New Roman" pitchFamily="18" charset="0"/>
                <a:cs typeface="Times New Roman" pitchFamily="18" charset="0"/>
              </a:rPr>
              <a:t>p</a:t>
            </a:r>
            <a:r>
              <a:rPr lang="zh-CN" altLang="en-US" sz="2200" i="1" dirty="0" smtClean="0">
                <a:latin typeface="Times New Roman" pitchFamily="18" charset="0"/>
                <a:ea typeface="楷体_GB2312" pitchFamily="49" charset="-122"/>
              </a:rPr>
              <a:t> </a:t>
            </a:r>
            <a:r>
              <a:rPr lang="en-US" altLang="zh-CN" sz="2200" i="1" baseline="-25000" dirty="0" smtClean="0">
                <a:latin typeface="Times New Roman" pitchFamily="18" charset="0"/>
                <a:ea typeface="楷体_GB2312" pitchFamily="49" charset="-122"/>
              </a:rPr>
              <a:t>s </a:t>
            </a:r>
            <a:r>
              <a:rPr lang="zh-CN" altLang="en-US" sz="2200" dirty="0" smtClean="0">
                <a:latin typeface="黑体" pitchFamily="49" charset="-122"/>
                <a:ea typeface="黑体" pitchFamily="49" charset="-122"/>
              </a:rPr>
              <a:t>，读三次，取平均值。</a:t>
            </a:r>
          </a:p>
          <a:p>
            <a:pPr eaLnBrk="1" hangingPunct="1">
              <a:lnSpc>
                <a:spcPct val="150000"/>
              </a:lnSpc>
              <a:buFontTx/>
              <a:buNone/>
            </a:pPr>
            <a:r>
              <a:rPr lang="zh-CN" altLang="en-US" sz="2200" dirty="0" smtClean="0">
                <a:latin typeface="黑体" pitchFamily="49" charset="-122"/>
                <a:ea typeface="黑体" pitchFamily="49" charset="-122"/>
              </a:rPr>
              <a:t>4．按上述方法将乙醇水溶液依浓度从小到大的次序分别测定最大压力差。每次测量前必须用少量被测液洗涤支管试管和毛细管，确保毛细管内外溶液的浓度一致。测定样品管中溶液的折光率，读数二次，取平均值。</a:t>
            </a:r>
          </a:p>
          <a:p>
            <a:pPr eaLnBrk="1" hangingPunct="1">
              <a:lnSpc>
                <a:spcPct val="150000"/>
              </a:lnSpc>
              <a:buFontTx/>
              <a:buNone/>
            </a:pPr>
            <a:r>
              <a:rPr lang="zh-CN" altLang="en-US" sz="2200" dirty="0" smtClean="0">
                <a:latin typeface="黑体" pitchFamily="49" charset="-122"/>
                <a:ea typeface="黑体" pitchFamily="49" charset="-122"/>
              </a:rPr>
              <a:t>5．实验完毕，洗净玻璃仪器，关掉电源。</a:t>
            </a:r>
          </a:p>
          <a:p>
            <a:pPr eaLnBrk="1" hangingPunct="1">
              <a:lnSpc>
                <a:spcPct val="150000"/>
              </a:lnSpc>
              <a:buFontTx/>
              <a:buNone/>
            </a:pPr>
            <a:endParaRPr lang="zh-CN" altLang="en-US" sz="2400" dirty="0" smtClean="0">
              <a:latin typeface="黑体" pitchFamily="49" charset="-122"/>
              <a:ea typeface="黑体" pitchFamily="49" charset="-122"/>
            </a:endParaRPr>
          </a:p>
          <a:p>
            <a:pPr eaLnBrk="1" hangingPunct="1">
              <a:lnSpc>
                <a:spcPct val="150000"/>
              </a:lnSpc>
            </a:pPr>
            <a:endParaRPr lang="zh-CN" altLang="en-US" sz="2400" dirty="0" smtClean="0">
              <a:latin typeface="黑体" pitchFamily="49" charset="-122"/>
              <a:ea typeface="黑体" pitchFamily="49" charset="-122"/>
            </a:endParaRPr>
          </a:p>
          <a:p>
            <a:pPr eaLnBrk="1" hangingPunct="1"/>
            <a:endParaRPr lang="zh-CN" altLang="en-US" dirty="0" smtClean="0">
              <a:latin typeface="黑体" pitchFamily="49" charset="-122"/>
              <a:ea typeface="黑体" pitchFamily="49" charset="-122"/>
            </a:endParaRPr>
          </a:p>
        </p:txBody>
      </p:sp>
    </p:spTree>
    <p:extLst>
      <p:ext uri="{BB962C8B-B14F-4D97-AF65-F5344CB8AC3E}">
        <p14:creationId xmlns:p14="http://schemas.microsoft.com/office/powerpoint/2010/main" val="463176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1"/>
          <p:cNvSpPr>
            <a:spLocks noChangeArrowheads="1"/>
          </p:cNvSpPr>
          <p:nvPr/>
        </p:nvSpPr>
        <p:spPr bwMode="auto">
          <a:xfrm>
            <a:off x="676275" y="377825"/>
            <a:ext cx="8259763"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b="1" dirty="0">
                <a:latin typeface="Times New Roman" pitchFamily="18" charset="0"/>
                <a:ea typeface="黑体" pitchFamily="49" charset="-122"/>
              </a:rPr>
              <a:t>四、实验数据记录</a:t>
            </a:r>
            <a:endParaRPr lang="en-US" altLang="zh-CN" sz="2400" b="1" dirty="0">
              <a:latin typeface="Times New Roman" pitchFamily="18" charset="0"/>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1</a:t>
            </a:r>
            <a:r>
              <a:rPr lang="zh-CN" altLang="en-US" sz="2400" dirty="0">
                <a:latin typeface="黑体" pitchFamily="49" charset="-122"/>
                <a:ea typeface="黑体" pitchFamily="49" charset="-122"/>
              </a:rPr>
              <a:t>、室温</a:t>
            </a:r>
            <a:r>
              <a:rPr lang="zh-CN" altLang="en-US" sz="2400" u="sng" dirty="0">
                <a:latin typeface="黑体" pitchFamily="49" charset="-122"/>
                <a:ea typeface="黑体" pitchFamily="49" charset="-122"/>
              </a:rPr>
              <a:t>      </a:t>
            </a:r>
            <a:r>
              <a:rPr lang="en-US" altLang="zh-CN" sz="2400" baseline="30000" dirty="0" err="1">
                <a:latin typeface="黑体" pitchFamily="49" charset="-122"/>
                <a:ea typeface="黑体" pitchFamily="49" charset="-122"/>
              </a:rPr>
              <a:t>o</a:t>
            </a:r>
            <a:r>
              <a:rPr lang="en-US" altLang="zh-CN" sz="2400" dirty="0" err="1">
                <a:latin typeface="黑体" pitchFamily="49" charset="-122"/>
                <a:ea typeface="黑体" pitchFamily="49" charset="-122"/>
              </a:rPr>
              <a:t>C</a:t>
            </a:r>
            <a:endParaRPr lang="en-US" altLang="zh-CN" sz="2400" dirty="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2</a:t>
            </a:r>
            <a:r>
              <a:rPr lang="zh-CN" altLang="en-US" sz="2400" dirty="0">
                <a:latin typeface="黑体" pitchFamily="49" charset="-122"/>
                <a:ea typeface="黑体" pitchFamily="49" charset="-122"/>
              </a:rPr>
              <a:t>、水的最大附加压力</a:t>
            </a:r>
            <a:r>
              <a:rPr lang="zh-CN" altLang="en-US" sz="2400" u="sng" dirty="0">
                <a:latin typeface="黑体" pitchFamily="49" charset="-122"/>
                <a:ea typeface="黑体" pitchFamily="49" charset="-122"/>
              </a:rPr>
              <a:t>      </a:t>
            </a:r>
            <a:r>
              <a:rPr lang="en-US" altLang="zh-CN" sz="2400" dirty="0">
                <a:latin typeface="黑体" pitchFamily="49" charset="-122"/>
                <a:ea typeface="黑体" pitchFamily="49" charset="-122"/>
              </a:rPr>
              <a:t>mmH</a:t>
            </a:r>
            <a:r>
              <a:rPr lang="en-US" altLang="zh-CN" sz="2400" baseline="-25000" dirty="0">
                <a:latin typeface="黑体" pitchFamily="49" charset="-122"/>
                <a:ea typeface="黑体" pitchFamily="49" charset="-122"/>
              </a:rPr>
              <a:t>2</a:t>
            </a:r>
            <a:r>
              <a:rPr lang="en-US" altLang="zh-CN" sz="2400" dirty="0">
                <a:latin typeface="黑体" pitchFamily="49" charset="-122"/>
                <a:ea typeface="黑体" pitchFamily="49" charset="-122"/>
              </a:rPr>
              <a:t>O</a:t>
            </a:r>
            <a:r>
              <a:rPr lang="zh-CN" altLang="en-US" sz="2400" dirty="0">
                <a:latin typeface="黑体" pitchFamily="49" charset="-122"/>
                <a:ea typeface="黑体" pitchFamily="49" charset="-122"/>
              </a:rPr>
              <a:t>，</a:t>
            </a:r>
            <a:r>
              <a:rPr lang="zh-CN" altLang="en-US" sz="2400" u="sng" dirty="0">
                <a:latin typeface="黑体" pitchFamily="49" charset="-122"/>
                <a:ea typeface="黑体" pitchFamily="49" charset="-122"/>
              </a:rPr>
              <a:t>      </a:t>
            </a:r>
            <a:r>
              <a:rPr lang="en-US" altLang="zh-CN" sz="2400" dirty="0">
                <a:latin typeface="黑体" pitchFamily="49" charset="-122"/>
                <a:ea typeface="黑体" pitchFamily="49" charset="-122"/>
              </a:rPr>
              <a:t>mmH</a:t>
            </a:r>
            <a:r>
              <a:rPr lang="en-US" altLang="zh-CN" sz="2400" baseline="-25000" dirty="0">
                <a:latin typeface="黑体" pitchFamily="49" charset="-122"/>
                <a:ea typeface="黑体" pitchFamily="49" charset="-122"/>
              </a:rPr>
              <a:t>2</a:t>
            </a:r>
            <a:r>
              <a:rPr lang="en-US" altLang="zh-CN" sz="2400" dirty="0">
                <a:latin typeface="黑体" pitchFamily="49" charset="-122"/>
                <a:ea typeface="黑体" pitchFamily="49" charset="-122"/>
              </a:rPr>
              <a:t>O</a:t>
            </a:r>
            <a:r>
              <a:rPr lang="zh-CN" altLang="en-US" sz="2400" dirty="0">
                <a:latin typeface="黑体" pitchFamily="49" charset="-122"/>
                <a:ea typeface="黑体" pitchFamily="49" charset="-122"/>
              </a:rPr>
              <a:t>，</a:t>
            </a:r>
            <a:endParaRPr lang="en-US" altLang="zh-CN" sz="2400" dirty="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      </a:t>
            </a:r>
            <a:r>
              <a:rPr lang="zh-CN" altLang="en-US" sz="2400" u="sng" dirty="0">
                <a:latin typeface="黑体" pitchFamily="49" charset="-122"/>
                <a:ea typeface="黑体" pitchFamily="49" charset="-122"/>
              </a:rPr>
              <a:t>      </a:t>
            </a:r>
            <a:r>
              <a:rPr lang="en-US" altLang="zh-CN" sz="2400" dirty="0">
                <a:latin typeface="黑体" pitchFamily="49" charset="-122"/>
                <a:ea typeface="黑体" pitchFamily="49" charset="-122"/>
              </a:rPr>
              <a:t>mmH</a:t>
            </a:r>
            <a:r>
              <a:rPr lang="en-US" altLang="zh-CN" sz="2400" baseline="-25000" dirty="0">
                <a:latin typeface="黑体" pitchFamily="49" charset="-122"/>
                <a:ea typeface="黑体" pitchFamily="49" charset="-122"/>
              </a:rPr>
              <a:t>2</a:t>
            </a:r>
            <a:r>
              <a:rPr lang="en-US" altLang="zh-CN" sz="2400" dirty="0">
                <a:latin typeface="黑体" pitchFamily="49" charset="-122"/>
                <a:ea typeface="黑体" pitchFamily="49" charset="-122"/>
              </a:rPr>
              <a:t>O</a:t>
            </a:r>
          </a:p>
          <a:p>
            <a:pPr eaLnBrk="1" hangingPunct="1">
              <a:lnSpc>
                <a:spcPct val="150000"/>
              </a:lnSpc>
              <a:spcBef>
                <a:spcPct val="0"/>
              </a:spcBef>
              <a:buFontTx/>
              <a:buNone/>
            </a:pPr>
            <a:r>
              <a:rPr lang="en-US" altLang="zh-CN" sz="2400" dirty="0">
                <a:latin typeface="黑体" pitchFamily="49" charset="-122"/>
                <a:ea typeface="黑体" pitchFamily="49" charset="-122"/>
              </a:rPr>
              <a:t>3</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8</a:t>
            </a:r>
            <a:r>
              <a:rPr lang="zh-CN" altLang="en-US" sz="2400" dirty="0">
                <a:latin typeface="黑体" pitchFamily="49" charset="-122"/>
                <a:ea typeface="黑体" pitchFamily="49" charset="-122"/>
              </a:rPr>
              <a:t>个乙醇水溶液的最大附加压力压力 </a:t>
            </a:r>
            <a:r>
              <a:rPr lang="zh-CN" altLang="en-US" sz="2400" u="sng" dirty="0">
                <a:latin typeface="黑体" pitchFamily="49" charset="-122"/>
                <a:ea typeface="黑体" pitchFamily="49" charset="-122"/>
              </a:rPr>
              <a:t>     </a:t>
            </a:r>
            <a:r>
              <a:rPr lang="en-US" altLang="zh-CN" sz="2400" dirty="0">
                <a:latin typeface="黑体" pitchFamily="49" charset="-122"/>
                <a:ea typeface="黑体" pitchFamily="49" charset="-122"/>
              </a:rPr>
              <a:t>mmH</a:t>
            </a:r>
            <a:r>
              <a:rPr lang="en-US" altLang="zh-CN" sz="2400" baseline="-25000" dirty="0">
                <a:latin typeface="黑体" pitchFamily="49" charset="-122"/>
                <a:ea typeface="黑体" pitchFamily="49" charset="-122"/>
              </a:rPr>
              <a:t>2</a:t>
            </a:r>
            <a:r>
              <a:rPr lang="en-US" altLang="zh-CN" sz="2400" dirty="0">
                <a:latin typeface="黑体" pitchFamily="49" charset="-122"/>
                <a:ea typeface="黑体" pitchFamily="49" charset="-122"/>
              </a:rPr>
              <a:t>O</a:t>
            </a:r>
            <a:r>
              <a:rPr lang="zh-CN" altLang="en-US" sz="2400" dirty="0">
                <a:latin typeface="黑体" pitchFamily="49" charset="-122"/>
                <a:ea typeface="黑体" pitchFamily="49" charset="-122"/>
              </a:rPr>
              <a:t>，测三次</a:t>
            </a:r>
            <a:endParaRPr lang="en-US" altLang="zh-CN" sz="2400" dirty="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4</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8</a:t>
            </a:r>
            <a:r>
              <a:rPr lang="zh-CN" altLang="en-US" sz="2400" dirty="0">
                <a:latin typeface="黑体" pitchFamily="49" charset="-122"/>
                <a:ea typeface="黑体" pitchFamily="49" charset="-122"/>
              </a:rPr>
              <a:t>个乙醇水溶液的折光率测二次</a:t>
            </a:r>
            <a:endParaRPr lang="en-US" altLang="zh-CN" sz="2400" dirty="0">
              <a:latin typeface="黑体" pitchFamily="49" charset="-122"/>
              <a:ea typeface="黑体" pitchFamily="49" charset="-122"/>
            </a:endParaRPr>
          </a:p>
          <a:p>
            <a:pPr eaLnBrk="1" hangingPunct="1">
              <a:lnSpc>
                <a:spcPct val="150000"/>
              </a:lnSpc>
              <a:spcBef>
                <a:spcPct val="0"/>
              </a:spcBef>
              <a:buFontTx/>
              <a:buNone/>
            </a:pPr>
            <a:r>
              <a:rPr lang="zh-CN" altLang="en-US" sz="2400" b="1" dirty="0">
                <a:latin typeface="Times New Roman" pitchFamily="18" charset="0"/>
                <a:ea typeface="黑体" pitchFamily="49" charset="-122"/>
              </a:rPr>
              <a:t>五、实验数据处理</a:t>
            </a:r>
            <a:endParaRPr lang="en-US" altLang="zh-CN" sz="2400" b="1" dirty="0">
              <a:latin typeface="Times New Roman" pitchFamily="18" charset="0"/>
              <a:ea typeface="黑体" pitchFamily="49" charset="-122"/>
            </a:endParaRPr>
          </a:p>
          <a:p>
            <a:pPr eaLnBrk="1" hangingPunct="1">
              <a:lnSpc>
                <a:spcPct val="150000"/>
              </a:lnSpc>
              <a:spcBef>
                <a:spcPct val="0"/>
              </a:spcBef>
              <a:buFontTx/>
              <a:buNone/>
            </a:pPr>
            <a:r>
              <a:rPr lang="en-US" altLang="zh-CN" sz="2400" dirty="0">
                <a:latin typeface="Times New Roman" pitchFamily="18" charset="0"/>
                <a:ea typeface="黑体" pitchFamily="49" charset="-122"/>
              </a:rPr>
              <a:t>1</a:t>
            </a:r>
            <a:r>
              <a:rPr lang="zh-CN" altLang="en-US" sz="2400" dirty="0">
                <a:latin typeface="Times New Roman" pitchFamily="18" charset="0"/>
                <a:ea typeface="黑体" pitchFamily="49" charset="-122"/>
              </a:rPr>
              <a:t>、根据室温查</a:t>
            </a:r>
            <a:r>
              <a:rPr lang="en-US" altLang="zh-CN" sz="2400" dirty="0">
                <a:latin typeface="Times New Roman" pitchFamily="18" charset="0"/>
                <a:ea typeface="黑体" pitchFamily="49" charset="-122"/>
              </a:rPr>
              <a:t>p227 </a:t>
            </a:r>
            <a:r>
              <a:rPr lang="zh-CN" altLang="en-US" sz="2400" dirty="0">
                <a:latin typeface="Times New Roman" pitchFamily="18" charset="0"/>
                <a:ea typeface="黑体" pitchFamily="49" charset="-122"/>
              </a:rPr>
              <a:t>附表</a:t>
            </a:r>
            <a:r>
              <a:rPr lang="en-US" altLang="zh-CN" sz="2400" dirty="0">
                <a:latin typeface="Times New Roman" pitchFamily="18" charset="0"/>
                <a:ea typeface="黑体" pitchFamily="49" charset="-122"/>
              </a:rPr>
              <a:t>8 </a:t>
            </a:r>
            <a:r>
              <a:rPr lang="zh-CN" altLang="en-US" sz="2400" dirty="0">
                <a:latin typeface="Times New Roman" pitchFamily="18" charset="0"/>
                <a:ea typeface="黑体" pitchFamily="49" charset="-122"/>
              </a:rPr>
              <a:t>得水的表面张力</a:t>
            </a:r>
            <a:endParaRPr lang="en-US" altLang="zh-CN" sz="2400" dirty="0">
              <a:latin typeface="Times New Roman" pitchFamily="18" charset="0"/>
              <a:ea typeface="黑体" pitchFamily="49" charset="-122"/>
            </a:endParaRPr>
          </a:p>
          <a:p>
            <a:pPr eaLnBrk="1" hangingPunct="1">
              <a:lnSpc>
                <a:spcPct val="150000"/>
              </a:lnSpc>
              <a:spcBef>
                <a:spcPct val="0"/>
              </a:spcBef>
              <a:buFontTx/>
              <a:buNone/>
            </a:pPr>
            <a:r>
              <a:rPr lang="en-US" altLang="zh-CN" sz="2400" dirty="0">
                <a:latin typeface="Times New Roman" pitchFamily="18" charset="0"/>
                <a:ea typeface="黑体" pitchFamily="49" charset="-122"/>
              </a:rPr>
              <a:t>2</a:t>
            </a:r>
            <a:r>
              <a:rPr lang="zh-CN" altLang="en-US" sz="2400" dirty="0">
                <a:latin typeface="Times New Roman" pitchFamily="18" charset="0"/>
                <a:ea typeface="黑体" pitchFamily="49" charset="-122"/>
              </a:rPr>
              <a:t>、根据以下公式，计算</a:t>
            </a:r>
            <a:r>
              <a:rPr lang="en-US" altLang="zh-CN" sz="2400" dirty="0">
                <a:latin typeface="Times New Roman" pitchFamily="18" charset="0"/>
                <a:ea typeface="黑体" pitchFamily="49" charset="-122"/>
              </a:rPr>
              <a:t>8</a:t>
            </a:r>
            <a:r>
              <a:rPr lang="zh-CN" altLang="en-US" sz="2400" dirty="0">
                <a:latin typeface="Times New Roman" pitchFamily="18" charset="0"/>
                <a:ea typeface="黑体" pitchFamily="49" charset="-122"/>
              </a:rPr>
              <a:t>个乙醇水溶液的表面张力</a:t>
            </a:r>
            <a:endParaRPr lang="en-US" altLang="zh-CN" sz="2400" dirty="0">
              <a:latin typeface="Times New Roman" pitchFamily="18" charset="0"/>
              <a:ea typeface="黑体" pitchFamily="49" charset="-122"/>
            </a:endParaRPr>
          </a:p>
        </p:txBody>
      </p:sp>
      <p:graphicFrame>
        <p:nvGraphicFramePr>
          <p:cNvPr id="48131" name="对象 2"/>
          <p:cNvGraphicFramePr>
            <a:graphicFrameLocks noChangeAspect="1"/>
          </p:cNvGraphicFramePr>
          <p:nvPr>
            <p:extLst>
              <p:ext uri="{D42A27DB-BD31-4B8C-83A1-F6EECF244321}">
                <p14:modId xmlns:p14="http://schemas.microsoft.com/office/powerpoint/2010/main" val="1787117834"/>
              </p:ext>
            </p:extLst>
          </p:nvPr>
        </p:nvGraphicFramePr>
        <p:xfrm>
          <a:off x="3275856" y="5363716"/>
          <a:ext cx="1939169" cy="1233636"/>
        </p:xfrm>
        <a:graphic>
          <a:graphicData uri="http://schemas.openxmlformats.org/presentationml/2006/ole">
            <mc:AlternateContent xmlns:mc="http://schemas.openxmlformats.org/markup-compatibility/2006">
              <mc:Choice xmlns:v="urn:schemas-microsoft-com:vml" Requires="v">
                <p:oleObj spid="_x0000_s6332" name="Equation" r:id="rId3" imgW="698197" imgH="444307" progId="Equation.DSMT4">
                  <p:embed/>
                </p:oleObj>
              </mc:Choice>
              <mc:Fallback>
                <p:oleObj name="Equation" r:id="rId3" imgW="698197" imgH="44430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5363716"/>
                        <a:ext cx="1939169" cy="1233636"/>
                      </a:xfrm>
                      <a:prstGeom prst="rect">
                        <a:avLst/>
                      </a:prstGeom>
                      <a:noFill/>
                      <a:ln>
                        <a:noFill/>
                      </a:ln>
                      <a:extLst/>
                    </p:spPr>
                  </p:pic>
                </p:oleObj>
              </mc:Fallback>
            </mc:AlternateContent>
          </a:graphicData>
        </a:graphic>
      </p:graphicFrame>
      <p:graphicFrame>
        <p:nvGraphicFramePr>
          <p:cNvPr id="48132" name="对象 1"/>
          <p:cNvGraphicFramePr>
            <a:graphicFrameLocks noChangeAspect="1"/>
          </p:cNvGraphicFramePr>
          <p:nvPr/>
        </p:nvGraphicFramePr>
        <p:xfrm>
          <a:off x="6499225" y="4235450"/>
          <a:ext cx="439738" cy="622300"/>
        </p:xfrm>
        <a:graphic>
          <a:graphicData uri="http://schemas.openxmlformats.org/presentationml/2006/ole">
            <mc:AlternateContent xmlns:mc="http://schemas.openxmlformats.org/markup-compatibility/2006">
              <mc:Choice xmlns:v="urn:schemas-microsoft-com:vml" Requires="v">
                <p:oleObj spid="_x0000_s6333" name="Equation" r:id="rId5" imgW="152268" imgH="215713" progId="Equation.DSMT4">
                  <p:embed/>
                </p:oleObj>
              </mc:Choice>
              <mc:Fallback>
                <p:oleObj name="Equation" r:id="rId5" imgW="152268" imgH="21571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9225" y="4235450"/>
                        <a:ext cx="4397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3" name="对象 2"/>
          <p:cNvGraphicFramePr>
            <a:graphicFrameLocks noChangeAspect="1"/>
          </p:cNvGraphicFramePr>
          <p:nvPr/>
        </p:nvGraphicFramePr>
        <p:xfrm>
          <a:off x="7521575" y="4797425"/>
          <a:ext cx="476250" cy="622300"/>
        </p:xfrm>
        <a:graphic>
          <a:graphicData uri="http://schemas.openxmlformats.org/presentationml/2006/ole">
            <mc:AlternateContent xmlns:mc="http://schemas.openxmlformats.org/markup-compatibility/2006">
              <mc:Choice xmlns:v="urn:schemas-microsoft-com:vml" Requires="v">
                <p:oleObj spid="_x0000_s6334" name="Equation" r:id="rId7" imgW="164885" imgH="215619" progId="Equation.DSMT4">
                  <p:embed/>
                </p:oleObj>
              </mc:Choice>
              <mc:Fallback>
                <p:oleObj name="Equation" r:id="rId7" imgW="164885" imgH="21561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21575" y="4797425"/>
                        <a:ext cx="4762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231993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Box 2"/>
          <p:cNvSpPr txBox="1">
            <a:spLocks noChangeArrowheads="1"/>
          </p:cNvSpPr>
          <p:nvPr/>
        </p:nvSpPr>
        <p:spPr bwMode="auto">
          <a:xfrm>
            <a:off x="463550" y="831850"/>
            <a:ext cx="808672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en-US" altLang="zh-CN" sz="2400" dirty="0">
                <a:latin typeface="黑体" pitchFamily="49" charset="-122"/>
                <a:ea typeface="黑体" pitchFamily="49" charset="-122"/>
              </a:rPr>
              <a:t>3</a:t>
            </a:r>
            <a:r>
              <a:rPr lang="zh-CN" altLang="en-US" sz="2400" dirty="0">
                <a:latin typeface="黑体" pitchFamily="49" charset="-122"/>
                <a:ea typeface="黑体" pitchFamily="49" charset="-122"/>
              </a:rPr>
              <a:t>、根据</a:t>
            </a:r>
            <a:r>
              <a:rPr lang="en-US" altLang="zh-CN" sz="2400" dirty="0">
                <a:latin typeface="黑体" pitchFamily="49" charset="-122"/>
                <a:ea typeface="黑体" pitchFamily="49" charset="-122"/>
              </a:rPr>
              <a:t>p119 </a:t>
            </a:r>
            <a:r>
              <a:rPr lang="zh-CN" altLang="en-US" sz="2400" dirty="0">
                <a:latin typeface="黑体" pitchFamily="49" charset="-122"/>
                <a:ea typeface="黑体" pitchFamily="49" charset="-122"/>
              </a:rPr>
              <a:t>表</a:t>
            </a:r>
            <a:r>
              <a:rPr lang="en-US" altLang="zh-CN" sz="2400" dirty="0">
                <a:latin typeface="黑体" pitchFamily="49" charset="-122"/>
                <a:ea typeface="黑体" pitchFamily="49" charset="-122"/>
              </a:rPr>
              <a:t>5-8</a:t>
            </a:r>
            <a:r>
              <a:rPr lang="zh-CN" altLang="en-US" sz="2400" dirty="0">
                <a:latin typeface="黑体" pitchFamily="49" charset="-122"/>
                <a:ea typeface="黑体" pitchFamily="49" charset="-122"/>
              </a:rPr>
              <a:t>数据，作乙醇水溶液浓度与</a:t>
            </a:r>
            <a:r>
              <a:rPr lang="zh-CN" altLang="en-US" sz="2400" dirty="0" smtClean="0">
                <a:latin typeface="黑体" pitchFamily="49" charset="-122"/>
                <a:ea typeface="黑体" pitchFamily="49" charset="-122"/>
              </a:rPr>
              <a:t>折光率的工  </a:t>
            </a:r>
            <a:endParaRPr lang="en-US" altLang="zh-CN" sz="2400" dirty="0" smtClean="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 </a:t>
            </a:r>
            <a:r>
              <a:rPr lang="en-US" altLang="zh-CN" sz="2400" dirty="0" smtClean="0">
                <a:latin typeface="黑体" pitchFamily="49" charset="-122"/>
                <a:ea typeface="黑体" pitchFamily="49" charset="-122"/>
              </a:rPr>
              <a:t>  </a:t>
            </a:r>
            <a:r>
              <a:rPr lang="zh-CN" altLang="en-US" sz="2400" dirty="0" smtClean="0">
                <a:latin typeface="黑体" pitchFamily="49" charset="-122"/>
                <a:ea typeface="黑体" pitchFamily="49" charset="-122"/>
              </a:rPr>
              <a:t>作曲线</a:t>
            </a:r>
            <a:r>
              <a:rPr lang="zh-CN" altLang="en-US" sz="2400" dirty="0">
                <a:latin typeface="黑体" pitchFamily="49" charset="-122"/>
                <a:ea typeface="黑体" pitchFamily="49" charset="-122"/>
              </a:rPr>
              <a:t>（拟合为直线）</a:t>
            </a:r>
            <a:endParaRPr lang="en-US" altLang="zh-CN" sz="2400" dirty="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4</a:t>
            </a:r>
            <a:r>
              <a:rPr lang="zh-CN" altLang="en-US" sz="2400" dirty="0">
                <a:latin typeface="黑体" pitchFamily="49" charset="-122"/>
                <a:ea typeface="黑体" pitchFamily="49" charset="-122"/>
              </a:rPr>
              <a:t>、根据测得的折光率由工作曲线上得到</a:t>
            </a:r>
            <a:r>
              <a:rPr lang="en-US" altLang="zh-CN" sz="2400" dirty="0">
                <a:latin typeface="黑体" pitchFamily="49" charset="-122"/>
                <a:ea typeface="黑体" pitchFamily="49" charset="-122"/>
              </a:rPr>
              <a:t>8</a:t>
            </a:r>
            <a:r>
              <a:rPr lang="zh-CN" altLang="en-US" sz="2400" dirty="0">
                <a:latin typeface="黑体" pitchFamily="49" charset="-122"/>
                <a:ea typeface="黑体" pitchFamily="49" charset="-122"/>
              </a:rPr>
              <a:t>个乙醇水溶液</a:t>
            </a:r>
            <a:r>
              <a:rPr lang="zh-CN" altLang="en-US" sz="2400" dirty="0" smtClean="0">
                <a:latin typeface="黑体" pitchFamily="49" charset="-122"/>
                <a:ea typeface="黑体" pitchFamily="49" charset="-122"/>
              </a:rPr>
              <a:t>的</a:t>
            </a:r>
            <a:endParaRPr lang="en-US" altLang="zh-CN" sz="2400" dirty="0" smtClean="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 </a:t>
            </a:r>
            <a:r>
              <a:rPr lang="en-US" altLang="zh-CN" sz="2400" dirty="0" smtClean="0">
                <a:latin typeface="黑体" pitchFamily="49" charset="-122"/>
                <a:ea typeface="黑体" pitchFamily="49" charset="-122"/>
              </a:rPr>
              <a:t>  </a:t>
            </a:r>
            <a:r>
              <a:rPr lang="zh-CN" altLang="en-US" sz="2400" dirty="0" smtClean="0">
                <a:latin typeface="黑体" pitchFamily="49" charset="-122"/>
                <a:ea typeface="黑体" pitchFamily="49" charset="-122"/>
              </a:rPr>
              <a:t>浓度</a:t>
            </a:r>
            <a:r>
              <a:rPr lang="en-US" altLang="zh-CN" sz="2400" dirty="0">
                <a:latin typeface="黑体" pitchFamily="49" charset="-122"/>
                <a:ea typeface="黑体" pitchFamily="49" charset="-122"/>
              </a:rPr>
              <a:t>c</a:t>
            </a:r>
            <a:r>
              <a:rPr lang="en-US" altLang="zh-CN" sz="2400" dirty="0">
                <a:latin typeface="Times New Roman" pitchFamily="18" charset="0"/>
                <a:ea typeface="黑体" pitchFamily="49" charset="-122"/>
                <a:cs typeface="Times New Roman" pitchFamily="18" charset="0"/>
              </a:rPr>
              <a:t>(</a:t>
            </a:r>
            <a:r>
              <a:rPr lang="en-US" altLang="zh-CN" sz="2400" dirty="0" err="1">
                <a:latin typeface="Times New Roman" pitchFamily="18" charset="0"/>
                <a:ea typeface="黑体" pitchFamily="49" charset="-122"/>
                <a:cs typeface="Times New Roman" pitchFamily="18" charset="0"/>
              </a:rPr>
              <a:t>mol</a:t>
            </a:r>
            <a:r>
              <a:rPr lang="en-US" altLang="zh-CN" sz="2400" dirty="0">
                <a:latin typeface="Times New Roman" pitchFamily="18" charset="0"/>
                <a:ea typeface="黑体" pitchFamily="49" charset="-122"/>
                <a:cs typeface="Times New Roman" pitchFamily="18" charset="0"/>
              </a:rPr>
              <a:t>/L)</a:t>
            </a:r>
          </a:p>
          <a:p>
            <a:pPr eaLnBrk="1" hangingPunct="1">
              <a:lnSpc>
                <a:spcPct val="150000"/>
              </a:lnSpc>
              <a:spcBef>
                <a:spcPct val="0"/>
              </a:spcBef>
              <a:buFontTx/>
              <a:buNone/>
            </a:pPr>
            <a:r>
              <a:rPr lang="en-US" altLang="zh-CN" sz="2400" dirty="0">
                <a:latin typeface="Times New Roman" pitchFamily="18" charset="0"/>
                <a:ea typeface="黑体" pitchFamily="49" charset="-122"/>
                <a:cs typeface="Times New Roman" pitchFamily="18" charset="0"/>
              </a:rPr>
              <a:t>5</a:t>
            </a:r>
            <a:r>
              <a:rPr lang="zh-CN" altLang="en-US" sz="2400" dirty="0">
                <a:latin typeface="Times New Roman" pitchFamily="18" charset="0"/>
                <a:ea typeface="黑体" pitchFamily="49" charset="-122"/>
                <a:cs typeface="Times New Roman" pitchFamily="18" charset="0"/>
              </a:rPr>
              <a:t>、作</a:t>
            </a:r>
            <a:r>
              <a:rPr lang="el-GR" altLang="zh-CN" dirty="0">
                <a:latin typeface="Times New Roman" pitchFamily="18" charset="0"/>
                <a:ea typeface="黑体" pitchFamily="49" charset="-122"/>
                <a:cs typeface="Times New Roman" pitchFamily="18" charset="0"/>
              </a:rPr>
              <a:t>ᵞ</a:t>
            </a:r>
            <a:r>
              <a:rPr lang="en-US" altLang="zh-CN" dirty="0">
                <a:latin typeface="Times New Roman" pitchFamily="18" charset="0"/>
                <a:ea typeface="黑体" pitchFamily="49" charset="-122"/>
                <a:cs typeface="Times New Roman" pitchFamily="18" charset="0"/>
              </a:rPr>
              <a:t>~c</a:t>
            </a:r>
            <a:r>
              <a:rPr lang="zh-CN" altLang="en-US" sz="2400" dirty="0">
                <a:latin typeface="黑体" pitchFamily="49" charset="-122"/>
                <a:ea typeface="黑体" pitchFamily="49" charset="-122"/>
              </a:rPr>
              <a:t>曲线，求出各乙醇浓度下的斜率</a:t>
            </a:r>
            <a:endParaRPr lang="en-US" altLang="zh-CN" sz="2400" baseline="-25000" dirty="0">
              <a:latin typeface="Times New Roman" pitchFamily="18" charset="0"/>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6</a:t>
            </a:r>
            <a:r>
              <a:rPr lang="zh-CN" altLang="en-US" sz="2400" dirty="0">
                <a:latin typeface="黑体" pitchFamily="49" charset="-122"/>
                <a:ea typeface="黑体" pitchFamily="49" charset="-122"/>
              </a:rPr>
              <a:t>、利用吉布斯吸附等温方程式，计算出各溶液的</a:t>
            </a:r>
            <a:r>
              <a:rPr lang="el-GR" altLang="zh-CN" sz="2400" dirty="0">
                <a:latin typeface="黑体" pitchFamily="49" charset="-122"/>
                <a:ea typeface="黑体" pitchFamily="49" charset="-122"/>
              </a:rPr>
              <a:t>Γ</a:t>
            </a:r>
            <a:endParaRPr lang="en-US" altLang="zh-CN" sz="2400" dirty="0">
              <a:latin typeface="黑体" pitchFamily="49" charset="-122"/>
              <a:ea typeface="黑体" pitchFamily="49" charset="-122"/>
            </a:endParaRPr>
          </a:p>
        </p:txBody>
      </p:sp>
      <p:graphicFrame>
        <p:nvGraphicFramePr>
          <p:cNvPr id="49155" name="对象 3"/>
          <p:cNvGraphicFramePr>
            <a:graphicFrameLocks noChangeAspect="1"/>
          </p:cNvGraphicFramePr>
          <p:nvPr/>
        </p:nvGraphicFramePr>
        <p:xfrm>
          <a:off x="1889125" y="4619625"/>
          <a:ext cx="3351213" cy="1038225"/>
        </p:xfrm>
        <a:graphic>
          <a:graphicData uri="http://schemas.openxmlformats.org/presentationml/2006/ole">
            <mc:AlternateContent xmlns:mc="http://schemas.openxmlformats.org/markup-compatibility/2006">
              <mc:Choice xmlns:v="urn:schemas-microsoft-com:vml" Requires="v">
                <p:oleObj spid="_x0000_s7294" name="Equation" r:id="rId3" imgW="1131822" imgH="470541" progId="Equation.DSMT4">
                  <p:embed/>
                </p:oleObj>
              </mc:Choice>
              <mc:Fallback>
                <p:oleObj name="Equation" r:id="rId3" imgW="1131822" imgH="47054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125" y="4619625"/>
                        <a:ext cx="33512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6" name="对象 1"/>
          <p:cNvGraphicFramePr>
            <a:graphicFrameLocks noChangeAspect="1"/>
          </p:cNvGraphicFramePr>
          <p:nvPr/>
        </p:nvGraphicFramePr>
        <p:xfrm>
          <a:off x="6335713" y="2978150"/>
          <a:ext cx="1087437" cy="958850"/>
        </p:xfrm>
        <a:graphic>
          <a:graphicData uri="http://schemas.openxmlformats.org/presentationml/2006/ole">
            <mc:AlternateContent xmlns:mc="http://schemas.openxmlformats.org/markup-compatibility/2006">
              <mc:Choice xmlns:v="urn:schemas-microsoft-com:vml" Requires="v">
                <p:oleObj spid="_x0000_s7295" name="Equation" r:id="rId5" imgW="533169" imgH="469696" progId="Equation.DSMT4">
                  <p:embed/>
                </p:oleObj>
              </mc:Choice>
              <mc:Fallback>
                <p:oleObj name="Equation" r:id="rId5" imgW="533169" imgH="46969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5713" y="2978150"/>
                        <a:ext cx="1087437"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270950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2"/>
          <p:cNvSpPr txBox="1">
            <a:spLocks noChangeArrowheads="1"/>
          </p:cNvSpPr>
          <p:nvPr/>
        </p:nvSpPr>
        <p:spPr bwMode="auto">
          <a:xfrm>
            <a:off x="463550" y="831850"/>
            <a:ext cx="808672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en-US" altLang="zh-CN" sz="2400" dirty="0">
                <a:latin typeface="黑体" pitchFamily="49" charset="-122"/>
                <a:ea typeface="黑体" pitchFamily="49" charset="-122"/>
              </a:rPr>
              <a:t>3</a:t>
            </a:r>
            <a:r>
              <a:rPr lang="zh-CN" altLang="en-US" sz="2400" dirty="0">
                <a:latin typeface="黑体" pitchFamily="49" charset="-122"/>
                <a:ea typeface="黑体" pitchFamily="49" charset="-122"/>
              </a:rPr>
              <a:t>、根据</a:t>
            </a:r>
            <a:r>
              <a:rPr lang="en-US" altLang="zh-CN" sz="2400" dirty="0">
                <a:latin typeface="黑体" pitchFamily="49" charset="-122"/>
                <a:ea typeface="黑体" pitchFamily="49" charset="-122"/>
              </a:rPr>
              <a:t>p119 </a:t>
            </a:r>
            <a:r>
              <a:rPr lang="zh-CN" altLang="en-US" sz="2400" dirty="0">
                <a:latin typeface="黑体" pitchFamily="49" charset="-122"/>
                <a:ea typeface="黑体" pitchFamily="49" charset="-122"/>
              </a:rPr>
              <a:t>表</a:t>
            </a:r>
            <a:r>
              <a:rPr lang="en-US" altLang="zh-CN" sz="2400" dirty="0">
                <a:latin typeface="黑体" pitchFamily="49" charset="-122"/>
                <a:ea typeface="黑体" pitchFamily="49" charset="-122"/>
              </a:rPr>
              <a:t>5-8</a:t>
            </a:r>
            <a:r>
              <a:rPr lang="zh-CN" altLang="en-US" sz="2400" dirty="0">
                <a:latin typeface="黑体" pitchFamily="49" charset="-122"/>
                <a:ea typeface="黑体" pitchFamily="49" charset="-122"/>
              </a:rPr>
              <a:t>数据，作乙醇水溶液浓度与折光率工作 </a:t>
            </a:r>
            <a:r>
              <a:rPr lang="zh-CN" altLang="en-US" sz="2400" dirty="0" smtClean="0">
                <a:latin typeface="黑体" pitchFamily="49" charset="-122"/>
                <a:ea typeface="黑体" pitchFamily="49" charset="-122"/>
              </a:rPr>
              <a:t> </a:t>
            </a:r>
            <a:endParaRPr lang="en-US" altLang="zh-CN" sz="2400" dirty="0" smtClean="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 </a:t>
            </a:r>
            <a:r>
              <a:rPr lang="en-US" altLang="zh-CN" sz="2400" dirty="0" smtClean="0">
                <a:latin typeface="黑体" pitchFamily="49" charset="-122"/>
                <a:ea typeface="黑体" pitchFamily="49" charset="-122"/>
              </a:rPr>
              <a:t>  </a:t>
            </a:r>
            <a:r>
              <a:rPr lang="zh-CN" altLang="en-US" sz="2400" dirty="0" smtClean="0">
                <a:latin typeface="黑体" pitchFamily="49" charset="-122"/>
                <a:ea typeface="黑体" pitchFamily="49" charset="-122"/>
              </a:rPr>
              <a:t>曲线</a:t>
            </a:r>
            <a:r>
              <a:rPr lang="zh-CN" altLang="en-US" sz="2400" dirty="0">
                <a:latin typeface="黑体" pitchFamily="49" charset="-122"/>
                <a:ea typeface="黑体" pitchFamily="49" charset="-122"/>
              </a:rPr>
              <a:t>（拟合为直线）</a:t>
            </a:r>
            <a:endParaRPr lang="en-US" altLang="zh-CN" sz="2400" dirty="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4</a:t>
            </a:r>
            <a:r>
              <a:rPr lang="zh-CN" altLang="en-US" sz="2400" dirty="0">
                <a:latin typeface="黑体" pitchFamily="49" charset="-122"/>
                <a:ea typeface="黑体" pitchFamily="49" charset="-122"/>
              </a:rPr>
              <a:t>、根据测得的折光率由工作曲线上得到</a:t>
            </a:r>
            <a:r>
              <a:rPr lang="en-US" altLang="zh-CN" sz="2400" dirty="0">
                <a:latin typeface="黑体" pitchFamily="49" charset="-122"/>
                <a:ea typeface="黑体" pitchFamily="49" charset="-122"/>
              </a:rPr>
              <a:t>8</a:t>
            </a:r>
            <a:r>
              <a:rPr lang="zh-CN" altLang="en-US" sz="2400" dirty="0">
                <a:latin typeface="黑体" pitchFamily="49" charset="-122"/>
                <a:ea typeface="黑体" pitchFamily="49" charset="-122"/>
              </a:rPr>
              <a:t>个乙醇水溶液</a:t>
            </a:r>
            <a:r>
              <a:rPr lang="zh-CN" altLang="en-US" sz="2400" dirty="0" smtClean="0">
                <a:latin typeface="黑体" pitchFamily="49" charset="-122"/>
                <a:ea typeface="黑体" pitchFamily="49" charset="-122"/>
              </a:rPr>
              <a:t>的</a:t>
            </a:r>
            <a:endParaRPr lang="en-US" altLang="zh-CN" sz="2400" dirty="0" smtClean="0">
              <a:latin typeface="黑体" pitchFamily="49" charset="-122"/>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 </a:t>
            </a:r>
            <a:r>
              <a:rPr lang="en-US" altLang="zh-CN" sz="2400" dirty="0" smtClean="0">
                <a:latin typeface="黑体" pitchFamily="49" charset="-122"/>
                <a:ea typeface="黑体" pitchFamily="49" charset="-122"/>
              </a:rPr>
              <a:t>  </a:t>
            </a:r>
            <a:r>
              <a:rPr lang="zh-CN" altLang="en-US" sz="2400" dirty="0" smtClean="0">
                <a:latin typeface="黑体" pitchFamily="49" charset="-122"/>
                <a:ea typeface="黑体" pitchFamily="49" charset="-122"/>
              </a:rPr>
              <a:t>浓度</a:t>
            </a:r>
            <a:r>
              <a:rPr lang="en-US" altLang="zh-CN" sz="2400" dirty="0">
                <a:latin typeface="黑体" pitchFamily="49" charset="-122"/>
                <a:ea typeface="黑体" pitchFamily="49" charset="-122"/>
              </a:rPr>
              <a:t>c</a:t>
            </a:r>
            <a:r>
              <a:rPr lang="en-US" altLang="zh-CN" sz="2400" dirty="0">
                <a:latin typeface="Times New Roman" pitchFamily="18" charset="0"/>
                <a:ea typeface="黑体" pitchFamily="49" charset="-122"/>
                <a:cs typeface="Times New Roman" pitchFamily="18" charset="0"/>
              </a:rPr>
              <a:t>(</a:t>
            </a:r>
            <a:r>
              <a:rPr lang="en-US" altLang="zh-CN" sz="2400" dirty="0" err="1">
                <a:latin typeface="Times New Roman" pitchFamily="18" charset="0"/>
                <a:ea typeface="黑体" pitchFamily="49" charset="-122"/>
                <a:cs typeface="Times New Roman" pitchFamily="18" charset="0"/>
              </a:rPr>
              <a:t>mol</a:t>
            </a:r>
            <a:r>
              <a:rPr lang="en-US" altLang="zh-CN" sz="2400" dirty="0">
                <a:latin typeface="Times New Roman" pitchFamily="18" charset="0"/>
                <a:ea typeface="黑体" pitchFamily="49" charset="-122"/>
                <a:cs typeface="Times New Roman" pitchFamily="18" charset="0"/>
              </a:rPr>
              <a:t>/L)</a:t>
            </a:r>
          </a:p>
          <a:p>
            <a:pPr eaLnBrk="1" hangingPunct="1">
              <a:lnSpc>
                <a:spcPct val="150000"/>
              </a:lnSpc>
              <a:spcBef>
                <a:spcPct val="0"/>
              </a:spcBef>
              <a:buFontTx/>
              <a:buNone/>
            </a:pPr>
            <a:r>
              <a:rPr lang="en-US" altLang="zh-CN" sz="2400" dirty="0">
                <a:latin typeface="Times New Roman" pitchFamily="18" charset="0"/>
                <a:ea typeface="黑体" pitchFamily="49" charset="-122"/>
                <a:cs typeface="Times New Roman" pitchFamily="18" charset="0"/>
              </a:rPr>
              <a:t>5</a:t>
            </a:r>
            <a:r>
              <a:rPr lang="zh-CN" altLang="en-US" sz="2400" dirty="0">
                <a:latin typeface="Times New Roman" pitchFamily="18" charset="0"/>
                <a:ea typeface="黑体" pitchFamily="49" charset="-122"/>
                <a:cs typeface="Times New Roman" pitchFamily="18" charset="0"/>
              </a:rPr>
              <a:t>、作</a:t>
            </a:r>
            <a:r>
              <a:rPr lang="el-GR" altLang="zh-CN" dirty="0">
                <a:latin typeface="Times New Roman" pitchFamily="18" charset="0"/>
                <a:ea typeface="黑体" pitchFamily="49" charset="-122"/>
                <a:cs typeface="Times New Roman" pitchFamily="18" charset="0"/>
              </a:rPr>
              <a:t>ᵞ</a:t>
            </a:r>
            <a:r>
              <a:rPr lang="en-US" altLang="zh-CN" dirty="0">
                <a:latin typeface="Times New Roman" pitchFamily="18" charset="0"/>
                <a:ea typeface="黑体" pitchFamily="49" charset="-122"/>
                <a:cs typeface="Times New Roman" pitchFamily="18" charset="0"/>
              </a:rPr>
              <a:t>~c</a:t>
            </a:r>
            <a:r>
              <a:rPr lang="zh-CN" altLang="en-US" sz="2400" dirty="0">
                <a:latin typeface="黑体" pitchFamily="49" charset="-122"/>
                <a:ea typeface="黑体" pitchFamily="49" charset="-122"/>
              </a:rPr>
              <a:t>曲线，求出各乙醇浓度下的斜率</a:t>
            </a:r>
            <a:endParaRPr lang="en-US" altLang="zh-CN" sz="2400" baseline="-25000" dirty="0">
              <a:latin typeface="Times New Roman" pitchFamily="18" charset="0"/>
              <a:ea typeface="黑体" pitchFamily="49" charset="-122"/>
            </a:endParaRPr>
          </a:p>
          <a:p>
            <a:pPr eaLnBrk="1" hangingPunct="1">
              <a:lnSpc>
                <a:spcPct val="150000"/>
              </a:lnSpc>
              <a:spcBef>
                <a:spcPct val="0"/>
              </a:spcBef>
              <a:buFontTx/>
              <a:buNone/>
            </a:pPr>
            <a:r>
              <a:rPr lang="en-US" altLang="zh-CN" sz="2400" dirty="0">
                <a:latin typeface="黑体" pitchFamily="49" charset="-122"/>
                <a:ea typeface="黑体" pitchFamily="49" charset="-122"/>
              </a:rPr>
              <a:t>6</a:t>
            </a:r>
            <a:r>
              <a:rPr lang="zh-CN" altLang="en-US" sz="2400" dirty="0">
                <a:latin typeface="黑体" pitchFamily="49" charset="-122"/>
                <a:ea typeface="黑体" pitchFamily="49" charset="-122"/>
              </a:rPr>
              <a:t>、利用吉布斯吸附等温方程式，计算出各溶液的</a:t>
            </a:r>
            <a:r>
              <a:rPr lang="el-GR" altLang="zh-CN" sz="2400" dirty="0">
                <a:latin typeface="黑体" pitchFamily="49" charset="-122"/>
                <a:ea typeface="黑体" pitchFamily="49" charset="-122"/>
              </a:rPr>
              <a:t>Γ</a:t>
            </a:r>
            <a:endParaRPr lang="en-US" altLang="zh-CN" sz="2400" dirty="0">
              <a:latin typeface="黑体" pitchFamily="49" charset="-122"/>
              <a:ea typeface="黑体" pitchFamily="49" charset="-122"/>
            </a:endParaRPr>
          </a:p>
        </p:txBody>
      </p:sp>
      <p:graphicFrame>
        <p:nvGraphicFramePr>
          <p:cNvPr id="50179" name="对象 3"/>
          <p:cNvGraphicFramePr>
            <a:graphicFrameLocks noChangeAspect="1"/>
          </p:cNvGraphicFramePr>
          <p:nvPr/>
        </p:nvGraphicFramePr>
        <p:xfrm>
          <a:off x="1889125" y="4619625"/>
          <a:ext cx="3351213" cy="1038225"/>
        </p:xfrm>
        <a:graphic>
          <a:graphicData uri="http://schemas.openxmlformats.org/presentationml/2006/ole">
            <mc:AlternateContent xmlns:mc="http://schemas.openxmlformats.org/markup-compatibility/2006">
              <mc:Choice xmlns:v="urn:schemas-microsoft-com:vml" Requires="v">
                <p:oleObj spid="_x0000_s8318" name="Equation" r:id="rId3" imgW="1131822" imgH="470541" progId="Equation.DSMT4">
                  <p:embed/>
                </p:oleObj>
              </mc:Choice>
              <mc:Fallback>
                <p:oleObj name="Equation" r:id="rId3" imgW="1131822" imgH="47054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125" y="4619625"/>
                        <a:ext cx="33512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80" name="对象 1"/>
          <p:cNvGraphicFramePr>
            <a:graphicFrameLocks noChangeAspect="1"/>
          </p:cNvGraphicFramePr>
          <p:nvPr/>
        </p:nvGraphicFramePr>
        <p:xfrm>
          <a:off x="6335713" y="2978150"/>
          <a:ext cx="1087437" cy="958850"/>
        </p:xfrm>
        <a:graphic>
          <a:graphicData uri="http://schemas.openxmlformats.org/presentationml/2006/ole">
            <mc:AlternateContent xmlns:mc="http://schemas.openxmlformats.org/markup-compatibility/2006">
              <mc:Choice xmlns:v="urn:schemas-microsoft-com:vml" Requires="v">
                <p:oleObj spid="_x0000_s8319" name="Equation" r:id="rId5" imgW="533169" imgH="469696" progId="Equation.DSMT4">
                  <p:embed/>
                </p:oleObj>
              </mc:Choice>
              <mc:Fallback>
                <p:oleObj name="Equation" r:id="rId5" imgW="533169" imgH="46969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5713" y="2978150"/>
                        <a:ext cx="1087437"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80137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1"/>
          <p:cNvSpPr>
            <a:spLocks noChangeArrowheads="1"/>
          </p:cNvSpPr>
          <p:nvPr/>
        </p:nvSpPr>
        <p:spPr bwMode="auto">
          <a:xfrm>
            <a:off x="742950" y="901700"/>
            <a:ext cx="77358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en-US" altLang="zh-CN" sz="2400">
                <a:latin typeface="黑体" pitchFamily="49" charset="-122"/>
                <a:ea typeface="黑体" pitchFamily="49" charset="-122"/>
              </a:rPr>
              <a:t>7</a:t>
            </a:r>
            <a:r>
              <a:rPr lang="zh-CN" altLang="en-US" sz="2400">
                <a:latin typeface="黑体" pitchFamily="49" charset="-122"/>
                <a:ea typeface="黑体" pitchFamily="49" charset="-122"/>
              </a:rPr>
              <a:t>、作</a:t>
            </a:r>
            <a:r>
              <a:rPr lang="en-US" altLang="zh-CN" sz="2400">
                <a:latin typeface="黑体" pitchFamily="49" charset="-122"/>
                <a:ea typeface="黑体" pitchFamily="49" charset="-122"/>
              </a:rPr>
              <a:t>   </a:t>
            </a:r>
            <a:r>
              <a:rPr lang="en-US" altLang="zh-CN" sz="2400">
                <a:latin typeface="Times New Roman" pitchFamily="18" charset="0"/>
                <a:ea typeface="黑体" pitchFamily="49" charset="-122"/>
                <a:cs typeface="Times New Roman" pitchFamily="18" charset="0"/>
              </a:rPr>
              <a:t>~c</a:t>
            </a:r>
            <a:r>
              <a:rPr lang="zh-CN" altLang="en-US" sz="2400">
                <a:latin typeface="Times New Roman" pitchFamily="18" charset="0"/>
                <a:ea typeface="黑体" pitchFamily="49" charset="-122"/>
                <a:cs typeface="Times New Roman" pitchFamily="18" charset="0"/>
              </a:rPr>
              <a:t>图，求出直线斜率，由斜率求出</a:t>
            </a:r>
            <a:r>
              <a:rPr lang="el-GR" altLang="zh-CN" sz="2400">
                <a:latin typeface="Times New Roman" pitchFamily="18" charset="0"/>
                <a:ea typeface="黑体" pitchFamily="49" charset="-122"/>
                <a:cs typeface="Times New Roman" pitchFamily="18" charset="0"/>
              </a:rPr>
              <a:t>Γ</a:t>
            </a:r>
            <a:r>
              <a:rPr lang="el-GR" altLang="zh-CN" sz="2400" baseline="-25000">
                <a:latin typeface="Times New Roman" pitchFamily="18" charset="0"/>
                <a:ea typeface="黑体" pitchFamily="49" charset="-122"/>
                <a:cs typeface="Times New Roman" pitchFamily="18" charset="0"/>
              </a:rPr>
              <a:t>∞</a:t>
            </a:r>
            <a:endParaRPr lang="en-US" altLang="zh-CN" sz="2400" baseline="-25000">
              <a:latin typeface="Times New Roman" pitchFamily="18" charset="0"/>
              <a:ea typeface="黑体" pitchFamily="49" charset="-122"/>
              <a:cs typeface="Times New Roman" pitchFamily="18" charset="0"/>
            </a:endParaRPr>
          </a:p>
        </p:txBody>
      </p:sp>
      <p:graphicFrame>
        <p:nvGraphicFramePr>
          <p:cNvPr id="51203" name="对象 2"/>
          <p:cNvGraphicFramePr>
            <a:graphicFrameLocks noChangeAspect="1"/>
          </p:cNvGraphicFramePr>
          <p:nvPr/>
        </p:nvGraphicFramePr>
        <p:xfrm>
          <a:off x="2660650" y="1827213"/>
          <a:ext cx="2271713" cy="1042987"/>
        </p:xfrm>
        <a:graphic>
          <a:graphicData uri="http://schemas.openxmlformats.org/presentationml/2006/ole">
            <mc:AlternateContent xmlns:mc="http://schemas.openxmlformats.org/markup-compatibility/2006">
              <mc:Choice xmlns:v="urn:schemas-microsoft-com:vml" Requires="v">
                <p:oleObj spid="_x0000_s9404" name="Equation" r:id="rId3" imgW="941025" imgH="432363" progId="Equation.DSMT4">
                  <p:embed/>
                </p:oleObj>
              </mc:Choice>
              <mc:Fallback>
                <p:oleObj name="Equation" r:id="rId3" imgW="941025" imgH="43236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0650" y="1827213"/>
                        <a:ext cx="2271713" cy="1042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4" name="TextBox 3"/>
          <p:cNvSpPr txBox="1">
            <a:spLocks noChangeArrowheads="1"/>
          </p:cNvSpPr>
          <p:nvPr/>
        </p:nvSpPr>
        <p:spPr bwMode="auto">
          <a:xfrm>
            <a:off x="611188" y="3697288"/>
            <a:ext cx="7416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en-US" altLang="zh-CN" sz="2400">
                <a:latin typeface="黑体" pitchFamily="49" charset="-122"/>
                <a:ea typeface="黑体" pitchFamily="49" charset="-122"/>
              </a:rPr>
              <a:t>8</a:t>
            </a:r>
            <a:r>
              <a:rPr lang="zh-CN" altLang="en-US" sz="2400">
                <a:latin typeface="黑体" pitchFamily="49" charset="-122"/>
                <a:ea typeface="黑体" pitchFamily="49" charset="-122"/>
              </a:rPr>
              <a:t>、计算乙醇分子的横截面积</a:t>
            </a:r>
          </a:p>
        </p:txBody>
      </p:sp>
      <p:graphicFrame>
        <p:nvGraphicFramePr>
          <p:cNvPr id="51205" name="对象 4"/>
          <p:cNvGraphicFramePr>
            <a:graphicFrameLocks noChangeAspect="1"/>
          </p:cNvGraphicFramePr>
          <p:nvPr/>
        </p:nvGraphicFramePr>
        <p:xfrm>
          <a:off x="2376488" y="4395788"/>
          <a:ext cx="2235200" cy="977900"/>
        </p:xfrm>
        <a:graphic>
          <a:graphicData uri="http://schemas.openxmlformats.org/presentationml/2006/ole">
            <mc:AlternateContent xmlns:mc="http://schemas.openxmlformats.org/markup-compatibility/2006">
              <mc:Choice xmlns:v="urn:schemas-microsoft-com:vml" Requires="v">
                <p:oleObj spid="_x0000_s9405" r:id="rId5" imgW="2235760" imgH="978145" progId="Equation.3">
                  <p:embed/>
                </p:oleObj>
              </mc:Choice>
              <mc:Fallback>
                <p:oleObj r:id="rId5" imgW="2235760" imgH="97814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6488" y="4395788"/>
                        <a:ext cx="22352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6" name="对象 1"/>
          <p:cNvGraphicFramePr>
            <a:graphicFrameLocks noChangeAspect="1"/>
          </p:cNvGraphicFramePr>
          <p:nvPr/>
        </p:nvGraphicFramePr>
        <p:xfrm>
          <a:off x="1693863" y="806450"/>
          <a:ext cx="352425" cy="836613"/>
        </p:xfrm>
        <a:graphic>
          <a:graphicData uri="http://schemas.openxmlformats.org/presentationml/2006/ole">
            <mc:AlternateContent xmlns:mc="http://schemas.openxmlformats.org/markup-compatibility/2006">
              <mc:Choice xmlns:v="urn:schemas-microsoft-com:vml" Requires="v">
                <p:oleObj spid="_x0000_s9406" name="Equation" r:id="rId7" imgW="164957" imgH="393359" progId="Equation.DSMT4">
                  <p:embed/>
                </p:oleObj>
              </mc:Choice>
              <mc:Fallback>
                <p:oleObj name="Equation" r:id="rId7" imgW="164957" imgH="39335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3863" y="806450"/>
                        <a:ext cx="3524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4672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469900" y="360363"/>
            <a:ext cx="8304213" cy="475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b="1" dirty="0">
                <a:latin typeface="Times New Roman" pitchFamily="18" charset="0"/>
                <a:ea typeface="黑体" pitchFamily="49" charset="-122"/>
              </a:rPr>
              <a:t>六、注意事项</a:t>
            </a:r>
          </a:p>
          <a:p>
            <a:pPr eaLnBrk="1" hangingPunct="1">
              <a:lnSpc>
                <a:spcPct val="150000"/>
              </a:lnSpc>
              <a:spcBef>
                <a:spcPct val="0"/>
              </a:spcBef>
              <a:buFontTx/>
              <a:buNone/>
            </a:pPr>
            <a:r>
              <a:rPr lang="zh-CN" altLang="en-US" sz="2200" dirty="0">
                <a:latin typeface="Times New Roman" pitchFamily="18" charset="0"/>
                <a:ea typeface="黑体" pitchFamily="49" charset="-122"/>
              </a:rPr>
              <a:t>1、测量系统在使用前先进行检漏。</a:t>
            </a:r>
          </a:p>
          <a:p>
            <a:pPr eaLnBrk="1" hangingPunct="1">
              <a:lnSpc>
                <a:spcPct val="150000"/>
              </a:lnSpc>
              <a:spcBef>
                <a:spcPct val="0"/>
              </a:spcBef>
              <a:buFontTx/>
              <a:buNone/>
            </a:pPr>
            <a:r>
              <a:rPr lang="zh-CN" altLang="en-US" sz="2200" dirty="0">
                <a:latin typeface="Times New Roman" pitchFamily="18" charset="0"/>
                <a:ea typeface="黑体" pitchFamily="49" charset="-122"/>
              </a:rPr>
              <a:t>2、实验过程中必须保持毛细管状态的稳定，不能玷污，更不能</a:t>
            </a:r>
            <a:r>
              <a:rPr lang="zh-CN" altLang="en-US" sz="2200" dirty="0" smtClean="0">
                <a:latin typeface="Times New Roman" pitchFamily="18" charset="0"/>
                <a:ea typeface="黑体" pitchFamily="49" charset="-122"/>
              </a:rPr>
              <a:t>碰  </a:t>
            </a:r>
            <a:endParaRPr lang="en-US" altLang="zh-CN" sz="2200" dirty="0" smtClean="0">
              <a:latin typeface="Times New Roman" pitchFamily="18" charset="0"/>
              <a:ea typeface="黑体" pitchFamily="49" charset="-122"/>
            </a:endParaRPr>
          </a:p>
          <a:p>
            <a:pPr eaLnBrk="1" hangingPunct="1">
              <a:lnSpc>
                <a:spcPct val="150000"/>
              </a:lnSpc>
              <a:spcBef>
                <a:spcPct val="0"/>
              </a:spcBef>
              <a:buFontTx/>
              <a:buNone/>
            </a:pPr>
            <a:r>
              <a:rPr lang="en-US" altLang="zh-CN" sz="2200" dirty="0">
                <a:latin typeface="Times New Roman" pitchFamily="18" charset="0"/>
                <a:ea typeface="黑体" pitchFamily="49" charset="-122"/>
              </a:rPr>
              <a:t> </a:t>
            </a:r>
            <a:r>
              <a:rPr lang="en-US" altLang="zh-CN" sz="2200" dirty="0" smtClean="0">
                <a:latin typeface="Times New Roman" pitchFamily="18" charset="0"/>
                <a:ea typeface="黑体" pitchFamily="49" charset="-122"/>
              </a:rPr>
              <a:t>     </a:t>
            </a:r>
            <a:r>
              <a:rPr lang="zh-CN" altLang="en-US" sz="2200" dirty="0" smtClean="0">
                <a:latin typeface="Times New Roman" pitchFamily="18" charset="0"/>
                <a:ea typeface="黑体" pitchFamily="49" charset="-122"/>
              </a:rPr>
              <a:t>破</a:t>
            </a:r>
            <a:r>
              <a:rPr lang="zh-CN" altLang="en-US" sz="2200" dirty="0">
                <a:latin typeface="Times New Roman" pitchFamily="18" charset="0"/>
                <a:ea typeface="黑体" pitchFamily="49" charset="-122"/>
              </a:rPr>
              <a:t>，必须干净、干燥。在更换待测溶液时一定要小心，尽量</a:t>
            </a:r>
            <a:r>
              <a:rPr lang="zh-CN" altLang="en-US" sz="2200" dirty="0" smtClean="0">
                <a:latin typeface="Times New Roman" pitchFamily="18" charset="0"/>
                <a:ea typeface="黑体" pitchFamily="49" charset="-122"/>
              </a:rPr>
              <a:t>不 </a:t>
            </a:r>
            <a:endParaRPr lang="en-US" altLang="zh-CN" sz="2200" dirty="0" smtClean="0">
              <a:latin typeface="Times New Roman" pitchFamily="18" charset="0"/>
              <a:ea typeface="黑体" pitchFamily="49" charset="-122"/>
            </a:endParaRPr>
          </a:p>
          <a:p>
            <a:pPr eaLnBrk="1" hangingPunct="1">
              <a:lnSpc>
                <a:spcPct val="150000"/>
              </a:lnSpc>
              <a:spcBef>
                <a:spcPct val="0"/>
              </a:spcBef>
              <a:buFontTx/>
              <a:buNone/>
            </a:pPr>
            <a:r>
              <a:rPr lang="en-US" altLang="zh-CN" sz="2200" dirty="0">
                <a:latin typeface="Times New Roman" pitchFamily="18" charset="0"/>
                <a:ea typeface="黑体" pitchFamily="49" charset="-122"/>
              </a:rPr>
              <a:t> </a:t>
            </a:r>
            <a:r>
              <a:rPr lang="en-US" altLang="zh-CN" sz="2200" dirty="0" smtClean="0">
                <a:latin typeface="Times New Roman" pitchFamily="18" charset="0"/>
                <a:ea typeface="黑体" pitchFamily="49" charset="-122"/>
              </a:rPr>
              <a:t>     </a:t>
            </a:r>
            <a:r>
              <a:rPr lang="zh-CN" altLang="en-US" sz="2200" dirty="0" smtClean="0">
                <a:latin typeface="Times New Roman" pitchFamily="18" charset="0"/>
                <a:ea typeface="黑体" pitchFamily="49" charset="-122"/>
              </a:rPr>
              <a:t>让</a:t>
            </a:r>
            <a:r>
              <a:rPr lang="zh-CN" altLang="en-US" sz="2200" dirty="0">
                <a:latin typeface="Times New Roman" pitchFamily="18" charset="0"/>
                <a:ea typeface="黑体" pitchFamily="49" charset="-122"/>
              </a:rPr>
              <a:t>毛细管与别的物品接触。</a:t>
            </a:r>
          </a:p>
          <a:p>
            <a:pPr eaLnBrk="1" hangingPunct="1">
              <a:lnSpc>
                <a:spcPct val="150000"/>
              </a:lnSpc>
              <a:spcBef>
                <a:spcPct val="0"/>
              </a:spcBef>
              <a:buFontTx/>
              <a:buNone/>
            </a:pPr>
            <a:r>
              <a:rPr lang="zh-CN" altLang="en-US" sz="2200" dirty="0">
                <a:latin typeface="Times New Roman" pitchFamily="18" charset="0"/>
                <a:ea typeface="黑体" pitchFamily="49" charset="-122"/>
              </a:rPr>
              <a:t>3、读取数据时，应该取单个气泡的最大压力差。</a:t>
            </a:r>
          </a:p>
          <a:p>
            <a:pPr eaLnBrk="1" hangingPunct="1">
              <a:lnSpc>
                <a:spcPct val="150000"/>
              </a:lnSpc>
              <a:spcBef>
                <a:spcPct val="0"/>
              </a:spcBef>
              <a:buFontTx/>
              <a:buNone/>
            </a:pPr>
            <a:r>
              <a:rPr lang="zh-CN" altLang="en-US" sz="2200" dirty="0">
                <a:latin typeface="Times New Roman" pitchFamily="18" charset="0"/>
                <a:ea typeface="黑体" pitchFamily="49" charset="-122"/>
              </a:rPr>
              <a:t>4、用滴管往折射仪上滴加样品时，注意管尖不要与棱镜接触，</a:t>
            </a:r>
            <a:r>
              <a:rPr lang="zh-CN" altLang="en-US" sz="2200" dirty="0" smtClean="0">
                <a:latin typeface="Times New Roman" pitchFamily="18" charset="0"/>
                <a:ea typeface="黑体" pitchFamily="49" charset="-122"/>
              </a:rPr>
              <a:t>以</a:t>
            </a:r>
            <a:endParaRPr lang="en-US" altLang="zh-CN" sz="2200" dirty="0" smtClean="0">
              <a:latin typeface="Times New Roman" pitchFamily="18" charset="0"/>
              <a:ea typeface="黑体" pitchFamily="49" charset="-122"/>
            </a:endParaRPr>
          </a:p>
          <a:p>
            <a:pPr eaLnBrk="1" hangingPunct="1">
              <a:lnSpc>
                <a:spcPct val="150000"/>
              </a:lnSpc>
              <a:spcBef>
                <a:spcPct val="0"/>
              </a:spcBef>
              <a:buFontTx/>
              <a:buNone/>
            </a:pPr>
            <a:r>
              <a:rPr lang="en-US" altLang="zh-CN" sz="2200" dirty="0">
                <a:latin typeface="Times New Roman" pitchFamily="18" charset="0"/>
                <a:ea typeface="黑体" pitchFamily="49" charset="-122"/>
              </a:rPr>
              <a:t> </a:t>
            </a:r>
            <a:r>
              <a:rPr lang="en-US" altLang="zh-CN" sz="2200" dirty="0" smtClean="0">
                <a:latin typeface="Times New Roman" pitchFamily="18" charset="0"/>
                <a:ea typeface="黑体" pitchFamily="49" charset="-122"/>
              </a:rPr>
              <a:t>     </a:t>
            </a:r>
            <a:r>
              <a:rPr lang="zh-CN" altLang="en-US" sz="2200" dirty="0" smtClean="0">
                <a:latin typeface="Times New Roman" pitchFamily="18" charset="0"/>
                <a:ea typeface="黑体" pitchFamily="49" charset="-122"/>
              </a:rPr>
              <a:t>防</a:t>
            </a:r>
            <a:r>
              <a:rPr lang="zh-CN" altLang="en-US" sz="2200" dirty="0">
                <a:latin typeface="Times New Roman" pitchFamily="18" charset="0"/>
                <a:ea typeface="黑体" pitchFamily="49" charset="-122"/>
              </a:rPr>
              <a:t>划破玻璃棱镜。小心操作，切忌碰碎滴管。</a:t>
            </a:r>
          </a:p>
          <a:p>
            <a:pPr eaLnBrk="1" hangingPunct="1">
              <a:lnSpc>
                <a:spcPct val="150000"/>
              </a:lnSpc>
              <a:spcBef>
                <a:spcPct val="0"/>
              </a:spcBef>
              <a:buFontTx/>
              <a:buNone/>
            </a:pPr>
            <a:endParaRPr lang="zh-CN" altLang="en-US" sz="2400" dirty="0">
              <a:solidFill>
                <a:schemeClr val="tx2"/>
              </a:solidFill>
              <a:latin typeface="Times New Roman" pitchFamily="18" charset="0"/>
              <a:ea typeface="黑体" pitchFamily="49" charset="-122"/>
            </a:endParaRPr>
          </a:p>
        </p:txBody>
      </p:sp>
    </p:spTree>
    <p:extLst>
      <p:ext uri="{BB962C8B-B14F-4D97-AF65-F5344CB8AC3E}">
        <p14:creationId xmlns:p14="http://schemas.microsoft.com/office/powerpoint/2010/main" val="2064861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body" idx="1"/>
          </p:nvPr>
        </p:nvSpPr>
        <p:spPr>
          <a:xfrm>
            <a:off x="457200" y="404664"/>
            <a:ext cx="8229600" cy="5419725"/>
          </a:xfrm>
        </p:spPr>
        <p:txBody>
          <a:bodyPr/>
          <a:lstStyle/>
          <a:p>
            <a:pPr eaLnBrk="1" hangingPunct="1">
              <a:lnSpc>
                <a:spcPct val="150000"/>
              </a:lnSpc>
              <a:buFontTx/>
              <a:buNone/>
            </a:pPr>
            <a:r>
              <a:rPr lang="zh-CN" altLang="en-US" sz="2400" b="1" dirty="0" smtClean="0">
                <a:latin typeface="黑体" pitchFamily="49" charset="-122"/>
                <a:ea typeface="黑体" pitchFamily="49" charset="-122"/>
              </a:rPr>
              <a:t>七、思考题</a:t>
            </a:r>
          </a:p>
          <a:p>
            <a:pPr eaLnBrk="1" hangingPunct="1">
              <a:lnSpc>
                <a:spcPct val="150000"/>
              </a:lnSpc>
              <a:buFontTx/>
              <a:buNone/>
            </a:pPr>
            <a:r>
              <a:rPr lang="zh-CN" altLang="en-US" sz="2400" dirty="0" smtClean="0">
                <a:latin typeface="黑体" pitchFamily="49" charset="-122"/>
                <a:ea typeface="黑体" pitchFamily="49" charset="-122"/>
              </a:rPr>
              <a:t>1、为什么毛细管口不能插入液体内部，只能与液面相切？否则对实验有何影响？</a:t>
            </a:r>
          </a:p>
          <a:p>
            <a:pPr eaLnBrk="1" hangingPunct="1">
              <a:lnSpc>
                <a:spcPct val="150000"/>
              </a:lnSpc>
              <a:buFontTx/>
              <a:buNone/>
            </a:pPr>
            <a:r>
              <a:rPr lang="zh-CN" altLang="en-US" sz="2400" dirty="0" smtClean="0">
                <a:latin typeface="黑体" pitchFamily="49" charset="-122"/>
                <a:ea typeface="黑体" pitchFamily="49" charset="-122"/>
              </a:rPr>
              <a:t>2、实验中测定表面张力，为什么必须读取最大压力差？如果气泡逸出过快或几个气泡一起逸出，对实验结果有何影响？</a:t>
            </a:r>
          </a:p>
          <a:p>
            <a:pPr eaLnBrk="1" hangingPunct="1">
              <a:lnSpc>
                <a:spcPct val="150000"/>
              </a:lnSpc>
              <a:buFontTx/>
              <a:buNone/>
            </a:pPr>
            <a:r>
              <a:rPr lang="zh-CN" altLang="en-US" sz="2400" dirty="0" smtClean="0">
                <a:latin typeface="黑体" pitchFamily="49" charset="-122"/>
                <a:ea typeface="黑体" pitchFamily="49" charset="-122"/>
              </a:rPr>
              <a:t>3、为什么保持仪器和药品的清洁是本实验的关键？若毛细管不清洁，是否会影响测定结果？</a:t>
            </a:r>
          </a:p>
        </p:txBody>
      </p:sp>
    </p:spTree>
    <p:extLst>
      <p:ext uri="{BB962C8B-B14F-4D97-AF65-F5344CB8AC3E}">
        <p14:creationId xmlns:p14="http://schemas.microsoft.com/office/powerpoint/2010/main" val="1165168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1500144" y="476250"/>
            <a:ext cx="6542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lang="zh-CN" altLang="en-US" sz="2400" b="1" dirty="0">
                <a:ea typeface="黑体" pitchFamily="49" charset="-122"/>
              </a:rPr>
              <a:t>实验四  </a:t>
            </a:r>
            <a:r>
              <a:rPr lang="zh-CN" altLang="en-US" sz="2400" b="1" dirty="0" smtClean="0">
                <a:ea typeface="黑体" pitchFamily="49" charset="-122"/>
              </a:rPr>
              <a:t>黏度</a:t>
            </a:r>
            <a:r>
              <a:rPr lang="zh-CN" altLang="en-US" sz="2400" b="1" dirty="0">
                <a:ea typeface="黑体" pitchFamily="49" charset="-122"/>
              </a:rPr>
              <a:t>法测定水溶性高聚物的相对分子量</a:t>
            </a:r>
          </a:p>
        </p:txBody>
      </p:sp>
      <p:sp>
        <p:nvSpPr>
          <p:cNvPr id="54275" name="Rectangle 3"/>
          <p:cNvSpPr>
            <a:spLocks noChangeArrowheads="1"/>
          </p:cNvSpPr>
          <p:nvPr/>
        </p:nvSpPr>
        <p:spPr bwMode="auto">
          <a:xfrm>
            <a:off x="755650" y="1916113"/>
            <a:ext cx="74231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buFontTx/>
              <a:buNone/>
            </a:pPr>
            <a:r>
              <a:rPr lang="zh-CN" altLang="zh-CN" sz="2400" dirty="0">
                <a:latin typeface="黑体" pitchFamily="49" charset="-122"/>
                <a:ea typeface="黑体" pitchFamily="49" charset="-122"/>
              </a:rPr>
              <a:t>1.测定</a:t>
            </a:r>
            <a:r>
              <a:rPr lang="zh-CN" altLang="zh-CN" sz="2400" dirty="0" smtClean="0">
                <a:latin typeface="黑体" pitchFamily="49" charset="-122"/>
                <a:ea typeface="黑体" pitchFamily="49" charset="-122"/>
              </a:rPr>
              <a:t>线</a:t>
            </a:r>
            <a:r>
              <a:rPr lang="zh-CN" altLang="en-US" sz="2400" dirty="0" smtClean="0">
                <a:latin typeface="黑体" pitchFamily="49" charset="-122"/>
                <a:ea typeface="黑体" pitchFamily="49" charset="-122"/>
              </a:rPr>
              <a:t>形</a:t>
            </a:r>
            <a:r>
              <a:rPr lang="zh-CN" altLang="zh-CN" sz="2400" dirty="0" smtClean="0">
                <a:latin typeface="黑体" pitchFamily="49" charset="-122"/>
                <a:ea typeface="黑体" pitchFamily="49" charset="-122"/>
              </a:rPr>
              <a:t>高聚物</a:t>
            </a:r>
            <a:r>
              <a:rPr lang="zh-CN" altLang="zh-CN" sz="2400" dirty="0">
                <a:latin typeface="黑体" pitchFamily="49" charset="-122"/>
                <a:ea typeface="黑体" pitchFamily="49" charset="-122"/>
              </a:rPr>
              <a:t>的相对分子质量的平均值</a:t>
            </a:r>
          </a:p>
          <a:p>
            <a:pPr eaLnBrk="1" hangingPunct="1">
              <a:lnSpc>
                <a:spcPct val="150000"/>
              </a:lnSpc>
              <a:buFontTx/>
              <a:buNone/>
            </a:pPr>
            <a:r>
              <a:rPr lang="zh-CN" altLang="zh-CN" sz="2400" dirty="0">
                <a:latin typeface="黑体" pitchFamily="49" charset="-122"/>
                <a:ea typeface="黑体" pitchFamily="49" charset="-122"/>
              </a:rPr>
              <a:t>2.掌握</a:t>
            </a:r>
            <a:r>
              <a:rPr lang="zh-CN" altLang="zh-CN" sz="2400" dirty="0" smtClean="0">
                <a:latin typeface="黑体" pitchFamily="49" charset="-122"/>
                <a:ea typeface="黑体" pitchFamily="49" charset="-122"/>
              </a:rPr>
              <a:t>乌氏</a:t>
            </a:r>
            <a:r>
              <a:rPr lang="zh-CN" altLang="en-US" sz="2400" dirty="0">
                <a:ea typeface="黑体" pitchFamily="49" charset="-122"/>
              </a:rPr>
              <a:t>黏</a:t>
            </a:r>
            <a:r>
              <a:rPr lang="zh-CN" altLang="zh-CN" sz="2400" dirty="0" smtClean="0">
                <a:latin typeface="黑体" pitchFamily="49" charset="-122"/>
                <a:ea typeface="黑体" pitchFamily="49" charset="-122"/>
              </a:rPr>
              <a:t>度</a:t>
            </a:r>
            <a:r>
              <a:rPr lang="zh-CN" altLang="zh-CN" sz="2400" dirty="0">
                <a:latin typeface="黑体" pitchFamily="49" charset="-122"/>
                <a:ea typeface="黑体" pitchFamily="49" charset="-122"/>
              </a:rPr>
              <a:t>计</a:t>
            </a:r>
            <a:r>
              <a:rPr lang="zh-CN" altLang="zh-CN" sz="2400" dirty="0" smtClean="0">
                <a:latin typeface="黑体" pitchFamily="49" charset="-122"/>
                <a:ea typeface="黑体" pitchFamily="49" charset="-122"/>
              </a:rPr>
              <a:t>测定</a:t>
            </a:r>
            <a:r>
              <a:rPr lang="zh-CN" altLang="en-US" sz="2400" dirty="0" smtClean="0">
                <a:latin typeface="黑体" pitchFamily="49" charset="-122"/>
                <a:ea typeface="黑体" pitchFamily="49" charset="-122"/>
              </a:rPr>
              <a:t>黏</a:t>
            </a:r>
            <a:r>
              <a:rPr lang="zh-CN" altLang="zh-CN" sz="2400" dirty="0" smtClean="0">
                <a:latin typeface="黑体" pitchFamily="49" charset="-122"/>
                <a:ea typeface="黑体" pitchFamily="49" charset="-122"/>
              </a:rPr>
              <a:t>度</a:t>
            </a:r>
            <a:r>
              <a:rPr lang="zh-CN" altLang="zh-CN" sz="2400" dirty="0">
                <a:latin typeface="黑体" pitchFamily="49" charset="-122"/>
                <a:ea typeface="黑体" pitchFamily="49" charset="-122"/>
              </a:rPr>
              <a:t>的方法</a:t>
            </a:r>
          </a:p>
        </p:txBody>
      </p:sp>
      <p:sp>
        <p:nvSpPr>
          <p:cNvPr id="54276" name="Rectangle 4"/>
          <p:cNvSpPr>
            <a:spLocks noChangeArrowheads="1"/>
          </p:cNvSpPr>
          <p:nvPr/>
        </p:nvSpPr>
        <p:spPr bwMode="auto">
          <a:xfrm>
            <a:off x="539750" y="1341438"/>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b="1" dirty="0">
                <a:latin typeface="黑体" pitchFamily="49" charset="-122"/>
                <a:ea typeface="黑体" pitchFamily="49" charset="-122"/>
              </a:rPr>
              <a:t>一、实验目的</a:t>
            </a:r>
          </a:p>
        </p:txBody>
      </p:sp>
      <p:sp>
        <p:nvSpPr>
          <p:cNvPr id="54277" name="Text Box 5"/>
          <p:cNvSpPr txBox="1">
            <a:spLocks noChangeArrowheads="1"/>
          </p:cNvSpPr>
          <p:nvPr/>
        </p:nvSpPr>
        <p:spPr bwMode="auto">
          <a:xfrm>
            <a:off x="7597775" y="1052513"/>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b="1">
                <a:ea typeface="黑体" pitchFamily="49" charset="-122"/>
              </a:rPr>
              <a:t>p123</a:t>
            </a:r>
          </a:p>
        </p:txBody>
      </p:sp>
      <p:sp>
        <p:nvSpPr>
          <p:cNvPr id="54278" name="Text Box 6"/>
          <p:cNvSpPr txBox="1">
            <a:spLocks noChangeArrowheads="1"/>
          </p:cNvSpPr>
          <p:nvPr/>
        </p:nvSpPr>
        <p:spPr bwMode="auto">
          <a:xfrm>
            <a:off x="611560" y="3933825"/>
            <a:ext cx="795496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dirty="0">
                <a:ea typeface="黑体" pitchFamily="49" charset="-122"/>
              </a:rPr>
              <a:t>高聚物在溶液中</a:t>
            </a:r>
            <a:r>
              <a:rPr lang="zh-CN" altLang="en-US" sz="2400" dirty="0" smtClean="0">
                <a:ea typeface="黑体" pitchFamily="49" charset="-122"/>
              </a:rPr>
              <a:t>的</a:t>
            </a:r>
            <a:r>
              <a:rPr lang="zh-CN" altLang="en-US" sz="2400" dirty="0">
                <a:ea typeface="黑体" pitchFamily="49" charset="-122"/>
              </a:rPr>
              <a:t>黏</a:t>
            </a:r>
            <a:r>
              <a:rPr lang="zh-CN" altLang="en-US" sz="2400" dirty="0" smtClean="0">
                <a:ea typeface="黑体" pitchFamily="49" charset="-122"/>
              </a:rPr>
              <a:t>度</a:t>
            </a:r>
            <a:r>
              <a:rPr lang="zh-CN" altLang="en-US" sz="2400" dirty="0">
                <a:ea typeface="黑体" pitchFamily="49" charset="-122"/>
              </a:rPr>
              <a:t>是它在流动过程中所存在的内摩擦的反映。内摩擦主要有溶剂分子之间的内摩擦、高聚物分子与溶剂分子之间的内摩擦以及高聚物分子之间的内摩擦。溶剂分子之间的内摩擦称为纯溶剂</a:t>
            </a:r>
            <a:r>
              <a:rPr lang="zh-CN" altLang="en-US" sz="2400" dirty="0">
                <a:ea typeface="黑体" pitchFamily="49" charset="-122"/>
              </a:rPr>
              <a:t>的黏度</a:t>
            </a:r>
            <a:r>
              <a:rPr lang="zh-CN" altLang="en-US" sz="2400" dirty="0">
                <a:ea typeface="黑体" pitchFamily="49" charset="-122"/>
              </a:rPr>
              <a:t>（</a:t>
            </a:r>
            <a:r>
              <a:rPr lang="zh-CN" altLang="en-US" sz="2400" dirty="0">
                <a:ea typeface="黑体" pitchFamily="49" charset="-122"/>
                <a:sym typeface="Arial" pitchFamily="34" charset="0"/>
              </a:rPr>
              <a:t>ɳ</a:t>
            </a:r>
            <a:r>
              <a:rPr lang="zh-CN" altLang="en-US" sz="2400" baseline="-25000" dirty="0">
                <a:ea typeface="黑体" pitchFamily="49" charset="-122"/>
                <a:sym typeface="Arial" pitchFamily="34" charset="0"/>
              </a:rPr>
              <a:t>0</a:t>
            </a:r>
            <a:r>
              <a:rPr lang="zh-CN" altLang="en-US" sz="2400" dirty="0">
                <a:ea typeface="黑体" pitchFamily="49" charset="-122"/>
                <a:sym typeface="Arial" pitchFamily="34" charset="0"/>
              </a:rPr>
              <a:t>）三种内摩擦的总和称为高聚物溶液</a:t>
            </a:r>
            <a:r>
              <a:rPr lang="zh-CN" altLang="en-US" sz="2400" dirty="0" smtClean="0">
                <a:ea typeface="黑体" pitchFamily="49" charset="-122"/>
                <a:sym typeface="Arial" pitchFamily="34" charset="0"/>
              </a:rPr>
              <a:t>的</a:t>
            </a:r>
            <a:r>
              <a:rPr lang="zh-CN" altLang="en-US" sz="2400" dirty="0">
                <a:ea typeface="黑体" pitchFamily="49" charset="-122"/>
              </a:rPr>
              <a:t>黏</a:t>
            </a:r>
            <a:r>
              <a:rPr lang="zh-CN" altLang="en-US" sz="2400" dirty="0" smtClean="0">
                <a:ea typeface="黑体" pitchFamily="49" charset="-122"/>
                <a:sym typeface="Arial" pitchFamily="34" charset="0"/>
              </a:rPr>
              <a:t>度</a:t>
            </a:r>
            <a:r>
              <a:rPr lang="zh-CN" altLang="en-US" sz="2400" dirty="0">
                <a:ea typeface="黑体" pitchFamily="49" charset="-122"/>
                <a:sym typeface="Arial" pitchFamily="34" charset="0"/>
              </a:rPr>
              <a:t>（ɳ）</a:t>
            </a:r>
          </a:p>
        </p:txBody>
      </p:sp>
      <p:sp>
        <p:nvSpPr>
          <p:cNvPr id="54279" name="Text Box 7"/>
          <p:cNvSpPr txBox="1">
            <a:spLocks noChangeArrowheads="1"/>
          </p:cNvSpPr>
          <p:nvPr/>
        </p:nvSpPr>
        <p:spPr bwMode="auto">
          <a:xfrm>
            <a:off x="503758" y="3357563"/>
            <a:ext cx="7740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400" b="1" dirty="0">
                <a:ea typeface="黑体" pitchFamily="49" charset="-122"/>
              </a:rPr>
              <a:t>二、实验原理</a:t>
            </a:r>
          </a:p>
        </p:txBody>
      </p:sp>
    </p:spTree>
    <p:extLst>
      <p:ext uri="{BB962C8B-B14F-4D97-AF65-F5344CB8AC3E}">
        <p14:creationId xmlns:p14="http://schemas.microsoft.com/office/powerpoint/2010/main" val="4258654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nvGraphicFramePr>
        <p:xfrm>
          <a:off x="5649913" y="1652588"/>
          <a:ext cx="3241675" cy="1128712"/>
        </p:xfrm>
        <a:graphic>
          <a:graphicData uri="http://schemas.openxmlformats.org/presentationml/2006/ole">
            <mc:AlternateContent xmlns:mc="http://schemas.openxmlformats.org/markup-compatibility/2006">
              <mc:Choice xmlns:v="urn:schemas-microsoft-com:vml" Requires="v">
                <p:oleObj spid="_x0000_s10490" r:id="rId3" imgW="1234042" imgH="432551" progId="Equation.3">
                  <p:embed/>
                </p:oleObj>
              </mc:Choice>
              <mc:Fallback>
                <p:oleObj r:id="rId3" imgW="1234042" imgH="43255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9913" y="1652588"/>
                        <a:ext cx="3241675" cy="1128712"/>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7" name="Object 3"/>
          <p:cNvGraphicFramePr>
            <a:graphicFrameLocks noChangeAspect="1"/>
          </p:cNvGraphicFramePr>
          <p:nvPr/>
        </p:nvGraphicFramePr>
        <p:xfrm>
          <a:off x="6516688" y="117475"/>
          <a:ext cx="1498600" cy="1016000"/>
        </p:xfrm>
        <a:graphic>
          <a:graphicData uri="http://schemas.openxmlformats.org/presentationml/2006/ole">
            <mc:AlternateContent xmlns:mc="http://schemas.openxmlformats.org/markup-compatibility/2006">
              <mc:Choice xmlns:v="urn:schemas-microsoft-com:vml" Requires="v">
                <p:oleObj spid="_x0000_s10491" r:id="rId5" imgW="509105" imgH="432739" progId="Equation.3">
                  <p:embed/>
                </p:oleObj>
              </mc:Choice>
              <mc:Fallback>
                <p:oleObj r:id="rId5" imgW="509105" imgH="43273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6688" y="117475"/>
                        <a:ext cx="1498600" cy="1016000"/>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8" name="Rectangle 4"/>
          <p:cNvSpPr>
            <a:spLocks noChangeArrowheads="1"/>
          </p:cNvSpPr>
          <p:nvPr/>
        </p:nvSpPr>
        <p:spPr bwMode="auto">
          <a:xfrm>
            <a:off x="755650" y="1125538"/>
            <a:ext cx="81359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zh-CN" sz="2400" b="1" dirty="0">
                <a:latin typeface="Times New Roman" pitchFamily="18" charset="0"/>
                <a:ea typeface="黑体" pitchFamily="49" charset="-122"/>
              </a:rPr>
              <a:t>增</a:t>
            </a:r>
            <a:r>
              <a:rPr lang="zh-CN" altLang="zh-CN" sz="2400" b="1" dirty="0" smtClean="0">
                <a:latin typeface="Times New Roman" pitchFamily="18" charset="0"/>
                <a:ea typeface="黑体" pitchFamily="49" charset="-122"/>
              </a:rPr>
              <a:t>比</a:t>
            </a:r>
            <a:r>
              <a:rPr lang="zh-CN" altLang="en-US" sz="2400" b="1" dirty="0" smtClean="0">
                <a:latin typeface="Times New Roman" pitchFamily="18" charset="0"/>
                <a:ea typeface="黑体" pitchFamily="49" charset="-122"/>
              </a:rPr>
              <a:t>黏</a:t>
            </a:r>
            <a:r>
              <a:rPr lang="zh-CN" altLang="zh-CN" sz="2400" b="1" dirty="0" smtClean="0">
                <a:latin typeface="Times New Roman" pitchFamily="18" charset="0"/>
                <a:ea typeface="黑体" pitchFamily="49" charset="-122"/>
              </a:rPr>
              <a:t>度</a:t>
            </a:r>
            <a:r>
              <a:rPr lang="en-US" altLang="zh-CN" sz="2400" b="1" dirty="0">
                <a:latin typeface="Times New Roman" pitchFamily="18" charset="0"/>
                <a:ea typeface="黑体" pitchFamily="49" charset="-122"/>
              </a:rPr>
              <a:t>:</a:t>
            </a:r>
            <a:r>
              <a:rPr lang="zh-CN" altLang="zh-CN" sz="2400" dirty="0">
                <a:latin typeface="Times New Roman" pitchFamily="18" charset="0"/>
                <a:ea typeface="黑体" pitchFamily="49" charset="-122"/>
              </a:rPr>
              <a:t>在同一温度下，高聚物溶液</a:t>
            </a:r>
            <a:r>
              <a:rPr lang="zh-CN" altLang="zh-CN" sz="2400" dirty="0" smtClean="0">
                <a:latin typeface="Times New Roman" pitchFamily="18" charset="0"/>
                <a:ea typeface="黑体" pitchFamily="49" charset="-122"/>
              </a:rPr>
              <a:t>的</a:t>
            </a:r>
            <a:r>
              <a:rPr lang="zh-CN" altLang="en-US" sz="2400" dirty="0" smtClean="0">
                <a:latin typeface="Times New Roman" pitchFamily="18" charset="0"/>
                <a:ea typeface="黑体" pitchFamily="49" charset="-122"/>
              </a:rPr>
              <a:t>黏</a:t>
            </a:r>
            <a:r>
              <a:rPr lang="zh-CN" altLang="zh-CN" sz="2400" dirty="0" smtClean="0">
                <a:latin typeface="Times New Roman" pitchFamily="18" charset="0"/>
                <a:ea typeface="黑体" pitchFamily="49" charset="-122"/>
              </a:rPr>
              <a:t>度</a:t>
            </a:r>
            <a:r>
              <a:rPr lang="zh-CN" altLang="zh-CN" sz="2400" dirty="0">
                <a:latin typeface="Times New Roman" pitchFamily="18" charset="0"/>
                <a:ea typeface="黑体" pitchFamily="49" charset="-122"/>
              </a:rPr>
              <a:t>一般要比纯溶剂</a:t>
            </a:r>
            <a:r>
              <a:rPr lang="zh-CN" altLang="zh-CN" sz="2400" dirty="0" smtClean="0">
                <a:latin typeface="Times New Roman" pitchFamily="18" charset="0"/>
                <a:ea typeface="黑体" pitchFamily="49" charset="-122"/>
              </a:rPr>
              <a:t>的</a:t>
            </a:r>
            <a:r>
              <a:rPr lang="zh-CN" altLang="en-US" sz="2400" dirty="0" smtClean="0">
                <a:latin typeface="Times New Roman" pitchFamily="18" charset="0"/>
                <a:ea typeface="黑体" pitchFamily="49" charset="-122"/>
              </a:rPr>
              <a:t>黏</a:t>
            </a:r>
            <a:r>
              <a:rPr lang="zh-CN" altLang="zh-CN" sz="2400" dirty="0" smtClean="0">
                <a:latin typeface="Times New Roman" pitchFamily="18" charset="0"/>
                <a:ea typeface="黑体" pitchFamily="49" charset="-122"/>
              </a:rPr>
              <a:t>度</a:t>
            </a:r>
            <a:r>
              <a:rPr lang="zh-CN" altLang="zh-CN" sz="2400" dirty="0">
                <a:latin typeface="Times New Roman" pitchFamily="18" charset="0"/>
                <a:ea typeface="黑体" pitchFamily="49" charset="-122"/>
              </a:rPr>
              <a:t>大些</a:t>
            </a:r>
            <a:r>
              <a:rPr lang="zh-CN" altLang="zh-CN" sz="2400" dirty="0" smtClean="0">
                <a:latin typeface="Times New Roman" pitchFamily="18" charset="0"/>
                <a:ea typeface="黑体" pitchFamily="49" charset="-122"/>
              </a:rPr>
              <a:t>，</a:t>
            </a:r>
            <a:r>
              <a:rPr lang="zh-CN" altLang="en-US" sz="2400" dirty="0" smtClean="0">
                <a:latin typeface="Times New Roman" pitchFamily="18" charset="0"/>
                <a:ea typeface="黑体" pitchFamily="49" charset="-122"/>
              </a:rPr>
              <a:t>黏</a:t>
            </a:r>
            <a:r>
              <a:rPr lang="zh-CN" altLang="zh-CN" sz="2400" dirty="0" smtClean="0">
                <a:latin typeface="Times New Roman" pitchFamily="18" charset="0"/>
                <a:ea typeface="黑体" pitchFamily="49" charset="-122"/>
              </a:rPr>
              <a:t>度</a:t>
            </a:r>
            <a:r>
              <a:rPr lang="zh-CN" altLang="zh-CN" sz="2400" dirty="0">
                <a:latin typeface="Times New Roman" pitchFamily="18" charset="0"/>
                <a:ea typeface="黑体" pitchFamily="49" charset="-122"/>
              </a:rPr>
              <a:t>增加的分数叫</a:t>
            </a:r>
            <a:endParaRPr lang="zh-CN" altLang="zh-CN" sz="2400" dirty="0">
              <a:solidFill>
                <a:srgbClr val="0000FF"/>
              </a:solidFill>
              <a:latin typeface="Times New Roman" pitchFamily="18" charset="0"/>
              <a:ea typeface="黑体" pitchFamily="49" charset="-122"/>
            </a:endParaRPr>
          </a:p>
        </p:txBody>
      </p:sp>
      <p:sp>
        <p:nvSpPr>
          <p:cNvPr id="47109" name="Rectangle 5"/>
          <p:cNvSpPr>
            <a:spLocks noChangeArrowheads="1"/>
          </p:cNvSpPr>
          <p:nvPr/>
        </p:nvSpPr>
        <p:spPr bwMode="auto">
          <a:xfrm>
            <a:off x="763588" y="404813"/>
            <a:ext cx="7343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b="1" dirty="0" smtClean="0">
                <a:latin typeface="Times New Roman" pitchFamily="18" charset="0"/>
                <a:ea typeface="黑体" pitchFamily="49" charset="-122"/>
              </a:rPr>
              <a:t>相对</a:t>
            </a:r>
            <a:r>
              <a:rPr lang="zh-CN" altLang="en-US" sz="2400" b="1" dirty="0" smtClean="0">
                <a:latin typeface="Times New Roman" pitchFamily="18" charset="0"/>
                <a:ea typeface="黑体" pitchFamily="49" charset="-122"/>
              </a:rPr>
              <a:t>黏</a:t>
            </a:r>
            <a:r>
              <a:rPr lang="zh-CN" altLang="zh-CN" sz="2400" b="1" dirty="0" smtClean="0">
                <a:latin typeface="Times New Roman" pitchFamily="18" charset="0"/>
                <a:ea typeface="黑体" pitchFamily="49" charset="-122"/>
              </a:rPr>
              <a:t>度</a:t>
            </a:r>
            <a:r>
              <a:rPr lang="en-US" altLang="zh-CN" sz="2400" b="1" dirty="0">
                <a:latin typeface="Times New Roman" pitchFamily="18" charset="0"/>
                <a:ea typeface="黑体" pitchFamily="49" charset="-122"/>
              </a:rPr>
              <a:t>: </a:t>
            </a:r>
            <a:r>
              <a:rPr lang="zh-CN" altLang="zh-CN" sz="2400" dirty="0" smtClean="0">
                <a:latin typeface="Times New Roman" pitchFamily="18" charset="0"/>
                <a:ea typeface="黑体" pitchFamily="49" charset="-122"/>
              </a:rPr>
              <a:t>溶液</a:t>
            </a:r>
            <a:r>
              <a:rPr lang="zh-CN" altLang="en-US" sz="2400" dirty="0" smtClean="0">
                <a:latin typeface="Times New Roman" pitchFamily="18" charset="0"/>
                <a:ea typeface="黑体" pitchFamily="49" charset="-122"/>
              </a:rPr>
              <a:t>黏</a:t>
            </a:r>
            <a:r>
              <a:rPr lang="zh-CN" altLang="zh-CN" sz="2400" dirty="0" smtClean="0">
                <a:latin typeface="Times New Roman" pitchFamily="18" charset="0"/>
                <a:ea typeface="黑体" pitchFamily="49" charset="-122"/>
              </a:rPr>
              <a:t>度</a:t>
            </a:r>
            <a:r>
              <a:rPr lang="zh-CN" altLang="zh-CN" sz="2400" dirty="0">
                <a:latin typeface="Times New Roman" pitchFamily="18" charset="0"/>
                <a:ea typeface="黑体" pitchFamily="49" charset="-122"/>
              </a:rPr>
              <a:t>对</a:t>
            </a:r>
            <a:r>
              <a:rPr lang="zh-CN" altLang="zh-CN" sz="2400" dirty="0" smtClean="0">
                <a:latin typeface="Times New Roman" pitchFamily="18" charset="0"/>
                <a:ea typeface="黑体" pitchFamily="49" charset="-122"/>
              </a:rPr>
              <a:t>溶剂</a:t>
            </a:r>
            <a:r>
              <a:rPr lang="zh-CN" altLang="en-US" sz="2400" dirty="0" smtClean="0">
                <a:latin typeface="Times New Roman" pitchFamily="18" charset="0"/>
                <a:ea typeface="黑体" pitchFamily="49" charset="-122"/>
              </a:rPr>
              <a:t>黏</a:t>
            </a:r>
            <a:r>
              <a:rPr lang="zh-CN" altLang="zh-CN" sz="2400" dirty="0" smtClean="0">
                <a:latin typeface="Times New Roman" pitchFamily="18" charset="0"/>
                <a:ea typeface="黑体" pitchFamily="49" charset="-122"/>
              </a:rPr>
              <a:t>度</a:t>
            </a:r>
            <a:r>
              <a:rPr lang="zh-CN" altLang="zh-CN" sz="2400" dirty="0">
                <a:latin typeface="Times New Roman" pitchFamily="18" charset="0"/>
                <a:ea typeface="黑体" pitchFamily="49" charset="-122"/>
              </a:rPr>
              <a:t>的比值</a:t>
            </a:r>
            <a:endParaRPr lang="zh-CN" altLang="zh-CN" sz="2400" dirty="0">
              <a:solidFill>
                <a:srgbClr val="0000FF"/>
              </a:solidFill>
              <a:latin typeface="Times New Roman" pitchFamily="18" charset="0"/>
              <a:ea typeface="黑体" pitchFamily="49" charset="-122"/>
            </a:endParaRPr>
          </a:p>
        </p:txBody>
      </p:sp>
      <p:graphicFrame>
        <p:nvGraphicFramePr>
          <p:cNvPr id="47110" name="Object 6"/>
          <p:cNvGraphicFramePr>
            <a:graphicFrameLocks noChangeAspect="1"/>
          </p:cNvGraphicFramePr>
          <p:nvPr/>
        </p:nvGraphicFramePr>
        <p:xfrm>
          <a:off x="3132138" y="4076700"/>
          <a:ext cx="2132012" cy="871538"/>
        </p:xfrm>
        <a:graphic>
          <a:graphicData uri="http://schemas.openxmlformats.org/presentationml/2006/ole">
            <mc:AlternateContent xmlns:mc="http://schemas.openxmlformats.org/markup-compatibility/2006">
              <mc:Choice xmlns:v="urn:schemas-microsoft-com:vml" Requires="v">
                <p:oleObj spid="_x0000_s10492" r:id="rId7" imgW="826456" imgH="393945" progId="Equation.3">
                  <p:embed/>
                </p:oleObj>
              </mc:Choice>
              <mc:Fallback>
                <p:oleObj r:id="rId7" imgW="826456" imgH="39394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4076700"/>
                        <a:ext cx="2132012"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1" name="Text Box 7"/>
          <p:cNvSpPr txBox="1">
            <a:spLocks noChangeArrowheads="1"/>
          </p:cNvSpPr>
          <p:nvPr/>
        </p:nvSpPr>
        <p:spPr bwMode="auto">
          <a:xfrm>
            <a:off x="611560" y="5086350"/>
            <a:ext cx="8353425"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50000"/>
              </a:spcBef>
              <a:buFontTx/>
              <a:buNone/>
            </a:pPr>
            <a:r>
              <a:rPr lang="zh-CN" altLang="zh-CN" sz="2400" dirty="0">
                <a:latin typeface="Times New Roman" pitchFamily="18" charset="0"/>
                <a:ea typeface="黑体" pitchFamily="49" charset="-122"/>
              </a:rPr>
              <a:t>反映无限稀溶液中高聚物与溶剂分子之间的内摩擦。在此条件下，高聚物分子相距较远，相互作用可忽略不计。</a:t>
            </a:r>
          </a:p>
        </p:txBody>
      </p:sp>
      <p:sp>
        <p:nvSpPr>
          <p:cNvPr id="47112" name="Rectangle 8"/>
          <p:cNvSpPr>
            <a:spLocks noChangeArrowheads="1"/>
          </p:cNvSpPr>
          <p:nvPr/>
        </p:nvSpPr>
        <p:spPr bwMode="auto">
          <a:xfrm>
            <a:off x="899244" y="4437063"/>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b="1" dirty="0" smtClean="0">
                <a:latin typeface="Times New Roman" pitchFamily="18" charset="0"/>
                <a:ea typeface="黑体" pitchFamily="49" charset="-122"/>
              </a:rPr>
              <a:t>特性</a:t>
            </a:r>
            <a:r>
              <a:rPr lang="zh-CN" altLang="en-US" sz="2400" b="1" dirty="0" smtClean="0">
                <a:latin typeface="Times New Roman" pitchFamily="18" charset="0"/>
                <a:ea typeface="黑体" pitchFamily="49" charset="-122"/>
              </a:rPr>
              <a:t>黏</a:t>
            </a:r>
            <a:r>
              <a:rPr lang="zh-CN" altLang="zh-CN" sz="2400" b="1" dirty="0" smtClean="0">
                <a:latin typeface="Times New Roman" pitchFamily="18" charset="0"/>
                <a:ea typeface="黑体" pitchFamily="49" charset="-122"/>
              </a:rPr>
              <a:t>度</a:t>
            </a:r>
            <a:endParaRPr lang="zh-CN" altLang="zh-CN" sz="2400" b="1" dirty="0">
              <a:latin typeface="Times New Roman" pitchFamily="18" charset="0"/>
              <a:ea typeface="黑体" pitchFamily="49" charset="-122"/>
            </a:endParaRPr>
          </a:p>
        </p:txBody>
      </p:sp>
      <p:graphicFrame>
        <p:nvGraphicFramePr>
          <p:cNvPr id="55305" name="Object 9"/>
          <p:cNvGraphicFramePr>
            <a:graphicFrameLocks/>
          </p:cNvGraphicFramePr>
          <p:nvPr/>
        </p:nvGraphicFramePr>
        <p:xfrm>
          <a:off x="3203575" y="2781300"/>
          <a:ext cx="838200" cy="946150"/>
        </p:xfrm>
        <a:graphic>
          <a:graphicData uri="http://schemas.openxmlformats.org/presentationml/2006/ole">
            <mc:AlternateContent xmlns:mc="http://schemas.openxmlformats.org/markup-compatibility/2006">
              <mc:Choice xmlns:v="urn:schemas-microsoft-com:vml" Requires="v">
                <p:oleObj spid="_x0000_s10493" r:id="rId9" imgW="330641" imgH="610441" progId="Equation.3">
                  <p:embed/>
                </p:oleObj>
              </mc:Choice>
              <mc:Fallback>
                <p:oleObj r:id="rId9" imgW="330641" imgH="610441"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2781300"/>
                        <a:ext cx="838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6" name="Text Box 10"/>
          <p:cNvSpPr txBox="1">
            <a:spLocks noChangeArrowheads="1"/>
          </p:cNvSpPr>
          <p:nvPr/>
        </p:nvSpPr>
        <p:spPr bwMode="auto">
          <a:xfrm>
            <a:off x="900113" y="3070225"/>
            <a:ext cx="228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b="1" dirty="0">
                <a:ea typeface="黑体" pitchFamily="49" charset="-122"/>
              </a:rPr>
              <a:t>比</a:t>
            </a:r>
            <a:r>
              <a:rPr lang="zh-CN" altLang="en-US" sz="2400" b="1" dirty="0" smtClean="0">
                <a:ea typeface="黑体" pitchFamily="49" charset="-122"/>
              </a:rPr>
              <a:t>浓黏度</a:t>
            </a:r>
            <a:endParaRPr lang="zh-CN" altLang="en-US" sz="2400" b="1" dirty="0">
              <a:ea typeface="黑体" pitchFamily="49" charset="-122"/>
            </a:endParaRPr>
          </a:p>
        </p:txBody>
      </p:sp>
    </p:spTree>
    <p:extLst>
      <p:ext uri="{BB962C8B-B14F-4D97-AF65-F5344CB8AC3E}">
        <p14:creationId xmlns:p14="http://schemas.microsoft.com/office/powerpoint/2010/main" val="29741909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 calcmode="lin" valueType="num">
                                      <p:cBhvr additive="base">
                                        <p:cTn id="7" dur="500" fill="hold"/>
                                        <p:tgtEl>
                                          <p:spTgt spid="47108"/>
                                        </p:tgtEl>
                                        <p:attrNameLst>
                                          <p:attrName>ppt_x</p:attrName>
                                        </p:attrNameLst>
                                      </p:cBhvr>
                                      <p:tavLst>
                                        <p:tav tm="0">
                                          <p:val>
                                            <p:strVal val="#ppt_x"/>
                                          </p:val>
                                        </p:tav>
                                        <p:tav tm="100000">
                                          <p:val>
                                            <p:strVal val="#ppt_x"/>
                                          </p:val>
                                        </p:tav>
                                      </p:tavLst>
                                    </p:anim>
                                    <p:anim calcmode="lin" valueType="num">
                                      <p:cBhvr additive="base">
                                        <p:cTn id="8" dur="500" fill="hold"/>
                                        <p:tgtEl>
                                          <p:spTgt spid="4710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106"/>
                                        </p:tgtEl>
                                        <p:attrNameLst>
                                          <p:attrName>style.visibility</p:attrName>
                                        </p:attrNameLst>
                                      </p:cBhvr>
                                      <p:to>
                                        <p:strVal val="visible"/>
                                      </p:to>
                                    </p:set>
                                    <p:anim calcmode="lin" valueType="num">
                                      <p:cBhvr additive="base">
                                        <p:cTn id="13" dur="500" fill="hold"/>
                                        <p:tgtEl>
                                          <p:spTgt spid="47106"/>
                                        </p:tgtEl>
                                        <p:attrNameLst>
                                          <p:attrName>ppt_x</p:attrName>
                                        </p:attrNameLst>
                                      </p:cBhvr>
                                      <p:tavLst>
                                        <p:tav tm="0">
                                          <p:val>
                                            <p:strVal val="#ppt_x"/>
                                          </p:val>
                                        </p:tav>
                                        <p:tav tm="100000">
                                          <p:val>
                                            <p:strVal val="#ppt_x"/>
                                          </p:val>
                                        </p:tav>
                                      </p:tavLst>
                                    </p:anim>
                                    <p:anim calcmode="lin" valueType="num">
                                      <p:cBhvr additive="base">
                                        <p:cTn id="14" dur="500" fill="hold"/>
                                        <p:tgtEl>
                                          <p:spTgt spid="4710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9"/>
                                        </p:tgtEl>
                                        <p:attrNameLst>
                                          <p:attrName>style.visibility</p:attrName>
                                        </p:attrNameLst>
                                      </p:cBhvr>
                                      <p:to>
                                        <p:strVal val="visible"/>
                                      </p:to>
                                    </p:set>
                                    <p:anim calcmode="lin" valueType="num">
                                      <p:cBhvr additive="base">
                                        <p:cTn id="19" dur="500" fill="hold"/>
                                        <p:tgtEl>
                                          <p:spTgt spid="47109"/>
                                        </p:tgtEl>
                                        <p:attrNameLst>
                                          <p:attrName>ppt_x</p:attrName>
                                        </p:attrNameLst>
                                      </p:cBhvr>
                                      <p:tavLst>
                                        <p:tav tm="0">
                                          <p:val>
                                            <p:strVal val="#ppt_x"/>
                                          </p:val>
                                        </p:tav>
                                        <p:tav tm="100000">
                                          <p:val>
                                            <p:strVal val="#ppt_x"/>
                                          </p:val>
                                        </p:tav>
                                      </p:tavLst>
                                    </p:anim>
                                    <p:anim calcmode="lin" valueType="num">
                                      <p:cBhvr additive="base">
                                        <p:cTn id="20" dur="500" fill="hold"/>
                                        <p:tgtEl>
                                          <p:spTgt spid="4710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7107"/>
                                        </p:tgtEl>
                                        <p:attrNameLst>
                                          <p:attrName>style.visibility</p:attrName>
                                        </p:attrNameLst>
                                      </p:cBhvr>
                                      <p:to>
                                        <p:strVal val="visible"/>
                                      </p:to>
                                    </p:set>
                                    <p:anim calcmode="lin" valueType="num">
                                      <p:cBhvr additive="base">
                                        <p:cTn id="23" dur="500" fill="hold"/>
                                        <p:tgtEl>
                                          <p:spTgt spid="47107"/>
                                        </p:tgtEl>
                                        <p:attrNameLst>
                                          <p:attrName>ppt_x</p:attrName>
                                        </p:attrNameLst>
                                      </p:cBhvr>
                                      <p:tavLst>
                                        <p:tav tm="0">
                                          <p:val>
                                            <p:strVal val="#ppt_x"/>
                                          </p:val>
                                        </p:tav>
                                        <p:tav tm="100000">
                                          <p:val>
                                            <p:strVal val="#ppt_x"/>
                                          </p:val>
                                        </p:tav>
                                      </p:tavLst>
                                    </p:anim>
                                    <p:anim calcmode="lin" valueType="num">
                                      <p:cBhvr additive="base">
                                        <p:cTn id="24" dur="500" fill="hold"/>
                                        <p:tgtEl>
                                          <p:spTgt spid="47107"/>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7112"/>
                                        </p:tgtEl>
                                        <p:attrNameLst>
                                          <p:attrName>style.visibility</p:attrName>
                                        </p:attrNameLst>
                                      </p:cBhvr>
                                      <p:to>
                                        <p:strVal val="visible"/>
                                      </p:to>
                                    </p:set>
                                    <p:anim calcmode="lin" valueType="num">
                                      <p:cBhvr additive="base">
                                        <p:cTn id="29" dur="500" fill="hold"/>
                                        <p:tgtEl>
                                          <p:spTgt spid="47112"/>
                                        </p:tgtEl>
                                        <p:attrNameLst>
                                          <p:attrName>ppt_x</p:attrName>
                                        </p:attrNameLst>
                                      </p:cBhvr>
                                      <p:tavLst>
                                        <p:tav tm="0">
                                          <p:val>
                                            <p:strVal val="#ppt_x"/>
                                          </p:val>
                                        </p:tav>
                                        <p:tav tm="100000">
                                          <p:val>
                                            <p:strVal val="#ppt_x"/>
                                          </p:val>
                                        </p:tav>
                                      </p:tavLst>
                                    </p:anim>
                                    <p:anim calcmode="lin" valueType="num">
                                      <p:cBhvr additive="base">
                                        <p:cTn id="30" dur="500" fill="hold"/>
                                        <p:tgtEl>
                                          <p:spTgt spid="4711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7110"/>
                                        </p:tgtEl>
                                        <p:attrNameLst>
                                          <p:attrName>style.visibility</p:attrName>
                                        </p:attrNameLst>
                                      </p:cBhvr>
                                      <p:to>
                                        <p:strVal val="visible"/>
                                      </p:to>
                                    </p:set>
                                    <p:anim calcmode="lin" valueType="num">
                                      <p:cBhvr additive="base">
                                        <p:cTn id="33" dur="500" fill="hold"/>
                                        <p:tgtEl>
                                          <p:spTgt spid="47110"/>
                                        </p:tgtEl>
                                        <p:attrNameLst>
                                          <p:attrName>ppt_x</p:attrName>
                                        </p:attrNameLst>
                                      </p:cBhvr>
                                      <p:tavLst>
                                        <p:tav tm="0">
                                          <p:val>
                                            <p:strVal val="#ppt_x"/>
                                          </p:val>
                                        </p:tav>
                                        <p:tav tm="100000">
                                          <p:val>
                                            <p:strVal val="#ppt_x"/>
                                          </p:val>
                                        </p:tav>
                                      </p:tavLst>
                                    </p:anim>
                                    <p:anim calcmode="lin" valueType="num">
                                      <p:cBhvr additive="base">
                                        <p:cTn id="34" dur="500" fill="hold"/>
                                        <p:tgtEl>
                                          <p:spTgt spid="4711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7111"/>
                                        </p:tgtEl>
                                        <p:attrNameLst>
                                          <p:attrName>style.visibility</p:attrName>
                                        </p:attrNameLst>
                                      </p:cBhvr>
                                      <p:to>
                                        <p:strVal val="visible"/>
                                      </p:to>
                                    </p:set>
                                    <p:anim calcmode="lin" valueType="num">
                                      <p:cBhvr additive="base">
                                        <p:cTn id="37" dur="500" fill="hold"/>
                                        <p:tgtEl>
                                          <p:spTgt spid="47111"/>
                                        </p:tgtEl>
                                        <p:attrNameLst>
                                          <p:attrName>ppt_x</p:attrName>
                                        </p:attrNameLst>
                                      </p:cBhvr>
                                      <p:tavLst>
                                        <p:tav tm="0">
                                          <p:val>
                                            <p:strVal val="#ppt_x"/>
                                          </p:val>
                                        </p:tav>
                                        <p:tav tm="100000">
                                          <p:val>
                                            <p:strVal val="#ppt_x"/>
                                          </p:val>
                                        </p:tav>
                                      </p:tavLst>
                                    </p:anim>
                                    <p:anim calcmode="lin" valueType="num">
                                      <p:cBhvr additive="base">
                                        <p:cTn id="38" dur="500" fill="hold"/>
                                        <p:tgtEl>
                                          <p:spTgt spid="47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utoUpdateAnimBg="0"/>
      <p:bldP spid="47109" grpId="0" autoUpdateAnimBg="0"/>
      <p:bldP spid="47111" grpId="0" autoUpdateAnimBg="0"/>
      <p:bldP spid="4711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Line 2"/>
          <p:cNvSpPr>
            <a:spLocks noChangeShapeType="1"/>
          </p:cNvSpPr>
          <p:nvPr/>
        </p:nvSpPr>
        <p:spPr bwMode="auto">
          <a:xfrm>
            <a:off x="2700338" y="4724400"/>
            <a:ext cx="339566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31" name="Text Box 3"/>
          <p:cNvSpPr txBox="1">
            <a:spLocks noChangeArrowheads="1"/>
          </p:cNvSpPr>
          <p:nvPr/>
        </p:nvSpPr>
        <p:spPr bwMode="auto">
          <a:xfrm>
            <a:off x="611188" y="549275"/>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400" b="1">
                <a:latin typeface="Times New Roman" pitchFamily="18" charset="0"/>
                <a:ea typeface="黑体" pitchFamily="49" charset="-122"/>
              </a:rPr>
              <a:t>在足够稀的溶液中有：</a:t>
            </a:r>
          </a:p>
        </p:txBody>
      </p:sp>
      <p:graphicFrame>
        <p:nvGraphicFramePr>
          <p:cNvPr id="48132" name="Object 4"/>
          <p:cNvGraphicFramePr>
            <a:graphicFrameLocks noChangeAspect="1"/>
          </p:cNvGraphicFramePr>
          <p:nvPr/>
        </p:nvGraphicFramePr>
        <p:xfrm>
          <a:off x="2484438" y="1054100"/>
          <a:ext cx="3352800" cy="831850"/>
        </p:xfrm>
        <a:graphic>
          <a:graphicData uri="http://schemas.openxmlformats.org/presentationml/2006/ole">
            <mc:AlternateContent xmlns:mc="http://schemas.openxmlformats.org/markup-compatibility/2006">
              <mc:Choice xmlns:v="urn:schemas-microsoft-com:vml" Requires="v">
                <p:oleObj spid="_x0000_s11638" r:id="rId3" imgW="1145486" imgH="420011" progId="Equation.3">
                  <p:embed/>
                </p:oleObj>
              </mc:Choice>
              <mc:Fallback>
                <p:oleObj r:id="rId3" imgW="1145486" imgH="42001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1054100"/>
                        <a:ext cx="33528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3" name="Object 5"/>
          <p:cNvGraphicFramePr>
            <a:graphicFrameLocks noChangeAspect="1"/>
          </p:cNvGraphicFramePr>
          <p:nvPr/>
        </p:nvGraphicFramePr>
        <p:xfrm>
          <a:off x="2555875" y="1989138"/>
          <a:ext cx="3352800" cy="838200"/>
        </p:xfrm>
        <a:graphic>
          <a:graphicData uri="http://schemas.openxmlformats.org/presentationml/2006/ole">
            <mc:AlternateContent xmlns:mc="http://schemas.openxmlformats.org/markup-compatibility/2006">
              <mc:Choice xmlns:v="urn:schemas-microsoft-com:vml" Requires="v">
                <p:oleObj spid="_x0000_s11639" r:id="rId5" imgW="1272209" imgH="394385" progId="Equation.3">
                  <p:embed/>
                </p:oleObj>
              </mc:Choice>
              <mc:Fallback>
                <p:oleObj r:id="rId5" imgW="1272209" imgH="39438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1989138"/>
                        <a:ext cx="3352800" cy="838200"/>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4" name="Line 6"/>
          <p:cNvSpPr>
            <a:spLocks noChangeShapeType="1"/>
          </p:cNvSpPr>
          <p:nvPr/>
        </p:nvSpPr>
        <p:spPr bwMode="auto">
          <a:xfrm>
            <a:off x="2667000" y="5943600"/>
            <a:ext cx="411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135" name="Line 7"/>
          <p:cNvSpPr>
            <a:spLocks noChangeShapeType="1"/>
          </p:cNvSpPr>
          <p:nvPr/>
        </p:nvSpPr>
        <p:spPr bwMode="auto">
          <a:xfrm flipV="1">
            <a:off x="2667000" y="3429000"/>
            <a:ext cx="0" cy="2514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136" name="Line 8"/>
          <p:cNvSpPr>
            <a:spLocks noChangeShapeType="1"/>
          </p:cNvSpPr>
          <p:nvPr/>
        </p:nvSpPr>
        <p:spPr bwMode="auto">
          <a:xfrm flipV="1">
            <a:off x="2667000" y="3886200"/>
            <a:ext cx="33528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37" name="Line 9"/>
          <p:cNvSpPr>
            <a:spLocks noChangeShapeType="1"/>
          </p:cNvSpPr>
          <p:nvPr/>
        </p:nvSpPr>
        <p:spPr bwMode="auto">
          <a:xfrm>
            <a:off x="2667000" y="4724400"/>
            <a:ext cx="3352800" cy="762000"/>
          </a:xfrm>
          <a:prstGeom prst="line">
            <a:avLst/>
          </a:prstGeom>
          <a:noFill/>
          <a:ln w="28575">
            <a:solidFill>
              <a:srgbClr val="FF66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8138" name="Object 10"/>
          <p:cNvGraphicFramePr>
            <a:graphicFrameLocks noChangeAspect="1"/>
          </p:cNvGraphicFramePr>
          <p:nvPr/>
        </p:nvGraphicFramePr>
        <p:xfrm>
          <a:off x="6300788" y="3213100"/>
          <a:ext cx="1644650" cy="898525"/>
        </p:xfrm>
        <a:graphic>
          <a:graphicData uri="http://schemas.openxmlformats.org/presentationml/2006/ole">
            <mc:AlternateContent xmlns:mc="http://schemas.openxmlformats.org/markup-compatibility/2006">
              <mc:Choice xmlns:v="urn:schemas-microsoft-com:vml" Requires="v">
                <p:oleObj spid="_x0000_s11640" r:id="rId7" imgW="521832" imgH="420011" progId="Equation.3">
                  <p:embed/>
                </p:oleObj>
              </mc:Choice>
              <mc:Fallback>
                <p:oleObj r:id="rId7" imgW="521832" imgH="42001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0788" y="3213100"/>
                        <a:ext cx="164465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9" name="Object 11"/>
          <p:cNvGraphicFramePr>
            <a:graphicFrameLocks noChangeAspect="1"/>
          </p:cNvGraphicFramePr>
          <p:nvPr/>
        </p:nvGraphicFramePr>
        <p:xfrm>
          <a:off x="6516688" y="4868863"/>
          <a:ext cx="1571625" cy="857250"/>
        </p:xfrm>
        <a:graphic>
          <a:graphicData uri="http://schemas.openxmlformats.org/presentationml/2006/ole">
            <mc:AlternateContent xmlns:mc="http://schemas.openxmlformats.org/markup-compatibility/2006">
              <mc:Choice xmlns:v="urn:schemas-microsoft-com:vml" Requires="v">
                <p:oleObj spid="_x0000_s11641" r:id="rId9" imgW="610660" imgH="394385" progId="Equation.3">
                  <p:embed/>
                </p:oleObj>
              </mc:Choice>
              <mc:Fallback>
                <p:oleObj r:id="rId9" imgW="610660" imgH="39438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6688" y="4868863"/>
                        <a:ext cx="1571625" cy="857250"/>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40" name="Object 12"/>
          <p:cNvGraphicFramePr>
            <a:graphicFrameLocks noChangeAspect="1"/>
          </p:cNvGraphicFramePr>
          <p:nvPr/>
        </p:nvGraphicFramePr>
        <p:xfrm>
          <a:off x="468313" y="3530600"/>
          <a:ext cx="1901825" cy="760413"/>
        </p:xfrm>
        <a:graphic>
          <a:graphicData uri="http://schemas.openxmlformats.org/presentationml/2006/ole">
            <mc:AlternateContent xmlns:mc="http://schemas.openxmlformats.org/markup-compatibility/2006">
              <mc:Choice xmlns:v="urn:schemas-microsoft-com:vml" Requires="v">
                <p:oleObj spid="_x0000_s11642" r:id="rId11" imgW="738202" imgH="420011" progId="Equation.3">
                  <p:embed/>
                </p:oleObj>
              </mc:Choice>
              <mc:Fallback>
                <p:oleObj r:id="rId11" imgW="738202" imgH="42001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8313" y="3530600"/>
                        <a:ext cx="1901825" cy="76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41" name="Object 13"/>
          <p:cNvGraphicFramePr>
            <a:graphicFrameLocks noChangeAspect="1"/>
          </p:cNvGraphicFramePr>
          <p:nvPr/>
        </p:nvGraphicFramePr>
        <p:xfrm>
          <a:off x="2057400" y="4581525"/>
          <a:ext cx="457200" cy="346075"/>
        </p:xfrm>
        <a:graphic>
          <a:graphicData uri="http://schemas.openxmlformats.org/presentationml/2006/ole">
            <mc:AlternateContent xmlns:mc="http://schemas.openxmlformats.org/markup-compatibility/2006">
              <mc:Choice xmlns:v="urn:schemas-microsoft-com:vml" Requires="v">
                <p:oleObj spid="_x0000_s11643" r:id="rId13" imgW="217030" imgH="204264" progId="Equation.3">
                  <p:embed/>
                </p:oleObj>
              </mc:Choice>
              <mc:Fallback>
                <p:oleObj r:id="rId13" imgW="217030" imgH="204264"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57400" y="4581525"/>
                        <a:ext cx="457200" cy="346075"/>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4" name="Oval 14"/>
          <p:cNvSpPr>
            <a:spLocks noChangeArrowheads="1"/>
          </p:cNvSpPr>
          <p:nvPr/>
        </p:nvSpPr>
        <p:spPr bwMode="auto">
          <a:xfrm>
            <a:off x="2590800" y="4648200"/>
            <a:ext cx="152400" cy="228600"/>
          </a:xfrm>
          <a:prstGeom prst="ellipse">
            <a:avLst/>
          </a:prstGeom>
          <a:solidFill>
            <a:srgbClr val="FF3300"/>
          </a:solidFill>
          <a:ln w="9525">
            <a:solidFill>
              <a:srgbClr val="00CC00"/>
            </a:solidFill>
            <a:round/>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8143" name="Text Box 15"/>
          <p:cNvSpPr txBox="1">
            <a:spLocks noChangeArrowheads="1"/>
          </p:cNvSpPr>
          <p:nvPr/>
        </p:nvSpPr>
        <p:spPr bwMode="auto">
          <a:xfrm>
            <a:off x="2411413" y="6021388"/>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400">
                <a:latin typeface="Times New Roman" pitchFamily="18" charset="0"/>
                <a:ea typeface="隶书" pitchFamily="49" charset="-122"/>
              </a:rPr>
              <a:t>0                                  C g/100ml</a:t>
            </a:r>
          </a:p>
        </p:txBody>
      </p:sp>
    </p:spTree>
    <p:extLst>
      <p:ext uri="{BB962C8B-B14F-4D97-AF65-F5344CB8AC3E}">
        <p14:creationId xmlns:p14="http://schemas.microsoft.com/office/powerpoint/2010/main" val="22798478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 calcmode="lin" valueType="num">
                                      <p:cBhvr additive="base">
                                        <p:cTn id="7" dur="500" fill="hold"/>
                                        <p:tgtEl>
                                          <p:spTgt spid="48131"/>
                                        </p:tgtEl>
                                        <p:attrNameLst>
                                          <p:attrName>ppt_x</p:attrName>
                                        </p:attrNameLst>
                                      </p:cBhvr>
                                      <p:tavLst>
                                        <p:tav tm="0">
                                          <p:val>
                                            <p:strVal val="#ppt_x"/>
                                          </p:val>
                                        </p:tav>
                                        <p:tav tm="100000">
                                          <p:val>
                                            <p:strVal val="#ppt_x"/>
                                          </p:val>
                                        </p:tav>
                                      </p:tavLst>
                                    </p:anim>
                                    <p:anim calcmode="lin" valueType="num">
                                      <p:cBhvr additive="base">
                                        <p:cTn id="8" dur="500" fill="hold"/>
                                        <p:tgtEl>
                                          <p:spTgt spid="4813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8132"/>
                                        </p:tgtEl>
                                        <p:attrNameLst>
                                          <p:attrName>style.visibility</p:attrName>
                                        </p:attrNameLst>
                                      </p:cBhvr>
                                      <p:to>
                                        <p:strVal val="visible"/>
                                      </p:to>
                                    </p:set>
                                    <p:anim calcmode="lin" valueType="num">
                                      <p:cBhvr additive="base">
                                        <p:cTn id="13" dur="500" fill="hold"/>
                                        <p:tgtEl>
                                          <p:spTgt spid="48132"/>
                                        </p:tgtEl>
                                        <p:attrNameLst>
                                          <p:attrName>ppt_x</p:attrName>
                                        </p:attrNameLst>
                                      </p:cBhvr>
                                      <p:tavLst>
                                        <p:tav tm="0">
                                          <p:val>
                                            <p:strVal val="#ppt_x"/>
                                          </p:val>
                                        </p:tav>
                                        <p:tav tm="100000">
                                          <p:val>
                                            <p:strVal val="#ppt_x"/>
                                          </p:val>
                                        </p:tav>
                                      </p:tavLst>
                                    </p:anim>
                                    <p:anim calcmode="lin" valueType="num">
                                      <p:cBhvr additive="base">
                                        <p:cTn id="14" dur="500" fill="hold"/>
                                        <p:tgtEl>
                                          <p:spTgt spid="4813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8133"/>
                                        </p:tgtEl>
                                        <p:attrNameLst>
                                          <p:attrName>style.visibility</p:attrName>
                                        </p:attrNameLst>
                                      </p:cBhvr>
                                      <p:to>
                                        <p:strVal val="visible"/>
                                      </p:to>
                                    </p:set>
                                    <p:anim calcmode="lin" valueType="num">
                                      <p:cBhvr additive="base">
                                        <p:cTn id="17" dur="500" fill="hold"/>
                                        <p:tgtEl>
                                          <p:spTgt spid="48133"/>
                                        </p:tgtEl>
                                        <p:attrNameLst>
                                          <p:attrName>ppt_x</p:attrName>
                                        </p:attrNameLst>
                                      </p:cBhvr>
                                      <p:tavLst>
                                        <p:tav tm="0">
                                          <p:val>
                                            <p:strVal val="#ppt_x"/>
                                          </p:val>
                                        </p:tav>
                                        <p:tav tm="100000">
                                          <p:val>
                                            <p:strVal val="#ppt_x"/>
                                          </p:val>
                                        </p:tav>
                                      </p:tavLst>
                                    </p:anim>
                                    <p:anim calcmode="lin" valueType="num">
                                      <p:cBhvr additive="base">
                                        <p:cTn id="18" dur="500" fill="hold"/>
                                        <p:tgtEl>
                                          <p:spTgt spid="48133"/>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8135"/>
                                        </p:tgtEl>
                                        <p:attrNameLst>
                                          <p:attrName>style.visibility</p:attrName>
                                        </p:attrNameLst>
                                      </p:cBhvr>
                                      <p:to>
                                        <p:strVal val="visible"/>
                                      </p:to>
                                    </p:set>
                                    <p:anim calcmode="lin" valueType="num">
                                      <p:cBhvr additive="base">
                                        <p:cTn id="23" dur="500" fill="hold"/>
                                        <p:tgtEl>
                                          <p:spTgt spid="48135"/>
                                        </p:tgtEl>
                                        <p:attrNameLst>
                                          <p:attrName>ppt_x</p:attrName>
                                        </p:attrNameLst>
                                      </p:cBhvr>
                                      <p:tavLst>
                                        <p:tav tm="0">
                                          <p:val>
                                            <p:strVal val="#ppt_x"/>
                                          </p:val>
                                        </p:tav>
                                        <p:tav tm="100000">
                                          <p:val>
                                            <p:strVal val="#ppt_x"/>
                                          </p:val>
                                        </p:tav>
                                      </p:tavLst>
                                    </p:anim>
                                    <p:anim calcmode="lin" valueType="num">
                                      <p:cBhvr additive="base">
                                        <p:cTn id="24" dur="500" fill="hold"/>
                                        <p:tgtEl>
                                          <p:spTgt spid="4813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8134"/>
                                        </p:tgtEl>
                                        <p:attrNameLst>
                                          <p:attrName>style.visibility</p:attrName>
                                        </p:attrNameLst>
                                      </p:cBhvr>
                                      <p:to>
                                        <p:strVal val="visible"/>
                                      </p:to>
                                    </p:set>
                                    <p:anim calcmode="lin" valueType="num">
                                      <p:cBhvr additive="base">
                                        <p:cTn id="27" dur="500" fill="hold"/>
                                        <p:tgtEl>
                                          <p:spTgt spid="48134"/>
                                        </p:tgtEl>
                                        <p:attrNameLst>
                                          <p:attrName>ppt_x</p:attrName>
                                        </p:attrNameLst>
                                      </p:cBhvr>
                                      <p:tavLst>
                                        <p:tav tm="0">
                                          <p:val>
                                            <p:strVal val="#ppt_x"/>
                                          </p:val>
                                        </p:tav>
                                        <p:tav tm="100000">
                                          <p:val>
                                            <p:strVal val="#ppt_x"/>
                                          </p:val>
                                        </p:tav>
                                      </p:tavLst>
                                    </p:anim>
                                    <p:anim calcmode="lin" valueType="num">
                                      <p:cBhvr additive="base">
                                        <p:cTn id="28" dur="500" fill="hold"/>
                                        <p:tgtEl>
                                          <p:spTgt spid="4813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8143"/>
                                        </p:tgtEl>
                                        <p:attrNameLst>
                                          <p:attrName>style.visibility</p:attrName>
                                        </p:attrNameLst>
                                      </p:cBhvr>
                                      <p:to>
                                        <p:strVal val="visible"/>
                                      </p:to>
                                    </p:set>
                                    <p:anim calcmode="lin" valueType="num">
                                      <p:cBhvr additive="base">
                                        <p:cTn id="31" dur="500" fill="hold"/>
                                        <p:tgtEl>
                                          <p:spTgt spid="48143"/>
                                        </p:tgtEl>
                                        <p:attrNameLst>
                                          <p:attrName>ppt_x</p:attrName>
                                        </p:attrNameLst>
                                      </p:cBhvr>
                                      <p:tavLst>
                                        <p:tav tm="0">
                                          <p:val>
                                            <p:strVal val="#ppt_x"/>
                                          </p:val>
                                        </p:tav>
                                        <p:tav tm="100000">
                                          <p:val>
                                            <p:strVal val="#ppt_x"/>
                                          </p:val>
                                        </p:tav>
                                      </p:tavLst>
                                    </p:anim>
                                    <p:anim calcmode="lin" valueType="num">
                                      <p:cBhvr additive="base">
                                        <p:cTn id="32" dur="500" fill="hold"/>
                                        <p:tgtEl>
                                          <p:spTgt spid="4814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8140"/>
                                        </p:tgtEl>
                                        <p:attrNameLst>
                                          <p:attrName>style.visibility</p:attrName>
                                        </p:attrNameLst>
                                      </p:cBhvr>
                                      <p:to>
                                        <p:strVal val="visible"/>
                                      </p:to>
                                    </p:set>
                                    <p:anim calcmode="lin" valueType="num">
                                      <p:cBhvr additive="base">
                                        <p:cTn id="35" dur="500" fill="hold"/>
                                        <p:tgtEl>
                                          <p:spTgt spid="48140"/>
                                        </p:tgtEl>
                                        <p:attrNameLst>
                                          <p:attrName>ppt_x</p:attrName>
                                        </p:attrNameLst>
                                      </p:cBhvr>
                                      <p:tavLst>
                                        <p:tav tm="0">
                                          <p:val>
                                            <p:strVal val="#ppt_x"/>
                                          </p:val>
                                        </p:tav>
                                        <p:tav tm="100000">
                                          <p:val>
                                            <p:strVal val="#ppt_x"/>
                                          </p:val>
                                        </p:tav>
                                      </p:tavLst>
                                    </p:anim>
                                    <p:anim calcmode="lin" valueType="num">
                                      <p:cBhvr additive="base">
                                        <p:cTn id="36" dur="500" fill="hold"/>
                                        <p:tgtEl>
                                          <p:spTgt spid="48140"/>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8136"/>
                                        </p:tgtEl>
                                        <p:attrNameLst>
                                          <p:attrName>style.visibility</p:attrName>
                                        </p:attrNameLst>
                                      </p:cBhvr>
                                      <p:to>
                                        <p:strVal val="visible"/>
                                      </p:to>
                                    </p:set>
                                    <p:anim calcmode="lin" valueType="num">
                                      <p:cBhvr additive="base">
                                        <p:cTn id="41" dur="500" fill="hold"/>
                                        <p:tgtEl>
                                          <p:spTgt spid="48136"/>
                                        </p:tgtEl>
                                        <p:attrNameLst>
                                          <p:attrName>ppt_x</p:attrName>
                                        </p:attrNameLst>
                                      </p:cBhvr>
                                      <p:tavLst>
                                        <p:tav tm="0">
                                          <p:val>
                                            <p:strVal val="#ppt_x"/>
                                          </p:val>
                                        </p:tav>
                                        <p:tav tm="100000">
                                          <p:val>
                                            <p:strVal val="#ppt_x"/>
                                          </p:val>
                                        </p:tav>
                                      </p:tavLst>
                                    </p:anim>
                                    <p:anim calcmode="lin" valueType="num">
                                      <p:cBhvr additive="base">
                                        <p:cTn id="42" dur="500" fill="hold"/>
                                        <p:tgtEl>
                                          <p:spTgt spid="48136"/>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8138"/>
                                        </p:tgtEl>
                                        <p:attrNameLst>
                                          <p:attrName>style.visibility</p:attrName>
                                        </p:attrNameLst>
                                      </p:cBhvr>
                                      <p:to>
                                        <p:strVal val="visible"/>
                                      </p:to>
                                    </p:set>
                                    <p:anim calcmode="lin" valueType="num">
                                      <p:cBhvr additive="base">
                                        <p:cTn id="45" dur="500" fill="hold"/>
                                        <p:tgtEl>
                                          <p:spTgt spid="48138"/>
                                        </p:tgtEl>
                                        <p:attrNameLst>
                                          <p:attrName>ppt_x</p:attrName>
                                        </p:attrNameLst>
                                      </p:cBhvr>
                                      <p:tavLst>
                                        <p:tav tm="0">
                                          <p:val>
                                            <p:strVal val="#ppt_x"/>
                                          </p:val>
                                        </p:tav>
                                        <p:tav tm="100000">
                                          <p:val>
                                            <p:strVal val="#ppt_x"/>
                                          </p:val>
                                        </p:tav>
                                      </p:tavLst>
                                    </p:anim>
                                    <p:anim calcmode="lin" valueType="num">
                                      <p:cBhvr additive="base">
                                        <p:cTn id="46" dur="500" fill="hold"/>
                                        <p:tgtEl>
                                          <p:spTgt spid="48138"/>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48137"/>
                                        </p:tgtEl>
                                        <p:attrNameLst>
                                          <p:attrName>style.visibility</p:attrName>
                                        </p:attrNameLst>
                                      </p:cBhvr>
                                      <p:to>
                                        <p:strVal val="visible"/>
                                      </p:to>
                                    </p:set>
                                    <p:anim calcmode="lin" valueType="num">
                                      <p:cBhvr additive="base">
                                        <p:cTn id="51" dur="500" fill="hold"/>
                                        <p:tgtEl>
                                          <p:spTgt spid="48137"/>
                                        </p:tgtEl>
                                        <p:attrNameLst>
                                          <p:attrName>ppt_x</p:attrName>
                                        </p:attrNameLst>
                                      </p:cBhvr>
                                      <p:tavLst>
                                        <p:tav tm="0">
                                          <p:val>
                                            <p:strVal val="#ppt_x"/>
                                          </p:val>
                                        </p:tav>
                                        <p:tav tm="100000">
                                          <p:val>
                                            <p:strVal val="#ppt_x"/>
                                          </p:val>
                                        </p:tav>
                                      </p:tavLst>
                                    </p:anim>
                                    <p:anim calcmode="lin" valueType="num">
                                      <p:cBhvr additive="base">
                                        <p:cTn id="52" dur="500" fill="hold"/>
                                        <p:tgtEl>
                                          <p:spTgt spid="4813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8139"/>
                                        </p:tgtEl>
                                        <p:attrNameLst>
                                          <p:attrName>style.visibility</p:attrName>
                                        </p:attrNameLst>
                                      </p:cBhvr>
                                      <p:to>
                                        <p:strVal val="visible"/>
                                      </p:to>
                                    </p:set>
                                    <p:anim calcmode="lin" valueType="num">
                                      <p:cBhvr additive="base">
                                        <p:cTn id="55" dur="500" fill="hold"/>
                                        <p:tgtEl>
                                          <p:spTgt spid="48139"/>
                                        </p:tgtEl>
                                        <p:attrNameLst>
                                          <p:attrName>ppt_x</p:attrName>
                                        </p:attrNameLst>
                                      </p:cBhvr>
                                      <p:tavLst>
                                        <p:tav tm="0">
                                          <p:val>
                                            <p:strVal val="#ppt_x"/>
                                          </p:val>
                                        </p:tav>
                                        <p:tav tm="100000">
                                          <p:val>
                                            <p:strVal val="#ppt_x"/>
                                          </p:val>
                                        </p:tav>
                                      </p:tavLst>
                                    </p:anim>
                                    <p:anim calcmode="lin" valueType="num">
                                      <p:cBhvr additive="base">
                                        <p:cTn id="56" dur="500" fill="hold"/>
                                        <p:tgtEl>
                                          <p:spTgt spid="48139"/>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8130"/>
                                        </p:tgtEl>
                                        <p:attrNameLst>
                                          <p:attrName>style.visibility</p:attrName>
                                        </p:attrNameLst>
                                      </p:cBhvr>
                                      <p:to>
                                        <p:strVal val="visible"/>
                                      </p:to>
                                    </p:set>
                                    <p:anim calcmode="lin" valueType="num">
                                      <p:cBhvr additive="base">
                                        <p:cTn id="61" dur="500" fill="hold"/>
                                        <p:tgtEl>
                                          <p:spTgt spid="48130"/>
                                        </p:tgtEl>
                                        <p:attrNameLst>
                                          <p:attrName>ppt_x</p:attrName>
                                        </p:attrNameLst>
                                      </p:cBhvr>
                                      <p:tavLst>
                                        <p:tav tm="0">
                                          <p:val>
                                            <p:strVal val="#ppt_x"/>
                                          </p:val>
                                        </p:tav>
                                        <p:tav tm="100000">
                                          <p:val>
                                            <p:strVal val="#ppt_x"/>
                                          </p:val>
                                        </p:tav>
                                      </p:tavLst>
                                    </p:anim>
                                    <p:anim calcmode="lin" valueType="num">
                                      <p:cBhvr additive="base">
                                        <p:cTn id="62" dur="500" fill="hold"/>
                                        <p:tgtEl>
                                          <p:spTgt spid="48130"/>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8141"/>
                                        </p:tgtEl>
                                        <p:attrNameLst>
                                          <p:attrName>style.visibility</p:attrName>
                                        </p:attrNameLst>
                                      </p:cBhvr>
                                      <p:to>
                                        <p:strVal val="visible"/>
                                      </p:to>
                                    </p:set>
                                    <p:anim calcmode="lin" valueType="num">
                                      <p:cBhvr additive="base">
                                        <p:cTn id="65" dur="500" fill="hold"/>
                                        <p:tgtEl>
                                          <p:spTgt spid="48141"/>
                                        </p:tgtEl>
                                        <p:attrNameLst>
                                          <p:attrName>ppt_x</p:attrName>
                                        </p:attrNameLst>
                                      </p:cBhvr>
                                      <p:tavLst>
                                        <p:tav tm="0">
                                          <p:val>
                                            <p:strVal val="#ppt_x"/>
                                          </p:val>
                                        </p:tav>
                                        <p:tav tm="100000">
                                          <p:val>
                                            <p:strVal val="#ppt_x"/>
                                          </p:val>
                                        </p:tav>
                                      </p:tavLst>
                                    </p:anim>
                                    <p:anim calcmode="lin" valueType="num">
                                      <p:cBhvr additive="base">
                                        <p:cTn id="66" dur="500" fill="hold"/>
                                        <p:tgtEl>
                                          <p:spTgt spid="481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nimBg="1"/>
      <p:bldP spid="48131" grpId="0" autoUpdateAnimBg="0"/>
      <p:bldP spid="48134" grpId="0" animBg="1"/>
      <p:bldP spid="48135" grpId="0" animBg="1"/>
      <p:bldP spid="48136" grpId="0" animBg="1"/>
      <p:bldP spid="48137" grpId="0" animBg="1"/>
      <p:bldP spid="48143"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612775" y="333375"/>
            <a:ext cx="8137525"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50000"/>
              </a:spcBef>
              <a:buFontTx/>
              <a:buNone/>
            </a:pPr>
            <a:r>
              <a:rPr lang="zh-CN" altLang="en-US" sz="2400" b="1" dirty="0">
                <a:latin typeface="Times New Roman" pitchFamily="18" charset="0"/>
                <a:ea typeface="黑体" pitchFamily="49" charset="-122"/>
              </a:rPr>
              <a:t>       </a:t>
            </a:r>
            <a:r>
              <a:rPr lang="zh-CN" altLang="en-US" sz="2400" b="1" dirty="0">
                <a:latin typeface="黑体" pitchFamily="49" charset="-122"/>
                <a:ea typeface="黑体" pitchFamily="49" charset="-122"/>
              </a:rPr>
              <a:t> </a:t>
            </a:r>
            <a:r>
              <a:rPr lang="zh-CN" altLang="en-US" sz="2400" dirty="0">
                <a:latin typeface="黑体" pitchFamily="49" charset="-122"/>
                <a:ea typeface="黑体" pitchFamily="49" charset="-122"/>
              </a:rPr>
              <a:t>当高聚物、溶剂、温度等确定以后，</a:t>
            </a:r>
            <a:r>
              <a:rPr lang="el-GR" altLang="en-US" sz="2400" dirty="0">
                <a:latin typeface="黑体" pitchFamily="49" charset="-122"/>
                <a:ea typeface="黑体" pitchFamily="49" charset="-122"/>
                <a:sym typeface="Times New Roman" pitchFamily="18" charset="0"/>
              </a:rPr>
              <a:t>η</a:t>
            </a:r>
            <a:r>
              <a:rPr lang="zh-CN" altLang="en-US" sz="2400" dirty="0">
                <a:latin typeface="黑体" pitchFamily="49" charset="-122"/>
                <a:ea typeface="黑体" pitchFamily="49" charset="-122"/>
              </a:rPr>
              <a:t>值只与高聚物的相对分子质量</a:t>
            </a:r>
            <a:r>
              <a:rPr lang="zh-CN" altLang="en-US" sz="2400" dirty="0">
                <a:latin typeface="Times New Roman" pitchFamily="18" charset="0"/>
                <a:ea typeface="黑体" pitchFamily="49" charset="-122"/>
              </a:rPr>
              <a:t>M</a:t>
            </a:r>
            <a:r>
              <a:rPr lang="zh-CN" altLang="en-US" sz="2400" dirty="0">
                <a:latin typeface="黑体" pitchFamily="49" charset="-122"/>
                <a:ea typeface="黑体" pitchFamily="49" charset="-122"/>
              </a:rPr>
              <a:t>有关。目前常用半经验的麦克非线性方程来求得：</a:t>
            </a:r>
          </a:p>
        </p:txBody>
      </p:sp>
      <p:graphicFrame>
        <p:nvGraphicFramePr>
          <p:cNvPr id="57347" name="Object 3"/>
          <p:cNvGraphicFramePr>
            <a:graphicFrameLocks noChangeAspect="1"/>
          </p:cNvGraphicFramePr>
          <p:nvPr/>
        </p:nvGraphicFramePr>
        <p:xfrm>
          <a:off x="2771775" y="1917700"/>
          <a:ext cx="1981200" cy="673100"/>
        </p:xfrm>
        <a:graphic>
          <a:graphicData uri="http://schemas.openxmlformats.org/presentationml/2006/ole">
            <mc:AlternateContent xmlns:mc="http://schemas.openxmlformats.org/markup-compatibility/2006">
              <mc:Choice xmlns:v="urn:schemas-microsoft-com:vml" Requires="v">
                <p:oleObj spid="_x0000_s12352" r:id="rId3" imgW="700324" imgH="229197" progId="Equation.3">
                  <p:embed/>
                </p:oleObj>
              </mc:Choice>
              <mc:Fallback>
                <p:oleObj r:id="rId3" imgW="700324" imgH="22919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1917700"/>
                        <a:ext cx="1981200" cy="673100"/>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8" name="Text Box 4"/>
          <p:cNvSpPr txBox="1">
            <a:spLocks noChangeArrowheads="1"/>
          </p:cNvSpPr>
          <p:nvPr/>
        </p:nvSpPr>
        <p:spPr bwMode="auto">
          <a:xfrm>
            <a:off x="755650" y="3141663"/>
            <a:ext cx="7559675" cy="210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50000"/>
              </a:spcBef>
              <a:buFontTx/>
              <a:buNone/>
            </a:pPr>
            <a:r>
              <a:rPr lang="zh-CN" altLang="zh-CN" sz="2400" dirty="0">
                <a:latin typeface="Times New Roman" pitchFamily="18" charset="0"/>
                <a:ea typeface="黑体" pitchFamily="49" charset="-122"/>
              </a:rPr>
              <a:t>式中：M----高聚物相对分子质量的平均值；</a:t>
            </a:r>
          </a:p>
          <a:p>
            <a:pPr eaLnBrk="1" hangingPunct="1">
              <a:lnSpc>
                <a:spcPct val="150000"/>
              </a:lnSpc>
              <a:spcBef>
                <a:spcPct val="50000"/>
              </a:spcBef>
              <a:buFontTx/>
              <a:buNone/>
            </a:pPr>
            <a:r>
              <a:rPr lang="zh-CN" altLang="zh-CN" sz="2400" dirty="0">
                <a:latin typeface="Times New Roman" pitchFamily="18" charset="0"/>
                <a:ea typeface="黑体" pitchFamily="49" charset="-122"/>
              </a:rPr>
              <a:t>             K----比例常数；</a:t>
            </a:r>
          </a:p>
          <a:p>
            <a:pPr eaLnBrk="1" hangingPunct="1">
              <a:lnSpc>
                <a:spcPct val="150000"/>
              </a:lnSpc>
              <a:spcBef>
                <a:spcPct val="50000"/>
              </a:spcBef>
              <a:buFontTx/>
              <a:buNone/>
            </a:pPr>
            <a:r>
              <a:rPr lang="zh-CN" altLang="zh-CN" sz="2400" dirty="0">
                <a:latin typeface="Times New Roman" pitchFamily="18" charset="0"/>
                <a:ea typeface="黑体" pitchFamily="49" charset="-122"/>
              </a:rPr>
              <a:t>             α----与高聚物在溶液中的形态有关的经验参数。</a:t>
            </a:r>
          </a:p>
        </p:txBody>
      </p:sp>
      <p:sp>
        <p:nvSpPr>
          <p:cNvPr id="57349" name="Text Box 5"/>
          <p:cNvSpPr txBox="1">
            <a:spLocks noChangeArrowheads="1"/>
          </p:cNvSpPr>
          <p:nvPr/>
        </p:nvSpPr>
        <p:spPr bwMode="auto">
          <a:xfrm>
            <a:off x="827088" y="5461000"/>
            <a:ext cx="748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dirty="0">
                <a:ea typeface="黑体" pitchFamily="49" charset="-122"/>
              </a:rPr>
              <a:t>右旋糖苷水溶液</a:t>
            </a:r>
            <a:r>
              <a:rPr lang="zh-CN" altLang="en-US" sz="2400" dirty="0" smtClean="0">
                <a:ea typeface="黑体" pitchFamily="49" charset="-122"/>
              </a:rPr>
              <a:t>，</a:t>
            </a:r>
            <a:r>
              <a:rPr lang="en-US" altLang="zh-CN" sz="2400" b="1" dirty="0" smtClean="0">
                <a:solidFill>
                  <a:srgbClr val="0000FF"/>
                </a:solidFill>
                <a:ea typeface="黑体" pitchFamily="49" charset="-122"/>
              </a:rPr>
              <a:t>25 </a:t>
            </a:r>
            <a:r>
              <a:rPr lang="zh-CN" altLang="en-US" sz="2400" b="1" dirty="0" smtClean="0">
                <a:solidFill>
                  <a:srgbClr val="0000FF"/>
                </a:solidFill>
                <a:ea typeface="黑体" pitchFamily="49" charset="-122"/>
                <a:sym typeface="Arial" pitchFamily="34" charset="0"/>
              </a:rPr>
              <a:t>℃ </a:t>
            </a:r>
            <a:r>
              <a:rPr lang="zh-CN" altLang="en-US" sz="2400" b="1" dirty="0">
                <a:solidFill>
                  <a:srgbClr val="0000FF"/>
                </a:solidFill>
                <a:ea typeface="黑体" pitchFamily="49" charset="-122"/>
                <a:sym typeface="Arial" pitchFamily="34" charset="0"/>
              </a:rPr>
              <a:t>K</a:t>
            </a:r>
            <a:r>
              <a:rPr lang="zh-CN" altLang="en-US" sz="2400" b="1" dirty="0" smtClean="0">
                <a:solidFill>
                  <a:srgbClr val="0000FF"/>
                </a:solidFill>
                <a:ea typeface="黑体" pitchFamily="49" charset="-122"/>
                <a:sym typeface="Arial" pitchFamily="34" charset="0"/>
              </a:rPr>
              <a:t>=</a:t>
            </a:r>
            <a:r>
              <a:rPr lang="en-US" altLang="zh-CN" sz="2400" b="1" dirty="0" smtClean="0">
                <a:solidFill>
                  <a:srgbClr val="0000FF"/>
                </a:solidFill>
                <a:ea typeface="黑体" pitchFamily="49" charset="-122"/>
                <a:sym typeface="Arial" pitchFamily="34" charset="0"/>
              </a:rPr>
              <a:t>0.0922</a:t>
            </a:r>
            <a:r>
              <a:rPr lang="zh-CN" altLang="en-US" sz="2400" b="1" dirty="0" smtClean="0">
                <a:solidFill>
                  <a:srgbClr val="0000FF"/>
                </a:solidFill>
                <a:ea typeface="黑体" pitchFamily="49" charset="-122"/>
                <a:sym typeface="Arial" pitchFamily="34" charset="0"/>
              </a:rPr>
              <a:t>cm</a:t>
            </a:r>
            <a:r>
              <a:rPr lang="zh-CN" altLang="en-US" sz="2400" b="1" baseline="30000" dirty="0">
                <a:solidFill>
                  <a:srgbClr val="0000FF"/>
                </a:solidFill>
                <a:ea typeface="黑体" pitchFamily="49" charset="-122"/>
                <a:sym typeface="Arial" pitchFamily="34" charset="0"/>
              </a:rPr>
              <a:t>3</a:t>
            </a:r>
            <a:r>
              <a:rPr lang="zh-CN" altLang="en-US" sz="2400" b="1" dirty="0">
                <a:solidFill>
                  <a:srgbClr val="0000FF"/>
                </a:solidFill>
                <a:ea typeface="黑体" pitchFamily="49" charset="-122"/>
                <a:sym typeface="Arial" pitchFamily="34" charset="0"/>
              </a:rPr>
              <a:t>·g</a:t>
            </a:r>
            <a:r>
              <a:rPr lang="zh-CN" altLang="en-US" sz="2400" b="1" baseline="30000" dirty="0">
                <a:solidFill>
                  <a:srgbClr val="0000FF"/>
                </a:solidFill>
                <a:ea typeface="黑体" pitchFamily="49" charset="-122"/>
                <a:sym typeface="Arial" pitchFamily="34" charset="0"/>
              </a:rPr>
              <a:t>-1   </a:t>
            </a:r>
            <a:r>
              <a:rPr lang="zh-CN" altLang="en-US" sz="2400" b="1" dirty="0">
                <a:solidFill>
                  <a:srgbClr val="0000FF"/>
                </a:solidFill>
                <a:ea typeface="黑体" pitchFamily="49" charset="-122"/>
                <a:sym typeface="Arial" pitchFamily="34" charset="0"/>
              </a:rPr>
              <a:t>α=0</a:t>
            </a:r>
            <a:r>
              <a:rPr lang="zh-CN" altLang="en-US" sz="2400" b="1" dirty="0" smtClean="0">
                <a:solidFill>
                  <a:srgbClr val="0000FF"/>
                </a:solidFill>
                <a:ea typeface="黑体" pitchFamily="49" charset="-122"/>
                <a:sym typeface="Arial" pitchFamily="34" charset="0"/>
              </a:rPr>
              <a:t>.</a:t>
            </a:r>
            <a:r>
              <a:rPr lang="en-US" altLang="zh-CN" sz="2400" b="1" dirty="0" smtClean="0">
                <a:solidFill>
                  <a:srgbClr val="0000FF"/>
                </a:solidFill>
                <a:ea typeface="黑体" pitchFamily="49" charset="-122"/>
                <a:sym typeface="Arial" pitchFamily="34" charset="0"/>
              </a:rPr>
              <a:t>5</a:t>
            </a:r>
            <a:endParaRPr lang="zh-CN" altLang="en-US" sz="2400" b="1" dirty="0">
              <a:solidFill>
                <a:srgbClr val="0000FF"/>
              </a:solidFill>
              <a:ea typeface="黑体" pitchFamily="49" charset="-122"/>
              <a:sym typeface="Arial" pitchFamily="34" charset="0"/>
            </a:endParaRPr>
          </a:p>
        </p:txBody>
      </p:sp>
    </p:spTree>
    <p:extLst>
      <p:ext uri="{BB962C8B-B14F-4D97-AF65-F5344CB8AC3E}">
        <p14:creationId xmlns:p14="http://schemas.microsoft.com/office/powerpoint/2010/main" val="1521512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sz="half" idx="1"/>
          </p:nvPr>
        </p:nvSpPr>
        <p:spPr>
          <a:xfrm>
            <a:off x="468313" y="188913"/>
            <a:ext cx="8496300" cy="936625"/>
          </a:xfrm>
        </p:spPr>
        <p:txBody>
          <a:bodyPr>
            <a:normAutofit fontScale="85000" lnSpcReduction="20000"/>
          </a:bodyPr>
          <a:lstStyle/>
          <a:p>
            <a:pPr eaLnBrk="1" hangingPunct="1">
              <a:lnSpc>
                <a:spcPct val="150000"/>
              </a:lnSpc>
            </a:pPr>
            <a:r>
              <a:rPr lang="zh-CN" altLang="zh-CN" sz="2400" b="1" dirty="0" smtClean="0">
                <a:latin typeface="Times New Roman" pitchFamily="18" charset="0"/>
                <a:cs typeface="Times New Roman" pitchFamily="18" charset="0"/>
              </a:rPr>
              <a:t>当液体在</a:t>
            </a:r>
            <a:r>
              <a:rPr lang="zh-CN" altLang="zh-CN" sz="2400" b="1" dirty="0" smtClean="0">
                <a:latin typeface="Times New Roman" pitchFamily="18" charset="0"/>
                <a:cs typeface="Times New Roman" pitchFamily="18" charset="0"/>
              </a:rPr>
              <a:t>毛细管</a:t>
            </a:r>
            <a:r>
              <a:rPr lang="zh-CN" altLang="en-US" sz="2400" b="1" dirty="0" smtClean="0">
                <a:latin typeface="Times New Roman" pitchFamily="18" charset="0"/>
                <a:cs typeface="Times New Roman" pitchFamily="18" charset="0"/>
              </a:rPr>
              <a:t>黏</a:t>
            </a:r>
            <a:r>
              <a:rPr lang="zh-CN" altLang="zh-CN" sz="2400" b="1" dirty="0" smtClean="0">
                <a:latin typeface="Times New Roman" pitchFamily="18" charset="0"/>
                <a:cs typeface="Times New Roman" pitchFamily="18" charset="0"/>
              </a:rPr>
              <a:t>度</a:t>
            </a:r>
            <a:r>
              <a:rPr lang="zh-CN" altLang="zh-CN" sz="2400" b="1" dirty="0" smtClean="0">
                <a:latin typeface="Times New Roman" pitchFamily="18" charset="0"/>
                <a:cs typeface="Times New Roman" pitchFamily="18" charset="0"/>
              </a:rPr>
              <a:t>计内因重力作用而流出时遵守泊塞勒（Poiseuille)定律：</a:t>
            </a:r>
          </a:p>
        </p:txBody>
      </p:sp>
      <p:graphicFrame>
        <p:nvGraphicFramePr>
          <p:cNvPr id="50179" name="Object 3"/>
          <p:cNvGraphicFramePr>
            <a:graphicFrameLocks noChangeAspect="1"/>
          </p:cNvGraphicFramePr>
          <p:nvPr/>
        </p:nvGraphicFramePr>
        <p:xfrm>
          <a:off x="3921125" y="911225"/>
          <a:ext cx="3278188" cy="887413"/>
        </p:xfrm>
        <a:graphic>
          <a:graphicData uri="http://schemas.openxmlformats.org/presentationml/2006/ole">
            <mc:AlternateContent xmlns:mc="http://schemas.openxmlformats.org/markup-compatibility/2006">
              <mc:Choice xmlns:v="urn:schemas-microsoft-com:vml" Requires="v">
                <p:oleObj spid="_x0000_s13562" name="Equation" r:id="rId3" imgW="1282700" imgH="419100" progId="Equation.DSMT4">
                  <p:embed/>
                </p:oleObj>
              </mc:Choice>
              <mc:Fallback>
                <p:oleObj name="Equation" r:id="rId3" imgW="1282700" imgH="4191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1125" y="911225"/>
                        <a:ext cx="3278188" cy="88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0" name="Text Box 4"/>
          <p:cNvSpPr txBox="1">
            <a:spLocks noChangeArrowheads="1"/>
          </p:cNvSpPr>
          <p:nvPr/>
        </p:nvSpPr>
        <p:spPr bwMode="auto">
          <a:xfrm>
            <a:off x="468313" y="1844675"/>
            <a:ext cx="8569325" cy="173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50000"/>
              </a:spcBef>
              <a:buFontTx/>
              <a:buNone/>
            </a:pPr>
            <a:r>
              <a:rPr lang="zh-CN" altLang="en-US" sz="2400" b="1">
                <a:latin typeface="Times New Roman" pitchFamily="18" charset="0"/>
                <a:ea typeface="黑体" pitchFamily="49" charset="-122"/>
              </a:rPr>
              <a:t>    </a:t>
            </a:r>
            <a:r>
              <a:rPr lang="zh-CN" altLang="en-US" sz="2400" b="1">
                <a:latin typeface="Times New Roman" pitchFamily="18" charset="0"/>
                <a:cs typeface="Times New Roman" pitchFamily="18" charset="0"/>
              </a:rPr>
              <a:t>ρ液体密度；t流出时间;l毛细管长度；r毛细管半径；；h流经毛细管液体的平均液柱高度； g重力加速度；</a:t>
            </a:r>
            <a:r>
              <a:rPr lang="en-US" altLang="zh-CN" sz="2400" b="1">
                <a:latin typeface="Times New Roman" pitchFamily="18" charset="0"/>
                <a:cs typeface="Times New Roman" pitchFamily="18" charset="0"/>
              </a:rPr>
              <a:t>V</a:t>
            </a:r>
            <a:r>
              <a:rPr lang="zh-CN" altLang="en-US" sz="2400" b="1">
                <a:latin typeface="Times New Roman" pitchFamily="18" charset="0"/>
                <a:cs typeface="Times New Roman" pitchFamily="18" charset="0"/>
              </a:rPr>
              <a:t>为流经毛细管的液体体积； m仪器几何形状常数，r/</a:t>
            </a:r>
            <a:r>
              <a:rPr lang="en-US" altLang="zh-CN" sz="2400" b="1">
                <a:latin typeface="Times New Roman" pitchFamily="18" charset="0"/>
                <a:cs typeface="Times New Roman" pitchFamily="18" charset="0"/>
              </a:rPr>
              <a:t>l</a:t>
            </a:r>
            <a:r>
              <a:rPr lang="zh-CN" altLang="en-US" sz="2400" b="1">
                <a:latin typeface="Times New Roman" pitchFamily="18" charset="0"/>
                <a:cs typeface="Times New Roman" pitchFamily="18" charset="0"/>
              </a:rPr>
              <a:t>&lt;&lt;1时，可取m=1。</a:t>
            </a:r>
          </a:p>
        </p:txBody>
      </p:sp>
      <p:sp>
        <p:nvSpPr>
          <p:cNvPr id="50181" name="Text Box 5"/>
          <p:cNvSpPr txBox="1">
            <a:spLocks noChangeArrowheads="1"/>
          </p:cNvSpPr>
          <p:nvPr/>
        </p:nvSpPr>
        <p:spPr bwMode="auto">
          <a:xfrm>
            <a:off x="1043608" y="4004111"/>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400" dirty="0">
                <a:latin typeface="Times New Roman" pitchFamily="18" charset="0"/>
                <a:ea typeface="黑体" pitchFamily="49" charset="-122"/>
              </a:rPr>
              <a:t>对某一指定</a:t>
            </a:r>
            <a:r>
              <a:rPr lang="zh-CN" altLang="zh-CN" sz="2400" dirty="0" smtClean="0">
                <a:latin typeface="Times New Roman" pitchFamily="18" charset="0"/>
                <a:ea typeface="黑体" pitchFamily="49" charset="-122"/>
              </a:rPr>
              <a:t>的</a:t>
            </a:r>
            <a:r>
              <a:rPr lang="zh-CN" altLang="en-US" sz="2400" dirty="0" smtClean="0">
                <a:latin typeface="Times New Roman" pitchFamily="18" charset="0"/>
                <a:ea typeface="黑体" pitchFamily="49" charset="-122"/>
              </a:rPr>
              <a:t>黏</a:t>
            </a:r>
            <a:r>
              <a:rPr lang="zh-CN" altLang="zh-CN" sz="2400" dirty="0" smtClean="0">
                <a:latin typeface="Times New Roman" pitchFamily="18" charset="0"/>
                <a:ea typeface="黑体" pitchFamily="49" charset="-122"/>
              </a:rPr>
              <a:t>度</a:t>
            </a:r>
            <a:r>
              <a:rPr lang="zh-CN" altLang="zh-CN" sz="2400" dirty="0">
                <a:latin typeface="Times New Roman" pitchFamily="18" charset="0"/>
                <a:ea typeface="黑体" pitchFamily="49" charset="-122"/>
              </a:rPr>
              <a:t>计</a:t>
            </a:r>
          </a:p>
        </p:txBody>
      </p:sp>
      <p:graphicFrame>
        <p:nvGraphicFramePr>
          <p:cNvPr id="50182" name="Object 6"/>
          <p:cNvGraphicFramePr>
            <a:graphicFrameLocks noChangeAspect="1"/>
          </p:cNvGraphicFramePr>
          <p:nvPr/>
        </p:nvGraphicFramePr>
        <p:xfrm>
          <a:off x="4549775" y="3716338"/>
          <a:ext cx="2709863" cy="1019175"/>
        </p:xfrm>
        <a:graphic>
          <a:graphicData uri="http://schemas.openxmlformats.org/presentationml/2006/ole">
            <mc:AlternateContent xmlns:mc="http://schemas.openxmlformats.org/markup-compatibility/2006">
              <mc:Choice xmlns:v="urn:schemas-microsoft-com:vml" Requires="v">
                <p:oleObj spid="_x0000_s13563" r:id="rId5" imgW="750930" imgH="420011" progId="Equation.3">
                  <p:embed/>
                </p:oleObj>
              </mc:Choice>
              <mc:Fallback>
                <p:oleObj r:id="rId5" imgW="750930" imgH="42001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9775" y="3716338"/>
                        <a:ext cx="2709863" cy="1019175"/>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3" name="Text Box 7"/>
          <p:cNvSpPr txBox="1">
            <a:spLocks noChangeArrowheads="1"/>
          </p:cNvSpPr>
          <p:nvPr/>
        </p:nvSpPr>
        <p:spPr bwMode="auto">
          <a:xfrm>
            <a:off x="468313" y="4868863"/>
            <a:ext cx="7920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400" u="sng" dirty="0">
                <a:latin typeface="Times New Roman" pitchFamily="18" charset="0"/>
                <a:ea typeface="黑体" pitchFamily="49" charset="-122"/>
              </a:rPr>
              <a:t>当t&gt;100s，在2min左右时</a:t>
            </a:r>
            <a:r>
              <a:rPr lang="zh-CN" altLang="zh-CN" sz="2400" dirty="0">
                <a:latin typeface="Times New Roman" pitchFamily="18" charset="0"/>
                <a:ea typeface="黑体" pitchFamily="49" charset="-122"/>
              </a:rPr>
              <a:t>，第二项可以忽略。</a:t>
            </a:r>
            <a:r>
              <a:rPr lang="zh-CN" altLang="zh-CN" sz="2400" u="sng" dirty="0">
                <a:latin typeface="Times New Roman" pitchFamily="18" charset="0"/>
                <a:ea typeface="黑体" pitchFamily="49" charset="-122"/>
              </a:rPr>
              <a:t>溶液很稀时</a:t>
            </a:r>
            <a:endParaRPr lang="zh-CN" altLang="zh-CN" sz="2400" dirty="0">
              <a:latin typeface="Times New Roman" pitchFamily="18" charset="0"/>
              <a:ea typeface="黑体" pitchFamily="49" charset="-122"/>
            </a:endParaRPr>
          </a:p>
        </p:txBody>
      </p:sp>
      <p:graphicFrame>
        <p:nvGraphicFramePr>
          <p:cNvPr id="50184" name="Object 8"/>
          <p:cNvGraphicFramePr>
            <a:graphicFrameLocks noChangeAspect="1"/>
          </p:cNvGraphicFramePr>
          <p:nvPr/>
        </p:nvGraphicFramePr>
        <p:xfrm>
          <a:off x="3924300" y="5373688"/>
          <a:ext cx="3095625" cy="960437"/>
        </p:xfrm>
        <a:graphic>
          <a:graphicData uri="http://schemas.openxmlformats.org/presentationml/2006/ole">
            <mc:AlternateContent xmlns:mc="http://schemas.openxmlformats.org/markup-compatibility/2006">
              <mc:Choice xmlns:v="urn:schemas-microsoft-com:vml" Requires="v">
                <p:oleObj spid="_x0000_s13564" r:id="rId7" imgW="788769" imgH="432551" progId="Equation.3">
                  <p:embed/>
                </p:oleObj>
              </mc:Choice>
              <mc:Fallback>
                <p:oleObj r:id="rId7" imgW="788769" imgH="43255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00" y="5373688"/>
                        <a:ext cx="3095625" cy="960437"/>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5" name="Object 9"/>
          <p:cNvGraphicFramePr>
            <a:graphicFrameLocks noGrp="1" noChangeAspect="1"/>
          </p:cNvGraphicFramePr>
          <p:nvPr>
            <p:ph sz="half" idx="2"/>
          </p:nvPr>
        </p:nvGraphicFramePr>
        <p:xfrm>
          <a:off x="1187450" y="5518150"/>
          <a:ext cx="1295400" cy="666750"/>
        </p:xfrm>
        <a:graphic>
          <a:graphicData uri="http://schemas.openxmlformats.org/presentationml/2006/ole">
            <mc:AlternateContent xmlns:mc="http://schemas.openxmlformats.org/markup-compatibility/2006">
              <mc:Choice xmlns:v="urn:schemas-microsoft-com:vml" Requires="v">
                <p:oleObj spid="_x0000_s13565" r:id="rId9" imgW="446243" imgH="229496" progId="Equation.DSMT4">
                  <p:embed/>
                </p:oleObj>
              </mc:Choice>
              <mc:Fallback>
                <p:oleObj r:id="rId9" imgW="446243" imgH="229496"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5518150"/>
                        <a:ext cx="12954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38657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anim calcmode="lin" valueType="num">
                                      <p:cBhvr additive="base">
                                        <p:cTn id="7" dur="500" fill="hold"/>
                                        <p:tgtEl>
                                          <p:spTgt spid="5017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179"/>
                                        </p:tgtEl>
                                        <p:attrNameLst>
                                          <p:attrName>style.visibility</p:attrName>
                                        </p:attrNameLst>
                                      </p:cBhvr>
                                      <p:to>
                                        <p:strVal val="visible"/>
                                      </p:to>
                                    </p:set>
                                    <p:anim calcmode="lin" valueType="num">
                                      <p:cBhvr additive="base">
                                        <p:cTn id="11" dur="500" fill="hold"/>
                                        <p:tgtEl>
                                          <p:spTgt spid="50179"/>
                                        </p:tgtEl>
                                        <p:attrNameLst>
                                          <p:attrName>ppt_x</p:attrName>
                                        </p:attrNameLst>
                                      </p:cBhvr>
                                      <p:tavLst>
                                        <p:tav tm="0">
                                          <p:val>
                                            <p:strVal val="#ppt_x"/>
                                          </p:val>
                                        </p:tav>
                                        <p:tav tm="100000">
                                          <p:val>
                                            <p:strVal val="#ppt_x"/>
                                          </p:val>
                                        </p:tav>
                                      </p:tavLst>
                                    </p:anim>
                                    <p:anim calcmode="lin" valueType="num">
                                      <p:cBhvr additive="base">
                                        <p:cTn id="12" dur="500" fill="hold"/>
                                        <p:tgtEl>
                                          <p:spTgt spid="5017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0180"/>
                                        </p:tgtEl>
                                        <p:attrNameLst>
                                          <p:attrName>style.visibility</p:attrName>
                                        </p:attrNameLst>
                                      </p:cBhvr>
                                      <p:to>
                                        <p:strVal val="visible"/>
                                      </p:to>
                                    </p:set>
                                    <p:anim calcmode="lin" valueType="num">
                                      <p:cBhvr additive="base">
                                        <p:cTn id="15" dur="500" fill="hold"/>
                                        <p:tgtEl>
                                          <p:spTgt spid="50180"/>
                                        </p:tgtEl>
                                        <p:attrNameLst>
                                          <p:attrName>ppt_x</p:attrName>
                                        </p:attrNameLst>
                                      </p:cBhvr>
                                      <p:tavLst>
                                        <p:tav tm="0">
                                          <p:val>
                                            <p:strVal val="#ppt_x"/>
                                          </p:val>
                                        </p:tav>
                                        <p:tav tm="100000">
                                          <p:val>
                                            <p:strVal val="#ppt_x"/>
                                          </p:val>
                                        </p:tav>
                                      </p:tavLst>
                                    </p:anim>
                                    <p:anim calcmode="lin" valueType="num">
                                      <p:cBhvr additive="base">
                                        <p:cTn id="16"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0181"/>
                                        </p:tgtEl>
                                        <p:attrNameLst>
                                          <p:attrName>style.visibility</p:attrName>
                                        </p:attrNameLst>
                                      </p:cBhvr>
                                      <p:to>
                                        <p:strVal val="visible"/>
                                      </p:to>
                                    </p:set>
                                    <p:anim calcmode="lin" valueType="num">
                                      <p:cBhvr additive="base">
                                        <p:cTn id="21" dur="500" fill="hold"/>
                                        <p:tgtEl>
                                          <p:spTgt spid="50181"/>
                                        </p:tgtEl>
                                        <p:attrNameLst>
                                          <p:attrName>ppt_x</p:attrName>
                                        </p:attrNameLst>
                                      </p:cBhvr>
                                      <p:tavLst>
                                        <p:tav tm="0">
                                          <p:val>
                                            <p:strVal val="#ppt_x"/>
                                          </p:val>
                                        </p:tav>
                                        <p:tav tm="100000">
                                          <p:val>
                                            <p:strVal val="#ppt_x"/>
                                          </p:val>
                                        </p:tav>
                                      </p:tavLst>
                                    </p:anim>
                                    <p:anim calcmode="lin" valueType="num">
                                      <p:cBhvr additive="base">
                                        <p:cTn id="22" dur="500" fill="hold"/>
                                        <p:tgtEl>
                                          <p:spTgt spid="5018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0182"/>
                                        </p:tgtEl>
                                        <p:attrNameLst>
                                          <p:attrName>style.visibility</p:attrName>
                                        </p:attrNameLst>
                                      </p:cBhvr>
                                      <p:to>
                                        <p:strVal val="visible"/>
                                      </p:to>
                                    </p:set>
                                    <p:anim calcmode="lin" valueType="num">
                                      <p:cBhvr additive="base">
                                        <p:cTn id="25" dur="500" fill="hold"/>
                                        <p:tgtEl>
                                          <p:spTgt spid="50182"/>
                                        </p:tgtEl>
                                        <p:attrNameLst>
                                          <p:attrName>ppt_x</p:attrName>
                                        </p:attrNameLst>
                                      </p:cBhvr>
                                      <p:tavLst>
                                        <p:tav tm="0">
                                          <p:val>
                                            <p:strVal val="#ppt_x"/>
                                          </p:val>
                                        </p:tav>
                                        <p:tav tm="100000">
                                          <p:val>
                                            <p:strVal val="#ppt_x"/>
                                          </p:val>
                                        </p:tav>
                                      </p:tavLst>
                                    </p:anim>
                                    <p:anim calcmode="lin" valueType="num">
                                      <p:cBhvr additive="base">
                                        <p:cTn id="26" dur="500" fill="hold"/>
                                        <p:tgtEl>
                                          <p:spTgt spid="5018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0183"/>
                                        </p:tgtEl>
                                        <p:attrNameLst>
                                          <p:attrName>style.visibility</p:attrName>
                                        </p:attrNameLst>
                                      </p:cBhvr>
                                      <p:to>
                                        <p:strVal val="visible"/>
                                      </p:to>
                                    </p:set>
                                    <p:anim calcmode="lin" valueType="num">
                                      <p:cBhvr additive="base">
                                        <p:cTn id="31" dur="500" fill="hold"/>
                                        <p:tgtEl>
                                          <p:spTgt spid="50183"/>
                                        </p:tgtEl>
                                        <p:attrNameLst>
                                          <p:attrName>ppt_x</p:attrName>
                                        </p:attrNameLst>
                                      </p:cBhvr>
                                      <p:tavLst>
                                        <p:tav tm="0">
                                          <p:val>
                                            <p:strVal val="#ppt_x"/>
                                          </p:val>
                                        </p:tav>
                                        <p:tav tm="100000">
                                          <p:val>
                                            <p:strVal val="#ppt_x"/>
                                          </p:val>
                                        </p:tav>
                                      </p:tavLst>
                                    </p:anim>
                                    <p:anim calcmode="lin" valueType="num">
                                      <p:cBhvr additive="base">
                                        <p:cTn id="32" dur="500" fill="hold"/>
                                        <p:tgtEl>
                                          <p:spTgt spid="5018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0185"/>
                                        </p:tgtEl>
                                        <p:attrNameLst>
                                          <p:attrName>style.visibility</p:attrName>
                                        </p:attrNameLst>
                                      </p:cBhvr>
                                      <p:to>
                                        <p:strVal val="visible"/>
                                      </p:to>
                                    </p:set>
                                    <p:anim calcmode="lin" valueType="num">
                                      <p:cBhvr additive="base">
                                        <p:cTn id="35" dur="500" fill="hold"/>
                                        <p:tgtEl>
                                          <p:spTgt spid="50185"/>
                                        </p:tgtEl>
                                        <p:attrNameLst>
                                          <p:attrName>ppt_x</p:attrName>
                                        </p:attrNameLst>
                                      </p:cBhvr>
                                      <p:tavLst>
                                        <p:tav tm="0">
                                          <p:val>
                                            <p:strVal val="#ppt_x"/>
                                          </p:val>
                                        </p:tav>
                                        <p:tav tm="100000">
                                          <p:val>
                                            <p:strVal val="#ppt_x"/>
                                          </p:val>
                                        </p:tav>
                                      </p:tavLst>
                                    </p:anim>
                                    <p:anim calcmode="lin" valueType="num">
                                      <p:cBhvr additive="base">
                                        <p:cTn id="36" dur="500" fill="hold"/>
                                        <p:tgtEl>
                                          <p:spTgt spid="50185"/>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0184"/>
                                        </p:tgtEl>
                                        <p:attrNameLst>
                                          <p:attrName>style.visibility</p:attrName>
                                        </p:attrNameLst>
                                      </p:cBhvr>
                                      <p:to>
                                        <p:strVal val="visible"/>
                                      </p:to>
                                    </p:set>
                                    <p:anim calcmode="lin" valueType="num">
                                      <p:cBhvr additive="base">
                                        <p:cTn id="39" dur="500" fill="hold"/>
                                        <p:tgtEl>
                                          <p:spTgt spid="50184"/>
                                        </p:tgtEl>
                                        <p:attrNameLst>
                                          <p:attrName>ppt_x</p:attrName>
                                        </p:attrNameLst>
                                      </p:cBhvr>
                                      <p:tavLst>
                                        <p:tav tm="0">
                                          <p:val>
                                            <p:strVal val="#ppt_x"/>
                                          </p:val>
                                        </p:tav>
                                        <p:tav tm="100000">
                                          <p:val>
                                            <p:strVal val="#ppt_x"/>
                                          </p:val>
                                        </p:tav>
                                      </p:tavLst>
                                    </p:anim>
                                    <p:anim calcmode="lin" valueType="num">
                                      <p:cBhvr additive="base">
                                        <p:cTn id="40" dur="500" fill="hold"/>
                                        <p:tgtEl>
                                          <p:spTgt spid="501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build="p" autoUpdateAnimBg="0"/>
      <p:bldP spid="50180" grpId="0" autoUpdateAnimBg="0"/>
      <p:bldP spid="50181" grpId="0" autoUpdateAnimBg="0"/>
      <p:bldP spid="50183"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body" idx="1"/>
          </p:nvPr>
        </p:nvSpPr>
        <p:spPr>
          <a:xfrm>
            <a:off x="323850" y="260350"/>
            <a:ext cx="8229600" cy="4525963"/>
          </a:xfrm>
        </p:spPr>
        <p:txBody>
          <a:bodyPr>
            <a:normAutofit fontScale="85000" lnSpcReduction="20000"/>
          </a:bodyPr>
          <a:lstStyle/>
          <a:p>
            <a:pPr eaLnBrk="1" hangingPunct="1">
              <a:lnSpc>
                <a:spcPct val="150000"/>
              </a:lnSpc>
              <a:buFontTx/>
              <a:buNone/>
            </a:pPr>
            <a:r>
              <a:rPr lang="zh-CN" altLang="en-US" sz="2400" b="1" dirty="0" smtClean="0">
                <a:latin typeface="Times New Roman" pitchFamily="18" charset="0"/>
                <a:cs typeface="Times New Roman" pitchFamily="18" charset="0"/>
              </a:rPr>
              <a:t>三、实验步骤</a:t>
            </a:r>
          </a:p>
          <a:p>
            <a:pPr eaLnBrk="1" hangingPunct="1">
              <a:lnSpc>
                <a:spcPct val="150000"/>
              </a:lnSpc>
              <a:buFontTx/>
              <a:buNone/>
            </a:pPr>
            <a:r>
              <a:rPr lang="zh-CN" altLang="en-US" sz="2400" b="1" dirty="0" smtClean="0">
                <a:latin typeface="Times New Roman" pitchFamily="18" charset="0"/>
              </a:rPr>
              <a:t>1</a:t>
            </a:r>
            <a:r>
              <a:rPr lang="zh-CN" altLang="en-US" sz="2400" b="1" dirty="0" smtClean="0">
                <a:latin typeface="Times New Roman" pitchFamily="18" charset="0"/>
                <a:cs typeface="Times New Roman" pitchFamily="18" charset="0"/>
              </a:rPr>
              <a:t>. </a:t>
            </a:r>
            <a:r>
              <a:rPr lang="zh-CN" altLang="en-US" sz="2400" b="1" dirty="0" smtClean="0">
                <a:latin typeface="Times New Roman" pitchFamily="18" charset="0"/>
                <a:cs typeface="Times New Roman" pitchFamily="18" charset="0"/>
              </a:rPr>
              <a:t>黏度</a:t>
            </a:r>
            <a:r>
              <a:rPr lang="zh-CN" altLang="en-US" sz="2400" b="1" dirty="0" smtClean="0">
                <a:latin typeface="Times New Roman" pitchFamily="18" charset="0"/>
                <a:cs typeface="Times New Roman" pitchFamily="18" charset="0"/>
              </a:rPr>
              <a:t>计的洗涤 </a:t>
            </a:r>
            <a:r>
              <a:rPr lang="zh-CN" altLang="en-US" sz="2400" b="1" dirty="0" smtClean="0">
                <a:latin typeface="Times New Roman" pitchFamily="18" charset="0"/>
              </a:rPr>
              <a:t>:</a:t>
            </a:r>
            <a:r>
              <a:rPr lang="zh-CN" altLang="en-US" sz="2400" b="1" dirty="0" smtClean="0">
                <a:latin typeface="Times New Roman" pitchFamily="18" charset="0"/>
                <a:cs typeface="Times New Roman" pitchFamily="18" charset="0"/>
              </a:rPr>
              <a:t>先将洗液灌</a:t>
            </a:r>
            <a:r>
              <a:rPr lang="zh-CN" altLang="en-US" sz="2400" b="1" dirty="0" smtClean="0">
                <a:latin typeface="Times New Roman" pitchFamily="18" charset="0"/>
                <a:cs typeface="Times New Roman" pitchFamily="18" charset="0"/>
              </a:rPr>
              <a:t>入黏度</a:t>
            </a:r>
            <a:r>
              <a:rPr lang="zh-CN" altLang="en-US" sz="2400" b="1" dirty="0" smtClean="0">
                <a:latin typeface="Times New Roman" pitchFamily="18" charset="0"/>
                <a:cs typeface="Times New Roman" pitchFamily="18" charset="0"/>
              </a:rPr>
              <a:t>计内，并使其反复流过毛细管部分。然后将洗液倒入专用瓶中，再顺次用自来水、蒸馏水洗涤干净。容量瓶、移液管也都应仔细洗净。</a:t>
            </a:r>
          </a:p>
          <a:p>
            <a:pPr eaLnBrk="1" hangingPunct="1">
              <a:lnSpc>
                <a:spcPct val="150000"/>
              </a:lnSpc>
              <a:buFontTx/>
              <a:buNone/>
            </a:pPr>
            <a:r>
              <a:rPr lang="zh-CN" altLang="en-US" sz="2400" b="1" dirty="0" smtClean="0">
                <a:latin typeface="Times New Roman" pitchFamily="18" charset="0"/>
              </a:rPr>
              <a:t>2</a:t>
            </a:r>
            <a:r>
              <a:rPr lang="zh-CN" altLang="en-US" sz="2400" b="1" dirty="0" smtClean="0">
                <a:latin typeface="Times New Roman" pitchFamily="18" charset="0"/>
                <a:cs typeface="Times New Roman" pitchFamily="18" charset="0"/>
              </a:rPr>
              <a:t>. 溶液配制</a:t>
            </a:r>
            <a:r>
              <a:rPr lang="zh-CN" altLang="en-US" sz="2400" b="1" dirty="0" smtClean="0">
                <a:latin typeface="Times New Roman" pitchFamily="18" charset="0"/>
              </a:rPr>
              <a:t>：</a:t>
            </a:r>
            <a:r>
              <a:rPr lang="zh-CN" altLang="zh-CN" sz="2400" b="1" dirty="0" smtClean="0"/>
              <a:t>在预先洗净的</a:t>
            </a:r>
            <a:r>
              <a:rPr lang="en-US" altLang="zh-CN" sz="2400" b="1" dirty="0" smtClean="0"/>
              <a:t>100mL</a:t>
            </a:r>
            <a:r>
              <a:rPr lang="zh-CN" altLang="zh-CN" sz="2400" b="1" dirty="0" smtClean="0"/>
              <a:t>烧杯中，加入约</a:t>
            </a:r>
            <a:r>
              <a:rPr lang="en-US" altLang="zh-CN" sz="2400" b="1" dirty="0" smtClean="0"/>
              <a:t>70mL</a:t>
            </a:r>
            <a:r>
              <a:rPr lang="zh-CN" altLang="zh-CN" sz="2400" b="1" dirty="0" smtClean="0"/>
              <a:t>蒸馏水，在水浴中加热至微沸，用分析天平准确称取</a:t>
            </a:r>
            <a:r>
              <a:rPr lang="en-US" altLang="zh-CN" sz="2400" b="1" dirty="0" smtClean="0"/>
              <a:t>1g</a:t>
            </a:r>
            <a:r>
              <a:rPr lang="zh-CN" altLang="zh-CN" sz="2400" b="1" dirty="0" smtClean="0"/>
              <a:t>右旋糖苷样品，至烧杯中溶解完全透明</a:t>
            </a:r>
            <a:r>
              <a:rPr lang="en-US" altLang="zh-CN" sz="2400" b="1" dirty="0" smtClean="0"/>
              <a:t>,</a:t>
            </a:r>
            <a:r>
              <a:rPr lang="zh-CN" altLang="en-US" sz="2400" b="1" dirty="0" smtClean="0">
                <a:latin typeface="Times New Roman" pitchFamily="18" charset="0"/>
                <a:cs typeface="Times New Roman" pitchFamily="18" charset="0"/>
              </a:rPr>
              <a:t>取出自然冷却至室温，再将溶液移至100mL的容量瓶中，并用蒸馏水稀释至刻度。</a:t>
            </a:r>
          </a:p>
          <a:p>
            <a:pPr eaLnBrk="1" hangingPunct="1">
              <a:lnSpc>
                <a:spcPct val="150000"/>
              </a:lnSpc>
              <a:buFontTx/>
              <a:buNone/>
            </a:pPr>
            <a:r>
              <a:rPr lang="zh-CN" altLang="en-US" sz="2400" b="1" dirty="0" smtClean="0">
                <a:latin typeface="Times New Roman" pitchFamily="18" charset="0"/>
                <a:cs typeface="Times New Roman" pitchFamily="18" charset="0"/>
              </a:rPr>
              <a:t> 3. 恒温预热</a:t>
            </a:r>
            <a:r>
              <a:rPr lang="zh-CN" altLang="en-US" sz="2400" b="1" dirty="0" smtClean="0">
                <a:latin typeface="Times New Roman" pitchFamily="18" charset="0"/>
              </a:rPr>
              <a:t>：</a:t>
            </a:r>
            <a:r>
              <a:rPr lang="zh-CN" altLang="en-US" sz="2400" b="1" dirty="0" smtClean="0">
                <a:latin typeface="Times New Roman" pitchFamily="18" charset="0"/>
                <a:cs typeface="Times New Roman" pitchFamily="18" charset="0"/>
              </a:rPr>
              <a:t>调节恒温槽温度至</a:t>
            </a:r>
            <a:r>
              <a:rPr lang="en-US" altLang="zh-CN" sz="2400" b="1" dirty="0" smtClean="0">
                <a:latin typeface="Times New Roman" pitchFamily="18" charset="0"/>
                <a:cs typeface="Times New Roman" pitchFamily="18" charset="0"/>
              </a:rPr>
              <a:t>25</a:t>
            </a:r>
            <a:r>
              <a:rPr lang="zh-CN" altLang="en-US" sz="2400" b="1" dirty="0" smtClean="0">
                <a:latin typeface="Times New Roman" pitchFamily="18" charset="0"/>
                <a:cs typeface="Times New Roman" pitchFamily="18" charset="0"/>
                <a:sym typeface="Arial" pitchFamily="34" charset="0"/>
              </a:rPr>
              <a:t>℃</a:t>
            </a:r>
            <a:r>
              <a:rPr lang="zh-CN" altLang="en-US" sz="2400" b="1" dirty="0" smtClean="0">
                <a:latin typeface="Times New Roman" pitchFamily="18" charset="0"/>
                <a:cs typeface="Times New Roman" pitchFamily="18" charset="0"/>
              </a:rPr>
              <a:t>，将</a:t>
            </a:r>
            <a:r>
              <a:rPr lang="zh-CN" altLang="en-US" sz="2400" b="1" dirty="0" smtClean="0">
                <a:latin typeface="Times New Roman" pitchFamily="18" charset="0"/>
                <a:cs typeface="Times New Roman" pitchFamily="18" charset="0"/>
              </a:rPr>
              <a:t>乌氏黏度</a:t>
            </a:r>
            <a:r>
              <a:rPr lang="zh-CN" altLang="en-US" sz="2400" b="1" dirty="0" smtClean="0">
                <a:latin typeface="Times New Roman" pitchFamily="18" charset="0"/>
                <a:cs typeface="Times New Roman" pitchFamily="18" charset="0"/>
              </a:rPr>
              <a:t>计</a:t>
            </a:r>
            <a:endParaRPr lang="en-US" altLang="zh-CN" sz="2400" b="1" dirty="0" smtClean="0">
              <a:latin typeface="Times New Roman" pitchFamily="18" charset="0"/>
              <a:cs typeface="Times New Roman" pitchFamily="18" charset="0"/>
            </a:endParaRPr>
          </a:p>
          <a:p>
            <a:pPr eaLnBrk="1" hangingPunct="1">
              <a:lnSpc>
                <a:spcPct val="150000"/>
              </a:lnSpc>
              <a:buFontTx/>
              <a:buNone/>
            </a:pPr>
            <a:r>
              <a:rPr lang="en-US" altLang="zh-CN" sz="2400" b="1" dirty="0">
                <a:latin typeface="Times New Roman" pitchFamily="18" charset="0"/>
                <a:cs typeface="Times New Roman" pitchFamily="18" charset="0"/>
              </a:rPr>
              <a:t> </a:t>
            </a:r>
            <a:r>
              <a:rPr lang="en-US" altLang="zh-CN" sz="2400" b="1" dirty="0" smtClean="0">
                <a:latin typeface="Times New Roman" pitchFamily="18" charset="0"/>
                <a:cs typeface="Times New Roman" pitchFamily="18" charset="0"/>
              </a:rPr>
              <a:t>   </a:t>
            </a:r>
            <a:r>
              <a:rPr lang="zh-CN" altLang="en-US" sz="2400" b="1" dirty="0" smtClean="0">
                <a:solidFill>
                  <a:srgbClr val="0000FF"/>
                </a:solidFill>
                <a:latin typeface="Times New Roman" pitchFamily="18" charset="0"/>
                <a:cs typeface="Times New Roman" pitchFamily="18" charset="0"/>
              </a:rPr>
              <a:t>垂直</a:t>
            </a:r>
            <a:r>
              <a:rPr lang="zh-CN" altLang="en-US" sz="2400" b="1" dirty="0" smtClean="0">
                <a:latin typeface="Times New Roman" pitchFamily="18" charset="0"/>
                <a:cs typeface="Times New Roman" pitchFamily="18" charset="0"/>
              </a:rPr>
              <a:t>安装在恒温水浴中（</a:t>
            </a:r>
            <a:r>
              <a:rPr lang="zh-CN" altLang="en-US" sz="2400" b="1" dirty="0" smtClean="0">
                <a:solidFill>
                  <a:srgbClr val="0000FF"/>
                </a:solidFill>
                <a:latin typeface="Times New Roman" pitchFamily="18" charset="0"/>
                <a:cs typeface="Times New Roman" pitchFamily="18" charset="0"/>
              </a:rPr>
              <a:t>G球及以下部位均浸在水中</a:t>
            </a:r>
            <a:r>
              <a:rPr lang="zh-CN" altLang="en-US" sz="2400" b="1" dirty="0" smtClean="0">
                <a:latin typeface="Times New Roman" pitchFamily="18" charset="0"/>
                <a:cs typeface="Times New Roman" pitchFamily="18" charset="0"/>
              </a:rPr>
              <a:t>）。</a:t>
            </a:r>
          </a:p>
          <a:p>
            <a:pPr eaLnBrk="1" hangingPunct="1">
              <a:lnSpc>
                <a:spcPct val="150000"/>
              </a:lnSpc>
            </a:pPr>
            <a:endParaRPr lang="zh-CN" altLang="en-US" sz="2400" b="1" dirty="0" smtClean="0">
              <a:latin typeface="Times New Roman" pitchFamily="18" charset="0"/>
              <a:cs typeface="Times New Roman" pitchFamily="18" charset="0"/>
            </a:endParaRPr>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48264" y="3068960"/>
            <a:ext cx="1161718"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95536" y="4869160"/>
            <a:ext cx="6048672" cy="553998"/>
          </a:xfrm>
          <a:prstGeom prst="rect">
            <a:avLst/>
          </a:prstGeom>
        </p:spPr>
        <p:txBody>
          <a:bodyPr wrap="square">
            <a:spAutoFit/>
          </a:bodyPr>
          <a:lstStyle/>
          <a:p>
            <a:pPr>
              <a:lnSpc>
                <a:spcPct val="150000"/>
              </a:lnSpc>
              <a:defRPr/>
            </a:pPr>
            <a:r>
              <a:rPr lang="zh-CN" altLang="en-US" sz="2000" b="1" dirty="0">
                <a:solidFill>
                  <a:srgbClr val="FF0000"/>
                </a:solidFill>
                <a:latin typeface="Times New Roman" pitchFamily="18" charset="0"/>
                <a:cs typeface="Times New Roman" pitchFamily="18" charset="0"/>
              </a:rPr>
              <a:t>注</a:t>
            </a:r>
            <a:r>
              <a:rPr lang="zh-CN" altLang="en-US" sz="2000" b="1" dirty="0" smtClean="0">
                <a:solidFill>
                  <a:srgbClr val="FF0000"/>
                </a:solidFill>
                <a:latin typeface="Times New Roman" pitchFamily="18" charset="0"/>
                <a:cs typeface="Times New Roman" pitchFamily="18" charset="0"/>
              </a:rPr>
              <a:t>：蒸馏水（约</a:t>
            </a:r>
            <a:r>
              <a:rPr lang="en-US" altLang="zh-CN" sz="2000" b="1" dirty="0" smtClean="0">
                <a:solidFill>
                  <a:srgbClr val="FF0000"/>
                </a:solidFill>
                <a:latin typeface="Times New Roman" pitchFamily="18" charset="0"/>
                <a:cs typeface="Times New Roman" pitchFamily="18" charset="0"/>
              </a:rPr>
              <a:t>40mL)</a:t>
            </a:r>
            <a:r>
              <a:rPr lang="zh-CN" altLang="en-US" sz="2000" b="1" dirty="0" smtClean="0">
                <a:solidFill>
                  <a:srgbClr val="FF0000"/>
                </a:solidFill>
                <a:latin typeface="Times New Roman" pitchFamily="18" charset="0"/>
                <a:cs typeface="Times New Roman" pitchFamily="18" charset="0"/>
              </a:rPr>
              <a:t>也</a:t>
            </a:r>
            <a:r>
              <a:rPr lang="zh-CN" altLang="en-US" sz="2000" b="1" dirty="0">
                <a:solidFill>
                  <a:srgbClr val="FF0000"/>
                </a:solidFill>
                <a:latin typeface="Times New Roman" pitchFamily="18" charset="0"/>
                <a:cs typeface="Times New Roman" pitchFamily="18" charset="0"/>
              </a:rPr>
              <a:t>一并置于恒温槽中预热恒温</a:t>
            </a:r>
            <a:r>
              <a:rPr lang="zh-CN" altLang="en-US" b="1" dirty="0">
                <a:solidFill>
                  <a:srgbClr val="FF0000"/>
                </a:solidFill>
                <a:latin typeface="Times New Roman" pitchFamily="18" charset="0"/>
                <a:cs typeface="Times New Roman" pitchFamily="18" charset="0"/>
              </a:rPr>
              <a:t>。</a:t>
            </a:r>
          </a:p>
        </p:txBody>
      </p:sp>
    </p:spTree>
    <p:extLst>
      <p:ext uri="{BB962C8B-B14F-4D97-AF65-F5344CB8AC3E}">
        <p14:creationId xmlns:p14="http://schemas.microsoft.com/office/powerpoint/2010/main" val="10533474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body" idx="1"/>
          </p:nvPr>
        </p:nvSpPr>
        <p:spPr>
          <a:xfrm>
            <a:off x="252413" y="404068"/>
            <a:ext cx="6407819" cy="6337300"/>
          </a:xfrm>
        </p:spPr>
        <p:txBody>
          <a:bodyPr>
            <a:normAutofit/>
          </a:bodyPr>
          <a:lstStyle/>
          <a:p>
            <a:pPr marL="0" indent="0" algn="just" eaLnBrk="1" hangingPunct="1">
              <a:lnSpc>
                <a:spcPct val="150000"/>
              </a:lnSpc>
              <a:buFontTx/>
              <a:buNone/>
              <a:defRPr/>
            </a:pPr>
            <a:r>
              <a:rPr lang="zh-CN" altLang="en-US" sz="2000" b="1" dirty="0" smtClean="0">
                <a:latin typeface="Times New Roman" pitchFamily="18" charset="0"/>
                <a:cs typeface="Times New Roman" pitchFamily="18" charset="0"/>
              </a:rPr>
              <a:t>4. 溶</a:t>
            </a:r>
            <a:r>
              <a:rPr lang="zh-CN" altLang="en-US" sz="2000" b="1" dirty="0" smtClean="0">
                <a:latin typeface="Times New Roman" pitchFamily="18" charset="0"/>
              </a:rPr>
              <a:t>液</a:t>
            </a:r>
            <a:r>
              <a:rPr lang="zh-CN" altLang="en-US" sz="2000" b="1" dirty="0" smtClean="0">
                <a:latin typeface="Times New Roman" pitchFamily="18" charset="0"/>
                <a:cs typeface="Times New Roman" pitchFamily="18" charset="0"/>
              </a:rPr>
              <a:t>流出时间t的测定 ：用移液管吸10mL</a:t>
            </a:r>
            <a:r>
              <a:rPr lang="zh-CN" altLang="en-US" sz="2000" b="1" dirty="0" smtClean="0">
                <a:latin typeface="宋体" pitchFamily="2" charset="-122"/>
              </a:rPr>
              <a:t>预先恒温好的溶液10ml</a:t>
            </a:r>
            <a:r>
              <a:rPr lang="zh-CN" altLang="en-US" sz="2000" b="1" dirty="0" smtClean="0">
                <a:latin typeface="Times New Roman" pitchFamily="18" charset="0"/>
                <a:cs typeface="Times New Roman" pitchFamily="18" charset="0"/>
              </a:rPr>
              <a:t>，从A管</a:t>
            </a:r>
            <a:r>
              <a:rPr lang="zh-CN" altLang="en-US" sz="2000" b="1" dirty="0" smtClean="0">
                <a:latin typeface="Times New Roman" pitchFamily="18" charset="0"/>
                <a:cs typeface="Times New Roman" pitchFamily="18" charset="0"/>
              </a:rPr>
              <a:t>注入黏度</a:t>
            </a:r>
            <a:r>
              <a:rPr lang="zh-CN" altLang="en-US" sz="2000" b="1" dirty="0" smtClean="0">
                <a:latin typeface="Times New Roman" pitchFamily="18" charset="0"/>
                <a:cs typeface="Times New Roman" pitchFamily="18" charset="0"/>
              </a:rPr>
              <a:t>计F球内，在C管的上端均套上干燥清洁橡皮管，并用夹子夹住C管上的橡皮管下端，使其不通大气。在B管用</a:t>
            </a:r>
            <a:r>
              <a:rPr lang="zh-CN" altLang="en-US" sz="2000" b="1" dirty="0" smtClean="0">
                <a:latin typeface="Times New Roman" pitchFamily="18" charset="0"/>
              </a:rPr>
              <a:t>洗耳球</a:t>
            </a:r>
            <a:r>
              <a:rPr lang="zh-CN" altLang="en-US" sz="2000" b="1" dirty="0" smtClean="0">
                <a:latin typeface="Times New Roman" pitchFamily="18" charset="0"/>
                <a:cs typeface="Times New Roman" pitchFamily="18" charset="0"/>
              </a:rPr>
              <a:t>将</a:t>
            </a:r>
            <a:r>
              <a:rPr lang="zh-CN" altLang="en-US" sz="2000" b="1" dirty="0" smtClean="0">
                <a:latin typeface="Times New Roman" pitchFamily="18" charset="0"/>
              </a:rPr>
              <a:t>溶液</a:t>
            </a:r>
            <a:r>
              <a:rPr lang="zh-CN" altLang="en-US" sz="2000" b="1" dirty="0" smtClean="0">
                <a:latin typeface="Times New Roman" pitchFamily="18" charset="0"/>
                <a:cs typeface="Times New Roman" pitchFamily="18" charset="0"/>
              </a:rPr>
              <a:t>从F球经D球、毛细管、E球抽至G球中部，取下</a:t>
            </a:r>
            <a:r>
              <a:rPr lang="zh-CN" altLang="en-US" sz="2000" b="1" dirty="0" smtClean="0">
                <a:latin typeface="Times New Roman" pitchFamily="18" charset="0"/>
              </a:rPr>
              <a:t>洗耳球</a:t>
            </a:r>
            <a:r>
              <a:rPr lang="zh-CN" altLang="en-US" sz="2000" b="1" dirty="0" smtClean="0">
                <a:latin typeface="Times New Roman" pitchFamily="18" charset="0"/>
                <a:cs typeface="Times New Roman" pitchFamily="18" charset="0"/>
              </a:rPr>
              <a:t>，同时松开C管上夹子，使其通大气。此时溶液顺毛细管而流下，当液面流经刻度a线处时，立刻按下</a:t>
            </a:r>
            <a:r>
              <a:rPr lang="zh-CN" altLang="en-US" sz="2000" b="1" dirty="0" smtClean="0">
                <a:latin typeface="Times New Roman" pitchFamily="18" charset="0"/>
              </a:rPr>
              <a:t>秒表</a:t>
            </a:r>
            <a:r>
              <a:rPr lang="zh-CN" altLang="en-US" sz="2000" b="1" dirty="0" smtClean="0">
                <a:latin typeface="Times New Roman" pitchFamily="18" charset="0"/>
                <a:cs typeface="Times New Roman" pitchFamily="18" charset="0"/>
              </a:rPr>
              <a:t>开始记时，至b处则停止记时。记下液体流经a、b之间所需的时间。重复测定三次，偏差小于0.</a:t>
            </a:r>
            <a:r>
              <a:rPr lang="zh-CN" altLang="en-US" sz="2000" b="1" dirty="0" smtClean="0">
                <a:latin typeface="Times New Roman" pitchFamily="18" charset="0"/>
              </a:rPr>
              <a:t>3</a:t>
            </a:r>
            <a:r>
              <a:rPr lang="zh-CN" altLang="en-US" sz="2000" b="1" dirty="0" smtClean="0">
                <a:latin typeface="Times New Roman" pitchFamily="18" charset="0"/>
                <a:cs typeface="Times New Roman" pitchFamily="18" charset="0"/>
              </a:rPr>
              <a:t>s，取其平均值，即为t值。</a:t>
            </a:r>
            <a:r>
              <a:rPr lang="zh-CN" altLang="en-US" sz="2000" b="1" dirty="0" smtClean="0">
                <a:latin typeface="宋体" pitchFamily="2" charset="-122"/>
              </a:rPr>
              <a:t>然后依次加入2.00，3.00，5.00，10.00ml蒸馏水。每次稀释后都要将稀释液抽洗</a:t>
            </a:r>
            <a:r>
              <a:rPr lang="zh-CN" altLang="en-US" sz="2000" b="1" dirty="0" smtClean="0">
                <a:latin typeface="宋体" pitchFamily="2" charset="-122"/>
              </a:rPr>
              <a:t>至黏度</a:t>
            </a:r>
            <a:r>
              <a:rPr lang="zh-CN" altLang="en-US" sz="2000" b="1" dirty="0" smtClean="0">
                <a:latin typeface="宋体" pitchFamily="2" charset="-122"/>
              </a:rPr>
              <a:t>计的</a:t>
            </a:r>
            <a:r>
              <a:rPr lang="zh-CN" altLang="en-US" sz="2000" b="1" dirty="0" smtClean="0">
                <a:latin typeface="Times New Roman" pitchFamily="18" charset="0"/>
                <a:cs typeface="Times New Roman" pitchFamily="18" charset="0"/>
              </a:rPr>
              <a:t>G球中部</a:t>
            </a:r>
            <a:r>
              <a:rPr lang="zh-CN" altLang="en-US" sz="2000" b="1" dirty="0" smtClean="0">
                <a:latin typeface="宋体" pitchFamily="2" charset="-122"/>
              </a:rPr>
              <a:t>，</a:t>
            </a:r>
            <a:r>
              <a:rPr lang="zh-CN" altLang="en-US" sz="2000" b="1" dirty="0" smtClean="0">
                <a:latin typeface="宋体" pitchFamily="2" charset="-122"/>
              </a:rPr>
              <a:t>使黏度</a:t>
            </a:r>
            <a:r>
              <a:rPr lang="zh-CN" altLang="en-US" sz="2000" b="1" dirty="0" smtClean="0">
                <a:latin typeface="宋体" pitchFamily="2" charset="-122"/>
              </a:rPr>
              <a:t>计内各处溶液的浓度相等，按同样方法进行测定。</a:t>
            </a:r>
          </a:p>
          <a:p>
            <a:pPr eaLnBrk="1" hangingPunct="1">
              <a:lnSpc>
                <a:spcPct val="150000"/>
              </a:lnSpc>
              <a:defRPr/>
            </a:pPr>
            <a:endParaRPr lang="zh-CN" altLang="en-US" sz="2400" b="1" dirty="0" smtClean="0">
              <a:latin typeface="Times New Roman" pitchFamily="18" charset="0"/>
              <a:cs typeface="Times New Roman" pitchFamily="18" charset="0"/>
            </a:endParaRPr>
          </a:p>
        </p:txBody>
      </p:sp>
      <p:grpSp>
        <p:nvGrpSpPr>
          <p:cNvPr id="4" name="Group 4"/>
          <p:cNvGrpSpPr>
            <a:grpSpLocks/>
          </p:cNvGrpSpPr>
          <p:nvPr/>
        </p:nvGrpSpPr>
        <p:grpSpPr bwMode="auto">
          <a:xfrm>
            <a:off x="6851848" y="404331"/>
            <a:ext cx="1968624" cy="5688965"/>
            <a:chOff x="14" y="43"/>
            <a:chExt cx="1104" cy="3413"/>
          </a:xfrm>
        </p:grpSpPr>
        <p:sp>
          <p:nvSpPr>
            <p:cNvPr id="5" name="Rectangle 5"/>
            <p:cNvSpPr>
              <a:spLocks noChangeArrowheads="1"/>
            </p:cNvSpPr>
            <p:nvPr/>
          </p:nvSpPr>
          <p:spPr bwMode="auto">
            <a:xfrm>
              <a:off x="432" y="384"/>
              <a:ext cx="96" cy="2928"/>
            </a:xfrm>
            <a:prstGeom prst="rect">
              <a:avLst/>
            </a:prstGeom>
            <a:solidFill>
              <a:srgbClr val="66FFFF"/>
            </a:solidFill>
            <a:ln w="9525">
              <a:solidFill>
                <a:srgbClr val="66FFFF"/>
              </a:solidFill>
              <a:miter lim="800000"/>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6" name="Rectangle 6"/>
            <p:cNvSpPr>
              <a:spLocks noChangeArrowheads="1"/>
            </p:cNvSpPr>
            <p:nvPr/>
          </p:nvSpPr>
          <p:spPr bwMode="auto">
            <a:xfrm>
              <a:off x="432" y="2832"/>
              <a:ext cx="96" cy="480"/>
            </a:xfrm>
            <a:prstGeom prst="rect">
              <a:avLst/>
            </a:prstGeom>
            <a:solidFill>
              <a:srgbClr val="FFCCFF"/>
            </a:solidFill>
            <a:ln w="9525">
              <a:solidFill>
                <a:srgbClr val="FFCCFF"/>
              </a:solidFill>
              <a:miter lim="800000"/>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7" name="AutoShape 7"/>
            <p:cNvSpPr>
              <a:spLocks noChangeArrowheads="1"/>
            </p:cNvSpPr>
            <p:nvPr/>
          </p:nvSpPr>
          <p:spPr bwMode="auto">
            <a:xfrm rot="10800000">
              <a:off x="144" y="2496"/>
              <a:ext cx="384" cy="3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4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solidFill>
              <a:srgbClr val="CCFFCC"/>
            </a:solidFill>
            <a:ln w="9525">
              <a:solidFill>
                <a:srgbClr val="CCFFCC"/>
              </a:solidFill>
              <a:miter lim="800000"/>
              <a:headEnd/>
              <a:tailEnd/>
            </a:ln>
          </p:spPr>
          <p:txBody>
            <a:bodyPr wrap="none" anchor="ctr"/>
            <a:lstStyle/>
            <a:p>
              <a:endParaRPr lang="zh-CN" altLang="en-US"/>
            </a:p>
          </p:txBody>
        </p:sp>
        <p:sp>
          <p:nvSpPr>
            <p:cNvPr id="8" name="Line 8"/>
            <p:cNvSpPr>
              <a:spLocks noChangeShapeType="1"/>
            </p:cNvSpPr>
            <p:nvPr/>
          </p:nvSpPr>
          <p:spPr bwMode="auto">
            <a:xfrm>
              <a:off x="480" y="384"/>
              <a:ext cx="0" cy="2352"/>
            </a:xfrm>
            <a:prstGeom prst="line">
              <a:avLst/>
            </a:prstGeom>
            <a:noFill/>
            <a:ln w="38100" cmpd="dbl">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Oval 9"/>
            <p:cNvSpPr>
              <a:spLocks noChangeArrowheads="1"/>
            </p:cNvSpPr>
            <p:nvPr/>
          </p:nvSpPr>
          <p:spPr bwMode="auto">
            <a:xfrm>
              <a:off x="336" y="1008"/>
              <a:ext cx="288" cy="288"/>
            </a:xfrm>
            <a:prstGeom prst="ellipse">
              <a:avLst/>
            </a:prstGeom>
            <a:solidFill>
              <a:srgbClr val="66FFFF"/>
            </a:solidFill>
            <a:ln w="9525">
              <a:solidFill>
                <a:srgbClr val="66FFFF"/>
              </a:solidFill>
              <a:round/>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0" name="Oval 10"/>
            <p:cNvSpPr>
              <a:spLocks noChangeArrowheads="1"/>
            </p:cNvSpPr>
            <p:nvPr/>
          </p:nvSpPr>
          <p:spPr bwMode="auto">
            <a:xfrm rot="16200000" flipH="1">
              <a:off x="384" y="672"/>
              <a:ext cx="192" cy="144"/>
            </a:xfrm>
            <a:prstGeom prst="ellipse">
              <a:avLst/>
            </a:prstGeom>
            <a:solidFill>
              <a:srgbClr val="66FFFF"/>
            </a:solidFill>
            <a:ln w="9525">
              <a:solidFill>
                <a:srgbClr val="66FFFF"/>
              </a:solidFill>
              <a:round/>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1" name="Line 11"/>
            <p:cNvSpPr>
              <a:spLocks noChangeShapeType="1"/>
            </p:cNvSpPr>
            <p:nvPr/>
          </p:nvSpPr>
          <p:spPr bwMode="auto">
            <a:xfrm>
              <a:off x="432" y="960"/>
              <a:ext cx="96" cy="0"/>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12"/>
            <p:cNvSpPr>
              <a:spLocks noChangeShapeType="1"/>
            </p:cNvSpPr>
            <p:nvPr/>
          </p:nvSpPr>
          <p:spPr bwMode="auto">
            <a:xfrm flipV="1">
              <a:off x="432" y="1344"/>
              <a:ext cx="96" cy="0"/>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Oval 13"/>
            <p:cNvSpPr>
              <a:spLocks noChangeArrowheads="1"/>
            </p:cNvSpPr>
            <p:nvPr/>
          </p:nvSpPr>
          <p:spPr bwMode="auto">
            <a:xfrm>
              <a:off x="384" y="2592"/>
              <a:ext cx="192" cy="336"/>
            </a:xfrm>
            <a:prstGeom prst="ellipse">
              <a:avLst/>
            </a:prstGeom>
            <a:solidFill>
              <a:srgbClr val="FFCCFF"/>
            </a:solidFill>
            <a:ln w="9525">
              <a:solidFill>
                <a:srgbClr val="FFCCFF"/>
              </a:solidFill>
              <a:round/>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4" name="Rectangle 14"/>
            <p:cNvSpPr>
              <a:spLocks noChangeArrowheads="1"/>
            </p:cNvSpPr>
            <p:nvPr/>
          </p:nvSpPr>
          <p:spPr bwMode="auto">
            <a:xfrm>
              <a:off x="144" y="384"/>
              <a:ext cx="96" cy="2304"/>
            </a:xfrm>
            <a:prstGeom prst="rect">
              <a:avLst/>
            </a:prstGeom>
            <a:solidFill>
              <a:srgbClr val="CCFFCC"/>
            </a:solidFill>
            <a:ln w="9525">
              <a:solidFill>
                <a:srgbClr val="CCFFCC"/>
              </a:solidFill>
              <a:miter lim="800000"/>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5" name="Oval 15"/>
            <p:cNvSpPr>
              <a:spLocks noChangeArrowheads="1"/>
            </p:cNvSpPr>
            <p:nvPr/>
          </p:nvSpPr>
          <p:spPr bwMode="auto">
            <a:xfrm>
              <a:off x="576" y="2784"/>
              <a:ext cx="528" cy="528"/>
            </a:xfrm>
            <a:prstGeom prst="ellipse">
              <a:avLst/>
            </a:prstGeom>
            <a:solidFill>
              <a:srgbClr val="FFCCFF"/>
            </a:solidFill>
            <a:ln w="9525">
              <a:solidFill>
                <a:srgbClr val="FFCCFF"/>
              </a:solidFill>
              <a:round/>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6" name="Rectangle 16"/>
            <p:cNvSpPr>
              <a:spLocks noChangeArrowheads="1"/>
            </p:cNvSpPr>
            <p:nvPr/>
          </p:nvSpPr>
          <p:spPr bwMode="auto">
            <a:xfrm>
              <a:off x="768" y="384"/>
              <a:ext cx="96" cy="2400"/>
            </a:xfrm>
            <a:prstGeom prst="rect">
              <a:avLst/>
            </a:prstGeom>
            <a:solidFill>
              <a:srgbClr val="FFCCFF"/>
            </a:solidFill>
            <a:ln w="9525">
              <a:solidFill>
                <a:srgbClr val="FFCCFF"/>
              </a:solidFill>
              <a:miter lim="800000"/>
              <a:headEnd/>
              <a:tailEnd/>
            </a:ln>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7" name="AutoShape 17"/>
            <p:cNvSpPr>
              <a:spLocks noChangeArrowheads="1"/>
            </p:cNvSpPr>
            <p:nvPr/>
          </p:nvSpPr>
          <p:spPr bwMode="auto">
            <a:xfrm flipH="1" flipV="1">
              <a:off x="432" y="3120"/>
              <a:ext cx="384" cy="3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4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solidFill>
              <a:srgbClr val="FFCCFF"/>
            </a:solidFill>
            <a:ln w="9525">
              <a:solidFill>
                <a:srgbClr val="FFCCFF"/>
              </a:solidFill>
              <a:miter lim="800000"/>
              <a:headEnd/>
              <a:tailEnd/>
            </a:ln>
          </p:spPr>
          <p:txBody>
            <a:bodyPr wrap="none" anchor="ctr"/>
            <a:lstStyle/>
            <a:p>
              <a:endParaRPr lang="zh-CN" altLang="en-US"/>
            </a:p>
          </p:txBody>
        </p:sp>
        <p:sp>
          <p:nvSpPr>
            <p:cNvPr id="18" name="Text Box 18"/>
            <p:cNvSpPr txBox="1">
              <a:spLocks noChangeArrowheads="1"/>
            </p:cNvSpPr>
            <p:nvPr/>
          </p:nvSpPr>
          <p:spPr bwMode="auto">
            <a:xfrm>
              <a:off x="14" y="43"/>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800" b="1" dirty="0">
                  <a:latin typeface="Times New Roman" pitchFamily="18" charset="0"/>
                  <a:ea typeface="隶书" pitchFamily="49" charset="-122"/>
                </a:rPr>
                <a:t> </a:t>
              </a:r>
              <a:r>
                <a:rPr lang="zh-CN" altLang="zh-CN" sz="2800" b="1" dirty="0">
                  <a:solidFill>
                    <a:srgbClr val="FF66FF"/>
                  </a:solidFill>
                  <a:latin typeface="Times New Roman" pitchFamily="18" charset="0"/>
                  <a:ea typeface="隶书" pitchFamily="49" charset="-122"/>
                </a:rPr>
                <a:t>C</a:t>
              </a:r>
              <a:r>
                <a:rPr lang="zh-CN" altLang="zh-CN" sz="2800" b="1" dirty="0">
                  <a:latin typeface="Times New Roman" pitchFamily="18" charset="0"/>
                  <a:ea typeface="隶书" pitchFamily="49" charset="-122"/>
                </a:rPr>
                <a:t>   </a:t>
              </a:r>
              <a:r>
                <a:rPr lang="zh-CN" altLang="zh-CN" sz="2800" b="1" dirty="0">
                  <a:solidFill>
                    <a:schemeClr val="accent1"/>
                  </a:solidFill>
                  <a:latin typeface="Times New Roman" pitchFamily="18" charset="0"/>
                  <a:ea typeface="隶书" pitchFamily="49" charset="-122"/>
                </a:rPr>
                <a:t>B</a:t>
              </a:r>
              <a:r>
                <a:rPr lang="zh-CN" altLang="zh-CN" sz="2800" b="1" dirty="0">
                  <a:latin typeface="Times New Roman" pitchFamily="18" charset="0"/>
                  <a:ea typeface="隶书" pitchFamily="49" charset="-122"/>
                </a:rPr>
                <a:t>   </a:t>
              </a:r>
              <a:r>
                <a:rPr lang="zh-CN" altLang="zh-CN" sz="2800" b="1" dirty="0">
                  <a:solidFill>
                    <a:srgbClr val="FF3300"/>
                  </a:solidFill>
                  <a:latin typeface="Times New Roman" pitchFamily="18" charset="0"/>
                  <a:ea typeface="隶书" pitchFamily="49" charset="-122"/>
                </a:rPr>
                <a:t>A</a:t>
              </a:r>
            </a:p>
          </p:txBody>
        </p:sp>
        <p:sp>
          <p:nvSpPr>
            <p:cNvPr id="19" name="Text Box 19"/>
            <p:cNvSpPr txBox="1">
              <a:spLocks noChangeArrowheads="1"/>
            </p:cNvSpPr>
            <p:nvPr/>
          </p:nvSpPr>
          <p:spPr bwMode="auto">
            <a:xfrm>
              <a:off x="528" y="768"/>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800" b="1">
                  <a:latin typeface="Times New Roman" pitchFamily="18" charset="0"/>
                  <a:ea typeface="隶书" pitchFamily="49" charset="-122"/>
                </a:rPr>
                <a:t>a</a:t>
              </a:r>
            </a:p>
          </p:txBody>
        </p:sp>
        <p:sp>
          <p:nvSpPr>
            <p:cNvPr id="20" name="Text Box 20"/>
            <p:cNvSpPr txBox="1">
              <a:spLocks noChangeArrowheads="1"/>
            </p:cNvSpPr>
            <p:nvPr/>
          </p:nvSpPr>
          <p:spPr bwMode="auto">
            <a:xfrm>
              <a:off x="528" y="1209"/>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800" b="1" dirty="0">
                  <a:latin typeface="Times New Roman" pitchFamily="18" charset="0"/>
                  <a:ea typeface="隶书" pitchFamily="49" charset="-122"/>
                </a:rPr>
                <a:t>b</a:t>
              </a:r>
            </a:p>
          </p:txBody>
        </p:sp>
        <p:sp>
          <p:nvSpPr>
            <p:cNvPr id="21" name="Text Box 21"/>
            <p:cNvSpPr txBox="1">
              <a:spLocks noChangeArrowheads="1"/>
            </p:cNvSpPr>
            <p:nvPr/>
          </p:nvSpPr>
          <p:spPr bwMode="auto">
            <a:xfrm>
              <a:off x="336" y="61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000" b="1">
                  <a:solidFill>
                    <a:srgbClr val="FF3300"/>
                  </a:solidFill>
                  <a:latin typeface="Times New Roman" pitchFamily="18" charset="0"/>
                  <a:ea typeface="隶书" pitchFamily="49" charset="-122"/>
                </a:rPr>
                <a:t>G</a:t>
              </a:r>
            </a:p>
          </p:txBody>
        </p:sp>
        <p:sp>
          <p:nvSpPr>
            <p:cNvPr id="22" name="Text Box 22"/>
            <p:cNvSpPr txBox="1">
              <a:spLocks noChangeArrowheads="1"/>
            </p:cNvSpPr>
            <p:nvPr/>
          </p:nvSpPr>
          <p:spPr bwMode="auto">
            <a:xfrm>
              <a:off x="336" y="1008"/>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800" b="1">
                  <a:solidFill>
                    <a:srgbClr val="FF3300"/>
                  </a:solidFill>
                  <a:latin typeface="Times New Roman" pitchFamily="18" charset="0"/>
                  <a:ea typeface="隶书" pitchFamily="49" charset="-122"/>
                </a:rPr>
                <a:t>E</a:t>
              </a:r>
            </a:p>
          </p:txBody>
        </p:sp>
        <p:sp>
          <p:nvSpPr>
            <p:cNvPr id="23" name="Text Box 23"/>
            <p:cNvSpPr txBox="1">
              <a:spLocks noChangeArrowheads="1"/>
            </p:cNvSpPr>
            <p:nvPr/>
          </p:nvSpPr>
          <p:spPr bwMode="auto">
            <a:xfrm>
              <a:off x="336" y="259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800" b="1">
                  <a:solidFill>
                    <a:srgbClr val="FF3300"/>
                  </a:solidFill>
                  <a:latin typeface="Times New Roman" pitchFamily="18" charset="0"/>
                  <a:ea typeface="隶书" pitchFamily="49" charset="-122"/>
                </a:rPr>
                <a:t>D</a:t>
              </a:r>
            </a:p>
          </p:txBody>
        </p:sp>
        <p:sp>
          <p:nvSpPr>
            <p:cNvPr id="24" name="Text Box 24"/>
            <p:cNvSpPr txBox="1">
              <a:spLocks noChangeArrowheads="1"/>
            </p:cNvSpPr>
            <p:nvPr/>
          </p:nvSpPr>
          <p:spPr bwMode="auto">
            <a:xfrm>
              <a:off x="720" y="2880"/>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zh-CN" sz="2800" b="1">
                  <a:solidFill>
                    <a:srgbClr val="FF3300"/>
                  </a:solidFill>
                  <a:latin typeface="Times New Roman" pitchFamily="18" charset="0"/>
                  <a:ea typeface="隶书" pitchFamily="49" charset="-122"/>
                </a:rPr>
                <a:t>F</a:t>
              </a:r>
            </a:p>
          </p:txBody>
        </p:sp>
      </p:grpSp>
    </p:spTree>
    <p:extLst>
      <p:ext uri="{BB962C8B-B14F-4D97-AF65-F5344CB8AC3E}">
        <p14:creationId xmlns:p14="http://schemas.microsoft.com/office/powerpoint/2010/main" val="9906492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body" idx="1"/>
          </p:nvPr>
        </p:nvSpPr>
        <p:spPr>
          <a:xfrm>
            <a:off x="539750" y="847253"/>
            <a:ext cx="8229600" cy="4525963"/>
          </a:xfrm>
        </p:spPr>
        <p:txBody>
          <a:bodyPr/>
          <a:lstStyle/>
          <a:p>
            <a:pPr marL="0" indent="0" eaLnBrk="1" hangingPunct="1">
              <a:lnSpc>
                <a:spcPct val="150000"/>
              </a:lnSpc>
              <a:buFontTx/>
              <a:buNone/>
              <a:defRPr/>
            </a:pPr>
            <a:r>
              <a:rPr lang="zh-CN" altLang="en-US" sz="2000" b="1" dirty="0" smtClean="0">
                <a:latin typeface="+mn-ea"/>
              </a:rPr>
              <a:t>5. 溶剂流出时间</a:t>
            </a:r>
            <a:r>
              <a:rPr lang="en-US" altLang="zh-CN" sz="2000" b="1" dirty="0" smtClean="0">
                <a:latin typeface="+mn-ea"/>
              </a:rPr>
              <a:t>t</a:t>
            </a:r>
            <a:r>
              <a:rPr lang="en-US" altLang="zh-CN" sz="2000" b="1" baseline="-25000" dirty="0" smtClean="0">
                <a:latin typeface="+mn-ea"/>
              </a:rPr>
              <a:t>0</a:t>
            </a:r>
            <a:r>
              <a:rPr lang="zh-CN" altLang="en-US" sz="2000" b="1" dirty="0" smtClean="0">
                <a:latin typeface="+mn-ea"/>
              </a:rPr>
              <a:t>的测定 </a:t>
            </a:r>
          </a:p>
          <a:p>
            <a:pPr marL="0" indent="0" eaLnBrk="1" hangingPunct="1">
              <a:lnSpc>
                <a:spcPct val="150000"/>
              </a:lnSpc>
              <a:buFontTx/>
              <a:buNone/>
              <a:defRPr/>
            </a:pPr>
            <a:r>
              <a:rPr lang="zh-CN" altLang="en-US" sz="2000" b="1" dirty="0" smtClean="0">
                <a:latin typeface="+mn-ea"/>
              </a:rPr>
              <a:t>取出黏度</a:t>
            </a:r>
            <a:r>
              <a:rPr lang="zh-CN" altLang="en-US" sz="2000" b="1" dirty="0" smtClean="0">
                <a:latin typeface="+mn-ea"/>
              </a:rPr>
              <a:t>计，倾去其中的溶液，用蒸馏水洗净。用移液管吸取已预先恒温好的蒸馏水10ml，</a:t>
            </a:r>
            <a:r>
              <a:rPr lang="zh-CN" altLang="en-US" sz="2000" b="1" dirty="0" smtClean="0">
                <a:latin typeface="+mn-ea"/>
              </a:rPr>
              <a:t>注入黏度</a:t>
            </a:r>
            <a:r>
              <a:rPr lang="zh-CN" altLang="en-US" sz="2000" b="1" dirty="0" smtClean="0">
                <a:latin typeface="+mn-ea"/>
              </a:rPr>
              <a:t>计内，同上法，测定溶剂的流出时间t</a:t>
            </a:r>
            <a:r>
              <a:rPr lang="zh-CN" altLang="en-US" sz="2000" b="1" baseline="-25000" dirty="0" smtClean="0">
                <a:latin typeface="+mn-ea"/>
              </a:rPr>
              <a:t>0</a:t>
            </a:r>
            <a:r>
              <a:rPr lang="zh-CN" altLang="en-US" sz="2000" b="1" dirty="0" smtClean="0">
                <a:latin typeface="+mn-ea"/>
              </a:rPr>
              <a:t> 。</a:t>
            </a:r>
          </a:p>
          <a:p>
            <a:pPr marL="0" indent="0" eaLnBrk="1" hangingPunct="1">
              <a:lnSpc>
                <a:spcPct val="150000"/>
              </a:lnSpc>
              <a:buFontTx/>
              <a:buNone/>
              <a:defRPr/>
            </a:pPr>
            <a:r>
              <a:rPr lang="zh-CN" altLang="en-US" sz="2000" b="1" dirty="0" smtClean="0">
                <a:latin typeface="+mn-ea"/>
              </a:rPr>
              <a:t>6. 实验完毕后，关闭电源，小心</a:t>
            </a:r>
            <a:r>
              <a:rPr lang="zh-CN" altLang="en-US" sz="2000" b="1" dirty="0" smtClean="0">
                <a:latin typeface="+mn-ea"/>
              </a:rPr>
              <a:t>清洗黏度</a:t>
            </a:r>
            <a:r>
              <a:rPr lang="zh-CN" altLang="en-US" sz="2000" b="1" dirty="0" smtClean="0">
                <a:latin typeface="+mn-ea"/>
              </a:rPr>
              <a:t>计，放入烘箱内烘干以备下组同学使用。</a:t>
            </a:r>
            <a:endParaRPr lang="en-US" altLang="zh-CN" sz="2000" b="1" dirty="0" smtClean="0">
              <a:latin typeface="+mn-ea"/>
            </a:endParaRPr>
          </a:p>
          <a:p>
            <a:pPr eaLnBrk="1" hangingPunct="1">
              <a:lnSpc>
                <a:spcPct val="150000"/>
              </a:lnSpc>
              <a:defRPr/>
            </a:pPr>
            <a:endParaRPr lang="en-US" altLang="zh-CN" sz="2400" b="1" dirty="0" smtClean="0">
              <a:latin typeface="黑体" pitchFamily="49" charset="-122"/>
              <a:ea typeface="黑体" pitchFamily="49" charset="-122"/>
            </a:endParaRPr>
          </a:p>
          <a:p>
            <a:pPr eaLnBrk="1" hangingPunct="1">
              <a:lnSpc>
                <a:spcPct val="150000"/>
              </a:lnSpc>
              <a:defRPr/>
            </a:pPr>
            <a:endParaRPr lang="zh-CN" altLang="en-US" sz="2400" b="1" dirty="0" smtClean="0">
              <a:latin typeface="黑体" pitchFamily="49" charset="-122"/>
              <a:ea typeface="黑体" pitchFamily="49" charset="-122"/>
            </a:endParaRPr>
          </a:p>
          <a:p>
            <a:pPr eaLnBrk="1" hangingPunct="1">
              <a:defRPr/>
            </a:pPr>
            <a:endParaRPr lang="zh-CN" altLang="en-US" sz="2400" b="1" dirty="0" smtClean="0">
              <a:latin typeface="黑体" pitchFamily="49" charset="-122"/>
              <a:ea typeface="黑体" pitchFamily="49" charset="-122"/>
            </a:endParaRPr>
          </a:p>
        </p:txBody>
      </p:sp>
    </p:spTree>
    <p:extLst>
      <p:ext uri="{BB962C8B-B14F-4D97-AF65-F5344CB8AC3E}">
        <p14:creationId xmlns:p14="http://schemas.microsoft.com/office/powerpoint/2010/main" val="2777526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粘度法测聚合物分子量PA150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3375"/>
            <a:ext cx="8054975" cy="604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18940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50825" y="200025"/>
            <a:ext cx="8229600" cy="5511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50000"/>
              </a:lnSpc>
              <a:buFontTx/>
              <a:buNone/>
              <a:defRPr/>
            </a:pPr>
            <a:r>
              <a:rPr lang="zh-CN" altLang="en-US" sz="2400" b="1" kern="0" dirty="0" smtClean="0">
                <a:latin typeface="Times New Roman" pitchFamily="18" charset="0"/>
                <a:cs typeface="Times New Roman" pitchFamily="18" charset="0"/>
              </a:rPr>
              <a:t>四、实验数据记录</a:t>
            </a:r>
            <a:endParaRPr lang="en-US" altLang="zh-CN" sz="2400" b="1" kern="0" dirty="0" smtClean="0">
              <a:latin typeface="Times New Roman" pitchFamily="18" charset="0"/>
              <a:cs typeface="Times New Roman" pitchFamily="18" charset="0"/>
            </a:endParaRPr>
          </a:p>
          <a:p>
            <a:pPr eaLnBrk="1" hangingPunct="1">
              <a:lnSpc>
                <a:spcPct val="150000"/>
              </a:lnSpc>
              <a:buFontTx/>
              <a:buNone/>
              <a:defRPr/>
            </a:pPr>
            <a:r>
              <a:rPr lang="en-US" altLang="zh-CN" sz="2400" dirty="0" smtClean="0"/>
              <a:t>1</a:t>
            </a:r>
            <a:r>
              <a:rPr lang="zh-CN" altLang="en-US" sz="2400" dirty="0"/>
              <a:t>、</a:t>
            </a:r>
            <a:r>
              <a:rPr lang="zh-CN" altLang="zh-CN" sz="2400" dirty="0" smtClean="0"/>
              <a:t>糖苷</a:t>
            </a:r>
            <a:r>
              <a:rPr lang="zh-CN" altLang="en-US" sz="2400" dirty="0" smtClean="0"/>
              <a:t>的质量 </a:t>
            </a:r>
            <a:r>
              <a:rPr lang="zh-CN" altLang="en-US" sz="2400" u="sng" dirty="0" smtClean="0"/>
              <a:t>                      </a:t>
            </a:r>
            <a:r>
              <a:rPr lang="zh-CN" altLang="en-US" sz="2400" dirty="0" smtClean="0"/>
              <a:t> </a:t>
            </a:r>
            <a:r>
              <a:rPr lang="en-US" altLang="zh-CN" sz="2400" dirty="0"/>
              <a:t>g</a:t>
            </a:r>
            <a:endParaRPr lang="en-US" altLang="zh-CN" sz="2400" dirty="0" smtClean="0"/>
          </a:p>
          <a:p>
            <a:pPr eaLnBrk="1" hangingPunct="1">
              <a:lnSpc>
                <a:spcPct val="150000"/>
              </a:lnSpc>
              <a:buFontTx/>
              <a:buNone/>
              <a:defRPr/>
            </a:pPr>
            <a:r>
              <a:rPr lang="en-US" altLang="zh-CN" sz="2400" kern="0" dirty="0" smtClean="0">
                <a:latin typeface="Times New Roman" pitchFamily="18" charset="0"/>
                <a:cs typeface="Times New Roman" pitchFamily="18" charset="0"/>
              </a:rPr>
              <a:t> 2</a:t>
            </a:r>
            <a:r>
              <a:rPr lang="zh-CN" altLang="en-US" sz="2400" kern="0" dirty="0" smtClean="0">
                <a:latin typeface="Times New Roman" pitchFamily="18" charset="0"/>
                <a:cs typeface="Times New Roman" pitchFamily="18" charset="0"/>
              </a:rPr>
              <a:t>、糖苷各浓度流出时间</a:t>
            </a:r>
            <a:r>
              <a:rPr lang="en-US" altLang="zh-CN" sz="2400" kern="0" dirty="0" smtClean="0">
                <a:latin typeface="Times New Roman" pitchFamily="18" charset="0"/>
                <a:cs typeface="Times New Roman" pitchFamily="18" charset="0"/>
              </a:rPr>
              <a:t>t(s),</a:t>
            </a:r>
            <a:r>
              <a:rPr lang="zh-CN" altLang="en-US" sz="2400" kern="0" dirty="0" smtClean="0">
                <a:latin typeface="Times New Roman" pitchFamily="18" charset="0"/>
                <a:cs typeface="Times New Roman" pitchFamily="18" charset="0"/>
              </a:rPr>
              <a:t>（测三次）</a:t>
            </a:r>
            <a:endParaRPr lang="en-US" altLang="zh-CN" sz="2400" kern="0" dirty="0" smtClean="0">
              <a:latin typeface="Times New Roman" pitchFamily="18" charset="0"/>
              <a:cs typeface="Times New Roman" pitchFamily="18" charset="0"/>
            </a:endParaRPr>
          </a:p>
          <a:p>
            <a:pPr eaLnBrk="1" hangingPunct="1">
              <a:lnSpc>
                <a:spcPct val="150000"/>
              </a:lnSpc>
              <a:buFontTx/>
              <a:buNone/>
              <a:defRPr/>
            </a:pPr>
            <a:r>
              <a:rPr lang="en-US" altLang="zh-CN" sz="2400" kern="0" dirty="0" smtClean="0">
                <a:latin typeface="Times New Roman" pitchFamily="18" charset="0"/>
                <a:cs typeface="Times New Roman" pitchFamily="18" charset="0"/>
              </a:rPr>
              <a:t> 3</a:t>
            </a:r>
            <a:r>
              <a:rPr lang="zh-CN" altLang="en-US" sz="2400" kern="0" dirty="0" smtClean="0">
                <a:latin typeface="Times New Roman" pitchFamily="18" charset="0"/>
                <a:cs typeface="Times New Roman" pitchFamily="18" charset="0"/>
              </a:rPr>
              <a:t>、水流出时间</a:t>
            </a:r>
            <a:r>
              <a:rPr lang="en-US" altLang="zh-CN" sz="2400" kern="0" dirty="0" smtClean="0">
                <a:latin typeface="Times New Roman" pitchFamily="18" charset="0"/>
                <a:cs typeface="Times New Roman" pitchFamily="18" charset="0"/>
              </a:rPr>
              <a:t>t</a:t>
            </a:r>
            <a:r>
              <a:rPr lang="en-US" altLang="zh-CN" sz="2400" kern="0" baseline="-25000" dirty="0" smtClean="0">
                <a:latin typeface="Times New Roman" pitchFamily="18" charset="0"/>
                <a:cs typeface="Times New Roman" pitchFamily="18" charset="0"/>
              </a:rPr>
              <a:t>0</a:t>
            </a:r>
            <a:r>
              <a:rPr lang="en-US" altLang="zh-CN" sz="2400" kern="0" dirty="0" smtClean="0">
                <a:latin typeface="Times New Roman" pitchFamily="18" charset="0"/>
                <a:cs typeface="Times New Roman" pitchFamily="18" charset="0"/>
              </a:rPr>
              <a:t>(s)</a:t>
            </a:r>
            <a:endParaRPr lang="en-US" altLang="zh-CN" sz="2400" kern="0" dirty="0">
              <a:latin typeface="Times New Roman" pitchFamily="18" charset="0"/>
              <a:cs typeface="Times New Roman" pitchFamily="18" charset="0"/>
            </a:endParaRPr>
          </a:p>
          <a:p>
            <a:pPr eaLnBrk="1" hangingPunct="1">
              <a:lnSpc>
                <a:spcPct val="150000"/>
              </a:lnSpc>
              <a:buFontTx/>
              <a:buNone/>
              <a:defRPr/>
            </a:pPr>
            <a:r>
              <a:rPr lang="zh-CN" altLang="en-US" sz="2400" b="1" kern="0" dirty="0" smtClean="0">
                <a:latin typeface="Times New Roman" pitchFamily="18" charset="0"/>
                <a:cs typeface="Times New Roman" pitchFamily="18" charset="0"/>
              </a:rPr>
              <a:t>五、实验数据处理</a:t>
            </a:r>
            <a:r>
              <a:rPr lang="zh-CN" altLang="en-US" sz="2400" b="1" kern="0" dirty="0" smtClean="0">
                <a:latin typeface="Times New Roman" pitchFamily="18" charset="0"/>
              </a:rPr>
              <a:t>  </a:t>
            </a:r>
            <a:endParaRPr lang="en-US" altLang="zh-CN" sz="2400" b="1" kern="0" dirty="0" smtClean="0">
              <a:latin typeface="Times New Roman" pitchFamily="18" charset="0"/>
            </a:endParaRPr>
          </a:p>
          <a:p>
            <a:pPr eaLnBrk="1" hangingPunct="1">
              <a:lnSpc>
                <a:spcPct val="150000"/>
              </a:lnSpc>
              <a:buFontTx/>
              <a:buNone/>
              <a:defRPr/>
            </a:pPr>
            <a:r>
              <a:rPr lang="en-US" altLang="zh-CN" sz="2400" kern="0" dirty="0" smtClean="0">
                <a:latin typeface="Times New Roman" pitchFamily="18" charset="0"/>
                <a:cs typeface="Times New Roman" pitchFamily="18" charset="0"/>
              </a:rPr>
              <a:t>1</a:t>
            </a:r>
            <a:r>
              <a:rPr lang="zh-CN" altLang="en-US" sz="2400" kern="0" dirty="0" smtClean="0">
                <a:latin typeface="Times New Roman" pitchFamily="18" charset="0"/>
                <a:cs typeface="Times New Roman" pitchFamily="18" charset="0"/>
              </a:rPr>
              <a:t>、计算糖苷各浓度</a:t>
            </a:r>
            <a:r>
              <a:rPr lang="el-GR" altLang="zh-CN" sz="2400" kern="0" dirty="0" smtClean="0">
                <a:latin typeface="Times New Roman" pitchFamily="18" charset="0"/>
                <a:cs typeface="Times New Roman" pitchFamily="18" charset="0"/>
              </a:rPr>
              <a:t>η</a:t>
            </a:r>
            <a:r>
              <a:rPr lang="en-US" altLang="zh-CN" sz="2400" kern="0" baseline="-25000" dirty="0" smtClean="0">
                <a:latin typeface="Times New Roman" pitchFamily="18" charset="0"/>
                <a:cs typeface="Times New Roman" pitchFamily="18" charset="0"/>
              </a:rPr>
              <a:t>r</a:t>
            </a:r>
            <a:r>
              <a:rPr lang="en-US" altLang="zh-CN" sz="2400" kern="0" dirty="0" smtClean="0">
                <a:latin typeface="Times New Roman" pitchFamily="18" charset="0"/>
                <a:cs typeface="Times New Roman" pitchFamily="18" charset="0"/>
              </a:rPr>
              <a:t>,</a:t>
            </a:r>
            <a:r>
              <a:rPr lang="el-GR" altLang="zh-CN" sz="2400" kern="0" dirty="0" smtClean="0">
                <a:latin typeface="Times New Roman" pitchFamily="18" charset="0"/>
                <a:cs typeface="Times New Roman" pitchFamily="18" charset="0"/>
              </a:rPr>
              <a:t> η</a:t>
            </a:r>
            <a:r>
              <a:rPr lang="en-US" altLang="zh-CN" sz="2400" kern="0" baseline="-25000" dirty="0" err="1" smtClean="0">
                <a:latin typeface="Times New Roman" pitchFamily="18" charset="0"/>
                <a:cs typeface="Times New Roman" pitchFamily="18" charset="0"/>
              </a:rPr>
              <a:t>sp</a:t>
            </a:r>
            <a:r>
              <a:rPr lang="en-US" altLang="zh-CN" sz="2400" kern="0" dirty="0" err="1" smtClean="0">
                <a:latin typeface="Times New Roman" pitchFamily="18" charset="0"/>
                <a:cs typeface="Times New Roman" pitchFamily="18" charset="0"/>
              </a:rPr>
              <a:t>,ln</a:t>
            </a:r>
            <a:r>
              <a:rPr lang="el-GR" altLang="zh-CN" sz="2400" kern="0" dirty="0" smtClean="0">
                <a:latin typeface="Times New Roman" pitchFamily="18" charset="0"/>
                <a:cs typeface="Times New Roman" pitchFamily="18" charset="0"/>
              </a:rPr>
              <a:t> η</a:t>
            </a:r>
            <a:r>
              <a:rPr lang="en-US" altLang="zh-CN" sz="2400" kern="0" baseline="-25000" dirty="0" smtClean="0">
                <a:latin typeface="Times New Roman" pitchFamily="18" charset="0"/>
                <a:cs typeface="Times New Roman" pitchFamily="18" charset="0"/>
              </a:rPr>
              <a:t>r</a:t>
            </a:r>
            <a:r>
              <a:rPr lang="en-US" altLang="zh-CN" sz="2400" kern="0" dirty="0" smtClean="0">
                <a:latin typeface="Times New Roman" pitchFamily="18" charset="0"/>
                <a:cs typeface="Times New Roman" pitchFamily="18" charset="0"/>
              </a:rPr>
              <a:t>,</a:t>
            </a:r>
            <a:r>
              <a:rPr lang="el-GR" altLang="zh-CN" sz="2400" kern="0" dirty="0" smtClean="0">
                <a:latin typeface="Times New Roman" pitchFamily="18" charset="0"/>
                <a:cs typeface="Times New Roman" pitchFamily="18" charset="0"/>
              </a:rPr>
              <a:t> η</a:t>
            </a:r>
            <a:r>
              <a:rPr lang="en-US" altLang="zh-CN" sz="2400" kern="0" baseline="-25000" dirty="0" err="1" smtClean="0">
                <a:latin typeface="Times New Roman" pitchFamily="18" charset="0"/>
                <a:cs typeface="Times New Roman" pitchFamily="18" charset="0"/>
              </a:rPr>
              <a:t>sp</a:t>
            </a:r>
            <a:r>
              <a:rPr lang="en-US" altLang="zh-CN" sz="2400" kern="0" dirty="0" smtClean="0">
                <a:latin typeface="Times New Roman" pitchFamily="18" charset="0"/>
                <a:cs typeface="Times New Roman" pitchFamily="18" charset="0"/>
              </a:rPr>
              <a:t>/c,</a:t>
            </a:r>
            <a:r>
              <a:rPr lang="el-GR" altLang="zh-CN" sz="2400" kern="0" dirty="0" smtClean="0">
                <a:latin typeface="Times New Roman" pitchFamily="18" charset="0"/>
                <a:cs typeface="Times New Roman" pitchFamily="18" charset="0"/>
              </a:rPr>
              <a:t> </a:t>
            </a:r>
            <a:r>
              <a:rPr lang="en-US" altLang="zh-CN" sz="2400" kern="0" dirty="0" smtClean="0">
                <a:latin typeface="Times New Roman" pitchFamily="18" charset="0"/>
                <a:cs typeface="Times New Roman" pitchFamily="18" charset="0"/>
              </a:rPr>
              <a:t>ln</a:t>
            </a:r>
            <a:r>
              <a:rPr lang="el-GR" altLang="zh-CN" sz="2400" kern="0" dirty="0" smtClean="0">
                <a:latin typeface="Times New Roman" pitchFamily="18" charset="0"/>
                <a:cs typeface="Times New Roman" pitchFamily="18" charset="0"/>
              </a:rPr>
              <a:t>η</a:t>
            </a:r>
            <a:r>
              <a:rPr lang="en-US" altLang="zh-CN" sz="2400" kern="0" baseline="-25000" dirty="0" smtClean="0">
                <a:latin typeface="Times New Roman" pitchFamily="18" charset="0"/>
                <a:cs typeface="Times New Roman" pitchFamily="18" charset="0"/>
              </a:rPr>
              <a:t>r</a:t>
            </a:r>
            <a:r>
              <a:rPr lang="en-US" altLang="zh-CN" sz="2400" kern="0" dirty="0" smtClean="0">
                <a:latin typeface="Times New Roman" pitchFamily="18" charset="0"/>
                <a:cs typeface="Times New Roman" pitchFamily="18" charset="0"/>
              </a:rPr>
              <a:t>/c (p126 </a:t>
            </a:r>
            <a:r>
              <a:rPr lang="zh-CN" altLang="en-US" sz="2400" kern="0" dirty="0" smtClean="0">
                <a:latin typeface="Times New Roman" pitchFamily="18" charset="0"/>
                <a:cs typeface="Times New Roman" pitchFamily="18" charset="0"/>
              </a:rPr>
              <a:t>表</a:t>
            </a:r>
            <a:r>
              <a:rPr lang="en-US" altLang="zh-CN" sz="2400" kern="0" dirty="0" smtClean="0">
                <a:latin typeface="Times New Roman" pitchFamily="18" charset="0"/>
                <a:cs typeface="Times New Roman" pitchFamily="18" charset="0"/>
              </a:rPr>
              <a:t>5-12)</a:t>
            </a:r>
          </a:p>
          <a:p>
            <a:pPr eaLnBrk="1" hangingPunct="1">
              <a:lnSpc>
                <a:spcPct val="150000"/>
              </a:lnSpc>
              <a:buFontTx/>
              <a:buNone/>
              <a:defRPr/>
            </a:pPr>
            <a:r>
              <a:rPr lang="en-US" altLang="zh-CN" sz="2400" kern="0" dirty="0" smtClean="0">
                <a:latin typeface="Times New Roman" pitchFamily="18" charset="0"/>
                <a:cs typeface="Times New Roman" pitchFamily="18" charset="0"/>
              </a:rPr>
              <a:t>2</a:t>
            </a:r>
            <a:r>
              <a:rPr lang="zh-CN" altLang="en-US" sz="2400" kern="0" dirty="0" smtClean="0">
                <a:latin typeface="Times New Roman" pitchFamily="18" charset="0"/>
                <a:cs typeface="Times New Roman" pitchFamily="18" charset="0"/>
              </a:rPr>
              <a:t>、以</a:t>
            </a:r>
            <a:r>
              <a:rPr lang="en-US" altLang="zh-CN" sz="2400" kern="0" dirty="0" smtClean="0">
                <a:latin typeface="Times New Roman" pitchFamily="18" charset="0"/>
                <a:cs typeface="Times New Roman" pitchFamily="18" charset="0"/>
              </a:rPr>
              <a:t>ln</a:t>
            </a:r>
            <a:r>
              <a:rPr lang="el-GR" altLang="zh-CN" sz="2400" kern="0" dirty="0" smtClean="0">
                <a:latin typeface="Times New Roman" pitchFamily="18" charset="0"/>
                <a:cs typeface="Times New Roman" pitchFamily="18" charset="0"/>
              </a:rPr>
              <a:t>η</a:t>
            </a:r>
            <a:r>
              <a:rPr lang="en-US" altLang="zh-CN" sz="2400" kern="0" baseline="-25000" dirty="0" smtClean="0">
                <a:latin typeface="Times New Roman" pitchFamily="18" charset="0"/>
                <a:cs typeface="Times New Roman" pitchFamily="18" charset="0"/>
              </a:rPr>
              <a:t>r</a:t>
            </a:r>
            <a:r>
              <a:rPr lang="en-US" altLang="zh-CN" sz="2400" kern="0" dirty="0" smtClean="0">
                <a:latin typeface="Times New Roman" pitchFamily="18" charset="0"/>
                <a:cs typeface="Times New Roman" pitchFamily="18" charset="0"/>
              </a:rPr>
              <a:t>/c ~c</a:t>
            </a:r>
            <a:r>
              <a:rPr lang="zh-CN" altLang="en-US" sz="2400" kern="0" dirty="0" smtClean="0">
                <a:latin typeface="Times New Roman" pitchFamily="18" charset="0"/>
                <a:cs typeface="Times New Roman" pitchFamily="18" charset="0"/>
              </a:rPr>
              <a:t>及</a:t>
            </a:r>
            <a:r>
              <a:rPr lang="el-GR" altLang="zh-CN" sz="2400" kern="0" dirty="0" smtClean="0">
                <a:latin typeface="Times New Roman" pitchFamily="18" charset="0"/>
                <a:cs typeface="Times New Roman" pitchFamily="18" charset="0"/>
              </a:rPr>
              <a:t>η</a:t>
            </a:r>
            <a:r>
              <a:rPr lang="en-US" altLang="zh-CN" sz="2400" kern="0" baseline="-25000" dirty="0" err="1" smtClean="0">
                <a:latin typeface="Times New Roman" pitchFamily="18" charset="0"/>
                <a:cs typeface="Times New Roman" pitchFamily="18" charset="0"/>
              </a:rPr>
              <a:t>sp</a:t>
            </a:r>
            <a:r>
              <a:rPr lang="en-US" altLang="zh-CN" sz="2400" kern="0" dirty="0" smtClean="0">
                <a:latin typeface="Times New Roman" pitchFamily="18" charset="0"/>
                <a:cs typeface="Times New Roman" pitchFamily="18" charset="0"/>
              </a:rPr>
              <a:t>/c ~c</a:t>
            </a:r>
            <a:r>
              <a:rPr lang="zh-CN" altLang="en-US" sz="2400" kern="0" dirty="0" smtClean="0">
                <a:latin typeface="Times New Roman" pitchFamily="18" charset="0"/>
                <a:cs typeface="Times New Roman" pitchFamily="18" charset="0"/>
              </a:rPr>
              <a:t>在同一坐标纸上作图，并外推到</a:t>
            </a:r>
            <a:r>
              <a:rPr lang="en-US" altLang="zh-CN" sz="2400" kern="0" dirty="0" smtClean="0">
                <a:latin typeface="Times New Roman" pitchFamily="18" charset="0"/>
                <a:cs typeface="Times New Roman" pitchFamily="18" charset="0"/>
              </a:rPr>
              <a:t>c→0</a:t>
            </a:r>
            <a:r>
              <a:rPr lang="zh-CN" altLang="en-US" sz="2400" kern="0" dirty="0" smtClean="0">
                <a:latin typeface="Times New Roman" pitchFamily="18" charset="0"/>
                <a:cs typeface="Times New Roman" pitchFamily="18" charset="0"/>
              </a:rPr>
              <a:t>求得截距</a:t>
            </a:r>
            <a:r>
              <a:rPr lang="en-US" altLang="zh-CN" sz="2400" kern="0" dirty="0" smtClean="0">
                <a:latin typeface="Times New Roman" pitchFamily="18" charset="0"/>
                <a:cs typeface="Times New Roman" pitchFamily="18" charset="0"/>
              </a:rPr>
              <a:t>[</a:t>
            </a:r>
            <a:r>
              <a:rPr lang="el-GR" altLang="zh-CN" sz="2400" kern="0" dirty="0" smtClean="0">
                <a:latin typeface="Times New Roman" pitchFamily="18" charset="0"/>
                <a:cs typeface="Times New Roman" pitchFamily="18" charset="0"/>
              </a:rPr>
              <a:t>η</a:t>
            </a:r>
            <a:r>
              <a:rPr lang="en-US" altLang="zh-CN" sz="2400" kern="0" dirty="0" smtClean="0">
                <a:latin typeface="Times New Roman" pitchFamily="18" charset="0"/>
                <a:cs typeface="Times New Roman" pitchFamily="18" charset="0"/>
              </a:rPr>
              <a:t>]</a:t>
            </a:r>
          </a:p>
          <a:p>
            <a:pPr eaLnBrk="1" hangingPunct="1">
              <a:lnSpc>
                <a:spcPct val="150000"/>
              </a:lnSpc>
              <a:buFontTx/>
              <a:buNone/>
              <a:defRPr/>
            </a:pPr>
            <a:r>
              <a:rPr lang="en-US" altLang="zh-CN" sz="2400" kern="0" dirty="0" smtClean="0">
                <a:latin typeface="Times New Roman" pitchFamily="18" charset="0"/>
                <a:cs typeface="Times New Roman" pitchFamily="18" charset="0"/>
              </a:rPr>
              <a:t>3</a:t>
            </a:r>
            <a:r>
              <a:rPr lang="zh-CN" altLang="en-US" sz="2400" kern="0" dirty="0" smtClean="0">
                <a:latin typeface="Times New Roman" pitchFamily="18" charset="0"/>
                <a:cs typeface="Times New Roman" pitchFamily="18" charset="0"/>
              </a:rPr>
              <a:t>、计算糖苷</a:t>
            </a:r>
            <a:r>
              <a:rPr lang="zh-CN" altLang="en-US" sz="2400" kern="0" dirty="0" smtClean="0">
                <a:latin typeface="Times New Roman" pitchFamily="18" charset="0"/>
                <a:cs typeface="Times New Roman" pitchFamily="18" charset="0"/>
              </a:rPr>
              <a:t>的黏均</a:t>
            </a:r>
            <a:r>
              <a:rPr lang="zh-CN" altLang="en-US" sz="2400" kern="0" dirty="0" smtClean="0">
                <a:latin typeface="Times New Roman" pitchFamily="18" charset="0"/>
                <a:cs typeface="Times New Roman" pitchFamily="18" charset="0"/>
              </a:rPr>
              <a:t>相对分子量</a:t>
            </a:r>
          </a:p>
        </p:txBody>
      </p:sp>
      <p:graphicFrame>
        <p:nvGraphicFramePr>
          <p:cNvPr id="64515" name="对象 2"/>
          <p:cNvGraphicFramePr>
            <a:graphicFrameLocks noChangeAspect="1"/>
          </p:cNvGraphicFramePr>
          <p:nvPr/>
        </p:nvGraphicFramePr>
        <p:xfrm>
          <a:off x="4979988" y="5080000"/>
          <a:ext cx="1981200" cy="673100"/>
        </p:xfrm>
        <a:graphic>
          <a:graphicData uri="http://schemas.openxmlformats.org/presentationml/2006/ole">
            <mc:AlternateContent xmlns:mc="http://schemas.openxmlformats.org/markup-compatibility/2006">
              <mc:Choice xmlns:v="urn:schemas-microsoft-com:vml" Requires="v">
                <p:oleObj spid="_x0000_s14400" name="Equation" r:id="rId3" imgW="700324" imgH="229197" progId="Equation.DSMT4">
                  <p:embed/>
                </p:oleObj>
              </mc:Choice>
              <mc:Fallback>
                <p:oleObj name="Equation" r:id="rId3" imgW="700324" imgH="22919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9988" y="5080000"/>
                        <a:ext cx="19812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423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3"/>
          <p:cNvSpPr txBox="1">
            <a:spLocks noChangeArrowheads="1"/>
          </p:cNvSpPr>
          <p:nvPr/>
        </p:nvSpPr>
        <p:spPr bwMode="auto">
          <a:xfrm>
            <a:off x="395288" y="2492375"/>
            <a:ext cx="939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endParaRPr lang="zh-CN" altLang="zh-CN" sz="2400" b="1">
              <a:ea typeface="黑体" pitchFamily="49" charset="-122"/>
            </a:endParaRPr>
          </a:p>
        </p:txBody>
      </p:sp>
      <p:sp>
        <p:nvSpPr>
          <p:cNvPr id="65539" name="Text Box 4"/>
          <p:cNvSpPr txBox="1">
            <a:spLocks noChangeArrowheads="1"/>
          </p:cNvSpPr>
          <p:nvPr/>
        </p:nvSpPr>
        <p:spPr bwMode="auto">
          <a:xfrm>
            <a:off x="107505" y="909638"/>
            <a:ext cx="8928992" cy="357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0000"/>
              </a:lnSpc>
              <a:spcBef>
                <a:spcPct val="50000"/>
              </a:spcBef>
              <a:buFontTx/>
              <a:buNone/>
            </a:pPr>
            <a:r>
              <a:rPr lang="zh-CN" altLang="en-US" sz="2200" b="1" dirty="0">
                <a:latin typeface="+mn-ea"/>
                <a:ea typeface="+mn-ea"/>
                <a:cs typeface="Times New Roman" pitchFamily="18" charset="0"/>
              </a:rPr>
              <a:t>六、注意事项</a:t>
            </a:r>
          </a:p>
          <a:p>
            <a:pPr eaLnBrk="1" hangingPunct="1">
              <a:lnSpc>
                <a:spcPct val="130000"/>
              </a:lnSpc>
              <a:spcBef>
                <a:spcPct val="50000"/>
              </a:spcBef>
              <a:buFontTx/>
              <a:buNone/>
            </a:pPr>
            <a:r>
              <a:rPr lang="zh-CN" altLang="en-US" sz="2200" b="1" dirty="0">
                <a:latin typeface="+mn-ea"/>
                <a:ea typeface="+mn-ea"/>
                <a:cs typeface="Times New Roman" pitchFamily="18" charset="0"/>
              </a:rPr>
              <a:t>1</a:t>
            </a:r>
            <a:r>
              <a:rPr lang="zh-CN" altLang="en-US" sz="2200" b="1" dirty="0" smtClean="0">
                <a:latin typeface="+mn-ea"/>
                <a:ea typeface="+mn-ea"/>
                <a:cs typeface="Times New Roman" pitchFamily="18" charset="0"/>
              </a:rPr>
              <a:t>、黏度</a:t>
            </a:r>
            <a:r>
              <a:rPr lang="zh-CN" altLang="en-US" sz="2200" b="1" dirty="0">
                <a:latin typeface="+mn-ea"/>
                <a:ea typeface="+mn-ea"/>
                <a:cs typeface="Times New Roman" pitchFamily="18" charset="0"/>
              </a:rPr>
              <a:t>计必须洗净，高聚物溶液中若有絮状物不能将</a:t>
            </a:r>
            <a:r>
              <a:rPr lang="zh-CN" altLang="en-US" sz="2200" b="1" dirty="0" smtClean="0">
                <a:latin typeface="+mn-ea"/>
                <a:ea typeface="+mn-ea"/>
                <a:cs typeface="Times New Roman" pitchFamily="18" charset="0"/>
              </a:rPr>
              <a:t>它</a:t>
            </a:r>
            <a:r>
              <a:rPr lang="zh-CN" altLang="en-US" sz="2200" b="1" dirty="0" smtClean="0">
                <a:latin typeface="+mn-ea"/>
                <a:ea typeface="+mn-ea"/>
                <a:cs typeface="Times New Roman" pitchFamily="18" charset="0"/>
              </a:rPr>
              <a:t>移入黏度</a:t>
            </a:r>
            <a:r>
              <a:rPr lang="zh-CN" altLang="en-US" sz="2200" b="1" dirty="0" smtClean="0">
                <a:latin typeface="+mn-ea"/>
                <a:ea typeface="+mn-ea"/>
                <a:cs typeface="Times New Roman" pitchFamily="18" charset="0"/>
              </a:rPr>
              <a:t>计中；</a:t>
            </a:r>
            <a:endParaRPr lang="zh-CN" altLang="en-US" sz="2200" b="1" dirty="0">
              <a:latin typeface="+mn-ea"/>
              <a:ea typeface="+mn-ea"/>
              <a:cs typeface="Times New Roman" pitchFamily="18" charset="0"/>
            </a:endParaRPr>
          </a:p>
          <a:p>
            <a:pPr eaLnBrk="1" hangingPunct="1">
              <a:lnSpc>
                <a:spcPct val="130000"/>
              </a:lnSpc>
              <a:spcBef>
                <a:spcPct val="50000"/>
              </a:spcBef>
              <a:buFontTx/>
              <a:buNone/>
            </a:pPr>
            <a:r>
              <a:rPr lang="zh-CN" altLang="en-US" sz="2200" b="1" dirty="0">
                <a:latin typeface="+mn-ea"/>
                <a:ea typeface="+mn-ea"/>
                <a:cs typeface="Times New Roman" pitchFamily="18" charset="0"/>
              </a:rPr>
              <a:t>2、每次加入一次溶剂进行稀释时必须混合均匀，并</a:t>
            </a:r>
            <a:r>
              <a:rPr lang="zh-CN" altLang="en-US" sz="2200" b="1" dirty="0" smtClean="0">
                <a:latin typeface="+mn-ea"/>
                <a:ea typeface="+mn-ea"/>
                <a:cs typeface="Times New Roman" pitchFamily="18" charset="0"/>
              </a:rPr>
              <a:t>冲洗E</a:t>
            </a:r>
            <a:r>
              <a:rPr lang="zh-CN" altLang="en-US" sz="2200" b="1" dirty="0">
                <a:latin typeface="+mn-ea"/>
                <a:ea typeface="+mn-ea"/>
                <a:cs typeface="Times New Roman" pitchFamily="18" charset="0"/>
              </a:rPr>
              <a:t>球和G</a:t>
            </a:r>
            <a:r>
              <a:rPr lang="zh-CN" altLang="en-US" sz="2200" b="1" dirty="0" smtClean="0">
                <a:latin typeface="+mn-ea"/>
                <a:ea typeface="+mn-ea"/>
                <a:cs typeface="Times New Roman" pitchFamily="18" charset="0"/>
              </a:rPr>
              <a:t>球；</a:t>
            </a:r>
            <a:endParaRPr lang="zh-CN" altLang="en-US" sz="2200" b="1" dirty="0">
              <a:latin typeface="+mn-ea"/>
              <a:ea typeface="+mn-ea"/>
              <a:cs typeface="Times New Roman" pitchFamily="18" charset="0"/>
            </a:endParaRPr>
          </a:p>
          <a:p>
            <a:pPr eaLnBrk="1" hangingPunct="1">
              <a:lnSpc>
                <a:spcPct val="130000"/>
              </a:lnSpc>
              <a:spcBef>
                <a:spcPct val="50000"/>
              </a:spcBef>
              <a:buFontTx/>
              <a:buNone/>
            </a:pPr>
            <a:r>
              <a:rPr lang="zh-CN" altLang="en-US" sz="2200" b="1" dirty="0">
                <a:latin typeface="+mn-ea"/>
                <a:ea typeface="+mn-ea"/>
                <a:cs typeface="Times New Roman" pitchFamily="18" charset="0"/>
              </a:rPr>
              <a:t>3、溶液每次稀释恒温后才能</a:t>
            </a:r>
            <a:r>
              <a:rPr lang="zh-CN" altLang="en-US" sz="2200" b="1" dirty="0" smtClean="0">
                <a:latin typeface="+mn-ea"/>
                <a:ea typeface="+mn-ea"/>
                <a:cs typeface="Times New Roman" pitchFamily="18" charset="0"/>
              </a:rPr>
              <a:t>测量；</a:t>
            </a:r>
            <a:endParaRPr lang="zh-CN" altLang="en-US" sz="2200" b="1" dirty="0">
              <a:latin typeface="+mn-ea"/>
              <a:ea typeface="+mn-ea"/>
              <a:cs typeface="Times New Roman" pitchFamily="18" charset="0"/>
            </a:endParaRPr>
          </a:p>
          <a:p>
            <a:pPr eaLnBrk="1" hangingPunct="1">
              <a:lnSpc>
                <a:spcPct val="130000"/>
              </a:lnSpc>
              <a:spcBef>
                <a:spcPct val="50000"/>
              </a:spcBef>
              <a:buFontTx/>
              <a:buNone/>
            </a:pPr>
            <a:r>
              <a:rPr lang="zh-CN" altLang="en-US" sz="2200" b="1" dirty="0">
                <a:latin typeface="+mn-ea"/>
                <a:ea typeface="+mn-ea"/>
                <a:cs typeface="Times New Roman" pitchFamily="18" charset="0"/>
              </a:rPr>
              <a:t>4</a:t>
            </a:r>
            <a:r>
              <a:rPr lang="zh-CN" altLang="en-US" sz="2200" b="1" dirty="0" smtClean="0">
                <a:latin typeface="+mn-ea"/>
                <a:ea typeface="+mn-ea"/>
                <a:cs typeface="Times New Roman" pitchFamily="18" charset="0"/>
              </a:rPr>
              <a:t>、黏度</a:t>
            </a:r>
            <a:r>
              <a:rPr lang="zh-CN" altLang="en-US" sz="2200" b="1" dirty="0">
                <a:latin typeface="+mn-ea"/>
                <a:ea typeface="+mn-ea"/>
                <a:cs typeface="Times New Roman" pitchFamily="18" charset="0"/>
              </a:rPr>
              <a:t>计要垂直放置。实验过程中不要</a:t>
            </a:r>
            <a:r>
              <a:rPr lang="zh-CN" altLang="en-US" sz="2200" b="1" dirty="0" smtClean="0">
                <a:latin typeface="+mn-ea"/>
                <a:ea typeface="+mn-ea"/>
                <a:cs typeface="Times New Roman" pitchFamily="18" charset="0"/>
              </a:rPr>
              <a:t>振动黏度</a:t>
            </a:r>
            <a:r>
              <a:rPr lang="zh-CN" altLang="en-US" sz="2200" b="1" dirty="0" smtClean="0">
                <a:latin typeface="+mn-ea"/>
                <a:ea typeface="+mn-ea"/>
                <a:cs typeface="Times New Roman" pitchFamily="18" charset="0"/>
              </a:rPr>
              <a:t>计，</a:t>
            </a:r>
            <a:endParaRPr lang="en-US" altLang="zh-CN" sz="2200" b="1" dirty="0" smtClean="0">
              <a:latin typeface="+mn-ea"/>
              <a:ea typeface="+mn-ea"/>
              <a:cs typeface="Times New Roman" pitchFamily="18" charset="0"/>
            </a:endParaRPr>
          </a:p>
          <a:p>
            <a:pPr eaLnBrk="1" hangingPunct="1">
              <a:lnSpc>
                <a:spcPct val="130000"/>
              </a:lnSpc>
              <a:spcBef>
                <a:spcPct val="50000"/>
              </a:spcBef>
              <a:buFontTx/>
              <a:buNone/>
            </a:pPr>
            <a:r>
              <a:rPr lang="en-US" altLang="zh-CN" sz="2200" b="1" dirty="0">
                <a:latin typeface="+mn-ea"/>
                <a:ea typeface="+mn-ea"/>
                <a:cs typeface="Times New Roman" pitchFamily="18" charset="0"/>
              </a:rPr>
              <a:t> </a:t>
            </a:r>
            <a:r>
              <a:rPr lang="en-US" altLang="zh-CN" sz="2200" b="1" dirty="0" smtClean="0">
                <a:latin typeface="+mn-ea"/>
                <a:ea typeface="+mn-ea"/>
                <a:cs typeface="Times New Roman" pitchFamily="18" charset="0"/>
              </a:rPr>
              <a:t>  </a:t>
            </a:r>
            <a:r>
              <a:rPr lang="zh-CN" altLang="en-US" sz="2200" b="1" dirty="0" smtClean="0">
                <a:latin typeface="+mn-ea"/>
                <a:ea typeface="+mn-ea"/>
                <a:cs typeface="Times New Roman" pitchFamily="18" charset="0"/>
              </a:rPr>
              <a:t>否则</a:t>
            </a:r>
            <a:r>
              <a:rPr lang="zh-CN" altLang="en-US" sz="2200" b="1" dirty="0">
                <a:latin typeface="+mn-ea"/>
                <a:ea typeface="+mn-ea"/>
                <a:cs typeface="Times New Roman" pitchFamily="18" charset="0"/>
              </a:rPr>
              <a:t>影响实验结果</a:t>
            </a:r>
          </a:p>
        </p:txBody>
      </p:sp>
    </p:spTree>
    <p:extLst>
      <p:ext uri="{BB962C8B-B14F-4D97-AF65-F5344CB8AC3E}">
        <p14:creationId xmlns:p14="http://schemas.microsoft.com/office/powerpoint/2010/main" val="582683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xfrm>
            <a:off x="457200" y="1279301"/>
            <a:ext cx="8229600" cy="4525963"/>
          </a:xfrm>
        </p:spPr>
        <p:txBody>
          <a:bodyPr/>
          <a:lstStyle/>
          <a:p>
            <a:pPr marL="0" indent="0" eaLnBrk="1" hangingPunct="1">
              <a:lnSpc>
                <a:spcPct val="150000"/>
              </a:lnSpc>
              <a:buNone/>
            </a:pPr>
            <a:r>
              <a:rPr lang="zh-CN" altLang="en-US" sz="2400" b="1" dirty="0" smtClean="0">
                <a:ea typeface="黑体" pitchFamily="49" charset="-122"/>
              </a:rPr>
              <a:t>七、思考题：</a:t>
            </a:r>
          </a:p>
          <a:p>
            <a:pPr eaLnBrk="1" hangingPunct="1">
              <a:lnSpc>
                <a:spcPct val="150000"/>
              </a:lnSpc>
            </a:pPr>
            <a:r>
              <a:rPr lang="zh-CN" altLang="en-US" sz="2400" dirty="0" smtClean="0">
                <a:ea typeface="黑体" pitchFamily="49" charset="-122"/>
              </a:rPr>
              <a:t>高聚物分子量的测定有多种方法，试举出几种测定方法。</a:t>
            </a:r>
            <a:r>
              <a:rPr lang="zh-CN" altLang="en-US" sz="2400" dirty="0" smtClean="0">
                <a:ea typeface="黑体" pitchFamily="49" charset="-122"/>
              </a:rPr>
              <a:t>用黏度</a:t>
            </a:r>
            <a:r>
              <a:rPr lang="zh-CN" altLang="en-US" sz="2400" dirty="0" smtClean="0">
                <a:ea typeface="黑体" pitchFamily="49" charset="-122"/>
              </a:rPr>
              <a:t>法测定高聚物的分子量有何特点？</a:t>
            </a:r>
          </a:p>
          <a:p>
            <a:pPr eaLnBrk="1" hangingPunct="1"/>
            <a:endParaRPr lang="zh-CN" altLang="en-US" sz="2400" b="1" dirty="0" smtClean="0">
              <a:ea typeface="黑体" pitchFamily="49" charset="-122"/>
            </a:endParaRPr>
          </a:p>
        </p:txBody>
      </p:sp>
    </p:spTree>
    <p:extLst>
      <p:ext uri="{BB962C8B-B14F-4D97-AF65-F5344CB8AC3E}">
        <p14:creationId xmlns:p14="http://schemas.microsoft.com/office/powerpoint/2010/main" val="88529970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2459</Words>
  <Application>Microsoft Office PowerPoint</Application>
  <PresentationFormat>全屏显示(4:3)</PresentationFormat>
  <Paragraphs>151</Paragraphs>
  <Slides>28</Slides>
  <Notes>1</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28</vt:i4>
      </vt:variant>
    </vt:vector>
  </HeadingPairs>
  <TitlesOfParts>
    <vt:vector size="32" baseType="lpstr">
      <vt:lpstr>Office 主题​​</vt:lpstr>
      <vt:lpstr>Equation</vt:lpstr>
      <vt:lpstr>Microsoft 公式 3.0</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SJLI</dc:creator>
  <cp:lastModifiedBy>jd</cp:lastModifiedBy>
  <cp:revision>17</cp:revision>
  <dcterms:created xsi:type="dcterms:W3CDTF">2017-02-20T05:38:24Z</dcterms:created>
  <dcterms:modified xsi:type="dcterms:W3CDTF">2017-02-23T13:31:10Z</dcterms:modified>
</cp:coreProperties>
</file>