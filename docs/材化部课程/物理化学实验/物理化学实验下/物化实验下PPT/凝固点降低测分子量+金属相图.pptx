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85" r:id="rId4"/>
    <p:sldId id="257" r:id="rId5"/>
    <p:sldId id="259" r:id="rId6"/>
    <p:sldId id="279" r:id="rId7"/>
    <p:sldId id="280" r:id="rId8"/>
    <p:sldId id="260" r:id="rId9"/>
    <p:sldId id="281" r:id="rId10"/>
    <p:sldId id="261" r:id="rId11"/>
    <p:sldId id="284" r:id="rId12"/>
    <p:sldId id="266" r:id="rId13"/>
    <p:sldId id="262" r:id="rId14"/>
    <p:sldId id="263" r:id="rId15"/>
    <p:sldId id="264" r:id="rId16"/>
    <p:sldId id="265" r:id="rId17"/>
    <p:sldId id="267" r:id="rId18"/>
    <p:sldId id="268" r:id="rId19"/>
    <p:sldId id="269" r:id="rId20"/>
    <p:sldId id="282" r:id="rId21"/>
    <p:sldId id="283" r:id="rId22"/>
    <p:sldId id="271" r:id="rId23"/>
    <p:sldId id="276" r:id="rId24"/>
    <p:sldId id="286" r:id="rId25"/>
    <p:sldId id="294" r:id="rId26"/>
    <p:sldId id="287" r:id="rId27"/>
    <p:sldId id="288" r:id="rId28"/>
    <p:sldId id="289" r:id="rId29"/>
    <p:sldId id="290" r:id="rId30"/>
    <p:sldId id="278" r:id="rId31"/>
    <p:sldId id="291" r:id="rId32"/>
    <p:sldId id="292" r:id="rId33"/>
    <p:sldId id="29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11.wmf"/></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920835" y="134694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5" y="429969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5"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189" indent="0" algn="ctr">
              <a:buNone/>
              <a:defRPr sz="2200"/>
            </a:lvl2pPr>
            <a:lvl3pPr marL="914377" indent="0" algn="ctr">
              <a:buNone/>
              <a:defRPr sz="2200"/>
            </a:lvl3pPr>
            <a:lvl4pPr marL="1371566" indent="0" algn="ctr">
              <a:buNone/>
              <a:defRPr sz="2000"/>
            </a:lvl4pPr>
            <a:lvl5pPr marL="1828754" indent="0" algn="ctr">
              <a:buNone/>
              <a:defRPr sz="2000"/>
            </a:lvl5pPr>
            <a:lvl6pPr marL="2285943" indent="0" algn="ctr">
              <a:buNone/>
              <a:defRPr sz="2000"/>
            </a:lvl6pPr>
            <a:lvl7pPr marL="2743131" indent="0" algn="ctr">
              <a:buNone/>
              <a:defRPr sz="2000"/>
            </a:lvl7pPr>
            <a:lvl8pPr marL="3200320" indent="0" algn="ctr">
              <a:buNone/>
              <a:defRPr sz="2000"/>
            </a:lvl8pPr>
            <a:lvl9pPr marL="3657509" indent="0" algn="ctr">
              <a:buNone/>
              <a:defRPr sz="20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9592734" y="4289334"/>
            <a:ext cx="1193868" cy="640080"/>
          </a:xfrm>
        </p:spPr>
        <p:txBody>
          <a:bodyPr/>
          <a:lstStyle>
            <a:lvl1pPr>
              <a:defRPr sz="2800"/>
            </a:lvl1p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3050855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4127018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165775" y="5020056"/>
            <a:ext cx="9052560" cy="1066800"/>
          </a:xfrm>
        </p:spPr>
        <p:txBody>
          <a:bodyPr anchor="t">
            <a:normAutofit/>
          </a:bodyPr>
          <a:lstStyle>
            <a:lvl1pPr marL="0" indent="0">
              <a:buNone/>
              <a:defRPr sz="20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a:xfrm>
            <a:off x="8593668" y="6272786"/>
            <a:ext cx="2644309" cy="365125"/>
          </a:xfrm>
        </p:spPr>
        <p:txBody>
          <a:bodyPr/>
          <a:lstStyle/>
          <a:p>
            <a:fld id="{93648E7E-9F23-468A-94D6-C81D9FF60CF0}" type="datetimeFigureOut">
              <a:rPr lang="zh-CN" altLang="en-US" smtClean="0"/>
              <a:t>2018/3/18</a:t>
            </a:fld>
            <a:endParaRPr lang="zh-CN" altLang="en-US"/>
          </a:p>
        </p:txBody>
      </p:sp>
      <p:sp>
        <p:nvSpPr>
          <p:cNvPr id="5" name="Footer Placeholder 4"/>
          <p:cNvSpPr>
            <a:spLocks noGrp="1"/>
          </p:cNvSpPr>
          <p:nvPr>
            <p:ph type="ftr" sz="quarter" idx="11"/>
          </p:nvPr>
        </p:nvSpPr>
        <p:spPr>
          <a:xfrm>
            <a:off x="2182708" y="6272786"/>
            <a:ext cx="6327648" cy="365125"/>
          </a:xfrm>
        </p:spPr>
        <p:txBody>
          <a:bodyPr/>
          <a:lstStyle/>
          <a:p>
            <a:endParaRPr lang="zh-CN" alt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1" y="2506133"/>
            <a:ext cx="1188299" cy="720332"/>
          </a:xfrm>
        </p:spPr>
        <p:txBody>
          <a:bodyPr/>
          <a:lstStyle>
            <a:lvl1pPr>
              <a:defRPr sz="2800"/>
            </a:lvl1p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1642253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3506101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2884433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4052093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1933308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8303741" y="2"/>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6" name="Footer Placeholder 5"/>
          <p:cNvSpPr>
            <a:spLocks noGrp="1"/>
          </p:cNvSpPr>
          <p:nvPr>
            <p:ph type="ftr" sz="quarter" idx="11"/>
          </p:nvPr>
        </p:nvSpPr>
        <p:spPr/>
        <p:txBody>
          <a:bodyPr/>
          <a:lstStyle/>
          <a:p>
            <a:endParaRPr lang="zh-CN" alt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434509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8303741" y="2"/>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 y="0"/>
            <a:ext cx="8303740" cy="6858000"/>
          </a:xfrm>
          <a:solidFill>
            <a:schemeClr val="tx2">
              <a:lumMod val="20000"/>
              <a:lumOff val="80000"/>
            </a:schemeClr>
          </a:solidFill>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93648E7E-9F23-468A-94D6-C81D9FF60CF0}" type="datetimeFigureOut">
              <a:rPr lang="zh-CN" altLang="en-US" smtClean="0"/>
              <a:t>2018/3/18</a:t>
            </a:fld>
            <a:endParaRPr lang="zh-CN" alt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1801243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299175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533400"/>
            <a:ext cx="2552700" cy="5638800"/>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066801" y="533400"/>
            <a:ext cx="7505700" cy="56388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3648E7E-9F23-468A-94D6-C81D9FF60CF0}" type="datetimeFigureOut">
              <a:rPr lang="zh-CN" altLang="en-US" smtClean="0"/>
              <a:t>2018/3/18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2159600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964424" y="6272786"/>
            <a:ext cx="3273552" cy="365125"/>
          </a:xfrm>
          <a:prstGeom prst="rect">
            <a:avLst/>
          </a:prstGeom>
        </p:spPr>
        <p:txBody>
          <a:bodyPr vert="horz" lIns="91440" tIns="45720" rIns="91440" bIns="45720" rtlCol="0" anchor="ctr"/>
          <a:lstStyle>
            <a:lvl1pPr algn="r">
              <a:defRPr sz="1100">
                <a:solidFill>
                  <a:schemeClr val="tx2"/>
                </a:solidFill>
              </a:defRPr>
            </a:lvl1pPr>
          </a:lstStyle>
          <a:p>
            <a:fld id="{93648E7E-9F23-468A-94D6-C81D9FF60CF0}" type="datetimeFigureOut">
              <a:rPr lang="zh-CN" altLang="en-US" smtClean="0"/>
              <a:t>2018/3/18</a:t>
            </a:fld>
            <a:endParaRPr lang="zh-CN" altLang="en-US"/>
          </a:p>
        </p:txBody>
      </p:sp>
      <p:sp>
        <p:nvSpPr>
          <p:cNvPr id="5" name="Footer Placeholder 4"/>
          <p:cNvSpPr>
            <a:spLocks noGrp="1"/>
          </p:cNvSpPr>
          <p:nvPr>
            <p:ph type="ftr" sz="quarter" idx="3"/>
          </p:nvPr>
        </p:nvSpPr>
        <p:spPr>
          <a:xfrm>
            <a:off x="1088136" y="6272786"/>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zh-CN" alt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6"/>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B03EFDC-726C-49E3-8EE3-06CCBA802B08}" type="slidenum">
              <a:rPr lang="zh-CN" altLang="en-US" smtClean="0"/>
              <a:t>‹#›</a:t>
            </a:fld>
            <a:endParaRPr lang="zh-CN" altLang="en-US"/>
          </a:p>
        </p:txBody>
      </p:sp>
    </p:spTree>
    <p:extLst>
      <p:ext uri="{BB962C8B-B14F-4D97-AF65-F5344CB8AC3E}">
        <p14:creationId xmlns:p14="http://schemas.microsoft.com/office/powerpoint/2010/main" val="41703878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377"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75" indent="-182875" algn="l" defTabSz="914377"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189"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02"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15"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28"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599960"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899953"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199945"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499938"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8.jpeg"/><Relationship Id="rId4" Type="http://schemas.openxmlformats.org/officeDocument/2006/relationships/image" Target="../media/image7.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jpeg"/><Relationship Id="rId4" Type="http://schemas.openxmlformats.org/officeDocument/2006/relationships/image" Target="../media/image7.wmf"/></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7.wmf"/><Relationship Id="rId5" Type="http://schemas.openxmlformats.org/officeDocument/2006/relationships/oleObject" Target="../embeddings/oleObject8.bin"/><Relationship Id="rId4" Type="http://schemas.openxmlformats.org/officeDocument/2006/relationships/image" Target="../media/image11.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54547" y="1556472"/>
            <a:ext cx="9144000" cy="2387600"/>
          </a:xfrm>
        </p:spPr>
        <p:txBody>
          <a:bodyPr>
            <a:normAutofit/>
          </a:bodyPr>
          <a:lstStyle/>
          <a:p>
            <a:pPr>
              <a:lnSpc>
                <a:spcPct val="150000"/>
              </a:lnSpc>
            </a:pPr>
            <a:r>
              <a:rPr lang="zh-CN" altLang="en-US" sz="4800" dirty="0">
                <a:latin typeface="黑体" panose="02010609060101010101" pitchFamily="49" charset="-122"/>
                <a:ea typeface="黑体" panose="02010609060101010101" pitchFamily="49" charset="-122"/>
              </a:rPr>
              <a:t>凝固点降低法测相对分子量</a:t>
            </a:r>
            <a:r>
              <a:rPr lang="en-US" altLang="zh-CN" sz="4800" dirty="0">
                <a:latin typeface="黑体" panose="02010609060101010101" pitchFamily="49" charset="-122"/>
                <a:ea typeface="黑体" panose="02010609060101010101" pitchFamily="49" charset="-122"/>
              </a:rPr>
              <a:t/>
            </a:r>
            <a:br>
              <a:rPr lang="en-US" altLang="zh-CN" sz="4800" dirty="0">
                <a:latin typeface="黑体" panose="02010609060101010101" pitchFamily="49" charset="-122"/>
                <a:ea typeface="黑体" panose="02010609060101010101" pitchFamily="49" charset="-122"/>
              </a:rPr>
            </a:br>
            <a:r>
              <a:rPr lang="zh-CN" altLang="en-US" sz="4800" dirty="0">
                <a:latin typeface="黑体" panose="02010609060101010101" pitchFamily="49" charset="-122"/>
                <a:ea typeface="黑体" panose="02010609060101010101" pitchFamily="49" charset="-122"/>
              </a:rPr>
              <a:t>金属相图测定</a:t>
            </a:r>
          </a:p>
        </p:txBody>
      </p:sp>
      <p:sp>
        <p:nvSpPr>
          <p:cNvPr id="3" name="副标题 2"/>
          <p:cNvSpPr>
            <a:spLocks noGrp="1"/>
          </p:cNvSpPr>
          <p:nvPr>
            <p:ph type="subTitle" idx="1"/>
          </p:nvPr>
        </p:nvSpPr>
        <p:spPr>
          <a:xfrm>
            <a:off x="1069849" y="4361411"/>
            <a:ext cx="8369716" cy="1263536"/>
          </a:xfrm>
        </p:spPr>
        <p:txBody>
          <a:bodyPr>
            <a:normAutofit fontScale="55000" lnSpcReduction="20000"/>
          </a:bodyPr>
          <a:lstStyle/>
          <a:p>
            <a:endParaRPr lang="en-US" altLang="zh-CN" dirty="0"/>
          </a:p>
          <a:p>
            <a:r>
              <a:rPr lang="zh-CN" altLang="en-US" sz="5800" b="1" dirty="0">
                <a:latin typeface="宋体" panose="02010600030101010101" pitchFamily="2" charset="-122"/>
                <a:ea typeface="宋体" panose="02010600030101010101" pitchFamily="2" charset="-122"/>
                <a:cs typeface="Times New Roman" panose="02020603050405020304" pitchFamily="18" charset="0"/>
              </a:rPr>
              <a:t>盛 夏</a:t>
            </a:r>
            <a:r>
              <a:rPr lang="zh-CN" altLang="en-US" sz="5800" b="1" dirty="0">
                <a:latin typeface="Times New Roman" panose="02020603050405020304" pitchFamily="18" charset="0"/>
                <a:cs typeface="Times New Roman" panose="02020603050405020304" pitchFamily="18" charset="0"/>
              </a:rPr>
              <a:t> </a:t>
            </a:r>
            <a:endParaRPr lang="en-US" altLang="zh-CN" sz="5800" b="1" dirty="0">
              <a:latin typeface="Times New Roman" panose="02020603050405020304" pitchFamily="18" charset="0"/>
              <a:cs typeface="Times New Roman" panose="02020603050405020304" pitchFamily="18" charset="0"/>
            </a:endParaRPr>
          </a:p>
          <a:p>
            <a:r>
              <a:rPr lang="en-US" altLang="zh-CN" sz="5800" dirty="0">
                <a:latin typeface="Times New Roman" panose="02020603050405020304" pitchFamily="18" charset="0"/>
                <a:cs typeface="Times New Roman" panose="02020603050405020304" pitchFamily="18" charset="0"/>
              </a:rPr>
              <a:t>shengxia@suda.edu.cn</a:t>
            </a:r>
            <a:endParaRPr lang="zh-CN" altLang="en-US" sz="5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23423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677973" y="643751"/>
            <a:ext cx="4717958" cy="584775"/>
          </a:xfrm>
          <a:prstGeom prst="rect">
            <a:avLst/>
          </a:prstGeom>
          <a:noFill/>
        </p:spPr>
        <p:txBody>
          <a:bodyPr wrap="none">
            <a:spAutoFit/>
          </a:bodyPr>
          <a:lstStyle/>
          <a:p>
            <a:r>
              <a:rPr lang="zh-CN" altLang="en-US" sz="3200" b="1" dirty="0">
                <a:latin typeface="黑体" panose="02010609060101010101" pitchFamily="49" charset="-122"/>
                <a:ea typeface="黑体" panose="02010609060101010101" pitchFamily="49" charset="-122"/>
              </a:rPr>
              <a:t>内 容 （实验报告内容）</a:t>
            </a:r>
          </a:p>
        </p:txBody>
      </p:sp>
      <p:sp>
        <p:nvSpPr>
          <p:cNvPr id="6" name="矩形 5"/>
          <p:cNvSpPr/>
          <p:nvPr/>
        </p:nvSpPr>
        <p:spPr>
          <a:xfrm>
            <a:off x="1385462" y="1651093"/>
            <a:ext cx="2800767" cy="4616648"/>
          </a:xfrm>
          <a:prstGeom prst="rect">
            <a:avLst/>
          </a:prstGeom>
        </p:spPr>
        <p:txBody>
          <a:bodyPr wrap="none">
            <a:spAutoFit/>
          </a:bodyPr>
          <a:lstStyle/>
          <a:p>
            <a:pPr marL="457189" indent="-457189" eaLnBrk="0" hangingPunct="0">
              <a:lnSpc>
                <a:spcPct val="150000"/>
              </a:lnSpc>
              <a:buFont typeface="Wingdings" panose="05000000000000000000" pitchFamily="2" charset="2"/>
              <a:buChar char="Ø"/>
            </a:pPr>
            <a:r>
              <a:rPr lang="zh-CN" altLang="en-US" sz="2800" dirty="0">
                <a:latin typeface="黑体" pitchFamily="2" charset="-122"/>
                <a:ea typeface="黑体" pitchFamily="2" charset="-122"/>
                <a:cs typeface="Times New Roman" pitchFamily="18" charset="0"/>
              </a:rPr>
              <a:t>实验目的</a:t>
            </a:r>
            <a:endParaRPr lang="en-US" altLang="zh-CN" sz="2800" dirty="0">
              <a:latin typeface="黑体" pitchFamily="2" charset="-122"/>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zh-CN" sz="2800" dirty="0">
                <a:solidFill>
                  <a:srgbClr val="C00000"/>
                </a:solidFill>
                <a:latin typeface="黑体" pitchFamily="2" charset="-122"/>
                <a:ea typeface="黑体" pitchFamily="2" charset="-122"/>
                <a:cs typeface="Times New Roman" pitchFamily="18" charset="0"/>
              </a:rPr>
              <a:t>基本原理</a:t>
            </a:r>
            <a:endParaRPr lang="en-US" altLang="zh-CN" sz="2800" dirty="0">
              <a:solidFill>
                <a:srgbClr val="C00000"/>
              </a:solidFill>
              <a:latin typeface="黑体" pitchFamily="2" charset="-122"/>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实验步骤</a:t>
            </a:r>
            <a:endParaRPr lang="en-US" altLang="zh-CN" sz="2800" dirty="0">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实验数据记录</a:t>
            </a:r>
            <a:endParaRPr lang="en-US" altLang="zh-CN" sz="2800" dirty="0">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solidFill>
                  <a:srgbClr val="C00000"/>
                </a:solidFill>
                <a:latin typeface="Times New Roman" pitchFamily="18" charset="0"/>
                <a:ea typeface="黑体" pitchFamily="2" charset="-122"/>
                <a:cs typeface="Times New Roman" pitchFamily="18" charset="0"/>
              </a:rPr>
              <a:t>实验数据处理</a:t>
            </a:r>
            <a:endParaRPr lang="en-US" altLang="zh-CN" sz="2800" dirty="0">
              <a:solidFill>
                <a:srgbClr val="C00000"/>
              </a:solidFill>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注意事项</a:t>
            </a:r>
            <a:endParaRPr lang="en-US" altLang="zh-CN" sz="2800" dirty="0">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思考与讨论</a:t>
            </a:r>
          </a:p>
        </p:txBody>
      </p:sp>
      <p:cxnSp>
        <p:nvCxnSpPr>
          <p:cNvPr id="10" name="直接连接符 9"/>
          <p:cNvCxnSpPr/>
          <p:nvPr/>
        </p:nvCxnSpPr>
        <p:spPr>
          <a:xfrm>
            <a:off x="1764146" y="1326055"/>
            <a:ext cx="8257309"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3889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677973" y="643751"/>
            <a:ext cx="4717958" cy="584775"/>
          </a:xfrm>
          <a:prstGeom prst="rect">
            <a:avLst/>
          </a:prstGeom>
          <a:noFill/>
        </p:spPr>
        <p:txBody>
          <a:bodyPr wrap="none">
            <a:spAutoFit/>
          </a:bodyPr>
          <a:lstStyle/>
          <a:p>
            <a:r>
              <a:rPr lang="zh-CN" altLang="en-US" sz="3200" b="1" dirty="0">
                <a:latin typeface="黑体" panose="02010609060101010101" pitchFamily="49" charset="-122"/>
                <a:ea typeface="黑体" panose="02010609060101010101" pitchFamily="49" charset="-122"/>
              </a:rPr>
              <a:t>内 容 （实验报告内容）</a:t>
            </a:r>
          </a:p>
        </p:txBody>
      </p:sp>
      <p:sp>
        <p:nvSpPr>
          <p:cNvPr id="6" name="矩形 5"/>
          <p:cNvSpPr/>
          <p:nvPr/>
        </p:nvSpPr>
        <p:spPr>
          <a:xfrm>
            <a:off x="1385462" y="1651093"/>
            <a:ext cx="2800767" cy="4616648"/>
          </a:xfrm>
          <a:prstGeom prst="rect">
            <a:avLst/>
          </a:prstGeom>
        </p:spPr>
        <p:txBody>
          <a:bodyPr wrap="none">
            <a:spAutoFit/>
          </a:bodyPr>
          <a:lstStyle/>
          <a:p>
            <a:pPr marL="457189" indent="-457189" eaLnBrk="0" hangingPunct="0">
              <a:lnSpc>
                <a:spcPct val="150000"/>
              </a:lnSpc>
              <a:buFont typeface="Wingdings" panose="05000000000000000000" pitchFamily="2" charset="2"/>
              <a:buChar char="Ø"/>
            </a:pPr>
            <a:r>
              <a:rPr lang="zh-CN" altLang="en-US" sz="2800" dirty="0">
                <a:latin typeface="黑体" pitchFamily="2" charset="-122"/>
                <a:ea typeface="黑体" pitchFamily="2" charset="-122"/>
                <a:cs typeface="Times New Roman" pitchFamily="18" charset="0"/>
              </a:rPr>
              <a:t>实验目的</a:t>
            </a:r>
            <a:endParaRPr lang="en-US" altLang="zh-CN" sz="2800" dirty="0">
              <a:latin typeface="黑体" pitchFamily="2" charset="-122"/>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zh-CN" sz="2800" dirty="0">
                <a:solidFill>
                  <a:srgbClr val="C00000"/>
                </a:solidFill>
                <a:latin typeface="黑体" pitchFamily="2" charset="-122"/>
                <a:ea typeface="黑体" pitchFamily="2" charset="-122"/>
                <a:cs typeface="Times New Roman" pitchFamily="18" charset="0"/>
              </a:rPr>
              <a:t>基本原理</a:t>
            </a:r>
            <a:endParaRPr lang="en-US" altLang="zh-CN" sz="2800" dirty="0">
              <a:solidFill>
                <a:srgbClr val="C00000"/>
              </a:solidFill>
              <a:latin typeface="黑体" pitchFamily="2" charset="-122"/>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实验步骤</a:t>
            </a:r>
            <a:endParaRPr lang="en-US" altLang="zh-CN" sz="2800" dirty="0">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实验数据记录</a:t>
            </a:r>
            <a:endParaRPr lang="en-US" altLang="zh-CN" sz="2800" dirty="0">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solidFill>
                  <a:srgbClr val="C00000"/>
                </a:solidFill>
                <a:latin typeface="Times New Roman" pitchFamily="18" charset="0"/>
                <a:ea typeface="黑体" pitchFamily="2" charset="-122"/>
                <a:cs typeface="Times New Roman" pitchFamily="18" charset="0"/>
              </a:rPr>
              <a:t>实验数据处理</a:t>
            </a:r>
            <a:endParaRPr lang="en-US" altLang="zh-CN" sz="2800" dirty="0">
              <a:solidFill>
                <a:srgbClr val="C00000"/>
              </a:solidFill>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注意事项</a:t>
            </a:r>
            <a:endParaRPr lang="en-US" altLang="zh-CN" sz="2800" dirty="0">
              <a:latin typeface="Times New Roman" pitchFamily="18" charset="0"/>
              <a:ea typeface="黑体" pitchFamily="2" charset="-122"/>
              <a:cs typeface="Times New Roman" pitchFamily="18" charset="0"/>
            </a:endParaRPr>
          </a:p>
          <a:p>
            <a:pPr marL="457189" indent="-457189" eaLnBrk="0" hangingPunct="0">
              <a:lnSpc>
                <a:spcPct val="150000"/>
              </a:lnSpc>
              <a:buFont typeface="Wingdings" panose="05000000000000000000" pitchFamily="2" charset="2"/>
              <a:buChar char="Ø"/>
            </a:pPr>
            <a:r>
              <a:rPr lang="zh-CN" altLang="en-US" sz="2800" dirty="0">
                <a:latin typeface="Times New Roman" pitchFamily="18" charset="0"/>
                <a:ea typeface="黑体" pitchFamily="2" charset="-122"/>
                <a:cs typeface="Times New Roman" pitchFamily="18" charset="0"/>
              </a:rPr>
              <a:t>思考与讨论</a:t>
            </a:r>
          </a:p>
        </p:txBody>
      </p:sp>
      <p:cxnSp>
        <p:nvCxnSpPr>
          <p:cNvPr id="10" name="直接连接符 9"/>
          <p:cNvCxnSpPr/>
          <p:nvPr/>
        </p:nvCxnSpPr>
        <p:spPr>
          <a:xfrm>
            <a:off x="1764146" y="1326055"/>
            <a:ext cx="82573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828569" y="1874990"/>
            <a:ext cx="6032421" cy="461665"/>
          </a:xfrm>
          <a:prstGeom prst="rect">
            <a:avLst/>
          </a:prstGeom>
          <a:noFill/>
          <a:ln w="19050">
            <a:solidFill>
              <a:schemeClr val="accent1">
                <a:lumMod val="75000"/>
              </a:schemeClr>
            </a:solidFill>
          </a:ln>
        </p:spPr>
        <p:txBody>
          <a:bodyPr wrap="none" rtlCol="0">
            <a:spAutoFit/>
          </a:bodyPr>
          <a:lstStyle/>
          <a:p>
            <a:r>
              <a:rPr lang="zh-CN" altLang="en-US" sz="2400" dirty="0">
                <a:latin typeface="宋体" panose="02010600030101010101" pitchFamily="2" charset="-122"/>
                <a:ea typeface="宋体" panose="02010600030101010101" pitchFamily="2" charset="-122"/>
              </a:rPr>
              <a:t>实验，测试技术背后所依据的</a:t>
            </a:r>
            <a:r>
              <a:rPr lang="zh-CN" altLang="en-US" sz="2400">
                <a:latin typeface="宋体" panose="02010600030101010101" pitchFamily="2" charset="-122"/>
                <a:ea typeface="宋体" panose="02010600030101010101" pitchFamily="2" charset="-122"/>
              </a:rPr>
              <a:t>物理化学规律</a:t>
            </a:r>
            <a:endParaRPr lang="en-US" altLang="zh-CN" sz="2400" dirty="0">
              <a:latin typeface="宋体" panose="02010600030101010101" pitchFamily="2" charset="-122"/>
              <a:ea typeface="宋体" panose="02010600030101010101" pitchFamily="2" charset="-122"/>
            </a:endParaRPr>
          </a:p>
        </p:txBody>
      </p:sp>
      <p:cxnSp>
        <p:nvCxnSpPr>
          <p:cNvPr id="13" name="直接箭头连接符 12"/>
          <p:cNvCxnSpPr/>
          <p:nvPr/>
        </p:nvCxnSpPr>
        <p:spPr>
          <a:xfrm flipV="1">
            <a:off x="3546772" y="2189027"/>
            <a:ext cx="1136073" cy="49876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4828569" y="4576626"/>
            <a:ext cx="5109091" cy="461665"/>
          </a:xfrm>
          <a:prstGeom prst="rect">
            <a:avLst/>
          </a:prstGeom>
          <a:noFill/>
          <a:ln w="19050">
            <a:solidFill>
              <a:schemeClr val="accent1">
                <a:lumMod val="75000"/>
              </a:schemeClr>
            </a:solidFill>
          </a:ln>
        </p:spPr>
        <p:txBody>
          <a:bodyPr wrap="none" rtlCol="0">
            <a:spAutoFit/>
          </a:bodyPr>
          <a:lstStyle/>
          <a:p>
            <a:r>
              <a:rPr lang="zh-CN" altLang="en-US" sz="2400" dirty="0">
                <a:latin typeface="宋体" panose="02010600030101010101" pitchFamily="2" charset="-122"/>
                <a:ea typeface="宋体" panose="02010600030101010101" pitchFamily="2" charset="-122"/>
              </a:rPr>
              <a:t>实验误差分析：误差来源，如何降低</a:t>
            </a:r>
            <a:endParaRPr lang="en-US" altLang="zh-CN" sz="2400" dirty="0">
              <a:latin typeface="宋体" panose="02010600030101010101" pitchFamily="2" charset="-122"/>
              <a:ea typeface="宋体" panose="02010600030101010101" pitchFamily="2" charset="-122"/>
            </a:endParaRPr>
          </a:p>
        </p:txBody>
      </p:sp>
      <p:cxnSp>
        <p:nvCxnSpPr>
          <p:cNvPr id="16" name="直接箭头连接符 15"/>
          <p:cNvCxnSpPr/>
          <p:nvPr/>
        </p:nvCxnSpPr>
        <p:spPr>
          <a:xfrm>
            <a:off x="4114807" y="4576625"/>
            <a:ext cx="568037" cy="2308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3107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81012" y="1184626"/>
            <a:ext cx="5743880" cy="646331"/>
          </a:xfrm>
          <a:prstGeom prst="rect">
            <a:avLst/>
          </a:prstGeom>
          <a:solidFill>
            <a:schemeClr val="accent1">
              <a:lumMod val="20000"/>
              <a:lumOff val="80000"/>
            </a:schemeClr>
          </a:solidFill>
        </p:spPr>
        <p:txBody>
          <a:bodyPr wrap="none">
            <a:spAutoFit/>
          </a:bodyPr>
          <a:lstStyle/>
          <a:p>
            <a:r>
              <a:rPr lang="zh-CN" altLang="en-US" sz="36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1524001" y="2274749"/>
            <a:ext cx="8349673" cy="2769989"/>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实验目的</a:t>
            </a:r>
          </a:p>
          <a:p>
            <a:pPr indent="304792" eaLnBrk="0" hangingPunct="0">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、用凝固点降低法测定萘的摩尔质量。</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、掌握溶液凝固点的测量技术。</a:t>
            </a:r>
          </a:p>
          <a:p>
            <a:pPr indent="304792" eaLnBrk="0" hangingPunct="0">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、通过本实验加深对稀溶液依数性质的理解</a:t>
            </a:r>
            <a:r>
              <a:rPr lang="zh-CN" altLang="en-US" dirty="0">
                <a:latin typeface="宋体" panose="02010600030101010101" pitchFamily="2" charset="-122"/>
                <a:ea typeface="宋体" panose="02010600030101010101" pitchFamily="2" charset="-122"/>
                <a:cs typeface="Times New Roman" pitchFamily="18" charset="0"/>
              </a:rPr>
              <a:t>。</a:t>
            </a:r>
          </a:p>
        </p:txBody>
      </p:sp>
    </p:spTree>
    <p:extLst>
      <p:ext uri="{BB962C8B-B14F-4D97-AF65-F5344CB8AC3E}">
        <p14:creationId xmlns:p14="http://schemas.microsoft.com/office/powerpoint/2010/main" val="7603783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51344" y="1026096"/>
            <a:ext cx="10658765" cy="1477328"/>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a:p>
            <a:pPr eaLnBrk="0" hangingPunct="0">
              <a:lnSpc>
                <a:spcPct val="150000"/>
              </a:lnSpc>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凝固点降低是</a:t>
            </a:r>
            <a:r>
              <a:rPr lang="zh-CN" altLang="en-US" sz="28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稀溶液</a:t>
            </a:r>
            <a:r>
              <a:rPr lang="zh-CN" altLang="en-US" sz="28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依数性</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的一种表现。</a:t>
            </a:r>
          </a:p>
        </p:txBody>
      </p:sp>
      <p:sp>
        <p:nvSpPr>
          <p:cNvPr id="8" name="矩形 7"/>
          <p:cNvSpPr/>
          <p:nvPr/>
        </p:nvSpPr>
        <p:spPr>
          <a:xfrm>
            <a:off x="2231107" y="2742989"/>
            <a:ext cx="1620957" cy="523220"/>
          </a:xfrm>
          <a:prstGeom prst="rect">
            <a:avLst/>
          </a:prstGeom>
        </p:spPr>
        <p:txBody>
          <a:bodyPr wrap="none">
            <a:spAutoFit/>
          </a:bodyPr>
          <a:lstStyle/>
          <a:p>
            <a:r>
              <a:rPr lang="zh-CN" altLang="en-US" sz="2800" dirty="0">
                <a:latin typeface="宋体" panose="02010600030101010101" pitchFamily="2" charset="-122"/>
                <a:ea typeface="宋体" panose="02010600030101010101" pitchFamily="2" charset="-122"/>
              </a:rPr>
              <a:t>撒盐化雪</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184" y="3505778"/>
            <a:ext cx="4276725" cy="2857500"/>
          </a:xfrm>
          <a:prstGeom prst="rect">
            <a:avLst/>
          </a:prstGeom>
        </p:spPr>
      </p:pic>
    </p:spTree>
    <p:extLst>
      <p:ext uri="{BB962C8B-B14F-4D97-AF65-F5344CB8AC3E}">
        <p14:creationId xmlns:p14="http://schemas.microsoft.com/office/powerpoint/2010/main" val="41324078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51344" y="1026096"/>
            <a:ext cx="10658765" cy="1477328"/>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a:p>
            <a:pPr eaLnBrk="0" hangingPunct="0">
              <a:lnSpc>
                <a:spcPct val="150000"/>
              </a:lnSpc>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凝固点降低是</a:t>
            </a:r>
            <a:r>
              <a:rPr lang="zh-CN" altLang="en-US" sz="28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稀溶液依数性</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的一种表现。</a:t>
            </a:r>
          </a:p>
        </p:txBody>
      </p:sp>
      <p:sp>
        <p:nvSpPr>
          <p:cNvPr id="6" name="矩形 5"/>
          <p:cNvSpPr/>
          <p:nvPr/>
        </p:nvSpPr>
        <p:spPr>
          <a:xfrm>
            <a:off x="951837" y="2662184"/>
            <a:ext cx="10284200" cy="1569660"/>
          </a:xfrm>
          <a:prstGeom prst="rect">
            <a:avLst/>
          </a:prstGeom>
        </p:spPr>
        <p:txBody>
          <a:bodyPr wrap="square">
            <a:spAutoFit/>
          </a:bodyPr>
          <a:lstStyle/>
          <a:p>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溶解</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使得</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溶质和溶剂的某些性质发生了变化，这些性质变化分为两类：</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一类是由</a:t>
            </a:r>
            <a:r>
              <a:rPr lang="zh-CN"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溶质的本性</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决定的，如密度、颜色、导电性、酸碱性等；</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一类是由</a:t>
            </a:r>
            <a:r>
              <a:rPr lang="zh-CN"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溶质粒子数目的多少</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决定的，如溶液的蒸汽压下降、沸点升高、凝固点下降和渗透压等，与溶质的本性无关</a:t>
            </a:r>
            <a:r>
              <a:rPr lang="zh-CN" altLang="zh-CN" sz="2400" dirty="0"/>
              <a:t>。</a:t>
            </a:r>
            <a:endParaRPr lang="zh-CN" altLang="en-US" sz="2400" dirty="0"/>
          </a:p>
        </p:txBody>
      </p:sp>
    </p:spTree>
    <p:extLst>
      <p:ext uri="{BB962C8B-B14F-4D97-AF65-F5344CB8AC3E}">
        <p14:creationId xmlns:p14="http://schemas.microsoft.com/office/powerpoint/2010/main" val="18353226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51344" y="1026096"/>
            <a:ext cx="10658765" cy="1477328"/>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a:p>
            <a:pPr eaLnBrk="0" hangingPunct="0">
              <a:lnSpc>
                <a:spcPct val="150000"/>
              </a:lnSpc>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凝固点降低是</a:t>
            </a:r>
            <a:r>
              <a:rPr lang="zh-CN" altLang="en-US" sz="28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稀溶液依数性</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的一种表现。</a:t>
            </a:r>
          </a:p>
        </p:txBody>
      </p:sp>
      <p:sp>
        <p:nvSpPr>
          <p:cNvPr id="6" name="矩形 5"/>
          <p:cNvSpPr/>
          <p:nvPr/>
        </p:nvSpPr>
        <p:spPr>
          <a:xfrm>
            <a:off x="951837" y="2662184"/>
            <a:ext cx="10284200" cy="1569660"/>
          </a:xfrm>
          <a:prstGeom prst="rect">
            <a:avLst/>
          </a:prstGeom>
        </p:spPr>
        <p:txBody>
          <a:bodyPr wrap="square">
            <a:spAutoFit/>
          </a:bodyPr>
          <a:lstStyle/>
          <a:p>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溶解</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使得</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溶质和溶剂的某些性质发生了变化，这些性质变化分为两类：</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一类是由</a:t>
            </a:r>
            <a:r>
              <a:rPr lang="zh-CN"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溶质的本性</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决定的，如密度、颜色、导电性、酸碱性等；</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一类是由</a:t>
            </a:r>
            <a:r>
              <a:rPr lang="zh-CN"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溶质粒子数目的多少</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决定的，如溶液的蒸汽压下降、沸点升高、凝固点下降和渗透压等，与溶质的本性无关</a:t>
            </a:r>
            <a:r>
              <a:rPr lang="zh-CN" altLang="zh-CN" sz="2400" dirty="0"/>
              <a:t>。</a:t>
            </a:r>
            <a:endParaRPr lang="zh-CN" altLang="en-US" sz="2400" dirty="0"/>
          </a:p>
        </p:txBody>
      </p:sp>
      <p:sp>
        <p:nvSpPr>
          <p:cNvPr id="7" name="矩形 6"/>
          <p:cNvSpPr/>
          <p:nvPr/>
        </p:nvSpPr>
        <p:spPr>
          <a:xfrm>
            <a:off x="951345" y="4501318"/>
            <a:ext cx="10455564" cy="1384995"/>
          </a:xfrm>
          <a:prstGeom prst="rect">
            <a:avLst/>
          </a:prstGeom>
          <a:ln w="28575">
            <a:solidFill>
              <a:srgbClr val="0070C0"/>
            </a:solidFill>
          </a:ln>
        </p:spPr>
        <p:txBody>
          <a:bodyPr wrap="square">
            <a:spAutoFit/>
          </a:bodyPr>
          <a:lstStyle/>
          <a:p>
            <a:pPr eaLnBrk="0" hangingPunct="0">
              <a:lnSpc>
                <a:spcPct val="150000"/>
              </a:lnSpc>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确定的溶剂，溶剂凝固点降低值仅取决于所含溶质分子的数量。</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ct val="150000"/>
              </a:lnSpc>
            </a:pPr>
            <a:r>
              <a:rPr lang="zh-CN" altLang="en-US" sz="2800" dirty="0">
                <a:latin typeface="Times New Roman" pitchFamily="18" charset="0"/>
                <a:ea typeface="黑体" pitchFamily="2" charset="-122"/>
                <a:cs typeface="Times New Roman" pitchFamily="18" charset="0"/>
              </a:rPr>
              <a:t>△</a:t>
            </a:r>
            <a:r>
              <a:rPr lang="en-US" altLang="zh-CN" sz="2800" i="1" dirty="0" err="1">
                <a:latin typeface="Times New Roman" pitchFamily="18" charset="0"/>
                <a:ea typeface="黑体" pitchFamily="2" charset="-122"/>
                <a:cs typeface="Times New Roman" pitchFamily="18" charset="0"/>
              </a:rPr>
              <a:t>T</a:t>
            </a:r>
            <a:r>
              <a:rPr lang="en-US" altLang="zh-CN" sz="2800" i="1" baseline="-25000" dirty="0" err="1">
                <a:latin typeface="Times New Roman" pitchFamily="18" charset="0"/>
                <a:ea typeface="黑体" pitchFamily="2" charset="-122"/>
                <a:cs typeface="Times New Roman" pitchFamily="18" charset="0"/>
              </a:rPr>
              <a:t>f</a:t>
            </a:r>
            <a:r>
              <a:rPr lang="zh-CN" altLang="en-US" sz="2800" i="1" dirty="0">
                <a:latin typeface="Times New Roman" pitchFamily="18" charset="0"/>
                <a:ea typeface="黑体" pitchFamily="2" charset="-122"/>
                <a:cs typeface="Times New Roman" pitchFamily="18" charset="0"/>
              </a:rPr>
              <a:t> </a:t>
            </a:r>
            <a:r>
              <a:rPr lang="zh-CN" altLang="en-US" sz="2800" dirty="0">
                <a:latin typeface="Times New Roman" pitchFamily="18" charset="0"/>
                <a:ea typeface="黑体" pitchFamily="2" charset="-122"/>
                <a:cs typeface="Times New Roman" pitchFamily="18" charset="0"/>
              </a:rPr>
              <a:t> </a:t>
            </a:r>
            <a:r>
              <a:rPr lang="en-US" altLang="zh-CN" sz="2800" dirty="0">
                <a:latin typeface="Times New Roman" pitchFamily="18" charset="0"/>
                <a:ea typeface="黑体" pitchFamily="2" charset="-122"/>
                <a:cs typeface="Times New Roman" pitchFamily="18" charset="0"/>
              </a:rPr>
              <a:t>~</a:t>
            </a:r>
            <a:r>
              <a:rPr lang="zh-CN" altLang="en-US" sz="2800" dirty="0">
                <a:latin typeface="Times New Roman" pitchFamily="18" charset="0"/>
                <a:ea typeface="黑体" pitchFamily="2" charset="-122"/>
                <a:cs typeface="Times New Roman" pitchFamily="18" charset="0"/>
              </a:rPr>
              <a:t> </a:t>
            </a:r>
            <a:r>
              <a:rPr lang="en-US" altLang="zh-CN" sz="2800" i="1" dirty="0" err="1" smtClean="0">
                <a:latin typeface="Times New Roman" pitchFamily="18" charset="0"/>
                <a:ea typeface="黑体" pitchFamily="2" charset="-122"/>
                <a:cs typeface="Times New Roman" pitchFamily="18" charset="0"/>
              </a:rPr>
              <a:t>n</a:t>
            </a:r>
            <a:r>
              <a:rPr lang="en-US" altLang="zh-CN" sz="2800" i="1" baseline="-25000" dirty="0" err="1" smtClean="0">
                <a:latin typeface="Times New Roman" pitchFamily="18" charset="0"/>
                <a:ea typeface="黑体" pitchFamily="2" charset="-122"/>
                <a:cs typeface="Times New Roman" pitchFamily="18" charset="0"/>
              </a:rPr>
              <a:t>B</a:t>
            </a:r>
            <a:r>
              <a:rPr lang="en-US" altLang="zh-CN" sz="2800" dirty="0" smtClean="0">
                <a:latin typeface="Times New Roman" pitchFamily="18" charset="0"/>
                <a:ea typeface="黑体" pitchFamily="2" charset="-122"/>
                <a:cs typeface="Times New Roman" pitchFamily="18" charset="0"/>
              </a:rPr>
              <a:t> ~ </a:t>
            </a:r>
            <a:r>
              <a:rPr lang="en-US" altLang="zh-CN" sz="2800" i="1" dirty="0" smtClean="0">
                <a:latin typeface="Times New Roman" pitchFamily="18" charset="0"/>
                <a:ea typeface="黑体" pitchFamily="2" charset="-122"/>
                <a:cs typeface="Times New Roman" pitchFamily="18" charset="0"/>
              </a:rPr>
              <a:t>M</a:t>
            </a:r>
            <a:r>
              <a:rPr lang="en-US" altLang="zh-CN" sz="2800" i="1" baseline="-25000" dirty="0" smtClean="0">
                <a:latin typeface="Times New Roman" pitchFamily="18" charset="0"/>
                <a:ea typeface="黑体" pitchFamily="2" charset="-122"/>
                <a:cs typeface="Times New Roman" pitchFamily="18" charset="0"/>
              </a:rPr>
              <a:t>B</a:t>
            </a:r>
            <a:endParaRPr lang="zh-CN" altLang="en-US" sz="2800" i="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32919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51344" y="1026096"/>
            <a:ext cx="2632365"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grpSp>
        <p:nvGrpSpPr>
          <p:cNvPr id="14" name="组合 13"/>
          <p:cNvGrpSpPr/>
          <p:nvPr/>
        </p:nvGrpSpPr>
        <p:grpSpPr>
          <a:xfrm>
            <a:off x="397654" y="1839201"/>
            <a:ext cx="11419100" cy="3053987"/>
            <a:chOff x="386829" y="1954296"/>
            <a:chExt cx="11419099" cy="3053986"/>
          </a:xfrm>
        </p:grpSpPr>
        <p:graphicFrame>
          <p:nvGraphicFramePr>
            <p:cNvPr id="6" name="Object 1"/>
            <p:cNvGraphicFramePr>
              <a:graphicFrameLocks noChangeAspect="1"/>
            </p:cNvGraphicFramePr>
            <p:nvPr>
              <p:extLst>
                <p:ext uri="{D42A27DB-BD31-4B8C-83A1-F6EECF244321}">
                  <p14:modId xmlns:p14="http://schemas.microsoft.com/office/powerpoint/2010/main" val="3923663571"/>
                </p:ext>
              </p:extLst>
            </p:nvPr>
          </p:nvGraphicFramePr>
          <p:xfrm>
            <a:off x="1270434" y="2466693"/>
            <a:ext cx="7458075" cy="2541588"/>
          </p:xfrm>
          <a:graphic>
            <a:graphicData uri="http://schemas.openxmlformats.org/presentationml/2006/ole">
              <mc:AlternateContent xmlns:mc="http://schemas.openxmlformats.org/markup-compatibility/2006">
                <mc:Choice xmlns:v="urn:schemas-microsoft-com:vml" Requires="v">
                  <p:oleObj spid="_x0000_s1367" name="Equation" r:id="rId3" imgW="2920680" imgH="990360" progId="Equation.DSMT4">
                    <p:embed/>
                  </p:oleObj>
                </mc:Choice>
                <mc:Fallback>
                  <p:oleObj name="Equation" r:id="rId3" imgW="2920680" imgH="990360" progId="Equation.DSMT4">
                    <p:embed/>
                    <p:pic>
                      <p:nvPicPr>
                        <p:cNvPr id="11266"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434" y="2466693"/>
                          <a:ext cx="7458075" cy="254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1270434" y="1954296"/>
              <a:ext cx="2646878" cy="461665"/>
            </a:xfrm>
            <a:prstGeom prst="rect">
              <a:avLst/>
            </a:prstGeom>
          </p:spPr>
          <p:txBody>
            <a:bodyPr wrap="none">
              <a:spAutoFit/>
            </a:bodyPr>
            <a:lstStyle/>
            <a:p>
              <a:r>
                <a:rPr lang="zh-CN" altLang="en-US" sz="2400" dirty="0">
                  <a:latin typeface="宋体" panose="02010600030101010101" pitchFamily="2" charset="-122"/>
                  <a:ea typeface="宋体" panose="02010600030101010101" pitchFamily="2" charset="-122"/>
                  <a:cs typeface="Times New Roman" pitchFamily="18" charset="0"/>
                </a:rPr>
                <a:t>范霍夫凝固点降低</a:t>
              </a:r>
              <a:endParaRPr lang="zh-CN" altLang="en-US" sz="2400" dirty="0">
                <a:latin typeface="宋体" panose="02010600030101010101" pitchFamily="2" charset="-122"/>
                <a:ea typeface="宋体" panose="02010600030101010101" pitchFamily="2" charset="-122"/>
              </a:endParaRPr>
            </a:p>
          </p:txBody>
        </p:sp>
        <p:sp>
          <p:nvSpPr>
            <p:cNvPr id="9" name="矩形 8"/>
            <p:cNvSpPr/>
            <p:nvPr/>
          </p:nvSpPr>
          <p:spPr>
            <a:xfrm>
              <a:off x="4692073" y="3823856"/>
              <a:ext cx="2225963" cy="118442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04375" y="3051176"/>
              <a:ext cx="4501553" cy="584775"/>
            </a:xfrm>
            <a:prstGeom prst="rect">
              <a:avLst/>
            </a:prstGeom>
            <a:noFill/>
          </p:spPr>
          <p:txBody>
            <a:bodyPr wrap="none" rtlCol="0">
              <a:spAutoFit/>
            </a:bodyPr>
            <a:lstStyle/>
            <a:p>
              <a:r>
                <a:rPr lang="en-US" altLang="zh-CN" sz="3200" i="1" dirty="0" err="1">
                  <a:solidFill>
                    <a:srgbClr val="C00000"/>
                  </a:solidFill>
                  <a:latin typeface="Times New Roman" panose="02020603050405020304" pitchFamily="18" charset="0"/>
                  <a:cs typeface="Times New Roman" panose="02020603050405020304" pitchFamily="18" charset="0"/>
                </a:rPr>
                <a:t>K</a:t>
              </a:r>
              <a:r>
                <a:rPr lang="en-US" altLang="zh-CN" sz="3200" i="1" baseline="-25000" dirty="0" err="1">
                  <a:solidFill>
                    <a:srgbClr val="C00000"/>
                  </a:solidFill>
                  <a:latin typeface="Times New Roman" panose="02020603050405020304" pitchFamily="18" charset="0"/>
                  <a:cs typeface="Times New Roman" panose="02020603050405020304" pitchFamily="18" charset="0"/>
                </a:rPr>
                <a:t>f</a:t>
              </a:r>
              <a:r>
                <a:rPr lang="en-US" altLang="zh-CN" sz="3200" i="1" baseline="-25000" dirty="0">
                  <a:solidFill>
                    <a:srgbClr val="C00000"/>
                  </a:solidFill>
                  <a:latin typeface="Times New Roman" panose="02020603050405020304" pitchFamily="18" charset="0"/>
                  <a:cs typeface="Times New Roman" panose="02020603050405020304" pitchFamily="18" charset="0"/>
                </a:rPr>
                <a:t> </a:t>
              </a:r>
              <a:r>
                <a:rPr lang="en-US" altLang="zh-CN" sz="3200" dirty="0">
                  <a:solidFill>
                    <a:srgbClr val="C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3200" dirty="0">
                  <a:solidFill>
                    <a:srgbClr val="C00000"/>
                  </a:solidFill>
                  <a:latin typeface="宋体" panose="02010600030101010101" pitchFamily="2" charset="-122"/>
                  <a:ea typeface="宋体" panose="02010600030101010101" pitchFamily="2" charset="-122"/>
                  <a:cs typeface="Times New Roman" panose="02020603050405020304" pitchFamily="18" charset="0"/>
                </a:rPr>
                <a:t>溶剂凝固点降低常数</a:t>
              </a:r>
              <a:endParaRPr lang="zh-CN" altLang="en-US" sz="3200" baseline="-2500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12" name="直接箭头连接符 11"/>
            <p:cNvCxnSpPr/>
            <p:nvPr/>
          </p:nvCxnSpPr>
          <p:spPr>
            <a:xfrm flipV="1">
              <a:off x="6299200" y="3343564"/>
              <a:ext cx="997527" cy="4802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86829" y="3553654"/>
              <a:ext cx="1595309" cy="584775"/>
            </a:xfrm>
            <a:prstGeom prst="rect">
              <a:avLst/>
            </a:prstGeom>
            <a:noFill/>
          </p:spPr>
          <p:txBody>
            <a:bodyPr wrap="none" rtlCol="0">
              <a:spAutoFit/>
            </a:bodyPr>
            <a:lstStyle/>
            <a:p>
              <a:r>
                <a:rPr lang="en-US" altLang="zh-CN" sz="3200" i="1" dirty="0" err="1">
                  <a:solidFill>
                    <a:srgbClr val="C00000"/>
                  </a:solidFill>
                  <a:latin typeface="Times New Roman" panose="02020603050405020304" pitchFamily="18" charset="0"/>
                  <a:cs typeface="Times New Roman" panose="02020603050405020304" pitchFamily="18" charset="0"/>
                </a:rPr>
                <a:t>n</a:t>
              </a:r>
              <a:r>
                <a:rPr lang="en-US" altLang="zh-CN" sz="3200" i="1" baseline="-25000" dirty="0" err="1">
                  <a:solidFill>
                    <a:srgbClr val="C00000"/>
                  </a:solidFill>
                  <a:latin typeface="Times New Roman" panose="02020603050405020304" pitchFamily="18" charset="0"/>
                  <a:cs typeface="Times New Roman" panose="02020603050405020304" pitchFamily="18" charset="0"/>
                </a:rPr>
                <a:t>B</a:t>
              </a:r>
              <a:r>
                <a:rPr lang="en-US" altLang="zh-CN" sz="3200" dirty="0">
                  <a:solidFill>
                    <a:srgbClr val="C00000"/>
                  </a:solidFill>
                  <a:latin typeface="Times New Roman" panose="02020603050405020304" pitchFamily="18" charset="0"/>
                  <a:cs typeface="Times New Roman" panose="02020603050405020304" pitchFamily="18" charset="0"/>
                </a:rPr>
                <a:t> &lt;&lt; </a:t>
              </a:r>
              <a:r>
                <a:rPr lang="en-US" altLang="zh-CN" sz="3200" i="1" dirty="0" err="1">
                  <a:solidFill>
                    <a:srgbClr val="C00000"/>
                  </a:solidFill>
                  <a:latin typeface="Times New Roman" panose="02020603050405020304" pitchFamily="18" charset="0"/>
                  <a:cs typeface="Times New Roman" panose="02020603050405020304" pitchFamily="18" charset="0"/>
                </a:rPr>
                <a:t>n</a:t>
              </a:r>
              <a:r>
                <a:rPr lang="en-US" altLang="zh-CN" sz="3200" i="1" baseline="-25000" dirty="0" err="1">
                  <a:solidFill>
                    <a:srgbClr val="C00000"/>
                  </a:solidFill>
                  <a:latin typeface="Times New Roman" panose="02020603050405020304" pitchFamily="18" charset="0"/>
                  <a:cs typeface="Times New Roman" panose="02020603050405020304" pitchFamily="18" charset="0"/>
                </a:rPr>
                <a:t>A</a:t>
              </a:r>
              <a:endParaRPr lang="zh-CN" altLang="en-US" sz="3200" i="1" baseline="-25000" dirty="0">
                <a:solidFill>
                  <a:srgbClr val="C0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7675673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51344" y="1026096"/>
            <a:ext cx="2632365"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graphicFrame>
        <p:nvGraphicFramePr>
          <p:cNvPr id="8" name="Object 3"/>
          <p:cNvGraphicFramePr>
            <a:graphicFrameLocks noChangeAspect="1"/>
          </p:cNvGraphicFramePr>
          <p:nvPr/>
        </p:nvGraphicFramePr>
        <p:xfrm>
          <a:off x="1270435" y="5228291"/>
          <a:ext cx="3138487" cy="1260475"/>
        </p:xfrm>
        <a:graphic>
          <a:graphicData uri="http://schemas.openxmlformats.org/presentationml/2006/ole">
            <mc:AlternateContent xmlns:mc="http://schemas.openxmlformats.org/markup-compatibility/2006">
              <mc:Choice xmlns:v="urn:schemas-microsoft-com:vml" Requires="v">
                <p:oleObj spid="_x0000_s6230" name="Equation" r:id="rId3" imgW="1117115" imgH="444307" progId="Equation.DSMT4">
                  <p:embed/>
                </p:oleObj>
              </mc:Choice>
              <mc:Fallback>
                <p:oleObj name="Equation" r:id="rId3" imgW="1117115" imgH="444307" progId="Equation.DSMT4">
                  <p:embed/>
                  <p:pic>
                    <p:nvPicPr>
                      <p:cNvPr id="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435" y="5228291"/>
                        <a:ext cx="3138487" cy="1260475"/>
                      </a:xfrm>
                      <a:prstGeom prst="rect">
                        <a:avLst/>
                      </a:prstGeom>
                      <a:noFill/>
                      <a:ln w="28575">
                        <a:solidFill>
                          <a:srgbClr val="0070C0"/>
                        </a:solidFill>
                      </a:ln>
                      <a:extLst/>
                    </p:spPr>
                  </p:pic>
                </p:oleObj>
              </mc:Fallback>
            </mc:AlternateContent>
          </a:graphicData>
        </a:graphic>
      </p:graphicFrame>
      <p:grpSp>
        <p:nvGrpSpPr>
          <p:cNvPr id="14" name="组合 13"/>
          <p:cNvGrpSpPr/>
          <p:nvPr/>
        </p:nvGrpSpPr>
        <p:grpSpPr>
          <a:xfrm>
            <a:off x="397654" y="1839201"/>
            <a:ext cx="11419100" cy="3053987"/>
            <a:chOff x="386829" y="1954296"/>
            <a:chExt cx="11419099" cy="3053986"/>
          </a:xfrm>
        </p:grpSpPr>
        <p:graphicFrame>
          <p:nvGraphicFramePr>
            <p:cNvPr id="6" name="Object 1"/>
            <p:cNvGraphicFramePr>
              <a:graphicFrameLocks noChangeAspect="1"/>
            </p:cNvGraphicFramePr>
            <p:nvPr/>
          </p:nvGraphicFramePr>
          <p:xfrm>
            <a:off x="1270434" y="2466693"/>
            <a:ext cx="7458075" cy="2541588"/>
          </p:xfrm>
          <a:graphic>
            <a:graphicData uri="http://schemas.openxmlformats.org/presentationml/2006/ole">
              <mc:AlternateContent xmlns:mc="http://schemas.openxmlformats.org/markup-compatibility/2006">
                <mc:Choice xmlns:v="urn:schemas-microsoft-com:vml" Requires="v">
                  <p:oleObj spid="_x0000_s6231" name="Equation" r:id="rId5" imgW="2920680" imgH="990360" progId="Equation.DSMT4">
                    <p:embed/>
                  </p:oleObj>
                </mc:Choice>
                <mc:Fallback>
                  <p:oleObj name="Equation" r:id="rId5" imgW="2920680" imgH="990360" progId="Equation.DSMT4">
                    <p:embed/>
                    <p:pic>
                      <p:nvPicPr>
                        <p:cNvPr id="6"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434" y="2466693"/>
                          <a:ext cx="7458075" cy="254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1270434" y="1954296"/>
              <a:ext cx="2646878" cy="461665"/>
            </a:xfrm>
            <a:prstGeom prst="rect">
              <a:avLst/>
            </a:prstGeom>
          </p:spPr>
          <p:txBody>
            <a:bodyPr wrap="none">
              <a:spAutoFit/>
            </a:bodyPr>
            <a:lstStyle/>
            <a:p>
              <a:r>
                <a:rPr lang="zh-CN" altLang="en-US" sz="2400" dirty="0">
                  <a:latin typeface="宋体" panose="02010600030101010101" pitchFamily="2" charset="-122"/>
                  <a:ea typeface="宋体" panose="02010600030101010101" pitchFamily="2" charset="-122"/>
                  <a:cs typeface="Times New Roman" pitchFamily="18" charset="0"/>
                </a:rPr>
                <a:t>范霍夫凝固点降低</a:t>
              </a:r>
              <a:endParaRPr lang="zh-CN" altLang="en-US" sz="2400" dirty="0">
                <a:latin typeface="宋体" panose="02010600030101010101" pitchFamily="2" charset="-122"/>
                <a:ea typeface="宋体" panose="02010600030101010101" pitchFamily="2" charset="-122"/>
              </a:endParaRPr>
            </a:p>
          </p:txBody>
        </p:sp>
        <p:sp>
          <p:nvSpPr>
            <p:cNvPr id="9" name="矩形 8"/>
            <p:cNvSpPr/>
            <p:nvPr/>
          </p:nvSpPr>
          <p:spPr>
            <a:xfrm>
              <a:off x="4692073" y="3823856"/>
              <a:ext cx="2225963" cy="118442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304375" y="3051176"/>
              <a:ext cx="4501553" cy="584775"/>
            </a:xfrm>
            <a:prstGeom prst="rect">
              <a:avLst/>
            </a:prstGeom>
            <a:noFill/>
          </p:spPr>
          <p:txBody>
            <a:bodyPr wrap="none" rtlCol="0">
              <a:spAutoFit/>
            </a:bodyPr>
            <a:lstStyle/>
            <a:p>
              <a:r>
                <a:rPr lang="en-US" altLang="zh-CN" sz="3200" i="1" dirty="0" err="1">
                  <a:solidFill>
                    <a:srgbClr val="C00000"/>
                  </a:solidFill>
                  <a:latin typeface="Times New Roman" panose="02020603050405020304" pitchFamily="18" charset="0"/>
                  <a:cs typeface="Times New Roman" panose="02020603050405020304" pitchFamily="18" charset="0"/>
                </a:rPr>
                <a:t>K</a:t>
              </a:r>
              <a:r>
                <a:rPr lang="en-US" altLang="zh-CN" sz="3200" i="1" baseline="-25000" dirty="0" err="1">
                  <a:solidFill>
                    <a:srgbClr val="C00000"/>
                  </a:solidFill>
                  <a:latin typeface="Times New Roman" panose="02020603050405020304" pitchFamily="18" charset="0"/>
                  <a:cs typeface="Times New Roman" panose="02020603050405020304" pitchFamily="18" charset="0"/>
                </a:rPr>
                <a:t>f</a:t>
              </a:r>
              <a:r>
                <a:rPr lang="en-US" altLang="zh-CN" sz="3200" i="1" baseline="-25000" dirty="0">
                  <a:solidFill>
                    <a:srgbClr val="C00000"/>
                  </a:solidFill>
                  <a:latin typeface="Times New Roman" panose="02020603050405020304" pitchFamily="18" charset="0"/>
                  <a:cs typeface="Times New Roman" panose="02020603050405020304" pitchFamily="18" charset="0"/>
                </a:rPr>
                <a:t> </a:t>
              </a:r>
              <a:r>
                <a:rPr lang="en-US" altLang="zh-CN" sz="3200" dirty="0">
                  <a:solidFill>
                    <a:srgbClr val="C00000"/>
                  </a:solidFill>
                  <a:latin typeface="宋体" panose="02010600030101010101" pitchFamily="2" charset="-122"/>
                  <a:ea typeface="宋体" panose="02010600030101010101" pitchFamily="2" charset="-122"/>
                  <a:cs typeface="Times New Roman" panose="02020603050405020304" pitchFamily="18" charset="0"/>
                </a:rPr>
                <a:t>:</a:t>
              </a:r>
              <a:r>
                <a:rPr lang="zh-CN" altLang="en-US" sz="3200" dirty="0">
                  <a:solidFill>
                    <a:srgbClr val="C00000"/>
                  </a:solidFill>
                  <a:latin typeface="宋体" panose="02010600030101010101" pitchFamily="2" charset="-122"/>
                  <a:ea typeface="宋体" panose="02010600030101010101" pitchFamily="2" charset="-122"/>
                  <a:cs typeface="Times New Roman" panose="02020603050405020304" pitchFamily="18" charset="0"/>
                </a:rPr>
                <a:t>溶剂凝固点降低常数</a:t>
              </a:r>
              <a:endParaRPr lang="zh-CN" altLang="en-US" sz="3200" baseline="-25000" dirty="0">
                <a:solidFill>
                  <a:srgbClr val="C00000"/>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12" name="直接箭头连接符 11"/>
            <p:cNvCxnSpPr/>
            <p:nvPr/>
          </p:nvCxnSpPr>
          <p:spPr>
            <a:xfrm flipV="1">
              <a:off x="6299200" y="3343564"/>
              <a:ext cx="997527" cy="4802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86829" y="3553654"/>
              <a:ext cx="1595309" cy="584775"/>
            </a:xfrm>
            <a:prstGeom prst="rect">
              <a:avLst/>
            </a:prstGeom>
            <a:noFill/>
          </p:spPr>
          <p:txBody>
            <a:bodyPr wrap="none" rtlCol="0">
              <a:spAutoFit/>
            </a:bodyPr>
            <a:lstStyle/>
            <a:p>
              <a:r>
                <a:rPr lang="en-US" altLang="zh-CN" sz="3200" i="1" dirty="0" err="1">
                  <a:solidFill>
                    <a:srgbClr val="C00000"/>
                  </a:solidFill>
                  <a:latin typeface="Times New Roman" panose="02020603050405020304" pitchFamily="18" charset="0"/>
                  <a:cs typeface="Times New Roman" panose="02020603050405020304" pitchFamily="18" charset="0"/>
                </a:rPr>
                <a:t>n</a:t>
              </a:r>
              <a:r>
                <a:rPr lang="en-US" altLang="zh-CN" sz="3200" i="1" baseline="-25000" dirty="0" err="1">
                  <a:solidFill>
                    <a:srgbClr val="C00000"/>
                  </a:solidFill>
                  <a:latin typeface="Times New Roman" panose="02020603050405020304" pitchFamily="18" charset="0"/>
                  <a:cs typeface="Times New Roman" panose="02020603050405020304" pitchFamily="18" charset="0"/>
                </a:rPr>
                <a:t>B</a:t>
              </a:r>
              <a:r>
                <a:rPr lang="en-US" altLang="zh-CN" sz="3200" dirty="0">
                  <a:solidFill>
                    <a:srgbClr val="C00000"/>
                  </a:solidFill>
                  <a:latin typeface="Times New Roman" panose="02020603050405020304" pitchFamily="18" charset="0"/>
                  <a:cs typeface="Times New Roman" panose="02020603050405020304" pitchFamily="18" charset="0"/>
                </a:rPr>
                <a:t> &lt;&lt; </a:t>
              </a:r>
              <a:r>
                <a:rPr lang="en-US" altLang="zh-CN" sz="3200" i="1" dirty="0" err="1">
                  <a:solidFill>
                    <a:srgbClr val="C00000"/>
                  </a:solidFill>
                  <a:latin typeface="Times New Roman" panose="02020603050405020304" pitchFamily="18" charset="0"/>
                  <a:cs typeface="Times New Roman" panose="02020603050405020304" pitchFamily="18" charset="0"/>
                </a:rPr>
                <a:t>n</a:t>
              </a:r>
              <a:r>
                <a:rPr lang="en-US" altLang="zh-CN" sz="3200" i="1" baseline="-25000" dirty="0" err="1">
                  <a:solidFill>
                    <a:srgbClr val="C00000"/>
                  </a:solidFill>
                  <a:latin typeface="Times New Roman" panose="02020603050405020304" pitchFamily="18" charset="0"/>
                  <a:cs typeface="Times New Roman" panose="02020603050405020304" pitchFamily="18" charset="0"/>
                </a:rPr>
                <a:t>A</a:t>
              </a:r>
              <a:endParaRPr lang="zh-CN" altLang="en-US" sz="3200" i="1" baseline="-25000" dirty="0">
                <a:solidFill>
                  <a:srgbClr val="C0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7089907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71316" y="859812"/>
            <a:ext cx="2632365"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graphicFrame>
        <p:nvGraphicFramePr>
          <p:cNvPr id="6" name="Object 3"/>
          <p:cNvGraphicFramePr>
            <a:graphicFrameLocks noChangeAspect="1"/>
          </p:cNvGraphicFramePr>
          <p:nvPr>
            <p:extLst>
              <p:ext uri="{D42A27DB-BD31-4B8C-83A1-F6EECF244321}">
                <p14:modId xmlns:p14="http://schemas.microsoft.com/office/powerpoint/2010/main" val="4232273557"/>
              </p:ext>
            </p:extLst>
          </p:nvPr>
        </p:nvGraphicFramePr>
        <p:xfrm>
          <a:off x="7246363" y="1099637"/>
          <a:ext cx="3138487" cy="1260475"/>
        </p:xfrm>
        <a:graphic>
          <a:graphicData uri="http://schemas.openxmlformats.org/presentationml/2006/ole">
            <mc:AlternateContent xmlns:mc="http://schemas.openxmlformats.org/markup-compatibility/2006">
              <mc:Choice xmlns:v="urn:schemas-microsoft-com:vml" Requires="v">
                <p:oleObj spid="_x0000_s2227" name="Equation" r:id="rId3" imgW="1117115" imgH="444307" progId="Equation.DSMT4">
                  <p:embed/>
                </p:oleObj>
              </mc:Choice>
              <mc:Fallback>
                <p:oleObj name="Equation" r:id="rId3" imgW="1117115" imgH="444307" progId="Equation.DSMT4">
                  <p:embed/>
                  <p:pic>
                    <p:nvPicPr>
                      <p:cNvPr id="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6363" y="1099637"/>
                        <a:ext cx="3138487" cy="1260475"/>
                      </a:xfrm>
                      <a:prstGeom prst="rect">
                        <a:avLst/>
                      </a:prstGeom>
                      <a:noFill/>
                      <a:ln w="28575">
                        <a:solidFill>
                          <a:srgbClr val="0070C0"/>
                        </a:solidFill>
                      </a:ln>
                      <a:extLst/>
                    </p:spPr>
                  </p:pic>
                </p:oleObj>
              </mc:Fallback>
            </mc:AlternateContent>
          </a:graphicData>
        </a:graphic>
      </p:graphicFrame>
      <p:sp>
        <p:nvSpPr>
          <p:cNvPr id="9" name="矩形 8"/>
          <p:cNvSpPr/>
          <p:nvPr/>
        </p:nvSpPr>
        <p:spPr>
          <a:xfrm>
            <a:off x="6573212" y="2599805"/>
            <a:ext cx="4898353" cy="830997"/>
          </a:xfrm>
          <a:prstGeom prst="rect">
            <a:avLst/>
          </a:prstGeom>
        </p:spPr>
        <p:txBody>
          <a:bodyPr wrap="square">
            <a:spAutoFit/>
          </a:bodyPr>
          <a:lstStyle/>
          <a:p>
            <a:r>
              <a:rPr lang="zh-CN" altLang="zh-CN" sz="2400" dirty="0">
                <a:latin typeface="宋体" panose="02010600030101010101" pitchFamily="2" charset="-122"/>
                <a:ea typeface="宋体" panose="02010600030101010101" pitchFamily="2" charset="-122"/>
                <a:cs typeface="Times New Roman" pitchFamily="18" charset="0"/>
              </a:rPr>
              <a:t>纯</a:t>
            </a:r>
            <a:r>
              <a:rPr lang="zh-CN" altLang="en-US" sz="2400" dirty="0">
                <a:latin typeface="宋体" panose="02010600030101010101" pitchFamily="2" charset="-122"/>
                <a:ea typeface="宋体" panose="02010600030101010101" pitchFamily="2" charset="-122"/>
                <a:cs typeface="Times New Roman" pitchFamily="18" charset="0"/>
              </a:rPr>
              <a:t>溶剂的凝固点是它的液相和固相共存的平衡温度。</a:t>
            </a:r>
            <a:endParaRPr lang="zh-CN" altLang="en-US" sz="2400" dirty="0">
              <a:latin typeface="宋体" panose="02010600030101010101" pitchFamily="2" charset="-122"/>
              <a:ea typeface="宋体" panose="02010600030101010101" pitchFamily="2" charset="-122"/>
            </a:endParaRPr>
          </a:p>
        </p:txBody>
      </p:sp>
      <p:grpSp>
        <p:nvGrpSpPr>
          <p:cNvPr id="24" name="组合 23"/>
          <p:cNvGrpSpPr/>
          <p:nvPr/>
        </p:nvGrpSpPr>
        <p:grpSpPr>
          <a:xfrm>
            <a:off x="99469" y="2593155"/>
            <a:ext cx="6298251" cy="4141504"/>
            <a:chOff x="99469" y="2593154"/>
            <a:chExt cx="6298250" cy="4141504"/>
          </a:xfrm>
        </p:grpSpPr>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5848" y="2724488"/>
              <a:ext cx="5591871" cy="4010170"/>
            </a:xfrm>
            <a:prstGeom prst="rect">
              <a:avLst/>
            </a:prstGeom>
          </p:spPr>
        </p:pic>
        <p:sp>
          <p:nvSpPr>
            <p:cNvPr id="8" name="矩形 7"/>
            <p:cNvSpPr/>
            <p:nvPr/>
          </p:nvSpPr>
          <p:spPr>
            <a:xfrm>
              <a:off x="99469" y="4529538"/>
              <a:ext cx="1000595" cy="584775"/>
            </a:xfrm>
            <a:prstGeom prst="rect">
              <a:avLst/>
            </a:prstGeom>
          </p:spPr>
          <p:txBody>
            <a:bodyPr wrap="none">
              <a:spAutoFit/>
            </a:bodyPr>
            <a:lstStyle/>
            <a:p>
              <a:r>
                <a:rPr lang="zh-CN" altLang="en-US" sz="3200" dirty="0">
                  <a:latin typeface="Times New Roman" pitchFamily="18" charset="0"/>
                  <a:ea typeface="黑体" pitchFamily="2" charset="-122"/>
                  <a:cs typeface="Times New Roman" pitchFamily="18" charset="0"/>
                </a:rPr>
                <a:t>△</a:t>
              </a:r>
              <a:r>
                <a:rPr lang="en-US" altLang="zh-CN" sz="3200" i="1" dirty="0" err="1">
                  <a:latin typeface="Times New Roman" pitchFamily="18" charset="0"/>
                  <a:ea typeface="黑体" pitchFamily="2" charset="-122"/>
                  <a:cs typeface="Times New Roman" pitchFamily="18" charset="0"/>
                </a:rPr>
                <a:t>T</a:t>
              </a:r>
              <a:r>
                <a:rPr lang="en-US" altLang="zh-CN" sz="3200" i="1" baseline="-25000" dirty="0" err="1">
                  <a:latin typeface="Times New Roman" pitchFamily="18" charset="0"/>
                  <a:ea typeface="黑体" pitchFamily="2" charset="-122"/>
                  <a:cs typeface="Times New Roman" pitchFamily="18" charset="0"/>
                </a:rPr>
                <a:t>f</a:t>
              </a:r>
              <a:r>
                <a:rPr lang="zh-CN" altLang="en-US" sz="3200" i="1" dirty="0">
                  <a:latin typeface="Times New Roman" pitchFamily="18" charset="0"/>
                  <a:ea typeface="黑体" pitchFamily="2" charset="-122"/>
                  <a:cs typeface="Times New Roman" pitchFamily="18" charset="0"/>
                </a:rPr>
                <a:t> </a:t>
              </a:r>
              <a:endParaRPr lang="zh-CN" altLang="en-US" sz="3200" dirty="0"/>
            </a:p>
          </p:txBody>
        </p:sp>
        <p:sp>
          <p:nvSpPr>
            <p:cNvPr id="10" name="矩形 9"/>
            <p:cNvSpPr/>
            <p:nvPr/>
          </p:nvSpPr>
          <p:spPr>
            <a:xfrm>
              <a:off x="1211678" y="3116374"/>
              <a:ext cx="1573362" cy="290708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486632" y="2593154"/>
              <a:ext cx="902811" cy="523220"/>
            </a:xfrm>
            <a:prstGeom prst="rect">
              <a:avLst/>
            </a:prstGeom>
            <a:noFill/>
          </p:spPr>
          <p:txBody>
            <a:bodyPr wrap="none" rtlCol="0">
              <a:spAutoFit/>
            </a:bodyPr>
            <a:lstStyle/>
            <a:p>
              <a:r>
                <a:rPr lang="zh-CN" altLang="en-US" sz="2800" dirty="0">
                  <a:solidFill>
                    <a:srgbClr val="C00000"/>
                  </a:solidFill>
                  <a:latin typeface="宋体" panose="02010600030101010101" pitchFamily="2" charset="-122"/>
                  <a:ea typeface="宋体" panose="02010600030101010101" pitchFamily="2" charset="-122"/>
                </a:rPr>
                <a:t>溶剂</a:t>
              </a:r>
            </a:p>
          </p:txBody>
        </p:sp>
        <p:sp>
          <p:nvSpPr>
            <p:cNvPr id="16" name="矩形 15"/>
            <p:cNvSpPr/>
            <p:nvPr/>
          </p:nvSpPr>
          <p:spPr>
            <a:xfrm>
              <a:off x="2896654" y="3709373"/>
              <a:ext cx="2910397" cy="2314084"/>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900446" y="3210789"/>
              <a:ext cx="902811" cy="523220"/>
            </a:xfrm>
            <a:prstGeom prst="rect">
              <a:avLst/>
            </a:prstGeom>
            <a:noFill/>
          </p:spPr>
          <p:txBody>
            <a:bodyPr wrap="none" rtlCol="0">
              <a:spAutoFit/>
            </a:bodyPr>
            <a:lstStyle/>
            <a:p>
              <a:r>
                <a:rPr lang="zh-CN" altLang="en-US" sz="2800" dirty="0">
                  <a:solidFill>
                    <a:srgbClr val="0070C0"/>
                  </a:solidFill>
                  <a:latin typeface="宋体" panose="02010600030101010101" pitchFamily="2" charset="-122"/>
                  <a:ea typeface="宋体" panose="02010600030101010101" pitchFamily="2" charset="-122"/>
                </a:rPr>
                <a:t>溶液</a:t>
              </a:r>
            </a:p>
          </p:txBody>
        </p:sp>
      </p:grpSp>
      <p:sp>
        <p:nvSpPr>
          <p:cNvPr id="19" name="矩形 18"/>
          <p:cNvSpPr/>
          <p:nvPr/>
        </p:nvSpPr>
        <p:spPr>
          <a:xfrm>
            <a:off x="6573212" y="3583902"/>
            <a:ext cx="4898353" cy="1569660"/>
          </a:xfrm>
          <a:prstGeom prst="rect">
            <a:avLst/>
          </a:prstGeom>
        </p:spPr>
        <p:txBody>
          <a:bodyPr wrap="square">
            <a:spAutoFit/>
          </a:bodyPr>
          <a:lstStyle/>
          <a:p>
            <a:r>
              <a:rPr lang="zh-CN" altLang="en-US" sz="2400" dirty="0">
                <a:latin typeface="宋体" panose="02010600030101010101" pitchFamily="2" charset="-122"/>
                <a:ea typeface="宋体" panose="02010600030101010101" pitchFamily="2" charset="-122"/>
                <a:cs typeface="Times New Roman" pitchFamily="18" charset="0"/>
              </a:rPr>
              <a:t>溶液逐步冷却时，由于溶液冷却时有部分溶剂凝固而析出，剩余溶液的浓度逐渐增大，因而剩余溶液与溶剂固相的平衡温度也在逐渐下降。</a:t>
            </a:r>
          </a:p>
        </p:txBody>
      </p:sp>
      <p:sp>
        <p:nvSpPr>
          <p:cNvPr id="20" name="矩形 19"/>
          <p:cNvSpPr/>
          <p:nvPr/>
        </p:nvSpPr>
        <p:spPr>
          <a:xfrm>
            <a:off x="6609039" y="5306666"/>
            <a:ext cx="4677799" cy="830997"/>
          </a:xfrm>
          <a:prstGeom prst="rect">
            <a:avLst/>
          </a:prstGeom>
        </p:spPr>
        <p:txBody>
          <a:bodyPr wrap="square">
            <a:spAutoFit/>
          </a:bodyPr>
          <a:lstStyle/>
          <a:p>
            <a:r>
              <a:rPr lang="zh-CN" altLang="en-US" sz="2400" dirty="0">
                <a:solidFill>
                  <a:srgbClr val="C00000"/>
                </a:solidFill>
                <a:latin typeface="宋体" panose="02010600030101010101" pitchFamily="2" charset="-122"/>
                <a:ea typeface="宋体" panose="02010600030101010101" pitchFamily="2" charset="-122"/>
                <a:cs typeface="Times New Roman" pitchFamily="18" charset="0"/>
              </a:rPr>
              <a:t>凝固的溶剂过多，溶液的浓度变化过大，测得的凝固点将偏低。</a:t>
            </a:r>
            <a:endParaRPr lang="zh-CN" altLang="en-US" sz="2400" dirty="0">
              <a:solidFill>
                <a:srgbClr val="C00000"/>
              </a:solidFill>
              <a:latin typeface="宋体" panose="02010600030101010101" pitchFamily="2" charset="-122"/>
              <a:ea typeface="宋体" panose="02010600030101010101" pitchFamily="2" charset="-122"/>
            </a:endParaRPr>
          </a:p>
        </p:txBody>
      </p:sp>
      <p:sp>
        <p:nvSpPr>
          <p:cNvPr id="22" name="矩形 21"/>
          <p:cNvSpPr/>
          <p:nvPr/>
        </p:nvSpPr>
        <p:spPr>
          <a:xfrm>
            <a:off x="555680" y="1619142"/>
            <a:ext cx="6096000" cy="830997"/>
          </a:xfrm>
          <a:prstGeom prst="rect">
            <a:avLst/>
          </a:prstGeom>
        </p:spPr>
        <p:txBody>
          <a:bodyPr>
            <a:spAutoFit/>
          </a:bodyPr>
          <a:lstStyle/>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步冷曲线</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：溶液在一定的环境中自行冷却，记录下温度随时间变化的曲线</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855104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71316" y="859812"/>
            <a:ext cx="2632365"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graphicFrame>
        <p:nvGraphicFramePr>
          <p:cNvPr id="6" name="Object 3"/>
          <p:cNvGraphicFramePr>
            <a:graphicFrameLocks noChangeAspect="1"/>
          </p:cNvGraphicFramePr>
          <p:nvPr/>
        </p:nvGraphicFramePr>
        <p:xfrm>
          <a:off x="7246363" y="1099637"/>
          <a:ext cx="3138487" cy="1260475"/>
        </p:xfrm>
        <a:graphic>
          <a:graphicData uri="http://schemas.openxmlformats.org/presentationml/2006/ole">
            <mc:AlternateContent xmlns:mc="http://schemas.openxmlformats.org/markup-compatibility/2006">
              <mc:Choice xmlns:v="urn:schemas-microsoft-com:vml" Requires="v">
                <p:oleObj spid="_x0000_s7209" name="Equation" r:id="rId3" imgW="1117115" imgH="444307" progId="Equation.DSMT4">
                  <p:embed/>
                </p:oleObj>
              </mc:Choice>
              <mc:Fallback>
                <p:oleObj name="Equation" r:id="rId3" imgW="1117115" imgH="444307" progId="Equation.DSMT4">
                  <p:embed/>
                  <p:pic>
                    <p:nvPicPr>
                      <p:cNvPr id="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6363" y="1099637"/>
                        <a:ext cx="3138487" cy="1260475"/>
                      </a:xfrm>
                      <a:prstGeom prst="rect">
                        <a:avLst/>
                      </a:prstGeom>
                      <a:noFill/>
                      <a:ln w="28575">
                        <a:solidFill>
                          <a:srgbClr val="0070C0"/>
                        </a:solidFill>
                      </a:ln>
                      <a:extLst/>
                    </p:spPr>
                  </p:pic>
                </p:oleObj>
              </mc:Fallback>
            </mc:AlternateContent>
          </a:graphicData>
        </a:graphic>
      </p:graphicFrame>
      <p:sp>
        <p:nvSpPr>
          <p:cNvPr id="9" name="矩形 8"/>
          <p:cNvSpPr/>
          <p:nvPr/>
        </p:nvSpPr>
        <p:spPr>
          <a:xfrm>
            <a:off x="6573212" y="2599805"/>
            <a:ext cx="4898353" cy="830997"/>
          </a:xfrm>
          <a:prstGeom prst="rect">
            <a:avLst/>
          </a:prstGeom>
        </p:spPr>
        <p:txBody>
          <a:bodyPr wrap="square">
            <a:spAutoFit/>
          </a:bodyPr>
          <a:lstStyle/>
          <a:p>
            <a:r>
              <a:rPr lang="zh-CN" altLang="zh-CN" sz="2400" dirty="0">
                <a:latin typeface="宋体" panose="02010600030101010101" pitchFamily="2" charset="-122"/>
                <a:ea typeface="宋体" panose="02010600030101010101" pitchFamily="2" charset="-122"/>
                <a:cs typeface="Times New Roman" pitchFamily="18" charset="0"/>
              </a:rPr>
              <a:t>纯</a:t>
            </a:r>
            <a:r>
              <a:rPr lang="zh-CN" altLang="en-US" sz="2400" dirty="0">
                <a:latin typeface="宋体" panose="02010600030101010101" pitchFamily="2" charset="-122"/>
                <a:ea typeface="宋体" panose="02010600030101010101" pitchFamily="2" charset="-122"/>
                <a:cs typeface="Times New Roman" pitchFamily="18" charset="0"/>
              </a:rPr>
              <a:t>溶剂的凝固点是它的液相和固相共存的平衡温度。</a:t>
            </a:r>
            <a:endParaRPr lang="zh-CN" altLang="en-US" sz="2400" dirty="0">
              <a:latin typeface="宋体" panose="02010600030101010101" pitchFamily="2" charset="-122"/>
              <a:ea typeface="宋体" panose="02010600030101010101" pitchFamily="2" charset="-122"/>
            </a:endParaRPr>
          </a:p>
        </p:txBody>
      </p:sp>
      <p:grpSp>
        <p:nvGrpSpPr>
          <p:cNvPr id="18" name="组合 17"/>
          <p:cNvGrpSpPr/>
          <p:nvPr/>
        </p:nvGrpSpPr>
        <p:grpSpPr>
          <a:xfrm>
            <a:off x="99469" y="2593155"/>
            <a:ext cx="6298251" cy="4141504"/>
            <a:chOff x="397654" y="2028387"/>
            <a:chExt cx="6298250" cy="4141504"/>
          </a:xfrm>
        </p:grpSpPr>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4033" y="2159721"/>
              <a:ext cx="5591871" cy="4010170"/>
            </a:xfrm>
            <a:prstGeom prst="rect">
              <a:avLst/>
            </a:prstGeom>
          </p:spPr>
        </p:pic>
        <p:sp>
          <p:nvSpPr>
            <p:cNvPr id="8" name="矩形 7"/>
            <p:cNvSpPr/>
            <p:nvPr/>
          </p:nvSpPr>
          <p:spPr>
            <a:xfrm>
              <a:off x="397654" y="3964771"/>
              <a:ext cx="1000595" cy="584775"/>
            </a:xfrm>
            <a:prstGeom prst="rect">
              <a:avLst/>
            </a:prstGeom>
          </p:spPr>
          <p:txBody>
            <a:bodyPr wrap="none">
              <a:spAutoFit/>
            </a:bodyPr>
            <a:lstStyle/>
            <a:p>
              <a:r>
                <a:rPr lang="zh-CN" altLang="en-US" sz="3200" dirty="0">
                  <a:latin typeface="Times New Roman" pitchFamily="18" charset="0"/>
                  <a:ea typeface="黑体" pitchFamily="2" charset="-122"/>
                  <a:cs typeface="Times New Roman" pitchFamily="18" charset="0"/>
                </a:rPr>
                <a:t>△</a:t>
              </a:r>
              <a:r>
                <a:rPr lang="en-US" altLang="zh-CN" sz="3200" i="1" dirty="0" err="1">
                  <a:latin typeface="Times New Roman" pitchFamily="18" charset="0"/>
                  <a:ea typeface="黑体" pitchFamily="2" charset="-122"/>
                  <a:cs typeface="Times New Roman" pitchFamily="18" charset="0"/>
                </a:rPr>
                <a:t>T</a:t>
              </a:r>
              <a:r>
                <a:rPr lang="en-US" altLang="zh-CN" sz="3200" i="1" baseline="-25000" dirty="0" err="1">
                  <a:latin typeface="Times New Roman" pitchFamily="18" charset="0"/>
                  <a:ea typeface="黑体" pitchFamily="2" charset="-122"/>
                  <a:cs typeface="Times New Roman" pitchFamily="18" charset="0"/>
                </a:rPr>
                <a:t>f</a:t>
              </a:r>
              <a:r>
                <a:rPr lang="zh-CN" altLang="en-US" sz="3200" i="1" dirty="0">
                  <a:latin typeface="Times New Roman" pitchFamily="18" charset="0"/>
                  <a:ea typeface="黑体" pitchFamily="2" charset="-122"/>
                  <a:cs typeface="Times New Roman" pitchFamily="18" charset="0"/>
                </a:rPr>
                <a:t> </a:t>
              </a:r>
              <a:endParaRPr lang="zh-CN" altLang="en-US" sz="3200" dirty="0"/>
            </a:p>
          </p:txBody>
        </p:sp>
        <p:sp>
          <p:nvSpPr>
            <p:cNvPr id="10" name="矩形 9"/>
            <p:cNvSpPr/>
            <p:nvPr/>
          </p:nvSpPr>
          <p:spPr>
            <a:xfrm>
              <a:off x="1509863" y="2551607"/>
              <a:ext cx="701849" cy="290708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474035" y="2028387"/>
              <a:ext cx="902811" cy="523220"/>
            </a:xfrm>
            <a:prstGeom prst="rect">
              <a:avLst/>
            </a:prstGeom>
            <a:noFill/>
          </p:spPr>
          <p:txBody>
            <a:bodyPr wrap="none" rtlCol="0">
              <a:spAutoFit/>
            </a:bodyPr>
            <a:lstStyle/>
            <a:p>
              <a:r>
                <a:rPr lang="zh-CN" altLang="en-US" sz="2800" dirty="0">
                  <a:solidFill>
                    <a:srgbClr val="C00000"/>
                  </a:solidFill>
                  <a:latin typeface="宋体" panose="02010600030101010101" pitchFamily="2" charset="-122"/>
                  <a:ea typeface="宋体" panose="02010600030101010101" pitchFamily="2" charset="-122"/>
                </a:rPr>
                <a:t>理想</a:t>
              </a:r>
            </a:p>
          </p:txBody>
        </p:sp>
        <p:sp>
          <p:nvSpPr>
            <p:cNvPr id="12" name="矩形 11"/>
            <p:cNvSpPr/>
            <p:nvPr/>
          </p:nvSpPr>
          <p:spPr>
            <a:xfrm>
              <a:off x="2225795" y="2551607"/>
              <a:ext cx="914570" cy="2907084"/>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287498" y="2037623"/>
              <a:ext cx="902811" cy="523220"/>
            </a:xfrm>
            <a:prstGeom prst="rect">
              <a:avLst/>
            </a:prstGeom>
            <a:noFill/>
          </p:spPr>
          <p:txBody>
            <a:bodyPr wrap="none" rtlCol="0">
              <a:spAutoFit/>
            </a:bodyPr>
            <a:lstStyle/>
            <a:p>
              <a:r>
                <a:rPr lang="zh-CN" altLang="en-US" sz="2800" dirty="0">
                  <a:solidFill>
                    <a:srgbClr val="0070C0"/>
                  </a:solidFill>
                  <a:latin typeface="宋体" panose="02010600030101010101" pitchFamily="2" charset="-122"/>
                  <a:ea typeface="宋体" panose="02010600030101010101" pitchFamily="2" charset="-122"/>
                </a:rPr>
                <a:t>过冷</a:t>
              </a:r>
            </a:p>
          </p:txBody>
        </p:sp>
        <p:sp>
          <p:nvSpPr>
            <p:cNvPr id="14" name="矩形 13"/>
            <p:cNvSpPr/>
            <p:nvPr/>
          </p:nvSpPr>
          <p:spPr>
            <a:xfrm>
              <a:off x="3204429" y="3149477"/>
              <a:ext cx="701849" cy="230921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132303" y="2626258"/>
              <a:ext cx="902811" cy="523220"/>
            </a:xfrm>
            <a:prstGeom prst="rect">
              <a:avLst/>
            </a:prstGeom>
            <a:noFill/>
          </p:spPr>
          <p:txBody>
            <a:bodyPr wrap="none" rtlCol="0">
              <a:spAutoFit/>
            </a:bodyPr>
            <a:lstStyle/>
            <a:p>
              <a:r>
                <a:rPr lang="zh-CN" altLang="en-US" sz="2800" dirty="0">
                  <a:solidFill>
                    <a:srgbClr val="C00000"/>
                  </a:solidFill>
                  <a:latin typeface="宋体" panose="02010600030101010101" pitchFamily="2" charset="-122"/>
                  <a:ea typeface="宋体" panose="02010600030101010101" pitchFamily="2" charset="-122"/>
                </a:rPr>
                <a:t>理想</a:t>
              </a:r>
            </a:p>
          </p:txBody>
        </p:sp>
        <p:sp>
          <p:nvSpPr>
            <p:cNvPr id="16" name="矩形 15"/>
            <p:cNvSpPr/>
            <p:nvPr/>
          </p:nvSpPr>
          <p:spPr>
            <a:xfrm>
              <a:off x="3976622" y="3144606"/>
              <a:ext cx="2128614" cy="2314084"/>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4503090" y="2621386"/>
              <a:ext cx="902811" cy="523220"/>
            </a:xfrm>
            <a:prstGeom prst="rect">
              <a:avLst/>
            </a:prstGeom>
            <a:noFill/>
          </p:spPr>
          <p:txBody>
            <a:bodyPr wrap="none" rtlCol="0">
              <a:spAutoFit/>
            </a:bodyPr>
            <a:lstStyle/>
            <a:p>
              <a:r>
                <a:rPr lang="zh-CN" altLang="en-US" sz="2800" dirty="0">
                  <a:solidFill>
                    <a:srgbClr val="0070C0"/>
                  </a:solidFill>
                  <a:latin typeface="宋体" panose="02010600030101010101" pitchFamily="2" charset="-122"/>
                  <a:ea typeface="宋体" panose="02010600030101010101" pitchFamily="2" charset="-122"/>
                </a:rPr>
                <a:t>过冷</a:t>
              </a:r>
            </a:p>
          </p:txBody>
        </p:sp>
      </p:grpSp>
      <p:sp>
        <p:nvSpPr>
          <p:cNvPr id="19" name="矩形 18"/>
          <p:cNvSpPr/>
          <p:nvPr/>
        </p:nvSpPr>
        <p:spPr>
          <a:xfrm>
            <a:off x="6573212" y="3583902"/>
            <a:ext cx="4898353" cy="1569660"/>
          </a:xfrm>
          <a:prstGeom prst="rect">
            <a:avLst/>
          </a:prstGeom>
        </p:spPr>
        <p:txBody>
          <a:bodyPr wrap="square">
            <a:spAutoFit/>
          </a:bodyPr>
          <a:lstStyle/>
          <a:p>
            <a:r>
              <a:rPr lang="zh-CN" altLang="en-US" sz="2400" dirty="0">
                <a:latin typeface="宋体" panose="02010600030101010101" pitchFamily="2" charset="-122"/>
                <a:ea typeface="宋体" panose="02010600030101010101" pitchFamily="2" charset="-122"/>
                <a:cs typeface="Times New Roman" pitchFamily="18" charset="0"/>
              </a:rPr>
              <a:t>溶液逐步冷却时，由于溶液冷却时有部分溶剂凝固而析出，剩余溶液的浓度逐渐增大，因而剩余溶液与溶剂固相的平衡温度也在逐渐下降。</a:t>
            </a:r>
          </a:p>
        </p:txBody>
      </p:sp>
      <p:sp>
        <p:nvSpPr>
          <p:cNvPr id="20" name="矩形 19"/>
          <p:cNvSpPr/>
          <p:nvPr/>
        </p:nvSpPr>
        <p:spPr>
          <a:xfrm>
            <a:off x="6609039" y="5306666"/>
            <a:ext cx="4677799" cy="830997"/>
          </a:xfrm>
          <a:prstGeom prst="rect">
            <a:avLst/>
          </a:prstGeom>
        </p:spPr>
        <p:txBody>
          <a:bodyPr wrap="square">
            <a:spAutoFit/>
          </a:bodyPr>
          <a:lstStyle/>
          <a:p>
            <a:r>
              <a:rPr lang="zh-CN" altLang="en-US" sz="2400" dirty="0">
                <a:solidFill>
                  <a:srgbClr val="C00000"/>
                </a:solidFill>
                <a:latin typeface="宋体" panose="02010600030101010101" pitchFamily="2" charset="-122"/>
                <a:ea typeface="宋体" panose="02010600030101010101" pitchFamily="2" charset="-122"/>
                <a:cs typeface="Times New Roman" pitchFamily="18" charset="0"/>
              </a:rPr>
              <a:t>凝固的溶剂过多，溶液的浓度变化过大，测得的凝固点将偏低。</a:t>
            </a:r>
            <a:endParaRPr lang="zh-CN" altLang="en-US" sz="2400" dirty="0">
              <a:solidFill>
                <a:srgbClr val="C00000"/>
              </a:solidFill>
              <a:latin typeface="宋体" panose="02010600030101010101" pitchFamily="2" charset="-122"/>
              <a:ea typeface="宋体" panose="02010600030101010101" pitchFamily="2" charset="-122"/>
            </a:endParaRPr>
          </a:p>
        </p:txBody>
      </p:sp>
      <p:sp>
        <p:nvSpPr>
          <p:cNvPr id="22" name="矩形 21"/>
          <p:cNvSpPr/>
          <p:nvPr/>
        </p:nvSpPr>
        <p:spPr>
          <a:xfrm>
            <a:off x="555680" y="1619142"/>
            <a:ext cx="6096000" cy="830997"/>
          </a:xfrm>
          <a:prstGeom prst="rect">
            <a:avLst/>
          </a:prstGeom>
        </p:spPr>
        <p:txBody>
          <a:bodyPr>
            <a:spAutoFit/>
          </a:bodyPr>
          <a:lstStyle/>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步冷曲线</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：溶液在一定的环境中自行冷却，记录下温度随时间变化的曲线</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779476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51344" y="1026096"/>
            <a:ext cx="2632365"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sp>
        <p:nvSpPr>
          <p:cNvPr id="6" name="矩形 5"/>
          <p:cNvSpPr/>
          <p:nvPr/>
        </p:nvSpPr>
        <p:spPr>
          <a:xfrm>
            <a:off x="951346" y="1820730"/>
            <a:ext cx="9664311" cy="1015663"/>
          </a:xfrm>
          <a:prstGeom prst="rect">
            <a:avLst/>
          </a:prstGeom>
        </p:spPr>
        <p:txBody>
          <a:bodyPr wrap="square">
            <a:spAutoFit/>
          </a:bodyPr>
          <a:lstStyle/>
          <a:p>
            <a:r>
              <a:rPr lang="zh-CN" altLang="zh-CN" sz="32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过冷</a:t>
            </a:r>
            <a:r>
              <a:rPr lang="zh-CN" altLang="en-US" sz="32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8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由于溶解在溶液中的溶质在温度降到凝固点以后，没有晶体析出而达到过饱和状态的现象</a:t>
            </a:r>
            <a:r>
              <a:rPr lang="zh-CN" altLang="en-US" sz="28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dirty="0"/>
          </a:p>
        </p:txBody>
      </p:sp>
      <p:pic>
        <p:nvPicPr>
          <p:cNvPr id="18" name="图片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909" y="3030862"/>
            <a:ext cx="5943600" cy="2476500"/>
          </a:xfrm>
          <a:prstGeom prst="rect">
            <a:avLst/>
          </a:prstGeom>
        </p:spPr>
      </p:pic>
      <p:sp>
        <p:nvSpPr>
          <p:cNvPr id="19" name="矩形 18"/>
          <p:cNvSpPr/>
          <p:nvPr/>
        </p:nvSpPr>
        <p:spPr>
          <a:xfrm>
            <a:off x="6787559" y="4982638"/>
            <a:ext cx="3772564" cy="830997"/>
          </a:xfrm>
          <a:prstGeom prst="rect">
            <a:avLst/>
          </a:prstGeom>
        </p:spPr>
        <p:txBody>
          <a:bodyPr wrap="square">
            <a:spAutoFit/>
          </a:bodyPr>
          <a:lstStyle/>
          <a:p>
            <a:r>
              <a:rPr lang="zh-CN" altLang="en-US" sz="2400" dirty="0">
                <a:latin typeface="宋体" panose="02010600030101010101" pitchFamily="2" charset="-122"/>
                <a:ea typeface="宋体" panose="02010600030101010101" pitchFamily="2" charset="-122"/>
                <a:cs typeface="Times New Roman" pitchFamily="18" charset="0"/>
              </a:rPr>
              <a:t>开始析出固体时，放出的凝固热使体系的温度回升</a:t>
            </a:r>
            <a:endParaRPr lang="zh-CN" altLang="en-US" sz="2400" dirty="0">
              <a:latin typeface="宋体" panose="02010600030101010101" pitchFamily="2" charset="-122"/>
              <a:ea typeface="宋体" panose="02010600030101010101" pitchFamily="2" charset="-122"/>
            </a:endParaRPr>
          </a:p>
        </p:txBody>
      </p:sp>
      <p:sp>
        <p:nvSpPr>
          <p:cNvPr id="20" name="矩形 19"/>
          <p:cNvSpPr/>
          <p:nvPr/>
        </p:nvSpPr>
        <p:spPr>
          <a:xfrm>
            <a:off x="6787561" y="3030861"/>
            <a:ext cx="4643559" cy="1200329"/>
          </a:xfrm>
          <a:prstGeom prst="rect">
            <a:avLst/>
          </a:prstGeom>
        </p:spPr>
        <p:txBody>
          <a:bodyPr wrap="square">
            <a:spAutoFit/>
          </a:bodyPr>
          <a:lstStyle/>
          <a:p>
            <a:r>
              <a:rPr lang="zh-CN" altLang="zh-CN" sz="24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结晶出的微小晶粒的饱和蒸气压大于同温度下普通晶体的饱和蒸气压，所以往往产生过冷现象</a:t>
            </a:r>
            <a:r>
              <a:rPr lang="zh-CN" altLang="en-US" sz="2400" dirty="0">
                <a:solidFill>
                  <a:srgbClr val="333333"/>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p>
        </p:txBody>
      </p:sp>
      <p:sp>
        <p:nvSpPr>
          <p:cNvPr id="21" name="矩形 20"/>
          <p:cNvSpPr/>
          <p:nvPr/>
        </p:nvSpPr>
        <p:spPr>
          <a:xfrm>
            <a:off x="6787561" y="4376082"/>
            <a:ext cx="3877985" cy="461665"/>
          </a:xfrm>
          <a:prstGeom prst="rect">
            <a:avLst/>
          </a:prstGeom>
        </p:spPr>
        <p:txBody>
          <a:bodyPr wrap="none">
            <a:spAutoFit/>
          </a:bodyPr>
          <a:lstStyle/>
          <a:p>
            <a:r>
              <a:rPr lang="zh-CN"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降温过快</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溶液中</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没有晶核</a:t>
            </a:r>
            <a:endParaRPr lang="zh-CN" altLang="en-US" sz="2400" dirty="0">
              <a:solidFill>
                <a:srgbClr val="C00000"/>
              </a:solidFill>
            </a:endParaRPr>
          </a:p>
        </p:txBody>
      </p:sp>
    </p:spTree>
    <p:extLst>
      <p:ext uri="{BB962C8B-B14F-4D97-AF65-F5344CB8AC3E}">
        <p14:creationId xmlns:p14="http://schemas.microsoft.com/office/powerpoint/2010/main" val="38946766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42108" y="933733"/>
            <a:ext cx="2632365"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实验步骤</a:t>
            </a:r>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198" t="-7268" r="-198" b="7268"/>
          <a:stretch/>
        </p:blipFill>
        <p:spPr>
          <a:xfrm>
            <a:off x="6055065" y="1"/>
            <a:ext cx="4659120" cy="5591937"/>
          </a:xfrm>
          <a:prstGeom prst="rect">
            <a:avLst/>
          </a:prstGeom>
        </p:spPr>
      </p:pic>
      <p:sp>
        <p:nvSpPr>
          <p:cNvPr id="7" name="矩形 6"/>
          <p:cNvSpPr/>
          <p:nvPr/>
        </p:nvSpPr>
        <p:spPr>
          <a:xfrm>
            <a:off x="1306086" y="1802295"/>
            <a:ext cx="3416320" cy="4524315"/>
          </a:xfrm>
          <a:prstGeom prst="rect">
            <a:avLst/>
          </a:prstGeom>
        </p:spPr>
        <p:txBody>
          <a:bodyPr wrap="non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、仪器安装</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、调节冰水浴的温度</a:t>
            </a: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、环己烷凝固点测定</a:t>
            </a:r>
          </a:p>
          <a:p>
            <a:pPr indent="304792"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凝固点的粗测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凝固点的测定</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、溶液凝固点的测定</a:t>
            </a:r>
          </a:p>
          <a:p>
            <a:pPr indent="304792"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凝固点的粗测</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凝固点的测定</a:t>
            </a:r>
          </a:p>
        </p:txBody>
      </p:sp>
      <p:sp>
        <p:nvSpPr>
          <p:cNvPr id="8" name="矩形 7"/>
          <p:cNvSpPr/>
          <p:nvPr/>
        </p:nvSpPr>
        <p:spPr>
          <a:xfrm>
            <a:off x="7023028" y="5750362"/>
            <a:ext cx="2339102" cy="646331"/>
          </a:xfrm>
          <a:prstGeom prst="rect">
            <a:avLst/>
          </a:prstGeom>
        </p:spPr>
        <p:txBody>
          <a:bodyPr wrap="none">
            <a:spAutoFit/>
          </a:bodyPr>
          <a:lstStyle/>
          <a:p>
            <a:pPr indent="304792" eaLnBrk="0" hangingPunct="0">
              <a:lnSpc>
                <a:spcPct val="150000"/>
              </a:lnSpc>
            </a:pP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萘溶于环己烷</a:t>
            </a:r>
          </a:p>
        </p:txBody>
      </p:sp>
    </p:spTree>
    <p:extLst>
      <p:ext uri="{BB962C8B-B14F-4D97-AF65-F5344CB8AC3E}">
        <p14:creationId xmlns:p14="http://schemas.microsoft.com/office/powerpoint/2010/main" val="1034455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42108" y="933733"/>
            <a:ext cx="3565237"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实验数据记录</a:t>
            </a:r>
          </a:p>
        </p:txBody>
      </p:sp>
      <p:graphicFrame>
        <p:nvGraphicFramePr>
          <p:cNvPr id="6" name="Object 3"/>
          <p:cNvGraphicFramePr>
            <a:graphicFrameLocks noChangeAspect="1"/>
          </p:cNvGraphicFramePr>
          <p:nvPr>
            <p:extLst>
              <p:ext uri="{D42A27DB-BD31-4B8C-83A1-F6EECF244321}">
                <p14:modId xmlns:p14="http://schemas.microsoft.com/office/powerpoint/2010/main" val="2430182464"/>
              </p:ext>
            </p:extLst>
          </p:nvPr>
        </p:nvGraphicFramePr>
        <p:xfrm>
          <a:off x="7246363" y="1099637"/>
          <a:ext cx="3138487" cy="1260475"/>
        </p:xfrm>
        <a:graphic>
          <a:graphicData uri="http://schemas.openxmlformats.org/presentationml/2006/ole">
            <mc:AlternateContent xmlns:mc="http://schemas.openxmlformats.org/markup-compatibility/2006">
              <mc:Choice xmlns:v="urn:schemas-microsoft-com:vml" Requires="v">
                <p:oleObj spid="_x0000_s3237" name="Equation" r:id="rId3" imgW="1117115" imgH="444307" progId="Equation.DSMT4">
                  <p:embed/>
                </p:oleObj>
              </mc:Choice>
              <mc:Fallback>
                <p:oleObj name="Equation" r:id="rId3" imgW="1117115" imgH="444307" progId="Equation.DSMT4">
                  <p:embed/>
                  <p:pic>
                    <p:nvPicPr>
                      <p:cNvPr id="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6363" y="1099637"/>
                        <a:ext cx="3138487" cy="1260475"/>
                      </a:xfrm>
                      <a:prstGeom prst="rect">
                        <a:avLst/>
                      </a:prstGeom>
                      <a:noFill/>
                      <a:ln w="28575">
                        <a:solidFill>
                          <a:srgbClr val="0070C0"/>
                        </a:solidFill>
                      </a:ln>
                      <a:extLst/>
                    </p:spPr>
                  </p:pic>
                </p:oleObj>
              </mc:Fallback>
            </mc:AlternateContent>
          </a:graphicData>
        </a:graphic>
      </p:graphicFrame>
      <p:sp>
        <p:nvSpPr>
          <p:cNvPr id="7" name="矩形 6"/>
          <p:cNvSpPr/>
          <p:nvPr/>
        </p:nvSpPr>
        <p:spPr>
          <a:xfrm>
            <a:off x="1468582" y="2094708"/>
            <a:ext cx="4535055" cy="3416320"/>
          </a:xfrm>
          <a:prstGeom prst="rect">
            <a:avLst/>
          </a:prstGeom>
        </p:spPr>
        <p:txBody>
          <a:bodyPr wrap="squar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、环己烷体积</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、环己烷的近似凝固点</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、环己烷的步冷曲线</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、萘的质量</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、溶液的近似凝固点</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、溶液的步冷曲线</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84237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42108" y="933733"/>
            <a:ext cx="3565237"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实验数据分析</a:t>
            </a:r>
          </a:p>
        </p:txBody>
      </p:sp>
      <p:sp>
        <p:nvSpPr>
          <p:cNvPr id="7" name="矩形 6"/>
          <p:cNvSpPr/>
          <p:nvPr/>
        </p:nvSpPr>
        <p:spPr>
          <a:xfrm>
            <a:off x="1126838" y="2344093"/>
            <a:ext cx="10002983" cy="3970318"/>
          </a:xfrm>
          <a:prstGeom prst="rect">
            <a:avLst/>
          </a:prstGeom>
        </p:spPr>
        <p:txBody>
          <a:bodyPr wrap="squar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、用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/g·cm</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=0.7971-0.8879×10</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计算室温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时环己烷密度，然后算出所取的环己烷质量</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W</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、根据电脑数据绘制纯溶剂、溶液的步冷曲线，由步冷曲线确定纯溶剂、溶液凝固点</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、计算萘的摩尔质量，并判断萘在环己烷中的存在形式。</a:t>
            </a: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、萘摩尔质量的</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相对误差</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indent="304792" eaLnBrk="0" hangingPunct="0">
              <a:lnSpc>
                <a:spcPct val="150000"/>
              </a:lnSpc>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4116912118"/>
              </p:ext>
            </p:extLst>
          </p:nvPr>
        </p:nvGraphicFramePr>
        <p:xfrm>
          <a:off x="2375476" y="2484777"/>
          <a:ext cx="349251" cy="431800"/>
        </p:xfrm>
        <a:graphic>
          <a:graphicData uri="http://schemas.openxmlformats.org/presentationml/2006/ole">
            <mc:AlternateContent xmlns:mc="http://schemas.openxmlformats.org/markup-compatibility/2006">
              <mc:Choice xmlns:v="urn:schemas-microsoft-com:vml" Requires="v">
                <p:oleObj spid="_x0000_s4403" name="Equation" r:id="rId3" imgW="177646" imgH="228402" progId="Equation.DSMT4">
                  <p:embed/>
                </p:oleObj>
              </mc:Choice>
              <mc:Fallback>
                <p:oleObj name="Equation" r:id="rId3" imgW="177646" imgH="228402" progId="Equation.DSMT4">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5476" y="2484777"/>
                        <a:ext cx="349251"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3881080051"/>
              </p:ext>
            </p:extLst>
          </p:nvPr>
        </p:nvGraphicFramePr>
        <p:xfrm>
          <a:off x="7246363" y="1099637"/>
          <a:ext cx="3138487" cy="1260475"/>
        </p:xfrm>
        <a:graphic>
          <a:graphicData uri="http://schemas.openxmlformats.org/presentationml/2006/ole">
            <mc:AlternateContent xmlns:mc="http://schemas.openxmlformats.org/markup-compatibility/2006">
              <mc:Choice xmlns:v="urn:schemas-microsoft-com:vml" Requires="v">
                <p:oleObj spid="_x0000_s4404" name="Equation" r:id="rId5" imgW="1117115" imgH="444307" progId="Equation.DSMT4">
                  <p:embed/>
                </p:oleObj>
              </mc:Choice>
              <mc:Fallback>
                <p:oleObj name="Equation" r:id="rId5" imgW="1117115" imgH="444307" progId="Equation.DSMT4">
                  <p:embed/>
                  <p:pic>
                    <p:nvPicPr>
                      <p:cNvPr id="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46363" y="1099637"/>
                        <a:ext cx="3138487" cy="1260475"/>
                      </a:xfrm>
                      <a:prstGeom prst="rect">
                        <a:avLst/>
                      </a:prstGeom>
                      <a:noFill/>
                      <a:ln w="28575">
                        <a:solidFill>
                          <a:srgbClr val="0070C0"/>
                        </a:solidFill>
                      </a:ln>
                      <a:extLst/>
                    </p:spPr>
                  </p:pic>
                </p:oleObj>
              </mc:Fallback>
            </mc:AlternateContent>
          </a:graphicData>
        </a:graphic>
      </p:graphicFrame>
    </p:spTree>
    <p:extLst>
      <p:ext uri="{BB962C8B-B14F-4D97-AF65-F5344CB8AC3E}">
        <p14:creationId xmlns:p14="http://schemas.microsoft.com/office/powerpoint/2010/main" val="2136450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4512774"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凝固点降低法测相对分子量</a:t>
            </a:r>
          </a:p>
        </p:txBody>
      </p:sp>
      <p:sp>
        <p:nvSpPr>
          <p:cNvPr id="5" name="矩形 4"/>
          <p:cNvSpPr/>
          <p:nvPr/>
        </p:nvSpPr>
        <p:spPr>
          <a:xfrm>
            <a:off x="942108" y="933734"/>
            <a:ext cx="3565237"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注意事项</a:t>
            </a:r>
          </a:p>
        </p:txBody>
      </p:sp>
      <p:sp>
        <p:nvSpPr>
          <p:cNvPr id="6" name="矩形 5"/>
          <p:cNvSpPr/>
          <p:nvPr/>
        </p:nvSpPr>
        <p:spPr>
          <a:xfrm>
            <a:off x="1080656" y="1737641"/>
            <a:ext cx="10409381" cy="3970318"/>
          </a:xfrm>
          <a:prstGeom prst="rect">
            <a:avLst/>
          </a:prstGeom>
        </p:spPr>
        <p:txBody>
          <a:bodyPr wrap="squar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、冰水浴的温度。过高导致冷却太慢，过低则导致平衡难以维持。</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控制过冷度和搅拌速度</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实验成功的关键。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179996"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凝固点的确定较为困难。先测一个近似凝固点，精确测量时，在接近近似凝固点时，降温速率要减慢，到凝固点时快速搅拌。</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179996"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对于溶液更加难以控制。溶液浓度会随着溶剂的析出而不断变化。测定时析出的固体越少，测得的凝固点才越准确。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、溶剂，溶质的纯度。</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942109" y="5774355"/>
            <a:ext cx="4137671" cy="830997"/>
          </a:xfrm>
          <a:prstGeom prst="rect">
            <a:avLst/>
          </a:prstGeom>
        </p:spPr>
        <p:txBody>
          <a:bodyPr wrap="non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思考与讨论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教材</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P28</a:t>
            </a:r>
          </a:p>
        </p:txBody>
      </p:sp>
    </p:spTree>
    <p:extLst>
      <p:ext uri="{BB962C8B-B14F-4D97-AF65-F5344CB8AC3E}">
        <p14:creationId xmlns:p14="http://schemas.microsoft.com/office/powerpoint/2010/main" val="377752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16699" y="1286226"/>
            <a:ext cx="2964273" cy="646331"/>
          </a:xfrm>
          <a:prstGeom prst="rect">
            <a:avLst/>
          </a:prstGeom>
          <a:solidFill>
            <a:schemeClr val="accent1">
              <a:lumMod val="20000"/>
              <a:lumOff val="80000"/>
            </a:schemeClr>
          </a:solidFill>
        </p:spPr>
        <p:txBody>
          <a:bodyPr wrap="none">
            <a:spAutoFit/>
          </a:bodyPr>
          <a:lstStyle/>
          <a:p>
            <a:r>
              <a:rPr lang="zh-CN" altLang="en-US" sz="3600" b="1" dirty="0">
                <a:latin typeface="宋体" panose="02010600030101010101" pitchFamily="2" charset="-122"/>
                <a:ea typeface="宋体" panose="02010600030101010101" pitchFamily="2" charset="-122"/>
              </a:rPr>
              <a:t>金属相图测定</a:t>
            </a:r>
          </a:p>
        </p:txBody>
      </p:sp>
      <p:sp>
        <p:nvSpPr>
          <p:cNvPr id="5" name="矩形 4"/>
          <p:cNvSpPr/>
          <p:nvPr/>
        </p:nvSpPr>
        <p:spPr>
          <a:xfrm>
            <a:off x="1524001" y="2274748"/>
            <a:ext cx="8349673" cy="2769989"/>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实验目的</a:t>
            </a:r>
          </a:p>
          <a:p>
            <a:pPr indent="304792" eaLnBrk="0" hangingPunct="0">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、用热分析法测绘</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Sn-Bi</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二元低共熔体系的相图。</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、掌握热分析法的测量技术。</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、学习步冷曲线绘制相图的方法。</a:t>
            </a:r>
            <a:endParaRPr lang="zh-CN" altLang="en-US" dirty="0">
              <a:latin typeface="宋体" panose="02010600030101010101" pitchFamily="2" charset="-122"/>
              <a:ea typeface="宋体" panose="02010600030101010101" pitchFamily="2" charset="-122"/>
              <a:cs typeface="Times New Roman" pitchFamily="18" charset="0"/>
            </a:endParaRPr>
          </a:p>
        </p:txBody>
      </p:sp>
    </p:spTree>
    <p:extLst>
      <p:ext uri="{BB962C8B-B14F-4D97-AF65-F5344CB8AC3E}">
        <p14:creationId xmlns:p14="http://schemas.microsoft.com/office/powerpoint/2010/main" val="26550797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5" name="矩形 4"/>
          <p:cNvSpPr/>
          <p:nvPr/>
        </p:nvSpPr>
        <p:spPr>
          <a:xfrm>
            <a:off x="958041" y="870863"/>
            <a:ext cx="2604656"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sp>
        <p:nvSpPr>
          <p:cNvPr id="6" name="矩形 5"/>
          <p:cNvSpPr/>
          <p:nvPr/>
        </p:nvSpPr>
        <p:spPr>
          <a:xfrm>
            <a:off x="794819" y="1746839"/>
            <a:ext cx="10575144" cy="1938992"/>
          </a:xfrm>
          <a:prstGeom prst="rect">
            <a:avLst/>
          </a:prstGeom>
        </p:spPr>
        <p:txBody>
          <a:bodyPr wrap="square">
            <a:spAutoFit/>
          </a:bodyPr>
          <a:lstStyle/>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较为简单的二组分金属相图主要有三种；</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匀晶相图</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液相完全互溶，固相也能完全互溶成固熔体的系统。</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Cu</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系统</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包晶相图</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：液相完全互溶而固相发生相转换的系统。</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Cd</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系统</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共晶相图</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：液相完全互溶，固相部分也互溶的系统。</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Pb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系统</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本实验研究的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系统属于</a:t>
            </a:r>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共晶相图</a:t>
            </a:r>
            <a:endParaRPr lang="en-US" altLang="zh-CN"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2111" r="15674" b="15807"/>
          <a:stretch/>
        </p:blipFill>
        <p:spPr>
          <a:xfrm>
            <a:off x="7780684" y="3778077"/>
            <a:ext cx="3048000" cy="2529095"/>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6831" y="3834077"/>
            <a:ext cx="3657600" cy="2510243"/>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820" y="3775788"/>
            <a:ext cx="2931101" cy="2570128"/>
          </a:xfrm>
          <a:prstGeom prst="rect">
            <a:avLst/>
          </a:prstGeom>
        </p:spPr>
      </p:pic>
    </p:spTree>
    <p:extLst>
      <p:ext uri="{BB962C8B-B14F-4D97-AF65-F5344CB8AC3E}">
        <p14:creationId xmlns:p14="http://schemas.microsoft.com/office/powerpoint/2010/main" val="35606216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6" name="矩形 5"/>
          <p:cNvSpPr/>
          <p:nvPr/>
        </p:nvSpPr>
        <p:spPr>
          <a:xfrm>
            <a:off x="951346" y="1773966"/>
            <a:ext cx="9947564" cy="1938992"/>
          </a:xfrm>
          <a:prstGeom prst="rect">
            <a:avLst/>
          </a:prstGeom>
        </p:spPr>
        <p:txBody>
          <a:bodyPr wrap="square">
            <a:spAutoFit/>
          </a:bodyPr>
          <a:lstStyle/>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热分析法（步冷曲线法）</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是绘制凝聚体系相图时常用的方法。</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金属或合金全部熔化，让其在一定的环境中自行冷却，记录下温度随时间变化的曲线。</a:t>
            </a: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金属及合金在冷却过程中发生相变时，步冷曲线上会出现平台或拐点，从而得到金属或合金的相转变行为。</a:t>
            </a:r>
          </a:p>
        </p:txBody>
      </p:sp>
      <p:sp>
        <p:nvSpPr>
          <p:cNvPr id="9" name="矩形 8"/>
          <p:cNvSpPr/>
          <p:nvPr/>
        </p:nvSpPr>
        <p:spPr>
          <a:xfrm>
            <a:off x="958041" y="870863"/>
            <a:ext cx="2604656"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spTree>
    <p:extLst>
      <p:ext uri="{BB962C8B-B14F-4D97-AF65-F5344CB8AC3E}">
        <p14:creationId xmlns:p14="http://schemas.microsoft.com/office/powerpoint/2010/main" val="3748234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6" name="矩形 5"/>
          <p:cNvSpPr/>
          <p:nvPr/>
        </p:nvSpPr>
        <p:spPr>
          <a:xfrm>
            <a:off x="951346" y="1773966"/>
            <a:ext cx="9947564" cy="1938992"/>
          </a:xfrm>
          <a:prstGeom prst="rect">
            <a:avLst/>
          </a:prstGeom>
        </p:spPr>
        <p:txBody>
          <a:bodyPr wrap="square">
            <a:spAutoFit/>
          </a:bodyPr>
          <a:lstStyle/>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热分析法（步冷曲线法）</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是绘制凝聚体系相图时常用的方法。</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金属或合金全部熔化，让其在一定的环境中自行冷却，记录下温度随时间变化的曲线。</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金属及合金在冷却过程中发生相变时，步冷曲线上会出现平台或拐点，从而得到金属或合金的相转变行为。</a:t>
            </a:r>
          </a:p>
        </p:txBody>
      </p:sp>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b="17607"/>
          <a:stretch/>
        </p:blipFill>
        <p:spPr>
          <a:xfrm>
            <a:off x="797379" y="3712957"/>
            <a:ext cx="4998440" cy="2997379"/>
          </a:xfrm>
          <a:prstGeom prst="rect">
            <a:avLst/>
          </a:prstGeom>
        </p:spPr>
      </p:pic>
      <p:sp>
        <p:nvSpPr>
          <p:cNvPr id="9" name="矩形 8"/>
          <p:cNvSpPr/>
          <p:nvPr/>
        </p:nvSpPr>
        <p:spPr>
          <a:xfrm>
            <a:off x="958041" y="870863"/>
            <a:ext cx="2604656"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spTree>
    <p:extLst>
      <p:ext uri="{BB962C8B-B14F-4D97-AF65-F5344CB8AC3E}">
        <p14:creationId xmlns:p14="http://schemas.microsoft.com/office/powerpoint/2010/main" val="1062530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6" name="矩形 5"/>
          <p:cNvSpPr/>
          <p:nvPr/>
        </p:nvSpPr>
        <p:spPr>
          <a:xfrm>
            <a:off x="951346" y="1773966"/>
            <a:ext cx="9947564" cy="1938992"/>
          </a:xfrm>
          <a:prstGeom prst="rect">
            <a:avLst/>
          </a:prstGeom>
        </p:spPr>
        <p:txBody>
          <a:bodyPr wrap="square">
            <a:spAutoFit/>
          </a:bodyPr>
          <a:lstStyle/>
          <a:p>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热分析法（步冷曲线法）</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是绘制凝聚体系相图时常用的方法。</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金属或合金全部熔化，让其在一定的环境中自行冷却，记录下温度随时间变化的曲线。</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金属及合金在冷却过程中发生相变时，步冷曲线上会出现平台或拐点，从而得到金属或合金的相转变行为。</a:t>
            </a:r>
          </a:p>
        </p:txBody>
      </p:sp>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b="17607"/>
          <a:stretch/>
        </p:blipFill>
        <p:spPr>
          <a:xfrm>
            <a:off x="797379" y="3712957"/>
            <a:ext cx="4998440" cy="2997379"/>
          </a:xfrm>
          <a:prstGeom prst="rect">
            <a:avLst/>
          </a:prstGeom>
        </p:spPr>
      </p:pic>
      <p:sp>
        <p:nvSpPr>
          <p:cNvPr id="8" name="矩形 7"/>
          <p:cNvSpPr/>
          <p:nvPr/>
        </p:nvSpPr>
        <p:spPr>
          <a:xfrm>
            <a:off x="5176983" y="4082290"/>
            <a:ext cx="5435600" cy="1569660"/>
          </a:xfrm>
          <a:prstGeom prst="rect">
            <a:avLst/>
          </a:prstGeom>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：液相系统均匀冷却</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：发生相变（一相凝固析出）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：以共熔物开始析出，温度保持不变</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：固相系统冷却</a:t>
            </a:r>
          </a:p>
        </p:txBody>
      </p:sp>
      <p:sp>
        <p:nvSpPr>
          <p:cNvPr id="9" name="矩形 8"/>
          <p:cNvSpPr/>
          <p:nvPr/>
        </p:nvSpPr>
        <p:spPr>
          <a:xfrm>
            <a:off x="958041" y="870863"/>
            <a:ext cx="2604656"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spTree>
    <p:extLst>
      <p:ext uri="{BB962C8B-B14F-4D97-AF65-F5344CB8AC3E}">
        <p14:creationId xmlns:p14="http://schemas.microsoft.com/office/powerpoint/2010/main" val="3127506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051" y="1857092"/>
            <a:ext cx="7839840" cy="3441067"/>
          </a:xfrm>
          <a:prstGeom prst="rect">
            <a:avLst/>
          </a:prstGeom>
        </p:spPr>
      </p:pic>
      <p:sp>
        <p:nvSpPr>
          <p:cNvPr id="3" name="矩形 2"/>
          <p:cNvSpPr/>
          <p:nvPr/>
        </p:nvSpPr>
        <p:spPr>
          <a:xfrm>
            <a:off x="1819564" y="5319983"/>
            <a:ext cx="8691419" cy="830997"/>
          </a:xfrm>
          <a:prstGeom prst="rect">
            <a:avLst/>
          </a:prstGeom>
        </p:spPr>
        <p:txBody>
          <a:bodyPr wrap="square">
            <a:spAutoFit/>
          </a:bodyPr>
          <a:lstStyle/>
          <a:p>
            <a:r>
              <a:rPr lang="en-US" altLang="zh-CN"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宋体" panose="02010600030101010101" pitchFamily="2" charset="-122"/>
                <a:ea typeface="宋体" panose="02010600030101010101" pitchFamily="2" charset="-122"/>
              </a:rPr>
              <a:t>低共熔点。适当比例混合，在某一温度下两个固体组分可同时熔化，且这个温度通常低于每一纯组分的温度</a:t>
            </a:r>
            <a:r>
              <a:rPr lang="zh-CN" altLang="en-US" dirty="0"/>
              <a:t>。</a:t>
            </a:r>
          </a:p>
        </p:txBody>
      </p:sp>
      <p:sp>
        <p:nvSpPr>
          <p:cNvPr id="8" name="文本框 7"/>
          <p:cNvSpPr txBox="1"/>
          <p:nvPr/>
        </p:nvSpPr>
        <p:spPr>
          <a:xfrm>
            <a:off x="8290230" y="3519936"/>
            <a:ext cx="423514" cy="523220"/>
          </a:xfrm>
          <a:prstGeom prst="rect">
            <a:avLst/>
          </a:prstGeom>
          <a:noFill/>
        </p:spPr>
        <p:txBody>
          <a:bodyPr wrap="none" rtlCol="0">
            <a:spAutoFit/>
          </a:bodyPr>
          <a:lstStyle/>
          <a:p>
            <a:r>
              <a:rPr lang="en-US" altLang="zh-CN" sz="2800" b="1" dirty="0">
                <a:solidFill>
                  <a:srgbClr val="C00000"/>
                </a:solidFill>
                <a:latin typeface="Times New Roman" panose="02020603050405020304" pitchFamily="18" charset="0"/>
                <a:cs typeface="Times New Roman" panose="02020603050405020304" pitchFamily="18" charset="0"/>
              </a:rPr>
              <a:t>E</a:t>
            </a:r>
            <a:endParaRPr lang="zh-CN" altLang="en-US" sz="2800" b="1" dirty="0">
              <a:solidFill>
                <a:srgbClr val="C00000"/>
              </a:solidFill>
              <a:latin typeface="Times New Roman" panose="02020603050405020304" pitchFamily="18" charset="0"/>
              <a:cs typeface="Times New Roman" panose="02020603050405020304" pitchFamily="18" charset="0"/>
            </a:endParaRPr>
          </a:p>
        </p:txBody>
      </p:sp>
      <p:sp>
        <p:nvSpPr>
          <p:cNvPr id="9" name="矩形 8"/>
          <p:cNvSpPr/>
          <p:nvPr/>
        </p:nvSpPr>
        <p:spPr>
          <a:xfrm>
            <a:off x="958041" y="870863"/>
            <a:ext cx="2604656"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基本原理</a:t>
            </a:r>
          </a:p>
        </p:txBody>
      </p:sp>
    </p:spTree>
    <p:extLst>
      <p:ext uri="{BB962C8B-B14F-4D97-AF65-F5344CB8AC3E}">
        <p14:creationId xmlns:p14="http://schemas.microsoft.com/office/powerpoint/2010/main" val="125151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42108" y="933733"/>
            <a:ext cx="2632365"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实验步骤</a:t>
            </a:r>
          </a:p>
        </p:txBody>
      </p:sp>
      <p:sp>
        <p:nvSpPr>
          <p:cNvPr id="7" name="矩形 6"/>
          <p:cNvSpPr/>
          <p:nvPr/>
        </p:nvSpPr>
        <p:spPr>
          <a:xfrm>
            <a:off x="604121" y="1600297"/>
            <a:ext cx="6101979" cy="4524315"/>
          </a:xfrm>
          <a:prstGeom prst="rect">
            <a:avLst/>
          </a:prstGeom>
        </p:spPr>
        <p:txBody>
          <a:bodyPr wrap="squar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、样品准备</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59991"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：纯</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：质量分数为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80%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57% 30%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Bi-Sn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混合物，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：纯</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359991"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样品上面封入少量硅油，防止氧化。</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、仪器连接</a:t>
            </a: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、加热至</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330</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o</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左右 （高于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Bi</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熔点）</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、开始冷却并记录步冷曲线</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、根据步冷曲线绘制金属相图</a:t>
            </a:r>
          </a:p>
        </p:txBody>
      </p:sp>
      <p:sp>
        <p:nvSpPr>
          <p:cNvPr id="9" name="矩形 8"/>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06100" y="785090"/>
            <a:ext cx="3869536" cy="5159381"/>
          </a:xfrm>
          <a:prstGeom prst="rect">
            <a:avLst/>
          </a:prstGeom>
        </p:spPr>
      </p:pic>
    </p:spTree>
    <p:extLst>
      <p:ext uri="{BB962C8B-B14F-4D97-AF65-F5344CB8AC3E}">
        <p14:creationId xmlns:p14="http://schemas.microsoft.com/office/powerpoint/2010/main" val="40416435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5" name="矩形 4"/>
          <p:cNvSpPr/>
          <p:nvPr/>
        </p:nvSpPr>
        <p:spPr>
          <a:xfrm>
            <a:off x="489527" y="1083071"/>
            <a:ext cx="11203709" cy="461665"/>
          </a:xfrm>
          <a:prstGeom prst="rect">
            <a:avLst/>
          </a:prstGeom>
        </p:spPr>
        <p:txBody>
          <a:bodyPr wrap="square">
            <a:spAutoFit/>
          </a:bodyPr>
          <a:lstStyle/>
          <a:p>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dirty="0">
                <a:latin typeface="Times New Roman" panose="02020603050405020304" pitchFamily="18" charset="0"/>
                <a:ea typeface="宋体" panose="02010600030101010101" pitchFamily="2" charset="-122"/>
              </a:rPr>
              <a:t>Sn-Bi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二元金属相图实验中</a:t>
            </a:r>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，质量</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分数</a:t>
            </a:r>
            <a:r>
              <a:rPr lang="en-US" altLang="zh-CN" sz="2400" dirty="0" smtClean="0">
                <a:latin typeface="Times New Roman" panose="02020603050405020304" pitchFamily="18" charset="0"/>
                <a:ea typeface="宋体" panose="02010600030101010101" pitchFamily="2" charset="-122"/>
              </a:rPr>
              <a:t>57%</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左右</a:t>
            </a:r>
            <a:r>
              <a:rPr lang="en-US" altLang="zh-CN" sz="2400" dirty="0">
                <a:latin typeface="Times New Roman" panose="02020603050405020304" pitchFamily="18" charset="0"/>
                <a:ea typeface="宋体" panose="02010600030101010101" pitchFamily="2" charset="-122"/>
              </a:rPr>
              <a:t>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的二元混合组分为其共熔组分</a:t>
            </a:r>
            <a:endParaRPr lang="zh-CN" altLang="en-US" sz="2400" dirty="0"/>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17607"/>
          <a:stretch/>
        </p:blipFill>
        <p:spPr>
          <a:xfrm>
            <a:off x="382357" y="1906948"/>
            <a:ext cx="4913254" cy="2997379"/>
          </a:xfrm>
          <a:prstGeom prst="rect">
            <a:avLst/>
          </a:prstGeom>
        </p:spPr>
      </p:pic>
      <p:sp>
        <p:nvSpPr>
          <p:cNvPr id="7" name="矩形 6"/>
          <p:cNvSpPr/>
          <p:nvPr/>
        </p:nvSpPr>
        <p:spPr>
          <a:xfrm>
            <a:off x="397655" y="4904327"/>
            <a:ext cx="5435600" cy="1569660"/>
          </a:xfrm>
          <a:prstGeom prst="rect">
            <a:avLst/>
          </a:prstGeom>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：液相系统均匀冷却</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：发生相变（一相凝固析出）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：以共熔物开始析出，温度保持不变</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：固相系统冷却</a:t>
            </a:r>
          </a:p>
        </p:txBody>
      </p:sp>
      <p:sp>
        <p:nvSpPr>
          <p:cNvPr id="2" name="矩形 1"/>
          <p:cNvSpPr/>
          <p:nvPr/>
        </p:nvSpPr>
        <p:spPr>
          <a:xfrm>
            <a:off x="3583709" y="1760472"/>
            <a:ext cx="7841673" cy="461665"/>
          </a:xfrm>
          <a:prstGeom prst="rect">
            <a:avLst/>
          </a:prstGeom>
        </p:spPr>
        <p:txBody>
          <a:bodyPr wrap="square">
            <a:spAutoFit/>
          </a:bodyPr>
          <a:lstStyle/>
          <a:p>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纯</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Bi</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，质量</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分数为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80%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57% 30%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Bi-Sn</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混合物，纯</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Sn</a:t>
            </a:r>
            <a:endParaRPr lang="zh-CN" altLang="en-US" sz="2400" dirty="0"/>
          </a:p>
        </p:txBody>
      </p:sp>
    </p:spTree>
    <p:extLst>
      <p:ext uri="{BB962C8B-B14F-4D97-AF65-F5344CB8AC3E}">
        <p14:creationId xmlns:p14="http://schemas.microsoft.com/office/powerpoint/2010/main" val="26214352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5" name="矩形 4"/>
          <p:cNvSpPr/>
          <p:nvPr/>
        </p:nvSpPr>
        <p:spPr>
          <a:xfrm>
            <a:off x="489527" y="1083071"/>
            <a:ext cx="11203709" cy="461665"/>
          </a:xfrm>
          <a:prstGeom prst="rect">
            <a:avLst/>
          </a:prstGeom>
        </p:spPr>
        <p:txBody>
          <a:bodyPr wrap="square">
            <a:spAutoFit/>
          </a:bodyPr>
          <a:lstStyle/>
          <a:p>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dirty="0">
                <a:latin typeface="Times New Roman" panose="02020603050405020304" pitchFamily="18" charset="0"/>
                <a:ea typeface="宋体" panose="02010600030101010101" pitchFamily="2" charset="-122"/>
              </a:rPr>
              <a:t>Sn-Bi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二元金属相图实验中</a:t>
            </a:r>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，质量</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分数</a:t>
            </a:r>
            <a:r>
              <a:rPr lang="en-US" altLang="zh-CN" sz="2400" dirty="0" smtClean="0">
                <a:latin typeface="Times New Roman" panose="02020603050405020304" pitchFamily="18" charset="0"/>
                <a:ea typeface="宋体" panose="02010600030101010101" pitchFamily="2" charset="-122"/>
              </a:rPr>
              <a:t>57%</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左右</a:t>
            </a:r>
            <a:r>
              <a:rPr lang="en-US" altLang="zh-CN" sz="2400" dirty="0">
                <a:latin typeface="Times New Roman" panose="02020603050405020304" pitchFamily="18" charset="0"/>
                <a:ea typeface="宋体" panose="02010600030101010101" pitchFamily="2" charset="-122"/>
              </a:rPr>
              <a:t>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的二元混合组分为其共熔组分</a:t>
            </a:r>
            <a:endParaRPr lang="zh-CN" altLang="en-US" sz="2400" dirty="0"/>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17607"/>
          <a:stretch/>
        </p:blipFill>
        <p:spPr>
          <a:xfrm>
            <a:off x="382357" y="1906948"/>
            <a:ext cx="4913254" cy="2997379"/>
          </a:xfrm>
          <a:prstGeom prst="rect">
            <a:avLst/>
          </a:prstGeom>
        </p:spPr>
      </p:pic>
      <p:sp>
        <p:nvSpPr>
          <p:cNvPr id="7" name="矩形 6"/>
          <p:cNvSpPr/>
          <p:nvPr/>
        </p:nvSpPr>
        <p:spPr>
          <a:xfrm>
            <a:off x="397655" y="4904327"/>
            <a:ext cx="5435600" cy="1569660"/>
          </a:xfrm>
          <a:prstGeom prst="rect">
            <a:avLst/>
          </a:prstGeom>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：液相系统均匀冷却</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：发生相变（一相凝固析出）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：以共熔物开始析出，温度保持不变</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：固相系统冷却</a:t>
            </a:r>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09177" y="2285631"/>
            <a:ext cx="5379258" cy="4572369"/>
          </a:xfrm>
          <a:prstGeom prst="rect">
            <a:avLst/>
          </a:prstGeom>
        </p:spPr>
      </p:pic>
      <p:sp>
        <p:nvSpPr>
          <p:cNvPr id="9" name="文本框 8"/>
          <p:cNvSpPr txBox="1"/>
          <p:nvPr/>
        </p:nvSpPr>
        <p:spPr>
          <a:xfrm>
            <a:off x="9374909" y="2054798"/>
            <a:ext cx="474810"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Bi</a:t>
            </a:r>
            <a:endParaRPr lang="zh-CN" altLang="en-US" sz="2400"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6691746" y="2054798"/>
            <a:ext cx="510076"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Sn</a:t>
            </a:r>
            <a:endParaRPr lang="zh-CN" altLang="en-US" sz="2400" dirty="0">
              <a:latin typeface="Times New Roman" panose="02020603050405020304" pitchFamily="18" charset="0"/>
              <a:cs typeface="Times New Roman" panose="02020603050405020304" pitchFamily="18" charset="0"/>
            </a:endParaRPr>
          </a:p>
        </p:txBody>
      </p:sp>
      <p:sp>
        <p:nvSpPr>
          <p:cNvPr id="11" name="椭圆 10"/>
          <p:cNvSpPr/>
          <p:nvPr/>
        </p:nvSpPr>
        <p:spPr>
          <a:xfrm>
            <a:off x="9559636" y="3786909"/>
            <a:ext cx="1154546" cy="47105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757987" y="4336287"/>
            <a:ext cx="1154546" cy="47105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702723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7985" y="2267531"/>
            <a:ext cx="5378824" cy="4572000"/>
          </a:xfrm>
          <a:prstGeom prst="rect">
            <a:avLst/>
          </a:prstGeom>
        </p:spPr>
      </p:pic>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5" name="矩形 4"/>
          <p:cNvSpPr/>
          <p:nvPr/>
        </p:nvSpPr>
        <p:spPr>
          <a:xfrm>
            <a:off x="489527" y="1083071"/>
            <a:ext cx="11203709" cy="461665"/>
          </a:xfrm>
          <a:prstGeom prst="rect">
            <a:avLst/>
          </a:prstGeom>
        </p:spPr>
        <p:txBody>
          <a:bodyPr wrap="square">
            <a:spAutoFit/>
          </a:bodyPr>
          <a:lstStyle/>
          <a:p>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dirty="0">
                <a:latin typeface="Times New Roman" panose="02020603050405020304" pitchFamily="18" charset="0"/>
                <a:ea typeface="宋体" panose="02010600030101010101" pitchFamily="2" charset="-122"/>
              </a:rPr>
              <a:t>Sn-Bi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二元金属相图实验中</a:t>
            </a:r>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，质量</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分数</a:t>
            </a:r>
            <a:r>
              <a:rPr lang="en-US" altLang="zh-CN" sz="2400" dirty="0" smtClean="0">
                <a:latin typeface="Times New Roman" panose="02020603050405020304" pitchFamily="18" charset="0"/>
                <a:ea typeface="宋体" panose="02010600030101010101" pitchFamily="2" charset="-122"/>
              </a:rPr>
              <a:t>57%</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左右</a:t>
            </a:r>
            <a:r>
              <a:rPr lang="en-US" altLang="zh-CN" sz="2400" dirty="0">
                <a:latin typeface="Times New Roman" panose="02020603050405020304" pitchFamily="18" charset="0"/>
                <a:ea typeface="宋体" panose="02010600030101010101" pitchFamily="2" charset="-122"/>
              </a:rPr>
              <a:t>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的二元混合组分为其共熔组分</a:t>
            </a:r>
            <a:endParaRPr lang="zh-CN" altLang="en-US" sz="2400" dirty="0"/>
          </a:p>
        </p:txBody>
      </p:sp>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b="17607"/>
          <a:stretch/>
        </p:blipFill>
        <p:spPr>
          <a:xfrm>
            <a:off x="382357" y="1906948"/>
            <a:ext cx="4913254" cy="2997379"/>
          </a:xfrm>
          <a:prstGeom prst="rect">
            <a:avLst/>
          </a:prstGeom>
        </p:spPr>
      </p:pic>
      <p:sp>
        <p:nvSpPr>
          <p:cNvPr id="7" name="矩形 6"/>
          <p:cNvSpPr/>
          <p:nvPr/>
        </p:nvSpPr>
        <p:spPr>
          <a:xfrm>
            <a:off x="397655" y="4904327"/>
            <a:ext cx="5435600" cy="1569660"/>
          </a:xfrm>
          <a:prstGeom prst="rect">
            <a:avLst/>
          </a:prstGeom>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：液相系统均匀冷却</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：发生相变（一相凝固析出）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：以共熔物开始析出，温度保持不变</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：固相系统冷却</a:t>
            </a:r>
          </a:p>
        </p:txBody>
      </p:sp>
      <p:sp>
        <p:nvSpPr>
          <p:cNvPr id="9" name="文本框 8"/>
          <p:cNvSpPr txBox="1"/>
          <p:nvPr/>
        </p:nvSpPr>
        <p:spPr>
          <a:xfrm>
            <a:off x="9374909" y="2054798"/>
            <a:ext cx="474810"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Bi</a:t>
            </a:r>
            <a:endParaRPr lang="zh-CN" altLang="en-US" sz="2400"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6691746" y="2054798"/>
            <a:ext cx="510076"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Sn</a:t>
            </a:r>
            <a:endParaRPr lang="zh-CN" altLang="en-US" sz="2400"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7924196" y="2054798"/>
            <a:ext cx="1039067"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57%Bi</a:t>
            </a:r>
            <a:endParaRPr lang="zh-CN" altLang="en-US" sz="2400" dirty="0">
              <a:latin typeface="Times New Roman" panose="02020603050405020304" pitchFamily="18" charset="0"/>
              <a:cs typeface="Times New Roman" panose="02020603050405020304" pitchFamily="18" charset="0"/>
            </a:endParaRPr>
          </a:p>
        </p:txBody>
      </p:sp>
      <p:sp>
        <p:nvSpPr>
          <p:cNvPr id="12" name="椭圆 11"/>
          <p:cNvSpPr/>
          <p:nvPr/>
        </p:nvSpPr>
        <p:spPr>
          <a:xfrm>
            <a:off x="8562109" y="5061528"/>
            <a:ext cx="1154546" cy="47105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073553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3283" y="2267078"/>
            <a:ext cx="5378824" cy="4572000"/>
          </a:xfrm>
          <a:prstGeom prst="rect">
            <a:avLst/>
          </a:prstGeom>
        </p:spPr>
      </p:pic>
      <p:sp>
        <p:nvSpPr>
          <p:cNvPr id="4" name="矩形 3"/>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5" name="矩形 4"/>
          <p:cNvSpPr/>
          <p:nvPr/>
        </p:nvSpPr>
        <p:spPr>
          <a:xfrm>
            <a:off x="489527" y="1083071"/>
            <a:ext cx="11203709" cy="461665"/>
          </a:xfrm>
          <a:prstGeom prst="rect">
            <a:avLst/>
          </a:prstGeom>
        </p:spPr>
        <p:txBody>
          <a:bodyPr wrap="square">
            <a:spAutoFit/>
          </a:bodyPr>
          <a:lstStyle/>
          <a:p>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dirty="0">
                <a:latin typeface="Times New Roman" panose="02020603050405020304" pitchFamily="18" charset="0"/>
                <a:ea typeface="宋体" panose="02010600030101010101" pitchFamily="2" charset="-122"/>
              </a:rPr>
              <a:t>Sn-Bi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二元金属相图实验中</a:t>
            </a:r>
            <a:r>
              <a:rPr lang="zh-CN" altLang="zh-CN" sz="2400" dirty="0" smtClean="0">
                <a:latin typeface="Times New Roman" panose="02020603050405020304" pitchFamily="18" charset="0"/>
                <a:ea typeface="宋体" panose="02010600030101010101" pitchFamily="2" charset="-122"/>
                <a:cs typeface="Times New Roman" panose="02020603050405020304" pitchFamily="18" charset="0"/>
              </a:rPr>
              <a:t>，质量</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分数</a:t>
            </a:r>
            <a:r>
              <a:rPr lang="en-US" altLang="zh-CN" sz="2400" dirty="0" smtClean="0">
                <a:latin typeface="Times New Roman" panose="02020603050405020304" pitchFamily="18" charset="0"/>
                <a:ea typeface="宋体" panose="02010600030101010101" pitchFamily="2" charset="-122"/>
              </a:rPr>
              <a:t>57%</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左右</a:t>
            </a:r>
            <a:r>
              <a:rPr lang="en-US" altLang="zh-CN" sz="2400" dirty="0">
                <a:latin typeface="Times New Roman" panose="02020603050405020304" pitchFamily="18" charset="0"/>
                <a:ea typeface="宋体" panose="02010600030101010101" pitchFamily="2" charset="-122"/>
              </a:rPr>
              <a:t>Bi</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的二元混合组分为其共熔组分</a:t>
            </a:r>
            <a:endParaRPr lang="zh-CN" altLang="en-US" sz="2400" dirty="0"/>
          </a:p>
        </p:txBody>
      </p:sp>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b="17607"/>
          <a:stretch/>
        </p:blipFill>
        <p:spPr>
          <a:xfrm>
            <a:off x="382357" y="1906948"/>
            <a:ext cx="4913254" cy="2997379"/>
          </a:xfrm>
          <a:prstGeom prst="rect">
            <a:avLst/>
          </a:prstGeom>
        </p:spPr>
      </p:pic>
      <p:sp>
        <p:nvSpPr>
          <p:cNvPr id="7" name="矩形 6"/>
          <p:cNvSpPr/>
          <p:nvPr/>
        </p:nvSpPr>
        <p:spPr>
          <a:xfrm>
            <a:off x="397655" y="4904327"/>
            <a:ext cx="5435600" cy="1569660"/>
          </a:xfrm>
          <a:prstGeom prst="rect">
            <a:avLst/>
          </a:prstGeom>
        </p:spPr>
        <p:txBody>
          <a:bodyPr wrap="square">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：液相系统均匀冷却</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：发生相变（一相凝固析出）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34</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：以共熔物开始析出，温度保持不变</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45</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：固相系统冷却</a:t>
            </a:r>
          </a:p>
        </p:txBody>
      </p:sp>
      <p:sp>
        <p:nvSpPr>
          <p:cNvPr id="9" name="文本框 8"/>
          <p:cNvSpPr txBox="1"/>
          <p:nvPr/>
        </p:nvSpPr>
        <p:spPr>
          <a:xfrm>
            <a:off x="9374909" y="2054798"/>
            <a:ext cx="474810"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Bi</a:t>
            </a:r>
            <a:endParaRPr lang="zh-CN" altLang="en-US" sz="2400"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6691746" y="2054798"/>
            <a:ext cx="510076"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Sn</a:t>
            </a:r>
            <a:endParaRPr lang="zh-CN" altLang="en-US" sz="2400"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7119676" y="2564859"/>
            <a:ext cx="1039067"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30%Bi</a:t>
            </a:r>
            <a:endParaRPr lang="zh-CN" altLang="en-US" sz="2400" dirty="0">
              <a:latin typeface="Times New Roman" panose="02020603050405020304" pitchFamily="18" charset="0"/>
              <a:cs typeface="Times New Roman" panose="02020603050405020304" pitchFamily="18" charset="0"/>
            </a:endParaRPr>
          </a:p>
        </p:txBody>
      </p:sp>
      <p:sp>
        <p:nvSpPr>
          <p:cNvPr id="12" name="文本框 11"/>
          <p:cNvSpPr txBox="1"/>
          <p:nvPr/>
        </p:nvSpPr>
        <p:spPr>
          <a:xfrm>
            <a:off x="8573247" y="2564860"/>
            <a:ext cx="1039067" cy="461665"/>
          </a:xfrm>
          <a:prstGeom prst="rect">
            <a:avLst/>
          </a:prstGeom>
          <a:noFill/>
        </p:spPr>
        <p:txBody>
          <a:bodyPr wrap="square" rtlCol="0">
            <a:spAutoFit/>
          </a:bodyPr>
          <a:lstStyle/>
          <a:p>
            <a:r>
              <a:rPr lang="en-US" altLang="zh-CN" sz="2400" dirty="0" smtClean="0">
                <a:latin typeface="Times New Roman" panose="02020603050405020304" pitchFamily="18" charset="0"/>
                <a:cs typeface="Times New Roman" panose="02020603050405020304" pitchFamily="18" charset="0"/>
              </a:rPr>
              <a:t>80%Bi</a:t>
            </a:r>
            <a:endParaRPr lang="zh-CN" altLang="en-US" sz="24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7924196" y="2054798"/>
            <a:ext cx="1039067" cy="461665"/>
          </a:xfrm>
          <a:prstGeom prst="rect">
            <a:avLst/>
          </a:prstGeom>
          <a:noFill/>
        </p:spPr>
        <p:txBody>
          <a:bodyPr wrap="none" rtlCol="0">
            <a:spAutoFit/>
          </a:bodyPr>
          <a:lstStyle/>
          <a:p>
            <a:r>
              <a:rPr lang="en-US" altLang="zh-CN" sz="2400" dirty="0" smtClean="0">
                <a:latin typeface="Times New Roman" panose="02020603050405020304" pitchFamily="18" charset="0"/>
                <a:cs typeface="Times New Roman" panose="02020603050405020304" pitchFamily="18" charset="0"/>
              </a:rPr>
              <a:t>57%Bi</a:t>
            </a:r>
            <a:endParaRPr lang="zh-CN" altLang="en-US" sz="2400" dirty="0">
              <a:latin typeface="Times New Roman" panose="02020603050405020304" pitchFamily="18" charset="0"/>
              <a:cs typeface="Times New Roman" panose="02020603050405020304" pitchFamily="18" charset="0"/>
            </a:endParaRPr>
          </a:p>
        </p:txBody>
      </p:sp>
      <p:sp>
        <p:nvSpPr>
          <p:cNvPr id="15" name="椭圆 14"/>
          <p:cNvSpPr/>
          <p:nvPr/>
        </p:nvSpPr>
        <p:spPr>
          <a:xfrm>
            <a:off x="7868660" y="4720361"/>
            <a:ext cx="290083" cy="25861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9257575" y="4321138"/>
            <a:ext cx="290083" cy="25861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305393" y="5135418"/>
            <a:ext cx="480291" cy="35098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9750884" y="5135417"/>
            <a:ext cx="480291" cy="35098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102039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42108" y="933733"/>
            <a:ext cx="3565237"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实验数据记录</a:t>
            </a:r>
          </a:p>
        </p:txBody>
      </p:sp>
      <p:sp>
        <p:nvSpPr>
          <p:cNvPr id="7" name="矩形 6"/>
          <p:cNvSpPr/>
          <p:nvPr/>
        </p:nvSpPr>
        <p:spPr>
          <a:xfrm>
            <a:off x="1572014" y="1569158"/>
            <a:ext cx="6040583" cy="1200329"/>
          </a:xfrm>
          <a:prstGeom prst="rect">
            <a:avLst/>
          </a:prstGeom>
        </p:spPr>
        <p:txBody>
          <a:bodyPr wrap="squar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、各个样品的金属质量以及组分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、每个样品步冷曲线</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graphicFrame>
        <p:nvGraphicFramePr>
          <p:cNvPr id="2" name="表格 1"/>
          <p:cNvGraphicFramePr>
            <a:graphicFrameLocks noGrp="1"/>
          </p:cNvGraphicFramePr>
          <p:nvPr>
            <p:extLst>
              <p:ext uri="{D42A27DB-BD31-4B8C-83A1-F6EECF244321}">
                <p14:modId xmlns:p14="http://schemas.microsoft.com/office/powerpoint/2010/main" val="1036003141"/>
              </p:ext>
            </p:extLst>
          </p:nvPr>
        </p:nvGraphicFramePr>
        <p:xfrm>
          <a:off x="1357742" y="3167303"/>
          <a:ext cx="9698184" cy="1977352"/>
        </p:xfrm>
        <a:graphic>
          <a:graphicData uri="http://schemas.openxmlformats.org/drawingml/2006/table">
            <a:tbl>
              <a:tblPr firstRow="1" bandRow="1">
                <a:tableStyleId>{5940675A-B579-460E-94D1-54222C63F5DA}</a:tableStyleId>
              </a:tblPr>
              <a:tblGrid>
                <a:gridCol w="1616364">
                  <a:extLst>
                    <a:ext uri="{9D8B030D-6E8A-4147-A177-3AD203B41FA5}">
                      <a16:colId xmlns:a16="http://schemas.microsoft.com/office/drawing/2014/main" val="3429809707"/>
                    </a:ext>
                  </a:extLst>
                </a:gridCol>
                <a:gridCol w="1616364">
                  <a:extLst>
                    <a:ext uri="{9D8B030D-6E8A-4147-A177-3AD203B41FA5}">
                      <a16:colId xmlns:a16="http://schemas.microsoft.com/office/drawing/2014/main" val="2290440785"/>
                    </a:ext>
                  </a:extLst>
                </a:gridCol>
                <a:gridCol w="1616364">
                  <a:extLst>
                    <a:ext uri="{9D8B030D-6E8A-4147-A177-3AD203B41FA5}">
                      <a16:colId xmlns:a16="http://schemas.microsoft.com/office/drawing/2014/main" val="4068099280"/>
                    </a:ext>
                  </a:extLst>
                </a:gridCol>
                <a:gridCol w="1616364">
                  <a:extLst>
                    <a:ext uri="{9D8B030D-6E8A-4147-A177-3AD203B41FA5}">
                      <a16:colId xmlns:a16="http://schemas.microsoft.com/office/drawing/2014/main" val="1954905140"/>
                    </a:ext>
                  </a:extLst>
                </a:gridCol>
                <a:gridCol w="1616364">
                  <a:extLst>
                    <a:ext uri="{9D8B030D-6E8A-4147-A177-3AD203B41FA5}">
                      <a16:colId xmlns:a16="http://schemas.microsoft.com/office/drawing/2014/main" val="2274991284"/>
                    </a:ext>
                  </a:extLst>
                </a:gridCol>
                <a:gridCol w="1616364">
                  <a:extLst>
                    <a:ext uri="{9D8B030D-6E8A-4147-A177-3AD203B41FA5}">
                      <a16:colId xmlns:a16="http://schemas.microsoft.com/office/drawing/2014/main" val="1740019288"/>
                    </a:ext>
                  </a:extLst>
                </a:gridCol>
              </a:tblGrid>
              <a:tr h="370840">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Bi</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80% Bi</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57% Bi</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30% Bi</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Sn</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3044742911"/>
                  </a:ext>
                </a:extLst>
              </a:tr>
              <a:tr h="605752">
                <a:tc>
                  <a:txBody>
                    <a:bodyPr/>
                    <a:lstStyle/>
                    <a:p>
                      <a:pPr algn="ct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平台</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熔点</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共熔温度</a:t>
                      </a:r>
                      <a:endPar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共熔温度</a:t>
                      </a:r>
                      <a:endPar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共熔温度</a:t>
                      </a:r>
                      <a:endPar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zh-CN" altLang="en-US" sz="2400" smtClean="0">
                          <a:latin typeface="Times New Roman" panose="02020603050405020304" pitchFamily="18" charset="0"/>
                          <a:ea typeface="宋体" panose="02010600030101010101" pitchFamily="2" charset="-122"/>
                          <a:cs typeface="Times New Roman" panose="02020603050405020304" pitchFamily="18" charset="0"/>
                        </a:rPr>
                        <a:t>熔点</a:t>
                      </a:r>
                      <a:endParaRPr lang="en-US" altLang="zh-CN" sz="2400" smtClean="0">
                        <a:latin typeface="Times New Roman" panose="02020603050405020304" pitchFamily="18"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174868284"/>
                  </a:ext>
                </a:extLst>
              </a:tr>
              <a:tr h="370840">
                <a:tc>
                  <a:txBody>
                    <a:bodyPr/>
                    <a:lstStyle/>
                    <a:p>
                      <a:pPr algn="ct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拐点</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a:latin typeface="Times New Roman" panose="02020603050405020304" pitchFamily="18"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846607841"/>
                  </a:ext>
                </a:extLst>
              </a:tr>
              <a:tr h="370840">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2743900563"/>
                  </a:ext>
                </a:extLst>
              </a:tr>
            </a:tbl>
          </a:graphicData>
        </a:graphic>
      </p:graphicFrame>
    </p:spTree>
    <p:extLst>
      <p:ext uri="{BB962C8B-B14F-4D97-AF65-F5344CB8AC3E}">
        <p14:creationId xmlns:p14="http://schemas.microsoft.com/office/powerpoint/2010/main" val="34781440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42108" y="933733"/>
            <a:ext cx="3565237"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实验数据记录</a:t>
            </a:r>
          </a:p>
        </p:txBody>
      </p:sp>
      <p:sp>
        <p:nvSpPr>
          <p:cNvPr id="7" name="矩形 6"/>
          <p:cNvSpPr/>
          <p:nvPr/>
        </p:nvSpPr>
        <p:spPr>
          <a:xfrm>
            <a:off x="1572014" y="1569158"/>
            <a:ext cx="6040583" cy="1200329"/>
          </a:xfrm>
          <a:prstGeom prst="rect">
            <a:avLst/>
          </a:prstGeom>
        </p:spPr>
        <p:txBody>
          <a:bodyPr wrap="squar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、各个样品的金属质量以及组分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、每个样品步冷曲线</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397655" y="344115"/>
            <a:ext cx="2348720" cy="523220"/>
          </a:xfrm>
          <a:prstGeom prst="rect">
            <a:avLst/>
          </a:prstGeom>
          <a:solidFill>
            <a:schemeClr val="accent1">
              <a:lumMod val="20000"/>
              <a:lumOff val="80000"/>
            </a:schemeClr>
          </a:solidFill>
        </p:spPr>
        <p:txBody>
          <a:bodyPr wrap="none">
            <a:spAutoFit/>
          </a:bodyPr>
          <a:lstStyle/>
          <a:p>
            <a:r>
              <a:rPr lang="zh-CN" altLang="en-US" sz="2800" b="1" dirty="0">
                <a:latin typeface="宋体" panose="02010600030101010101" pitchFamily="2" charset="-122"/>
                <a:ea typeface="宋体" panose="02010600030101010101" pitchFamily="2" charset="-122"/>
              </a:rPr>
              <a:t>金属相图测定</a:t>
            </a:r>
          </a:p>
        </p:txBody>
      </p:sp>
      <p:sp>
        <p:nvSpPr>
          <p:cNvPr id="9" name="矩形 8"/>
          <p:cNvSpPr/>
          <p:nvPr/>
        </p:nvSpPr>
        <p:spPr>
          <a:xfrm>
            <a:off x="942108" y="3994290"/>
            <a:ext cx="3565237"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注意事项</a:t>
            </a:r>
          </a:p>
        </p:txBody>
      </p:sp>
      <p:sp>
        <p:nvSpPr>
          <p:cNvPr id="10" name="矩形 9"/>
          <p:cNvSpPr/>
          <p:nvPr/>
        </p:nvSpPr>
        <p:spPr>
          <a:xfrm>
            <a:off x="942108" y="2615359"/>
            <a:ext cx="3565237" cy="830997"/>
          </a:xfrm>
          <a:prstGeom prst="rect">
            <a:avLst/>
          </a:prstGeom>
        </p:spPr>
        <p:txBody>
          <a:bodyPr wrap="squar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实验数据分析</a:t>
            </a:r>
          </a:p>
        </p:txBody>
      </p:sp>
      <p:sp>
        <p:nvSpPr>
          <p:cNvPr id="11" name="矩形 10"/>
          <p:cNvSpPr/>
          <p:nvPr/>
        </p:nvSpPr>
        <p:spPr>
          <a:xfrm>
            <a:off x="1487053" y="3352870"/>
            <a:ext cx="7232075" cy="646331"/>
          </a:xfrm>
          <a:prstGeom prst="rect">
            <a:avLst/>
          </a:prstGeom>
        </p:spPr>
        <p:txBody>
          <a:bodyPr wrap="square">
            <a:spAutoFit/>
          </a:bodyPr>
          <a:lstStyle/>
          <a:p>
            <a:pPr indent="304792" eaLnBrk="0" hangingPunct="0">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根据不同组分样品的步冷曲线绘制金属相图</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矩形 11"/>
          <p:cNvSpPr/>
          <p:nvPr/>
        </p:nvSpPr>
        <p:spPr>
          <a:xfrm>
            <a:off x="1487056" y="4671883"/>
            <a:ext cx="7232073" cy="1200329"/>
          </a:xfrm>
          <a:prstGeom prst="rect">
            <a:avLst/>
          </a:prstGeom>
        </p:spPr>
        <p:txBody>
          <a:bodyPr wrap="square">
            <a:spAutoFit/>
          </a:bodyPr>
          <a:lstStyle/>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、注意防止金属样品的氧化。</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indent="304792" eaLnBrk="0" hangingPunct="0">
              <a:lnSpc>
                <a:spcPct val="150000"/>
              </a:lnSpc>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控制降温速度</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。维持相变过程中的平衡</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3" name="图片 12"/>
          <p:cNvPicPr>
            <a:picLocks noChangeAspect="1"/>
          </p:cNvPicPr>
          <p:nvPr/>
        </p:nvPicPr>
        <p:blipFill rotWithShape="1">
          <a:blip r:embed="rId2">
            <a:extLst>
              <a:ext uri="{28A0092B-C50C-407E-A947-70E740481C1C}">
                <a14:useLocalDpi xmlns:a14="http://schemas.microsoft.com/office/drawing/2010/main" val="0"/>
              </a:ext>
            </a:extLst>
          </a:blip>
          <a:srcRect l="54196"/>
          <a:stretch/>
        </p:blipFill>
        <p:spPr>
          <a:xfrm>
            <a:off x="8242501" y="2047380"/>
            <a:ext cx="3232227" cy="2940257"/>
          </a:xfrm>
          <a:prstGeom prst="rect">
            <a:avLst/>
          </a:prstGeom>
        </p:spPr>
      </p:pic>
      <p:sp>
        <p:nvSpPr>
          <p:cNvPr id="14" name="矩形 13"/>
          <p:cNvSpPr/>
          <p:nvPr/>
        </p:nvSpPr>
        <p:spPr>
          <a:xfrm>
            <a:off x="942109" y="5774355"/>
            <a:ext cx="4137671" cy="830997"/>
          </a:xfrm>
          <a:prstGeom prst="rect">
            <a:avLst/>
          </a:prstGeom>
        </p:spPr>
        <p:txBody>
          <a:bodyPr wrap="none">
            <a:spAutoFit/>
          </a:bodyPr>
          <a:lstStyle/>
          <a:p>
            <a:pPr indent="304792" eaLnBrk="0" hangingPunct="0">
              <a:lnSpc>
                <a:spcPct val="150000"/>
              </a:lnSpc>
            </a:pPr>
            <a:r>
              <a:rPr lang="zh-CN" altLang="en-US" sz="3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思考与讨论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教材</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P40</a:t>
            </a:r>
          </a:p>
        </p:txBody>
      </p:sp>
    </p:spTree>
    <p:extLst>
      <p:ext uri="{BB962C8B-B14F-4D97-AF65-F5344CB8AC3E}">
        <p14:creationId xmlns:p14="http://schemas.microsoft.com/office/powerpoint/2010/main" val="17541714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1707" y="624927"/>
            <a:ext cx="1422184" cy="584775"/>
          </a:xfrm>
          <a:prstGeom prst="rect">
            <a:avLst/>
          </a:prstGeom>
          <a:noFill/>
        </p:spPr>
        <p:txBody>
          <a:bodyPr wrap="none">
            <a:spAutoFit/>
          </a:bodyPr>
          <a:lstStyle/>
          <a:p>
            <a:r>
              <a:rPr lang="zh-CN" altLang="en-US" sz="3200" b="1" dirty="0">
                <a:latin typeface="黑体" panose="02010609060101010101" pitchFamily="49" charset="-122"/>
                <a:ea typeface="黑体" panose="02010609060101010101" pitchFamily="49" charset="-122"/>
              </a:rPr>
              <a:t>成  绩</a:t>
            </a:r>
          </a:p>
        </p:txBody>
      </p:sp>
      <p:sp>
        <p:nvSpPr>
          <p:cNvPr id="6" name="矩形 5"/>
          <p:cNvSpPr/>
          <p:nvPr/>
        </p:nvSpPr>
        <p:spPr>
          <a:xfrm>
            <a:off x="909635" y="2056815"/>
            <a:ext cx="9966328" cy="2031325"/>
          </a:xfrm>
          <a:prstGeom prst="rect">
            <a:avLst/>
          </a:prstGeom>
        </p:spPr>
        <p:txBody>
          <a:bodyPr wrap="square">
            <a:spAutoFit/>
          </a:bodyPr>
          <a:lstStyle/>
          <a:p>
            <a:pPr eaLnBrk="0" hangingPunct="0">
              <a:lnSpc>
                <a:spcPct val="150000"/>
              </a:lnSpc>
            </a:pPr>
            <a:r>
              <a:rPr lang="zh-CN" altLang="en-US" sz="2800" dirty="0">
                <a:latin typeface="宋体" panose="02010600030101010101" pitchFamily="2" charset="-122"/>
                <a:ea typeface="宋体" panose="02010600030101010101" pitchFamily="2" charset="-122"/>
                <a:cs typeface="Times New Roman" pitchFamily="18" charset="0"/>
              </a:rPr>
              <a:t>期末总评成绩中，平时实验成绩占</a:t>
            </a:r>
            <a:r>
              <a:rPr lang="en-US" altLang="zh-CN" sz="2800" dirty="0">
                <a:latin typeface="宋体" panose="02010600030101010101" pitchFamily="2" charset="-122"/>
                <a:ea typeface="宋体" panose="02010600030101010101" pitchFamily="2" charset="-122"/>
                <a:cs typeface="Times New Roman" pitchFamily="18" charset="0"/>
              </a:rPr>
              <a:t>80%</a:t>
            </a:r>
            <a:r>
              <a:rPr lang="zh-CN" altLang="en-US" sz="2800" dirty="0">
                <a:latin typeface="宋体" panose="02010600030101010101" pitchFamily="2" charset="-122"/>
                <a:ea typeface="宋体" panose="02010600030101010101" pitchFamily="2" charset="-122"/>
                <a:cs typeface="Times New Roman" pitchFamily="18" charset="0"/>
              </a:rPr>
              <a:t>，实验操作考试占</a:t>
            </a:r>
            <a:r>
              <a:rPr lang="en-US" altLang="zh-CN" sz="2800" dirty="0">
                <a:latin typeface="宋体" panose="02010600030101010101" pitchFamily="2" charset="-122"/>
                <a:ea typeface="宋体" panose="02010600030101010101" pitchFamily="2" charset="-122"/>
                <a:cs typeface="Times New Roman" pitchFamily="18" charset="0"/>
              </a:rPr>
              <a:t>20%</a:t>
            </a:r>
            <a:r>
              <a:rPr lang="zh-CN" altLang="en-US" sz="2800" dirty="0">
                <a:latin typeface="宋体" panose="02010600030101010101" pitchFamily="2" charset="-122"/>
                <a:ea typeface="宋体" panose="02010600030101010101" pitchFamily="2" charset="-122"/>
                <a:cs typeface="Times New Roman" pitchFamily="18" charset="0"/>
              </a:rPr>
              <a:t>。</a:t>
            </a:r>
          </a:p>
          <a:p>
            <a:pPr eaLnBrk="0" hangingPunct="0">
              <a:lnSpc>
                <a:spcPct val="150000"/>
              </a:lnSpc>
            </a:pPr>
            <a:r>
              <a:rPr lang="zh-CN" altLang="en-US" sz="2800" dirty="0">
                <a:latin typeface="宋体" panose="02010600030101010101" pitchFamily="2" charset="-122"/>
                <a:ea typeface="宋体" panose="02010600030101010101" pitchFamily="2" charset="-122"/>
                <a:cs typeface="Times New Roman" pitchFamily="18" charset="0"/>
              </a:rPr>
              <a:t>平时实验成绩按</a:t>
            </a:r>
            <a:r>
              <a:rPr lang="en-US" altLang="zh-CN" sz="2800" dirty="0">
                <a:latin typeface="宋体" panose="02010600030101010101" pitchFamily="2" charset="-122"/>
                <a:ea typeface="宋体" panose="02010600030101010101" pitchFamily="2" charset="-122"/>
                <a:cs typeface="Times New Roman" pitchFamily="18" charset="0"/>
              </a:rPr>
              <a:t>100</a:t>
            </a:r>
            <a:r>
              <a:rPr lang="zh-CN" altLang="en-US" sz="2800" dirty="0">
                <a:latin typeface="宋体" panose="02010600030101010101" pitchFamily="2" charset="-122"/>
                <a:ea typeface="宋体" panose="02010600030101010101" pitchFamily="2" charset="-122"/>
                <a:cs typeface="Times New Roman" pitchFamily="18" charset="0"/>
              </a:rPr>
              <a:t>分记：其中预习报告满分</a:t>
            </a:r>
            <a:r>
              <a:rPr lang="en-US" altLang="zh-CN" sz="2800" dirty="0">
                <a:latin typeface="宋体" panose="02010600030101010101" pitchFamily="2" charset="-122"/>
                <a:ea typeface="宋体" panose="02010600030101010101" pitchFamily="2" charset="-122"/>
                <a:cs typeface="Times New Roman" pitchFamily="18" charset="0"/>
              </a:rPr>
              <a:t>10</a:t>
            </a:r>
            <a:r>
              <a:rPr lang="zh-CN" altLang="en-US" sz="2800" dirty="0">
                <a:latin typeface="宋体" panose="02010600030101010101" pitchFamily="2" charset="-122"/>
                <a:ea typeface="宋体" panose="02010600030101010101" pitchFamily="2" charset="-122"/>
                <a:cs typeface="Times New Roman" pitchFamily="18" charset="0"/>
              </a:rPr>
              <a:t>分；实验操作满分</a:t>
            </a:r>
            <a:r>
              <a:rPr lang="en-US" altLang="zh-CN" sz="2800" dirty="0">
                <a:latin typeface="宋体" panose="02010600030101010101" pitchFamily="2" charset="-122"/>
                <a:ea typeface="宋体" panose="02010600030101010101" pitchFamily="2" charset="-122"/>
                <a:cs typeface="Times New Roman" pitchFamily="18" charset="0"/>
              </a:rPr>
              <a:t>40</a:t>
            </a:r>
            <a:r>
              <a:rPr lang="zh-CN" altLang="en-US" sz="2800" dirty="0">
                <a:latin typeface="宋体" panose="02010600030101010101" pitchFamily="2" charset="-122"/>
                <a:ea typeface="宋体" panose="02010600030101010101" pitchFamily="2" charset="-122"/>
                <a:cs typeface="Times New Roman" pitchFamily="18" charset="0"/>
              </a:rPr>
              <a:t>分；实验报告满分</a:t>
            </a:r>
            <a:r>
              <a:rPr lang="en-US" altLang="zh-CN" sz="2800" dirty="0">
                <a:latin typeface="宋体" panose="02010600030101010101" pitchFamily="2" charset="-122"/>
                <a:ea typeface="宋体" panose="02010600030101010101" pitchFamily="2" charset="-122"/>
                <a:cs typeface="Times New Roman" pitchFamily="18" charset="0"/>
              </a:rPr>
              <a:t>40</a:t>
            </a:r>
            <a:r>
              <a:rPr lang="zh-CN" altLang="en-US" sz="2800" dirty="0">
                <a:latin typeface="宋体" panose="02010600030101010101" pitchFamily="2" charset="-122"/>
                <a:ea typeface="宋体" panose="02010600030101010101" pitchFamily="2" charset="-122"/>
                <a:cs typeface="Times New Roman" pitchFamily="18" charset="0"/>
              </a:rPr>
              <a:t>分，实验结果</a:t>
            </a:r>
            <a:r>
              <a:rPr lang="en-US" altLang="zh-CN" sz="2800" dirty="0">
                <a:latin typeface="宋体" panose="02010600030101010101" pitchFamily="2" charset="-122"/>
                <a:ea typeface="宋体" panose="02010600030101010101" pitchFamily="2" charset="-122"/>
                <a:cs typeface="Times New Roman" pitchFamily="18" charset="0"/>
              </a:rPr>
              <a:t>10</a:t>
            </a:r>
            <a:r>
              <a:rPr lang="zh-CN" altLang="en-US" sz="2800" dirty="0">
                <a:latin typeface="宋体" panose="02010600030101010101" pitchFamily="2" charset="-122"/>
                <a:ea typeface="宋体" panose="02010600030101010101" pitchFamily="2" charset="-122"/>
                <a:cs typeface="Times New Roman" pitchFamily="18" charset="0"/>
              </a:rPr>
              <a:t>分。</a:t>
            </a:r>
          </a:p>
        </p:txBody>
      </p:sp>
      <p:cxnSp>
        <p:nvCxnSpPr>
          <p:cNvPr id="10" name="直接连接符 9"/>
          <p:cNvCxnSpPr/>
          <p:nvPr/>
        </p:nvCxnSpPr>
        <p:spPr>
          <a:xfrm>
            <a:off x="1764144" y="1501545"/>
            <a:ext cx="8257309"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4156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331961" y="615691"/>
            <a:ext cx="3892412" cy="584775"/>
          </a:xfrm>
          <a:prstGeom prst="rect">
            <a:avLst/>
          </a:prstGeom>
          <a:noFill/>
        </p:spPr>
        <p:txBody>
          <a:bodyPr wrap="none">
            <a:spAutoFit/>
          </a:bodyPr>
          <a:lstStyle/>
          <a:p>
            <a:r>
              <a:rPr lang="zh-CN" altLang="en-US" sz="3200" b="1" dirty="0" smtClean="0">
                <a:latin typeface="黑体" panose="02010609060101010101" pitchFamily="49" charset="-122"/>
                <a:ea typeface="黑体" panose="02010609060101010101" pitchFamily="49" charset="-122"/>
              </a:rPr>
              <a:t>实验操作课注意事项</a:t>
            </a:r>
            <a:endParaRPr lang="zh-CN" altLang="en-US" sz="3200" b="1" dirty="0">
              <a:latin typeface="黑体" panose="02010609060101010101" pitchFamily="49" charset="-122"/>
              <a:ea typeface="黑体" panose="02010609060101010101" pitchFamily="49" charset="-122"/>
            </a:endParaRPr>
          </a:p>
        </p:txBody>
      </p:sp>
      <p:cxnSp>
        <p:nvCxnSpPr>
          <p:cNvPr id="5" name="直接连接符 4"/>
          <p:cNvCxnSpPr/>
          <p:nvPr/>
        </p:nvCxnSpPr>
        <p:spPr>
          <a:xfrm>
            <a:off x="1764144" y="1501545"/>
            <a:ext cx="82573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 name="Rectangle 1"/>
          <p:cNvSpPr>
            <a:spLocks noChangeArrowheads="1"/>
          </p:cNvSpPr>
          <p:nvPr/>
        </p:nvSpPr>
        <p:spPr bwMode="auto">
          <a:xfrm>
            <a:off x="743526" y="1913461"/>
            <a:ext cx="104648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、进入实验室前先弄清楚实验所在位置，朝向，搞清楚疏散路线和安全通道位置，发生紧急情况不可使用电梯等。</a:t>
            </a:r>
            <a:endParaRPr kumimoji="0"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、实验室走廊里有紧急喷淋和洗眼装置，同学们要知道使用方法。</a:t>
            </a:r>
            <a:endParaRPr kumimoji="0"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、规范和强调实验室着装要求：必须穿着</a:t>
            </a:r>
            <a:r>
              <a:rPr kumimoji="0" lang="zh-CN" altLang="en-US" sz="2400" b="0" i="0" u="none" strike="noStrike" cap="none" normalizeH="0" baseline="0" dirty="0" smtClean="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长袖实验服、长裤和便于行走的鞋子</a:t>
            </a:r>
            <a:r>
              <a:rPr kumimoji="0" lang="zh-CN" altLang="en-US"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，不可以穿短裤（包括七分裤，九分裤等），不可穿裙子，不可穿凉鞋（简单的说不可露出皮肤，以免药品试剂洒落时受到伤害）；不可以穿高跟鞋（不便于遇到紧急情况的疏散），长头发要扎起来。等等。</a:t>
            </a:r>
            <a:endParaRPr kumimoji="0"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、实验时不可分心，</a:t>
            </a:r>
            <a:r>
              <a:rPr kumimoji="0" lang="zh-CN" altLang="en-US" sz="2400" b="0" i="0" u="none" strike="noStrike" cap="none" normalizeH="0" baseline="0" dirty="0" smtClean="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不做与实验无关的事情（玩手机，接打电话，聊天，喧哗）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smtClean="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不在实验室内吃东西、喝水</a:t>
            </a:r>
            <a:r>
              <a:rPr kumimoji="0" lang="zh-CN" altLang="en-US" sz="24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等。</a:t>
            </a:r>
            <a:endParaRPr kumimoji="0"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193603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331961" y="615691"/>
            <a:ext cx="3892412" cy="584775"/>
          </a:xfrm>
          <a:prstGeom prst="rect">
            <a:avLst/>
          </a:prstGeom>
          <a:noFill/>
        </p:spPr>
        <p:txBody>
          <a:bodyPr wrap="none">
            <a:spAutoFit/>
          </a:bodyPr>
          <a:lstStyle/>
          <a:p>
            <a:r>
              <a:rPr lang="zh-CN" altLang="en-US" sz="3200" b="1" dirty="0" smtClean="0">
                <a:latin typeface="黑体" panose="02010609060101010101" pitchFamily="49" charset="-122"/>
                <a:ea typeface="黑体" panose="02010609060101010101" pitchFamily="49" charset="-122"/>
              </a:rPr>
              <a:t>实验操作课注意事项</a:t>
            </a:r>
            <a:endParaRPr lang="zh-CN" altLang="en-US" sz="3200" b="1" dirty="0">
              <a:latin typeface="黑体" panose="02010609060101010101" pitchFamily="49" charset="-122"/>
              <a:ea typeface="黑体" panose="02010609060101010101" pitchFamily="49" charset="-122"/>
            </a:endParaRPr>
          </a:p>
        </p:txBody>
      </p:sp>
      <p:cxnSp>
        <p:nvCxnSpPr>
          <p:cNvPr id="5" name="直接连接符 4"/>
          <p:cNvCxnSpPr/>
          <p:nvPr/>
        </p:nvCxnSpPr>
        <p:spPr>
          <a:xfrm>
            <a:off x="1764144" y="1501545"/>
            <a:ext cx="82573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 name="Rectangle 1"/>
          <p:cNvSpPr>
            <a:spLocks noChangeArrowheads="1"/>
          </p:cNvSpPr>
          <p:nvPr/>
        </p:nvSpPr>
        <p:spPr bwMode="auto">
          <a:xfrm>
            <a:off x="452579" y="1802625"/>
            <a:ext cx="1088043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、物化实验室使用仪器比较多，有些仪器有高压（如电泳），一定要注意用电安全，实验中要注意力集中。</a:t>
            </a:r>
          </a:p>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、电源线接插要合理，不要在同一个插座上连接过多大功率电器（如恒温槽等），不要生拉硬拽电源线，不要泡在水中。</a:t>
            </a:r>
          </a:p>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、如遇到有裸露的带有较高电压的电线，一定要通知老师及时处理。</a:t>
            </a:r>
          </a:p>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实验结束时要首先将仪器上的旋钮调到</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（除非有其他要求），关闭电源开关，拔下所有电源</a:t>
            </a:r>
            <a:r>
              <a:rPr lang="zh-CN" altLang="en-US" sz="2000" dirty="0" smtClean="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插头。</a:t>
            </a:r>
            <a:endPar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注意高压气体安全</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，对于学生来说，主要是开钢瓶时，不要正面对着气压表，以免发生表头破裂造成伤害，高压气体使用结束必须关闭。（阀门从上看：逆时针开，顺时针关）</a:t>
            </a:r>
          </a:p>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、实验室要保持通风，尤其是使用液氮、氮气等试验的，必须开门做实验，以免造成窒息。</a:t>
            </a:r>
          </a:p>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、书包不要乱放，首选放在</a:t>
            </a: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楼通道内的存包柜中（硬币一元，用完退币），实验室内有专门的存包柜（有标注），只拿出必要的文具，书包严禁放在试剂桌上。</a:t>
            </a:r>
          </a:p>
          <a:p>
            <a:pPr defTabSz="914400" eaLnBrk="0" fontAlgn="base" hangingPunct="0">
              <a:spcBef>
                <a:spcPct val="0"/>
              </a:spcBef>
              <a:spcAft>
                <a:spcPct val="0"/>
              </a:spcAft>
            </a:pPr>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r>
              <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、冷凝水不要开得太大，只要有流动的水流即可，橡皮管要可靠的通到小水槽中，防止溅到对面的仪器上，造成触电危险。</a:t>
            </a:r>
          </a:p>
        </p:txBody>
      </p:sp>
    </p:spTree>
    <p:extLst>
      <p:ext uri="{BB962C8B-B14F-4D97-AF65-F5344CB8AC3E}">
        <p14:creationId xmlns:p14="http://schemas.microsoft.com/office/powerpoint/2010/main" val="38628977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331961" y="615691"/>
            <a:ext cx="3892412" cy="584775"/>
          </a:xfrm>
          <a:prstGeom prst="rect">
            <a:avLst/>
          </a:prstGeom>
          <a:noFill/>
        </p:spPr>
        <p:txBody>
          <a:bodyPr wrap="none">
            <a:spAutoFit/>
          </a:bodyPr>
          <a:lstStyle/>
          <a:p>
            <a:r>
              <a:rPr lang="zh-CN" altLang="en-US" sz="3200" b="1" dirty="0" smtClean="0">
                <a:latin typeface="黑体" panose="02010609060101010101" pitchFamily="49" charset="-122"/>
                <a:ea typeface="黑体" panose="02010609060101010101" pitchFamily="49" charset="-122"/>
              </a:rPr>
              <a:t>实验操作课注意事项</a:t>
            </a:r>
            <a:endParaRPr lang="zh-CN" altLang="en-US" sz="3200" b="1" dirty="0">
              <a:latin typeface="黑体" panose="02010609060101010101" pitchFamily="49" charset="-122"/>
              <a:ea typeface="黑体" panose="02010609060101010101" pitchFamily="49" charset="-122"/>
            </a:endParaRPr>
          </a:p>
        </p:txBody>
      </p:sp>
      <p:cxnSp>
        <p:nvCxnSpPr>
          <p:cNvPr id="5" name="直接连接符 4"/>
          <p:cNvCxnSpPr/>
          <p:nvPr/>
        </p:nvCxnSpPr>
        <p:spPr>
          <a:xfrm>
            <a:off x="1764144" y="1501545"/>
            <a:ext cx="82573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Rectangle 1"/>
          <p:cNvSpPr>
            <a:spLocks noChangeArrowheads="1"/>
          </p:cNvSpPr>
          <p:nvPr/>
        </p:nvSpPr>
        <p:spPr bwMode="auto">
          <a:xfrm>
            <a:off x="822036" y="1802625"/>
            <a:ext cx="10372437"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zh-CN"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实验过程中，化学药品称量结束，立刻清理电子天平和试剂桌；</a:t>
            </a:r>
          </a:p>
          <a:p>
            <a:pPr defTabSz="914400" eaLnBrk="0" fontAlgn="base" hangingPunct="0">
              <a:spcBef>
                <a:spcPct val="0"/>
              </a:spcBef>
              <a:spcAft>
                <a:spcPct val="0"/>
              </a:spcAft>
            </a:pPr>
            <a:r>
              <a:rPr lang="en-US" altLang="zh-CN"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任何情况下都不允许将杂物投入水槽中（包括试剂架下的小水槽），如有杂物立刻清理，杂物和吸水纸请先放在贴有“杂物”字样的大烧杯中，实验结束后倒入垃圾桶。</a:t>
            </a:r>
          </a:p>
          <a:p>
            <a:pPr defTabSz="914400" eaLnBrk="0" fontAlgn="base" hangingPunct="0">
              <a:spcBef>
                <a:spcPct val="0"/>
              </a:spcBef>
              <a:spcAft>
                <a:spcPct val="0"/>
              </a:spcAft>
            </a:pPr>
            <a:r>
              <a:rPr lang="en-US" altLang="zh-CN"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去离子水桶：请让男同学抬到水池边上，桶口朝向水槽，取用时去离子水瓶必须在水槽内，以免水撒到地面、地面湿滑，有摔伤的隐患；</a:t>
            </a:r>
          </a:p>
          <a:p>
            <a:pPr defTabSz="914400" eaLnBrk="0" fontAlgn="base" hangingPunct="0">
              <a:spcBef>
                <a:spcPct val="0"/>
              </a:spcBef>
              <a:spcAft>
                <a:spcPct val="0"/>
              </a:spcAft>
            </a:pPr>
            <a:r>
              <a:rPr lang="en-US" altLang="zh-CN"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去离子水用完后，要求同学找到原来的盖子盖好，把空桶拿到</a:t>
            </a:r>
            <a:r>
              <a:rPr lang="en-US" altLang="zh-CN"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5504</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门背后，更换满桶。</a:t>
            </a:r>
          </a:p>
          <a:p>
            <a:pPr defTabSz="914400" eaLnBrk="0" fontAlgn="base" hangingPunct="0">
              <a:spcBef>
                <a:spcPct val="0"/>
              </a:spcBef>
              <a:spcAft>
                <a:spcPct val="0"/>
              </a:spcAft>
            </a:pPr>
            <a:r>
              <a:rPr lang="en-US" altLang="zh-CN"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实验桌要保持整洁</a:t>
            </a:r>
            <a:r>
              <a:rPr lang="zh-CN" altLang="en-US" sz="22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有序。</a:t>
            </a:r>
            <a:endParaRPr lang="en-US" altLang="zh-CN" sz="22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defTabSz="914400" eaLnBrk="0" fontAlgn="base" hangingPunct="0">
              <a:spcBef>
                <a:spcPct val="0"/>
              </a:spcBef>
              <a:spcAft>
                <a:spcPct val="0"/>
              </a:spcAft>
            </a:pPr>
            <a:r>
              <a:rPr lang="en-US" altLang="zh-CN" sz="22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实验结束后要打扫卫生：所有使用过的玻璃仪器必须清洗一遍（先用自来水洗，最后用去离子水润洗），先关闭所有电器的开关，然后拔下插头，用过的仪器按原来的位置整洁放好，注意每个实验组成套放置，不要乱拿乱放。</a:t>
            </a:r>
          </a:p>
          <a:p>
            <a:pPr defTabSz="914400" eaLnBrk="0" fontAlgn="base" hangingPunct="0">
              <a:spcBef>
                <a:spcPct val="0"/>
              </a:spcBef>
              <a:spcAft>
                <a:spcPct val="0"/>
              </a:spcAft>
            </a:pPr>
            <a:r>
              <a:rPr lang="en-US" altLang="zh-CN"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实验结束后关窗、关空调、关灯、关门</a:t>
            </a:r>
            <a:r>
              <a:rPr lang="zh-CN" altLang="en-US" sz="220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210627535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木头类型</Template>
  <TotalTime>748</TotalTime>
  <Words>2357</Words>
  <Application>Microsoft Office PowerPoint</Application>
  <PresentationFormat>宽屏</PresentationFormat>
  <Paragraphs>247</Paragraphs>
  <Slides>33</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2" baseType="lpstr">
      <vt:lpstr>方正姚体</vt:lpstr>
      <vt:lpstr>黑体</vt:lpstr>
      <vt:lpstr>宋体</vt:lpstr>
      <vt:lpstr>Rockwell</vt:lpstr>
      <vt:lpstr>Rockwell Condensed</vt:lpstr>
      <vt:lpstr>Times New Roman</vt:lpstr>
      <vt:lpstr>Wingdings</vt:lpstr>
      <vt:lpstr>木活字</vt:lpstr>
      <vt:lpstr>Equation</vt:lpstr>
      <vt:lpstr>凝固点降低法测相对分子量 金属相图测定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suda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盛夏</dc:creator>
  <cp:lastModifiedBy>ShengXia</cp:lastModifiedBy>
  <cp:revision>134</cp:revision>
  <dcterms:created xsi:type="dcterms:W3CDTF">2017-03-03T01:19:27Z</dcterms:created>
  <dcterms:modified xsi:type="dcterms:W3CDTF">2018-03-18T02:56:52Z</dcterms:modified>
</cp:coreProperties>
</file>