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82" r:id="rId7"/>
    <p:sldId id="28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17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526502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2655570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12727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255830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2165822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1324432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4158356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2404971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830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136184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2274693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2715F-8EFE-4AA0-AE39-E00F0C5E868F}" type="datetimeFigureOut">
              <a:rPr lang="zh-CN" altLang="en-US" smtClean="0"/>
              <a:t>2017/9/15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211790-7F4F-4AE8-98B4-5E7101A1F55D}" type="slidenum">
              <a:rPr lang="zh-CN" altLang="en-US" smtClean="0"/>
              <a:t>‹#›</a:t>
            </a:fld>
            <a:endParaRPr lang="zh-CN" altLang="en-US"/>
          </a:p>
        </p:txBody>
      </p:sp>
    </p:spTree>
    <p:extLst>
      <p:ext uri="{BB962C8B-B14F-4D97-AF65-F5344CB8AC3E}">
        <p14:creationId xmlns:p14="http://schemas.microsoft.com/office/powerpoint/2010/main" val="1094919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ctrTitle" idx="4294967295"/>
          </p:nvPr>
        </p:nvSpPr>
        <p:spPr>
          <a:xfrm>
            <a:off x="866775" y="404813"/>
            <a:ext cx="7772400" cy="431800"/>
          </a:xfrm>
        </p:spPr>
        <p:txBody>
          <a:bodyPr>
            <a:normAutofit fontScale="90000"/>
          </a:bodyPr>
          <a:lstStyle/>
          <a:p>
            <a:pPr algn="l" eaLnBrk="1" hangingPunct="1"/>
            <a:r>
              <a:rPr lang="zh-CN" altLang="en-US" sz="2400" b="1" smtClean="0">
                <a:latin typeface="Times New Roman" pitchFamily="18" charset="0"/>
                <a:ea typeface="黑体" pitchFamily="49" charset="-122"/>
              </a:rPr>
              <a:t>实验五   苯甲醛红外光谱的密度泛函理论研究</a:t>
            </a:r>
          </a:p>
        </p:txBody>
      </p:sp>
      <p:sp>
        <p:nvSpPr>
          <p:cNvPr id="61443" name="Rectangle 6"/>
          <p:cNvSpPr>
            <a:spLocks noGrp="1" noChangeArrowheads="1"/>
          </p:cNvSpPr>
          <p:nvPr>
            <p:ph type="subTitle" idx="4294967295"/>
          </p:nvPr>
        </p:nvSpPr>
        <p:spPr>
          <a:xfrm>
            <a:off x="601663" y="838200"/>
            <a:ext cx="8064500" cy="2882900"/>
          </a:xfrm>
        </p:spPr>
        <p:txBody>
          <a:bodyPr>
            <a:normAutofit fontScale="92500"/>
          </a:bodyPr>
          <a:lstStyle/>
          <a:p>
            <a:pPr marL="0" indent="0" eaLnBrk="1" hangingPunct="1">
              <a:lnSpc>
                <a:spcPct val="140000"/>
              </a:lnSpc>
              <a:buFontTx/>
              <a:buNone/>
              <a:defRPr/>
            </a:pPr>
            <a:r>
              <a:rPr lang="zh-CN" altLang="en-US" sz="2400" b="1" dirty="0" smtClean="0">
                <a:latin typeface="黑体" pitchFamily="49" charset="-122"/>
                <a:ea typeface="黑体" pitchFamily="49" charset="-122"/>
              </a:rPr>
              <a:t>一、实验目的</a:t>
            </a:r>
          </a:p>
          <a:p>
            <a:pPr marL="0" indent="0">
              <a:lnSpc>
                <a:spcPct val="150000"/>
              </a:lnSpc>
              <a:spcAft>
                <a:spcPts val="0"/>
              </a:spcAft>
              <a:buFontTx/>
              <a:buNone/>
              <a:defRPr/>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 </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熟悉</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使用</a:t>
            </a:r>
            <a:r>
              <a:rPr lang="en-US" altLang="zh-CN" sz="2400" b="1" dirty="0" err="1" smtClean="0">
                <a:latin typeface="Times New Roman" panose="02020603050405020304" pitchFamily="18" charset="0"/>
                <a:ea typeface="黑体" panose="02010609060101010101" pitchFamily="49" charset="-122"/>
                <a:cs typeface="Times New Roman" panose="02020603050405020304" pitchFamily="18" charset="0"/>
              </a:rPr>
              <a:t>Gaussview</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量化处理软件和</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EditPlus</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编辑</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软件</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Origin </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作图软件</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及</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Gaussian </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等软件进行密度泛函理论计算。</a:t>
            </a:r>
            <a:endParaRPr lang="zh-CN" altLang="zh-CN" sz="1600" b="1" kern="100" dirty="0">
              <a:latin typeface="Times New Roman" panose="02020603050405020304" pitchFamily="18" charset="0"/>
              <a:ea typeface="黑体" panose="02010609060101010101" pitchFamily="49" charset="-122"/>
              <a:cs typeface="Times New Roman" panose="02020603050405020304" pitchFamily="18" charset="0"/>
            </a:endParaRPr>
          </a:p>
          <a:p>
            <a:pPr marL="0" indent="0" algn="just">
              <a:lnSpc>
                <a:spcPct val="150000"/>
              </a:lnSpc>
              <a:spcAft>
                <a:spcPts val="0"/>
              </a:spcAft>
              <a:buFontTx/>
              <a:buNone/>
              <a:defRPr/>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 </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掌握</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分</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子结构优化、热力学数据和</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红外光谱</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的理论</a:t>
            </a:r>
            <a:r>
              <a:rPr lang="zh-CN" altLang="zh-CN" sz="2400" b="1" dirty="0" smtClean="0">
                <a:latin typeface="Times New Roman" panose="02020603050405020304" pitchFamily="18" charset="0"/>
                <a:ea typeface="黑体" panose="02010609060101010101" pitchFamily="49" charset="-122"/>
                <a:cs typeface="Times New Roman" panose="02020603050405020304" pitchFamily="18" charset="0"/>
              </a:rPr>
              <a:t>计算方法</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lgn="just">
              <a:lnSpc>
                <a:spcPct val="150000"/>
              </a:lnSpc>
              <a:spcAft>
                <a:spcPts val="0"/>
              </a:spcAft>
              <a:buFontTx/>
              <a:buNone/>
              <a:defRPr/>
            </a:pP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掌握</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Gaussian</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计算结果的分析。</a:t>
            </a:r>
            <a:endParaRPr lang="zh-CN" altLang="zh-CN" sz="2400" b="1" kern="1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3492" name="Text Box 7"/>
          <p:cNvSpPr txBox="1">
            <a:spLocks noChangeArrowheads="1"/>
          </p:cNvSpPr>
          <p:nvPr/>
        </p:nvSpPr>
        <p:spPr bwMode="auto">
          <a:xfrm>
            <a:off x="600075" y="3721100"/>
            <a:ext cx="8280400"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lnSpc>
                <a:spcPct val="150000"/>
              </a:lnSpc>
              <a:spcBef>
                <a:spcPct val="50000"/>
              </a:spcBef>
              <a:buFontTx/>
              <a:buNone/>
            </a:pPr>
            <a:r>
              <a:rPr lang="zh-CN" altLang="en-US" sz="2400" b="1" dirty="0">
                <a:latin typeface="黑体" pitchFamily="49" charset="-122"/>
                <a:ea typeface="黑体" pitchFamily="49" charset="-122"/>
              </a:rPr>
              <a:t>二、实验原理</a:t>
            </a:r>
            <a:endParaRPr lang="en-US" altLang="zh-CN" sz="2400" b="1" dirty="0">
              <a:latin typeface="黑体" pitchFamily="49" charset="-122"/>
              <a:ea typeface="黑体" pitchFamily="49" charset="-122"/>
            </a:endParaRPr>
          </a:p>
          <a:p>
            <a:pPr eaLnBrk="1" hangingPunct="1">
              <a:lnSpc>
                <a:spcPct val="150000"/>
              </a:lnSpc>
              <a:spcBef>
                <a:spcPct val="50000"/>
              </a:spcBef>
              <a:buFontTx/>
              <a:buNone/>
            </a:pPr>
            <a:r>
              <a:rPr lang="en-US" altLang="zh-CN" sz="2400" b="1" dirty="0">
                <a:latin typeface="黑体" pitchFamily="49" charset="-122"/>
                <a:ea typeface="黑体" pitchFamily="49" charset="-122"/>
              </a:rPr>
              <a:t>1</a:t>
            </a:r>
            <a:r>
              <a:rPr lang="zh-CN" altLang="en-US" sz="2400" b="1" dirty="0">
                <a:latin typeface="黑体" pitchFamily="49" charset="-122"/>
                <a:ea typeface="黑体" pitchFamily="49" charset="-122"/>
              </a:rPr>
              <a:t>、</a:t>
            </a:r>
            <a:r>
              <a:rPr lang="zh-CN" altLang="zh-CN" sz="2400" b="1" dirty="0">
                <a:latin typeface="黑体" pitchFamily="49" charset="-122"/>
                <a:ea typeface="黑体" pitchFamily="49" charset="-122"/>
              </a:rPr>
              <a:t>量子化学计算中，密度泛函理论（</a:t>
            </a:r>
            <a:r>
              <a:rPr lang="en-US" altLang="zh-CN" sz="2400" b="1" dirty="0">
                <a:latin typeface="黑体" pitchFamily="49" charset="-122"/>
                <a:ea typeface="黑体" pitchFamily="49" charset="-122"/>
              </a:rPr>
              <a:t>DFT</a:t>
            </a:r>
            <a:r>
              <a:rPr lang="zh-CN" altLang="zh-CN" sz="2400" b="1" dirty="0">
                <a:latin typeface="黑体" pitchFamily="49" charset="-122"/>
                <a:ea typeface="黑体" pitchFamily="49" charset="-122"/>
              </a:rPr>
              <a:t>）计算通常能给出较好的构型优化及频率计算结果，其中最广泛使用的是</a:t>
            </a:r>
            <a:r>
              <a:rPr lang="en-US" altLang="zh-CN" sz="2400" b="1" dirty="0">
                <a:latin typeface="黑体" pitchFamily="49" charset="-122"/>
                <a:ea typeface="黑体" pitchFamily="49" charset="-122"/>
              </a:rPr>
              <a:t>B3LYP </a:t>
            </a:r>
            <a:r>
              <a:rPr lang="zh-CN" altLang="zh-CN" sz="2400" b="1" dirty="0">
                <a:latin typeface="黑体" pitchFamily="49" charset="-122"/>
                <a:ea typeface="黑体" pitchFamily="49" charset="-122"/>
              </a:rPr>
              <a:t>方法。分子轨道常采用原子轨道线形组合，原子轨道基函数的集合称基组，本实验采用</a:t>
            </a:r>
            <a:r>
              <a:rPr lang="en-US" altLang="zh-CN" sz="2400" b="1" dirty="0">
                <a:latin typeface="黑体" pitchFamily="49" charset="-122"/>
                <a:ea typeface="黑体" pitchFamily="49" charset="-122"/>
              </a:rPr>
              <a:t>6-31G</a:t>
            </a:r>
            <a:r>
              <a:rPr lang="zh-CN" altLang="zh-CN" sz="2400" b="1" dirty="0">
                <a:latin typeface="黑体" pitchFamily="49" charset="-122"/>
                <a:ea typeface="黑体" pitchFamily="49" charset="-122"/>
              </a:rPr>
              <a:t>。</a:t>
            </a:r>
          </a:p>
        </p:txBody>
      </p:sp>
    </p:spTree>
    <p:extLst>
      <p:ext uri="{BB962C8B-B14F-4D97-AF65-F5344CB8AC3E}">
        <p14:creationId xmlns:p14="http://schemas.microsoft.com/office/powerpoint/2010/main" val="3222277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body" idx="1"/>
          </p:nvPr>
        </p:nvSpPr>
        <p:spPr>
          <a:xfrm>
            <a:off x="457200" y="477838"/>
            <a:ext cx="8435975" cy="5649912"/>
          </a:xfrm>
        </p:spPr>
        <p:txBody>
          <a:bodyPr>
            <a:normAutofit/>
          </a:bodyPr>
          <a:lstStyle/>
          <a:p>
            <a:pPr marL="0" indent="0">
              <a:lnSpc>
                <a:spcPct val="150000"/>
              </a:lnSpc>
              <a:buFontTx/>
              <a:buNone/>
              <a:defRPr/>
            </a:pPr>
            <a:r>
              <a:rPr lang="zh-CN" altLang="en-US" sz="2400" b="1" dirty="0" smtClean="0">
                <a:latin typeface="黑体" pitchFamily="49" charset="-122"/>
                <a:ea typeface="黑体" pitchFamily="49" charset="-122"/>
              </a:rPr>
              <a:t> </a:t>
            </a:r>
            <a:r>
              <a:rPr lang="en-US" altLang="zh-CN" sz="2400" b="1" dirty="0">
                <a:latin typeface="Times New Roman" pitchFamily="18" charset="0"/>
                <a:ea typeface="黑体" pitchFamily="49" charset="-122"/>
              </a:rPr>
              <a:t>Gaussian </a:t>
            </a:r>
            <a:r>
              <a:rPr lang="zh-CN" altLang="zh-CN" sz="2400" b="1" dirty="0" smtClean="0">
                <a:latin typeface="Times New Roman" pitchFamily="18" charset="0"/>
                <a:ea typeface="黑体" pitchFamily="49" charset="-122"/>
              </a:rPr>
              <a:t>软件</a:t>
            </a:r>
            <a:r>
              <a:rPr lang="zh-CN" altLang="en-US" sz="2400" b="1" dirty="0" smtClean="0">
                <a:latin typeface="Times New Roman" pitchFamily="18" charset="0"/>
                <a:ea typeface="黑体" pitchFamily="49" charset="-122"/>
              </a:rPr>
              <a:t>功能很大，</a:t>
            </a:r>
            <a:r>
              <a:rPr lang="zh-CN" altLang="zh-CN" sz="2400" b="1" dirty="0" smtClean="0">
                <a:latin typeface="Times New Roman" pitchFamily="18" charset="0"/>
                <a:ea typeface="黑体" pitchFamily="49" charset="-122"/>
              </a:rPr>
              <a:t>可</a:t>
            </a:r>
            <a:r>
              <a:rPr lang="zh-CN" altLang="zh-CN" sz="2400" b="1" dirty="0">
                <a:latin typeface="Times New Roman" pitchFamily="18" charset="0"/>
                <a:ea typeface="黑体" pitchFamily="49" charset="-122"/>
              </a:rPr>
              <a:t>计算</a:t>
            </a:r>
            <a:r>
              <a:rPr lang="zh-CN" altLang="zh-CN" sz="2400" b="1" dirty="0" smtClean="0">
                <a:latin typeface="Times New Roman" pitchFamily="18" charset="0"/>
                <a:ea typeface="黑体" pitchFamily="49" charset="-122"/>
              </a:rPr>
              <a:t>分子</a:t>
            </a:r>
            <a:r>
              <a:rPr lang="zh-CN" altLang="en-US" sz="2400" b="1" dirty="0" smtClean="0">
                <a:latin typeface="Times New Roman" pitchFamily="18" charset="0"/>
                <a:ea typeface="黑体" pitchFamily="49" charset="-122"/>
              </a:rPr>
              <a:t>优化结构、红外光谱</a:t>
            </a:r>
            <a:r>
              <a:rPr lang="zh-CN" altLang="zh-CN" sz="2400" b="1" dirty="0" smtClean="0">
                <a:latin typeface="Times New Roman" pitchFamily="18" charset="0"/>
                <a:ea typeface="黑体" pitchFamily="49" charset="-122"/>
              </a:rPr>
              <a:t>，</a:t>
            </a:r>
            <a:r>
              <a:rPr lang="zh-CN" altLang="zh-CN" sz="2400" b="1" dirty="0">
                <a:latin typeface="Times New Roman" pitchFamily="18" charset="0"/>
                <a:ea typeface="黑体" pitchFamily="49" charset="-122"/>
              </a:rPr>
              <a:t>同时可以给出热力学参量</a:t>
            </a:r>
            <a:r>
              <a:rPr lang="zh-CN" altLang="zh-CN" sz="2400" b="1" dirty="0" smtClean="0">
                <a:latin typeface="Times New Roman" pitchFamily="18" charset="0"/>
                <a:ea typeface="黑体" pitchFamily="49" charset="-122"/>
              </a:rPr>
              <a:t>。</a:t>
            </a:r>
            <a:r>
              <a:rPr lang="zh-CN" altLang="en-US" sz="2400" b="1" dirty="0" smtClean="0">
                <a:latin typeface="Times New Roman" pitchFamily="18" charset="0"/>
                <a:ea typeface="黑体" pitchFamily="49" charset="-122"/>
              </a:rPr>
              <a:t>也可以计算化学反应机理等等。</a:t>
            </a:r>
            <a:endParaRPr lang="zh-CN" altLang="zh-CN" sz="2400" b="1" dirty="0">
              <a:latin typeface="Times New Roman" pitchFamily="18" charset="0"/>
              <a:ea typeface="黑体" pitchFamily="49" charset="-122"/>
            </a:endParaRPr>
          </a:p>
          <a:p>
            <a:pPr marL="0" indent="0">
              <a:lnSpc>
                <a:spcPct val="150000"/>
              </a:lnSpc>
              <a:buFontTx/>
              <a:buNone/>
              <a:defRPr/>
            </a:pPr>
            <a:r>
              <a:rPr lang="zh-CN" altLang="en-US" sz="2400" b="1" dirty="0" smtClean="0">
                <a:latin typeface="Times New Roman" pitchFamily="18" charset="0"/>
                <a:ea typeface="黑体" pitchFamily="49" charset="-122"/>
              </a:rPr>
              <a:t>光谱</a:t>
            </a:r>
            <a:r>
              <a:rPr lang="zh-CN" altLang="zh-CN" sz="2400" b="1" dirty="0" smtClean="0">
                <a:latin typeface="Times New Roman" pitchFamily="18" charset="0"/>
                <a:ea typeface="黑体" pitchFamily="49" charset="-122"/>
              </a:rPr>
              <a:t>频率</a:t>
            </a:r>
            <a:r>
              <a:rPr lang="zh-CN" altLang="zh-CN" sz="2400" b="1" dirty="0">
                <a:latin typeface="Times New Roman" pitchFamily="18" charset="0"/>
                <a:ea typeface="黑体" pitchFamily="49" charset="-122"/>
              </a:rPr>
              <a:t>的计算</a:t>
            </a:r>
            <a:r>
              <a:rPr lang="zh-CN" altLang="zh-CN" sz="2400" b="1" dirty="0" smtClean="0">
                <a:latin typeface="Times New Roman" pitchFamily="18" charset="0"/>
                <a:ea typeface="黑体" pitchFamily="49" charset="-122"/>
              </a:rPr>
              <a:t>是</a:t>
            </a:r>
            <a:r>
              <a:rPr lang="zh-CN" altLang="en-US" sz="2400" b="1" dirty="0" smtClean="0">
                <a:latin typeface="Times New Roman" pitchFamily="18" charset="0"/>
                <a:ea typeface="黑体" pitchFamily="49" charset="-122"/>
              </a:rPr>
              <a:t>在</a:t>
            </a:r>
            <a:r>
              <a:rPr lang="zh-CN" altLang="zh-CN" sz="2400" b="1" dirty="0" smtClean="0">
                <a:latin typeface="Times New Roman" pitchFamily="18" charset="0"/>
                <a:ea typeface="黑体" pitchFamily="49" charset="-122"/>
              </a:rPr>
              <a:t>优化构型</a:t>
            </a:r>
            <a:r>
              <a:rPr lang="zh-CN" altLang="en-US" sz="2400" b="1" dirty="0" smtClean="0">
                <a:latin typeface="Times New Roman" pitchFamily="18" charset="0"/>
                <a:ea typeface="黑体" pitchFamily="49" charset="-122"/>
              </a:rPr>
              <a:t>基础上</a:t>
            </a:r>
            <a:r>
              <a:rPr lang="zh-CN" altLang="zh-CN" sz="2400" b="1" dirty="0" smtClean="0">
                <a:latin typeface="Times New Roman" pitchFamily="18" charset="0"/>
                <a:ea typeface="黑体" pitchFamily="49" charset="-122"/>
              </a:rPr>
              <a:t>，</a:t>
            </a:r>
            <a:r>
              <a:rPr lang="zh-CN" altLang="zh-CN" sz="2400" b="1" dirty="0">
                <a:latin typeface="Times New Roman" pitchFamily="18" charset="0"/>
                <a:ea typeface="黑体" pitchFamily="49" charset="-122"/>
              </a:rPr>
              <a:t>只有对势能面上的稳定点作频率计算才有意义</a:t>
            </a:r>
            <a:r>
              <a:rPr lang="zh-CN" altLang="zh-CN" sz="2400" b="1" dirty="0" smtClean="0">
                <a:latin typeface="Times New Roman" pitchFamily="18" charset="0"/>
                <a:ea typeface="黑体" pitchFamily="49" charset="-122"/>
              </a:rPr>
              <a:t>。</a:t>
            </a:r>
            <a:endParaRPr lang="en-US" altLang="zh-CN" sz="2400" b="1" dirty="0" smtClean="0">
              <a:latin typeface="Times New Roman" pitchFamily="18" charset="0"/>
              <a:ea typeface="黑体" pitchFamily="49" charset="-122"/>
            </a:endParaRPr>
          </a:p>
          <a:p>
            <a:pPr marL="0" indent="0">
              <a:lnSpc>
                <a:spcPct val="150000"/>
              </a:lnSpc>
              <a:buFontTx/>
              <a:buNone/>
              <a:defRPr/>
            </a:pPr>
            <a:r>
              <a:rPr lang="zh-CN" altLang="zh-CN" sz="2400" b="1" dirty="0" smtClean="0">
                <a:latin typeface="Times New Roman" pitchFamily="18" charset="0"/>
                <a:ea typeface="黑体" pitchFamily="49" charset="-122"/>
              </a:rPr>
              <a:t>势能面</a:t>
            </a:r>
            <a:r>
              <a:rPr lang="zh-CN" altLang="zh-CN" sz="2400" b="1" dirty="0">
                <a:latin typeface="Times New Roman" pitchFamily="18" charset="0"/>
                <a:ea typeface="黑体" pitchFamily="49" charset="-122"/>
              </a:rPr>
              <a:t>上的稳定点是利用分子能量队左边的一阶导数获得的，它可能是基态分子的优化构型，也可能是过渡态的优化构型。频率计算结果有助于确证势能面上的稳定点的类型。基态分子不能有虚频，过渡态则有且仅有一个虚频。</a:t>
            </a:r>
          </a:p>
          <a:p>
            <a:pPr eaLnBrk="1" hangingPunct="1">
              <a:lnSpc>
                <a:spcPct val="150000"/>
              </a:lnSpc>
              <a:buFontTx/>
              <a:buNone/>
              <a:defRPr/>
            </a:pPr>
            <a:r>
              <a:rPr lang="zh-CN" altLang="en-US" sz="2400" b="1" dirty="0" smtClean="0">
                <a:latin typeface="Times New Roman" pitchFamily="18" charset="0"/>
                <a:ea typeface="黑体" pitchFamily="49" charset="-122"/>
              </a:rPr>
              <a:t>   </a:t>
            </a:r>
            <a:r>
              <a:rPr lang="en-US" altLang="zh-CN" sz="2400" b="1" dirty="0" smtClean="0">
                <a:latin typeface="Times New Roman" pitchFamily="18" charset="0"/>
                <a:ea typeface="黑体" pitchFamily="49" charset="-122"/>
              </a:rPr>
              <a:t> </a:t>
            </a:r>
            <a:endParaRPr lang="en-US" altLang="zh-CN" sz="2400" b="1" dirty="0" smtClean="0">
              <a:latin typeface="黑体" pitchFamily="49" charset="-122"/>
              <a:ea typeface="黑体" pitchFamily="49" charset="-122"/>
            </a:endParaRPr>
          </a:p>
        </p:txBody>
      </p:sp>
    </p:spTree>
    <p:extLst>
      <p:ext uri="{BB962C8B-B14F-4D97-AF65-F5344CB8AC3E}">
        <p14:creationId xmlns:p14="http://schemas.microsoft.com/office/powerpoint/2010/main" val="2856964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4"/>
          <p:cNvSpPr txBox="1">
            <a:spLocks noChangeArrowheads="1"/>
          </p:cNvSpPr>
          <p:nvPr/>
        </p:nvSpPr>
        <p:spPr bwMode="auto">
          <a:xfrm>
            <a:off x="539750" y="392113"/>
            <a:ext cx="8281988"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buFontTx/>
              <a:buNone/>
            </a:pPr>
            <a:r>
              <a:rPr lang="zh-CN" altLang="en-US" sz="2400" b="1" dirty="0">
                <a:latin typeface="黑体" pitchFamily="49" charset="-122"/>
                <a:ea typeface="黑体" pitchFamily="49" charset="-122"/>
              </a:rPr>
              <a:t>二、</a:t>
            </a:r>
            <a:r>
              <a:rPr lang="zh-CN" altLang="zh-CN" sz="2400" b="1" dirty="0">
                <a:latin typeface="黑体" pitchFamily="49" charset="-122"/>
                <a:ea typeface="黑体" pitchFamily="49" charset="-122"/>
              </a:rPr>
              <a:t>实验所需软件与仪器</a:t>
            </a:r>
          </a:p>
          <a:p>
            <a:pPr eaLnBrk="1" hangingPunct="1">
              <a:lnSpc>
                <a:spcPct val="150000"/>
              </a:lnSpc>
              <a:spcBef>
                <a:spcPct val="50000"/>
              </a:spcBef>
              <a:buFontTx/>
              <a:buNone/>
            </a:pPr>
            <a:r>
              <a:rPr lang="en-US" altLang="zh-CN" sz="2400" b="1" dirty="0">
                <a:latin typeface="黑体" pitchFamily="49" charset="-122"/>
                <a:ea typeface="黑体" pitchFamily="49" charset="-122"/>
              </a:rPr>
              <a:t>1</a:t>
            </a:r>
            <a:r>
              <a:rPr lang="zh-CN" altLang="en-US" sz="2400" b="1" dirty="0">
                <a:latin typeface="黑体" pitchFamily="49" charset="-122"/>
                <a:ea typeface="黑体" pitchFamily="49" charset="-122"/>
              </a:rPr>
              <a:t>、软件</a:t>
            </a:r>
          </a:p>
          <a:p>
            <a:pPr eaLnBrk="1" hangingPunct="1">
              <a:lnSpc>
                <a:spcPct val="150000"/>
              </a:lnSpc>
              <a:spcBef>
                <a:spcPct val="50000"/>
              </a:spcBef>
              <a:buFontTx/>
              <a:buNone/>
            </a:pPr>
            <a:r>
              <a:rPr lang="en-US" altLang="zh-CN" sz="2400" b="1" dirty="0" err="1" smtClean="0">
                <a:solidFill>
                  <a:srgbClr val="FF0000"/>
                </a:solidFill>
                <a:latin typeface="Times New Roman" pitchFamily="18" charset="0"/>
                <a:ea typeface="黑体" pitchFamily="49" charset="-122"/>
              </a:rPr>
              <a:t>GaussView</a:t>
            </a:r>
            <a:r>
              <a:rPr lang="zh-CN" altLang="en-US" sz="2400" b="1" dirty="0">
                <a:solidFill>
                  <a:srgbClr val="FF0000"/>
                </a:solidFill>
                <a:latin typeface="黑体" pitchFamily="49" charset="-122"/>
                <a:ea typeface="黑体" pitchFamily="49" charset="-122"/>
              </a:rPr>
              <a:t>软件，</a:t>
            </a:r>
            <a:r>
              <a:rPr lang="en-US" altLang="zh-CN" sz="2400" b="1" dirty="0" err="1">
                <a:solidFill>
                  <a:srgbClr val="FF0000"/>
                </a:solidFill>
                <a:latin typeface="Times New Roman" pitchFamily="18" charset="0"/>
                <a:ea typeface="黑体" pitchFamily="49" charset="-122"/>
              </a:rPr>
              <a:t>Editplus</a:t>
            </a:r>
            <a:r>
              <a:rPr lang="zh-CN" altLang="en-US" sz="2400" b="1" dirty="0">
                <a:solidFill>
                  <a:srgbClr val="FF0000"/>
                </a:solidFill>
                <a:latin typeface="黑体" pitchFamily="49" charset="-122"/>
                <a:ea typeface="黑体" pitchFamily="49" charset="-122"/>
              </a:rPr>
              <a:t>编辑软件</a:t>
            </a:r>
            <a:r>
              <a:rPr lang="zh-CN" altLang="en-US" sz="2400" b="1" dirty="0" smtClean="0">
                <a:solidFill>
                  <a:srgbClr val="FF0000"/>
                </a:solidFill>
                <a:latin typeface="黑体" pitchFamily="49" charset="-122"/>
                <a:ea typeface="黑体" pitchFamily="49" charset="-122"/>
              </a:rPr>
              <a:t>，</a:t>
            </a:r>
            <a:r>
              <a:rPr lang="en-US" altLang="zh-CN" sz="2400" b="1" dirty="0" smtClean="0">
                <a:solidFill>
                  <a:srgbClr val="FF0000"/>
                </a:solidFill>
                <a:latin typeface="Times New Roman" panose="02020603050405020304" pitchFamily="18" charset="0"/>
                <a:ea typeface="黑体" pitchFamily="49" charset="-122"/>
                <a:cs typeface="Times New Roman" panose="02020603050405020304" pitchFamily="18" charset="0"/>
              </a:rPr>
              <a:t>Origin</a:t>
            </a:r>
            <a:r>
              <a:rPr lang="zh-CN" altLang="en-US" sz="2400" b="1" dirty="0" smtClean="0">
                <a:solidFill>
                  <a:srgbClr val="FF0000"/>
                </a:solidFill>
                <a:latin typeface="Times New Roman" panose="02020603050405020304" pitchFamily="18" charset="0"/>
                <a:ea typeface="黑体" pitchFamily="49" charset="-122"/>
                <a:cs typeface="Times New Roman" panose="02020603050405020304" pitchFamily="18" charset="0"/>
              </a:rPr>
              <a:t>软件，</a:t>
            </a:r>
            <a:r>
              <a:rPr lang="en-US" altLang="zh-CN" sz="2400" b="1" dirty="0" smtClean="0">
                <a:latin typeface="Times New Roman" pitchFamily="18" charset="0"/>
                <a:ea typeface="黑体" pitchFamily="49" charset="-122"/>
              </a:rPr>
              <a:t>Gaussian</a:t>
            </a:r>
            <a:r>
              <a:rPr lang="zh-CN" altLang="en-US" sz="2400" b="1" dirty="0">
                <a:latin typeface="黑体" pitchFamily="49" charset="-122"/>
                <a:ea typeface="黑体" pitchFamily="49" charset="-122"/>
              </a:rPr>
              <a:t>量子化学计算软件</a:t>
            </a:r>
          </a:p>
          <a:p>
            <a:pPr eaLnBrk="1" hangingPunct="1">
              <a:lnSpc>
                <a:spcPct val="150000"/>
              </a:lnSpc>
              <a:spcBef>
                <a:spcPct val="50000"/>
              </a:spcBef>
              <a:buFontTx/>
              <a:buNone/>
            </a:pPr>
            <a:r>
              <a:rPr lang="en-US" altLang="zh-CN" sz="2400" b="1" dirty="0">
                <a:latin typeface="黑体" pitchFamily="49" charset="-122"/>
                <a:ea typeface="黑体" pitchFamily="49" charset="-122"/>
              </a:rPr>
              <a:t>2</a:t>
            </a:r>
            <a:r>
              <a:rPr lang="zh-CN" altLang="en-US" sz="2400" b="1" dirty="0">
                <a:latin typeface="黑体" pitchFamily="49" charset="-122"/>
                <a:ea typeface="黑体" pitchFamily="49" charset="-122"/>
              </a:rPr>
              <a:t>、仪器：微机一台</a:t>
            </a:r>
          </a:p>
        </p:txBody>
      </p:sp>
    </p:spTree>
    <p:extLst>
      <p:ext uri="{BB962C8B-B14F-4D97-AF65-F5344CB8AC3E}">
        <p14:creationId xmlns:p14="http://schemas.microsoft.com/office/powerpoint/2010/main" val="41850161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8125" y="612775"/>
            <a:ext cx="8905875" cy="5632311"/>
          </a:xfrm>
          <a:prstGeom prst="rect">
            <a:avLst/>
          </a:prstGeom>
        </p:spPr>
        <p:txBody>
          <a:bodyPr wrap="square">
            <a:spAutoFit/>
          </a:bodyPr>
          <a:lstStyle/>
          <a:p>
            <a:pPr>
              <a:spcAft>
                <a:spcPts val="0"/>
              </a:spcAft>
              <a:buFont typeface="Arial" charset="0"/>
              <a:buNone/>
              <a:defRPr/>
            </a:pP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三、 实验步骤</a:t>
            </a:r>
            <a:endPar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endParaRPr>
          </a:p>
          <a:p>
            <a:pPr>
              <a:spcAft>
                <a:spcPts val="0"/>
              </a:spcAft>
              <a:buFont typeface="Arial" charset="0"/>
              <a:buNone/>
              <a:defRPr/>
            </a:pP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构建分子的初始</a:t>
            </a:r>
            <a:r>
              <a:rPr lang="zh-CN"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构型</a:t>
            </a: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kern="0" dirty="0" err="1" smtClean="0">
                <a:latin typeface="Times New Roman" panose="02020603050405020304" pitchFamily="18" charset="0"/>
                <a:ea typeface="黑体" panose="02010609060101010101" pitchFamily="49" charset="-122"/>
                <a:cs typeface="Times New Roman" panose="02020603050405020304" pitchFamily="18" charset="0"/>
              </a:rPr>
              <a:t>Gaussview</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软件使用）</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355600">
              <a:lnSpc>
                <a:spcPct val="150000"/>
              </a:lnSpc>
              <a:spcAft>
                <a:spcPts val="0"/>
              </a:spcAft>
              <a:buFont typeface="Arial" charset="0"/>
              <a:buNone/>
              <a:defRPr/>
            </a:pP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b="1" kern="0" dirty="0" err="1">
                <a:latin typeface="Times New Roman" panose="02020603050405020304" pitchFamily="18" charset="0"/>
                <a:ea typeface="黑体" panose="02010609060101010101" pitchFamily="49" charset="-122"/>
                <a:cs typeface="Times New Roman" panose="02020603050405020304" pitchFamily="18" charset="0"/>
              </a:rPr>
              <a:t>Gaussview</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软件</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绘制苯甲醛分子结构，然后，将所得分</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子结构保存</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为</a:t>
            </a: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name.com </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文件</a:t>
            </a:r>
            <a:r>
              <a:rPr lang="zh-CN" altLang="en-US" sz="2400" kern="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defRPr/>
            </a:pP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2. </a:t>
            </a: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b="1" kern="0" dirty="0" err="1">
                <a:latin typeface="Times New Roman" panose="02020603050405020304" pitchFamily="18" charset="0"/>
                <a:ea typeface="黑体" panose="02010609060101010101" pitchFamily="49" charset="-122"/>
                <a:cs typeface="Times New Roman" panose="02020603050405020304" pitchFamily="18" charset="0"/>
              </a:rPr>
              <a:t>editplus</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name.com </a:t>
            </a:r>
            <a:r>
              <a:rPr lang="zh-CN"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文件</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kern="0" dirty="0" err="1">
                <a:latin typeface="Times New Roman" panose="02020603050405020304" pitchFamily="18" charset="0"/>
                <a:ea typeface="黑体" panose="02010609060101010101" pitchFamily="49" charset="-122"/>
                <a:cs typeface="Times New Roman" panose="02020603050405020304" pitchFamily="18" charset="0"/>
              </a:rPr>
              <a:t>editplus</a:t>
            </a: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软件使用）</a:t>
            </a:r>
            <a:endPar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defRPr/>
            </a:pPr>
            <a:r>
              <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kern="0" dirty="0" smtClean="0">
                <a:latin typeface="Times New Roman" panose="02020603050405020304" pitchFamily="18" charset="0"/>
                <a:ea typeface="黑体" panose="02010609060101010101" pitchFamily="49" charset="-122"/>
                <a:cs typeface="Times New Roman" panose="02020603050405020304" pitchFamily="18" charset="0"/>
              </a:rPr>
              <a:t>找到</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苯甲醛分</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子结构</a:t>
            </a:r>
            <a:r>
              <a:rPr lang="zh-CN" altLang="en-US" sz="2400" kern="0" dirty="0" smtClean="0">
                <a:latin typeface="Times New Roman" panose="02020603050405020304" pitchFamily="18" charset="0"/>
                <a:ea typeface="黑体" panose="02010609060101010101" pitchFamily="49" charset="-122"/>
                <a:cs typeface="Times New Roman" panose="02020603050405020304" pitchFamily="18" charset="0"/>
              </a:rPr>
              <a:t>直角坐标数据</a:t>
            </a:r>
            <a:endPar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endParaRPr>
          </a:p>
          <a:p>
            <a:pPr>
              <a:defRPr/>
            </a:pP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构型优化及频率</a:t>
            </a:r>
            <a:r>
              <a:rPr lang="zh-CN"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计算</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kern="0" dirty="0" err="1" smtClean="0">
                <a:latin typeface="Times New Roman" panose="02020603050405020304" pitchFamily="18" charset="0"/>
                <a:ea typeface="黑体" panose="02010609060101010101" pitchFamily="49" charset="-122"/>
                <a:cs typeface="Times New Roman" panose="02020603050405020304" pitchFamily="18" charset="0"/>
              </a:rPr>
              <a:t>gaussian</a:t>
            </a: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 Word </a:t>
            </a:r>
            <a:r>
              <a:rPr lang="zh-CN" altLang="en-US" sz="2400" b="1" kern="0" dirty="0" smtClean="0">
                <a:latin typeface="Times New Roman" panose="02020603050405020304" pitchFamily="18" charset="0"/>
                <a:ea typeface="黑体" panose="02010609060101010101" pitchFamily="49" charset="-122"/>
                <a:cs typeface="Times New Roman" panose="02020603050405020304" pitchFamily="18" charset="0"/>
              </a:rPr>
              <a:t>版软件使用）</a:t>
            </a:r>
            <a:endPar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endParaRPr>
          </a:p>
          <a:p>
            <a:pPr>
              <a:defRPr/>
            </a:pP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kern="0" dirty="0" err="1">
                <a:latin typeface="Times New Roman" panose="02020603050405020304" pitchFamily="18" charset="0"/>
                <a:ea typeface="黑体" panose="02010609060101010101" pitchFamily="49" charset="-122"/>
                <a:cs typeface="Times New Roman" panose="02020603050405020304" pitchFamily="18" charset="0"/>
              </a:rPr>
              <a:t>gaussian</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软件。点击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file</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下的菜单</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new</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，出现对话框逐行输入</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endParaRPr>
          </a:p>
          <a:p>
            <a:pPr>
              <a:defRPr/>
            </a:pPr>
            <a:r>
              <a:rPr lang="en-US" altLang="zh-CN" sz="2400" kern="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section</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不填，</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route section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填 </a:t>
            </a:r>
            <a:r>
              <a:rPr lang="en-US" altLang="zh-CN" sz="2400" kern="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 b3lyp/6-31g opt </a:t>
            </a:r>
            <a:r>
              <a:rPr lang="en-US" altLang="zh-CN" sz="2400" kern="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freq</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400" kern="0" dirty="0" err="1">
                <a:latin typeface="Times New Roman" panose="02020603050405020304" pitchFamily="18" charset="0"/>
                <a:ea typeface="黑体" panose="02010609060101010101" pitchFamily="49" charset="-122"/>
                <a:cs typeface="Times New Roman" panose="02020603050405020304" pitchFamily="18" charset="0"/>
              </a:rPr>
              <a:t>editplus</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中的</a:t>
            </a:r>
            <a:r>
              <a:rPr lang="en-US" altLang="zh-CN" sz="2400" kern="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文件拷贝直角坐标数据，</a:t>
            </a:r>
            <a:r>
              <a:rPr lang="zh-CN" altLang="zh-CN" sz="2400" kern="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粘贴进最下面的框</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u="sng" kern="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并以空行结束</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，最后点</a:t>
            </a:r>
            <a:r>
              <a:rPr lang="zh-CN" altLang="en-US" sz="2400" kern="0" dirty="0">
                <a:latin typeface="Times New Roman" panose="02020603050405020304" pitchFamily="18" charset="0"/>
                <a:ea typeface="黑体" panose="02010609060101010101" pitchFamily="49" charset="-122"/>
                <a:cs typeface="Times New Roman" panose="02020603050405020304" pitchFamily="18" charset="0"/>
              </a:rPr>
              <a:t>击</a:t>
            </a:r>
            <a:r>
              <a:rPr lang="en-US" altLang="zh-CN" sz="2400" kern="0"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run</a:t>
            </a:r>
            <a:r>
              <a:rPr lang="zh-CN" altLang="en-US" sz="2400" kern="0"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，输出结果保存为</a:t>
            </a:r>
            <a:r>
              <a:rPr lang="en-US" altLang="zh-CN" sz="2400" b="1" kern="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en-US" altLang="zh-CN" sz="2400" b="1" kern="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endParaRPr>
          </a:p>
          <a:p>
            <a:pPr>
              <a:defRPr/>
            </a:pP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run progress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栏内</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出现</a:t>
            </a:r>
            <a:r>
              <a:rPr lang="en-US" altLang="zh-CN" sz="2400" kern="0"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Normal termination of Gaussian 03</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时</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，计算完成，找到相应的计算结果文件</a:t>
            </a:r>
            <a:r>
              <a:rPr lang="en-US" altLang="zh-CN" sz="2400" kern="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name.out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193917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type="body" idx="4294967295"/>
          </p:nvPr>
        </p:nvSpPr>
        <p:spPr>
          <a:xfrm>
            <a:off x="457200" y="476250"/>
            <a:ext cx="8867328" cy="5649913"/>
          </a:xfrm>
        </p:spPr>
        <p:txBody>
          <a:bodyPr/>
          <a:lstStyle/>
          <a:p>
            <a:pPr marL="0" indent="0">
              <a:buFontTx/>
              <a:buNone/>
              <a:defRPr/>
            </a:pPr>
            <a:r>
              <a:rPr lang="zh-CN" altLang="en-US" sz="2400" b="1" dirty="0" smtClean="0"/>
              <a:t>四</a:t>
            </a:r>
            <a:r>
              <a:rPr lang="zh-CN" altLang="zh-CN" sz="2400" b="1" dirty="0" smtClean="0"/>
              <a:t>、</a:t>
            </a:r>
            <a:r>
              <a:rPr lang="zh-CN" altLang="zh-CN" sz="2400" b="1" dirty="0"/>
              <a:t>实验</a:t>
            </a:r>
            <a:r>
              <a:rPr lang="zh-CN" altLang="zh-CN" sz="2400" b="1" dirty="0" smtClean="0"/>
              <a:t>数据处理</a:t>
            </a:r>
            <a:r>
              <a:rPr lang="en-US" altLang="zh-CN" sz="2400" b="1" dirty="0" smtClean="0"/>
              <a:t> </a:t>
            </a:r>
            <a:r>
              <a:rPr lang="zh-CN" altLang="en-US" sz="2400" b="1" dirty="0" smtClean="0"/>
              <a:t>（</a:t>
            </a:r>
            <a:r>
              <a:rPr lang="en-US" altLang="zh-CN" sz="2400" b="1" dirty="0" err="1" smtClean="0">
                <a:solidFill>
                  <a:srgbClr val="0000FF"/>
                </a:solidFill>
              </a:rPr>
              <a:t>name.out</a:t>
            </a:r>
            <a:r>
              <a:rPr lang="en-US" altLang="zh-CN" sz="2400" b="1" dirty="0" smtClean="0">
                <a:solidFill>
                  <a:srgbClr val="0000FF"/>
                </a:solidFill>
              </a:rPr>
              <a:t> </a:t>
            </a:r>
            <a:r>
              <a:rPr lang="zh-CN" altLang="en-US" sz="2400" b="1" dirty="0" smtClean="0"/>
              <a:t>）</a:t>
            </a:r>
            <a:endParaRPr lang="zh-CN" altLang="zh-CN" sz="2400" dirty="0"/>
          </a:p>
          <a:p>
            <a:pPr marL="0" indent="0">
              <a:buFontTx/>
              <a:buNone/>
              <a:defRPr/>
            </a:pPr>
            <a:r>
              <a:rPr lang="en-US" altLang="zh-CN" sz="2400" b="1" dirty="0"/>
              <a:t>1</a:t>
            </a:r>
            <a:r>
              <a:rPr lang="zh-CN" altLang="zh-CN" sz="2400" b="1" dirty="0" smtClean="0"/>
              <a:t>、</a:t>
            </a:r>
            <a:r>
              <a:rPr lang="zh-CN" altLang="en-US" sz="2400" b="1" dirty="0"/>
              <a:t>分</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子</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的优化构型图（带原子</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编号</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gaussview</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a:t>
            </a:r>
          </a:p>
          <a:p>
            <a:pPr eaLnBrk="1" hangingPunct="1">
              <a:buFontTx/>
              <a:buNone/>
              <a:defRPr/>
            </a:pPr>
            <a:endParaRPr lang="en-US" altLang="zh-CN" sz="2400" b="1" dirty="0" smtClean="0">
              <a:latin typeface="黑体" pitchFamily="49" charset="-122"/>
              <a:ea typeface="黑体" pitchFamily="49" charset="-122"/>
            </a:endParaRPr>
          </a:p>
        </p:txBody>
      </p:sp>
      <p:pic>
        <p:nvPicPr>
          <p:cNvPr id="67587"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1484784"/>
            <a:ext cx="3590925"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755576" y="4221088"/>
            <a:ext cx="7560840" cy="1200329"/>
          </a:xfrm>
          <a:prstGeom prst="rect">
            <a:avLst/>
          </a:prstGeom>
          <a:noFill/>
        </p:spPr>
        <p:txBody>
          <a:bodyPr wrap="square" rtlCol="0">
            <a:spAutoFit/>
          </a:bodyPr>
          <a:lstStyle/>
          <a:p>
            <a:r>
              <a:rPr lang="zh-CN" altLang="en-US" sz="2400" dirty="0" smtClean="0">
                <a:latin typeface="黑体" panose="02010609060101010101" pitchFamily="49" charset="-122"/>
                <a:ea typeface="黑体" panose="02010609060101010101" pitchFamily="49" charset="-122"/>
              </a:rPr>
              <a:t>打开</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gaussview</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程序 ，打开 </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View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菜单下点击</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Label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File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菜单下点击</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Save Image File…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文件另存为</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name.tif</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Tree>
    <p:extLst>
      <p:ext uri="{BB962C8B-B14F-4D97-AF65-F5344CB8AC3E}">
        <p14:creationId xmlns:p14="http://schemas.microsoft.com/office/powerpoint/2010/main" val="1747185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04664"/>
            <a:ext cx="7272808" cy="461665"/>
          </a:xfrm>
          <a:prstGeom prst="rect">
            <a:avLst/>
          </a:prstGeom>
          <a:noFill/>
        </p:spPr>
        <p:txBody>
          <a:bodyPr wrap="square" rtlCol="0">
            <a:spAutoFit/>
          </a:bodyPr>
          <a:lstStyle/>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、苯甲醛分子键长、键角和二面角数据</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Box 3"/>
          <p:cNvSpPr txBox="1"/>
          <p:nvPr/>
        </p:nvSpPr>
        <p:spPr>
          <a:xfrm>
            <a:off x="611560" y="1268760"/>
            <a:ext cx="7272808" cy="1200329"/>
          </a:xfrm>
          <a:prstGeom prst="rect">
            <a:avLst/>
          </a:prstGeom>
          <a:noFill/>
        </p:spPr>
        <p:txBody>
          <a:bodyPr wrap="square" rtlCol="0">
            <a:spAutoFit/>
          </a:bodyPr>
          <a:lstStyle/>
          <a:p>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Editplus</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文件，查找</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optimized</a:t>
            </a:r>
          </a:p>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Optimized Parameters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报道键长、键角和二面角数据</a:t>
            </a:r>
          </a:p>
          <a:p>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p:cNvSpPr/>
          <p:nvPr/>
        </p:nvSpPr>
        <p:spPr>
          <a:xfrm>
            <a:off x="467544" y="2564904"/>
            <a:ext cx="8279831" cy="1200329"/>
          </a:xfrm>
          <a:prstGeom prst="rect">
            <a:avLst/>
          </a:prstGeom>
        </p:spPr>
        <p:txBody>
          <a:bodyPr wrap="none">
            <a:spAutoFit/>
          </a:bodyPr>
          <a:lstStyle/>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、苯甲醛分子中各原子的标准坐标</a:t>
            </a:r>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Optimized Parameters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下面出现 第一个</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Standard orientation </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矩形 5"/>
          <p:cNvSpPr/>
          <p:nvPr/>
        </p:nvSpPr>
        <p:spPr>
          <a:xfrm>
            <a:off x="539552" y="4077072"/>
            <a:ext cx="7848872" cy="830997"/>
          </a:xfrm>
          <a:prstGeom prst="rect">
            <a:avLst/>
          </a:prstGeom>
        </p:spPr>
        <p:txBody>
          <a:bodyPr wrap="square">
            <a:spAutoFit/>
          </a:bodyPr>
          <a:lstStyle/>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、苯甲醛分子热力学参数 </a:t>
            </a:r>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查找</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Zero-point correction</a:t>
            </a:r>
          </a:p>
        </p:txBody>
      </p:sp>
    </p:spTree>
    <p:extLst>
      <p:ext uri="{BB962C8B-B14F-4D97-AF65-F5344CB8AC3E}">
        <p14:creationId xmlns:p14="http://schemas.microsoft.com/office/powerpoint/2010/main" val="557362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764704"/>
            <a:ext cx="6606480" cy="2308324"/>
          </a:xfrm>
          <a:prstGeom prst="rect">
            <a:avLst/>
          </a:prstGeom>
        </p:spPr>
        <p:txBody>
          <a:bodyPr wrap="square">
            <a:spAutoFit/>
          </a:bodyPr>
          <a:lstStyle/>
          <a:p>
            <a:r>
              <a:rPr lang="en-US" altLang="zh-CN"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Zero-point correction=                                0.247299 (</a:t>
            </a:r>
            <a:r>
              <a:rPr lang="en-US" altLang="zh-CN" dirty="0" err="1"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Hartree</a:t>
            </a:r>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/Particle)</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Thermal correction to Energy=                    0.263611</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Thermal correction to Enthalpy=                  0.264555</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Thermal correction to Gibbs Free Energy=   0.202726</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Sum of electronic and zero-point Energies=           -891.368368</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Sum of electronic and thermal Energies=              -891.352056</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Sum of electronic and thermal Enthalpies=            -891.351112</a:t>
            </a:r>
          </a:p>
          <a:p>
            <a:r>
              <a:rPr lang="en-US" altLang="zh-CN"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Sum of electronic and thermal Free Energies=         -891.412941</a:t>
            </a:r>
            <a:endParaRPr lang="zh-CN" altLang="en-US"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矩形 2"/>
          <p:cNvSpPr/>
          <p:nvPr/>
        </p:nvSpPr>
        <p:spPr>
          <a:xfrm>
            <a:off x="1043608" y="3501008"/>
            <a:ext cx="1367682" cy="461665"/>
          </a:xfrm>
          <a:prstGeom prst="rect">
            <a:avLst/>
          </a:prstGeom>
        </p:spPr>
        <p:txBody>
          <a:bodyPr wrap="none">
            <a:spAutoFit/>
          </a:bodyPr>
          <a:lstStyle/>
          <a:p>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查找</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HF=</a:t>
            </a:r>
          </a:p>
        </p:txBody>
      </p:sp>
      <p:sp>
        <p:nvSpPr>
          <p:cNvPr id="4" name="矩形 3"/>
          <p:cNvSpPr/>
          <p:nvPr/>
        </p:nvSpPr>
        <p:spPr>
          <a:xfrm>
            <a:off x="1691680" y="4293096"/>
            <a:ext cx="2316660" cy="461665"/>
          </a:xfrm>
          <a:prstGeom prst="rect">
            <a:avLst/>
          </a:prstGeom>
        </p:spPr>
        <p:txBody>
          <a:bodyPr wrap="none">
            <a:spAutoFit/>
          </a:bodyPr>
          <a:lstStyle/>
          <a:p>
            <a:r>
              <a:rPr lang="en-US" altLang="zh-CN" sz="2400" dirty="0" smtClean="0">
                <a:solidFill>
                  <a:srgbClr val="0000FF"/>
                </a:solidFill>
                <a:latin typeface="Times New Roman" panose="02020603050405020304" pitchFamily="18" charset="0"/>
                <a:cs typeface="Times New Roman" panose="02020603050405020304" pitchFamily="18" charset="0"/>
              </a:rPr>
              <a:t>HF=-891.615667</a:t>
            </a:r>
            <a:endParaRPr lang="zh-CN" altLang="en-US" sz="2400"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6829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15988" y="546100"/>
            <a:ext cx="8321509" cy="830997"/>
          </a:xfrm>
          <a:prstGeom prst="rect">
            <a:avLst/>
          </a:prstGeom>
        </p:spPr>
        <p:txBody>
          <a:bodyPr wrap="none">
            <a:spAutoFit/>
          </a:bodyPr>
          <a:lstStyle/>
          <a:p>
            <a:pPr eaLnBrk="0" hangingPunct="0">
              <a:defRPr/>
            </a:pP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5. </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苯甲醛</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分子的理论红外光谱</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图</a:t>
            </a: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gaussview</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name.out</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a:t>
            </a:r>
          </a:p>
          <a:p>
            <a:pPr eaLnBrk="0" hangingPunct="0">
              <a:buFont typeface="Arial" charset="0"/>
              <a:buNone/>
              <a:defRPr/>
            </a:pPr>
            <a:endParaRPr lang="zh-CN" altLang="zh-CN" sz="2400" kern="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p:cNvSpPr/>
          <p:nvPr/>
        </p:nvSpPr>
        <p:spPr>
          <a:xfrm>
            <a:off x="1259632" y="1268760"/>
            <a:ext cx="8138766" cy="2031325"/>
          </a:xfrm>
          <a:prstGeom prst="rect">
            <a:avLst/>
          </a:prstGeom>
        </p:spPr>
        <p:txBody>
          <a:bodyPr wrap="none">
            <a:spAutoFit/>
          </a:bodyPr>
          <a:lstStyle/>
          <a:p>
            <a:pPr>
              <a:lnSpc>
                <a:spcPct val="150000"/>
              </a:lnSpc>
              <a:defRPr/>
            </a:pP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dirty="0" err="1">
                <a:latin typeface="Times New Roman" panose="02020603050405020304" pitchFamily="18" charset="0"/>
                <a:ea typeface="黑体" panose="02010609060101010101" pitchFamily="49" charset="-122"/>
                <a:cs typeface="Times New Roman" panose="02020603050405020304" pitchFamily="18" charset="0"/>
              </a:rPr>
              <a:t>gaussview</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name.out</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Results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菜单下点击</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vibrations</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defRPr/>
            </a:pP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点击框中</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Spectrum,</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点击</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IR Spectrum</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左下角，选择</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save data</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defRPr/>
            </a:pP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文件名存为</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name.txt</a:t>
            </a:r>
          </a:p>
          <a:p>
            <a:pPr>
              <a:defRPr/>
            </a:pP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矩形 5"/>
          <p:cNvSpPr/>
          <p:nvPr/>
        </p:nvSpPr>
        <p:spPr>
          <a:xfrm>
            <a:off x="1259632" y="3212976"/>
            <a:ext cx="6912768" cy="2238241"/>
          </a:xfrm>
          <a:prstGeom prst="rect">
            <a:avLst/>
          </a:prstGeom>
        </p:spPr>
        <p:txBody>
          <a:bodyPr wrap="square">
            <a:spAutoFit/>
          </a:bodyPr>
          <a:lstStyle/>
          <a:p>
            <a:pPr>
              <a:lnSpc>
                <a:spcPct val="150000"/>
              </a:lnSpc>
              <a:defRPr/>
            </a:pP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dirty="0" err="1" smtClean="0">
                <a:latin typeface="Times New Roman" panose="02020603050405020304" pitchFamily="18" charset="0"/>
                <a:ea typeface="黑体" panose="02010609060101010101" pitchFamily="49" charset="-122"/>
                <a:cs typeface="Times New Roman" panose="02020603050405020304" pitchFamily="18" charset="0"/>
              </a:rPr>
              <a:t>Editplus</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打开</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name.txt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文件</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选择红外光谱的波长和强度，分别于</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origin</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软件中的</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x</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Y,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origin </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软件作出红外光谱图，注意标出纵坐标、横坐标分别为强度和波长</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14140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矩形 2"/>
          <p:cNvSpPr>
            <a:spLocks noChangeArrowheads="1"/>
          </p:cNvSpPr>
          <p:nvPr/>
        </p:nvSpPr>
        <p:spPr bwMode="auto">
          <a:xfrm>
            <a:off x="960438" y="4159250"/>
            <a:ext cx="69958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zh-CN" sz="2400" b="1" dirty="0">
                <a:latin typeface="黑体" panose="02010609060101010101" pitchFamily="49" charset="-122"/>
                <a:ea typeface="黑体" panose="02010609060101010101" pitchFamily="49" charset="-122"/>
                <a:cs typeface="F4,Bold"/>
              </a:rPr>
              <a:t>六．</a:t>
            </a:r>
            <a:r>
              <a:rPr lang="zh-CN" altLang="zh-CN" sz="2400" b="1" dirty="0" smtClean="0">
                <a:latin typeface="黑体" panose="02010609060101010101" pitchFamily="49" charset="-122"/>
                <a:ea typeface="黑体" panose="02010609060101010101" pitchFamily="49" charset="-122"/>
                <a:cs typeface="F4,Bold"/>
              </a:rPr>
              <a:t>实验</a:t>
            </a:r>
            <a:r>
              <a:rPr lang="zh-CN" altLang="en-US" sz="2400" b="1" dirty="0" smtClean="0">
                <a:latin typeface="黑体" panose="02010609060101010101" pitchFamily="49" charset="-122"/>
                <a:ea typeface="黑体" panose="02010609060101010101" pitchFamily="49" charset="-122"/>
                <a:cs typeface="F4,Bold"/>
              </a:rPr>
              <a:t>思考和体会</a:t>
            </a:r>
            <a:endParaRPr lang="en-US" altLang="zh-CN" sz="2400" b="1" dirty="0">
              <a:latin typeface="黑体" panose="02010609060101010101" pitchFamily="49" charset="-122"/>
              <a:ea typeface="黑体" panose="02010609060101010101" pitchFamily="49" charset="-122"/>
            </a:endParaRPr>
          </a:p>
          <a:p>
            <a:pPr eaLnBrk="1" hangingPunct="1">
              <a:spcBef>
                <a:spcPct val="0"/>
              </a:spcBef>
              <a:buFontTx/>
              <a:buNone/>
            </a:pPr>
            <a:r>
              <a:rPr lang="zh-CN" altLang="en-US" sz="2400" b="1" dirty="0" smtClean="0">
                <a:latin typeface="黑体" panose="02010609060101010101" pitchFamily="49" charset="-122"/>
                <a:ea typeface="黑体" panose="02010609060101010101" pitchFamily="49" charset="-122"/>
              </a:rPr>
              <a:t>      苯甲醛计算得到多少个红外光谱振动频率？</a:t>
            </a:r>
            <a:endParaRPr lang="zh-CN" altLang="en-US" sz="2400" dirty="0">
              <a:latin typeface="黑体" panose="02010609060101010101" pitchFamily="49" charset="-122"/>
              <a:ea typeface="黑体" panose="02010609060101010101" pitchFamily="49" charset="-122"/>
            </a:endParaRPr>
          </a:p>
        </p:txBody>
      </p:sp>
      <p:pic>
        <p:nvPicPr>
          <p:cNvPr id="4"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332656"/>
            <a:ext cx="5472112" cy="348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29369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331913" y="476250"/>
            <a:ext cx="5908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0"/>
              </a:spcBef>
              <a:buFontTx/>
              <a:buNone/>
            </a:pPr>
            <a:r>
              <a:rPr lang="zh-CN" altLang="en-US" sz="2400" b="1">
                <a:latin typeface="黑体" pitchFamily="49" charset="-122"/>
                <a:ea typeface="黑体" pitchFamily="49" charset="-122"/>
              </a:rPr>
              <a:t>实验六 热分析测定水合无机盐的热稳定性</a:t>
            </a:r>
          </a:p>
        </p:txBody>
      </p:sp>
      <p:sp>
        <p:nvSpPr>
          <p:cNvPr id="72707" name="Text Box 3"/>
          <p:cNvSpPr txBox="1">
            <a:spLocks noChangeArrowheads="1"/>
          </p:cNvSpPr>
          <p:nvPr/>
        </p:nvSpPr>
        <p:spPr bwMode="auto">
          <a:xfrm>
            <a:off x="395288" y="1628775"/>
            <a:ext cx="7777162"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spcBef>
                <a:spcPct val="50000"/>
              </a:spcBef>
              <a:buFontTx/>
              <a:buNone/>
            </a:pPr>
            <a:r>
              <a:rPr lang="zh-CN" altLang="en-US" sz="2400" b="1">
                <a:ea typeface="黑体" pitchFamily="49" charset="-122"/>
              </a:rPr>
              <a:t>一、实验目的</a:t>
            </a:r>
          </a:p>
          <a:p>
            <a:pPr>
              <a:lnSpc>
                <a:spcPct val="150000"/>
              </a:lnSpc>
              <a:buFontTx/>
              <a:buNone/>
            </a:pPr>
            <a:r>
              <a:rPr lang="zh-CN" altLang="en-US" sz="2400">
                <a:latin typeface="Times New Roman" pitchFamily="18" charset="0"/>
                <a:ea typeface="黑体" pitchFamily="49" charset="-122"/>
                <a:cs typeface="Times New Roman" pitchFamily="18" charset="0"/>
              </a:rPr>
              <a:t>1、</a:t>
            </a:r>
            <a:r>
              <a:rPr lang="zh-CN" altLang="zh-CN" sz="2400">
                <a:latin typeface="Times New Roman" pitchFamily="18" charset="0"/>
                <a:ea typeface="黑体" pitchFamily="49" charset="-122"/>
                <a:cs typeface="Times New Roman" pitchFamily="18" charset="0"/>
              </a:rPr>
              <a:t>掌握热分析的基本原理和方法。</a:t>
            </a:r>
          </a:p>
          <a:p>
            <a:pPr>
              <a:buFontTx/>
              <a:buNone/>
            </a:pPr>
            <a:r>
              <a:rPr lang="en-US" altLang="zh-CN" sz="2400">
                <a:latin typeface="Times New Roman" pitchFamily="18" charset="0"/>
                <a:ea typeface="黑体" pitchFamily="49" charset="-122"/>
                <a:cs typeface="Times New Roman" pitchFamily="18" charset="0"/>
              </a:rPr>
              <a:t>2</a:t>
            </a:r>
            <a:r>
              <a:rPr lang="zh-CN" altLang="zh-CN" sz="2400">
                <a:latin typeface="Times New Roman" pitchFamily="18" charset="0"/>
                <a:ea typeface="黑体" pitchFamily="49" charset="-122"/>
                <a:cs typeface="Times New Roman" pitchFamily="18" charset="0"/>
              </a:rPr>
              <a:t>．测定</a:t>
            </a:r>
            <a:r>
              <a:rPr lang="en-US" altLang="zh-CN" sz="2400">
                <a:latin typeface="Times New Roman" pitchFamily="18" charset="0"/>
                <a:ea typeface="黑体" pitchFamily="49" charset="-122"/>
                <a:cs typeface="Times New Roman" pitchFamily="18" charset="0"/>
              </a:rPr>
              <a:t>CuSO</a:t>
            </a:r>
            <a:r>
              <a:rPr lang="en-US" altLang="zh-CN" sz="2400" baseline="-25000">
                <a:latin typeface="Times New Roman" pitchFamily="18" charset="0"/>
                <a:ea typeface="黑体" pitchFamily="49" charset="-122"/>
                <a:cs typeface="Times New Roman" pitchFamily="18" charset="0"/>
              </a:rPr>
              <a:t>4</a:t>
            </a:r>
            <a:r>
              <a:rPr lang="zh-CN" altLang="zh-CN" sz="2400">
                <a:latin typeface="Times New Roman" pitchFamily="18" charset="0"/>
                <a:ea typeface="黑体" pitchFamily="49" charset="-122"/>
                <a:cs typeface="Times New Roman" pitchFamily="18" charset="0"/>
              </a:rPr>
              <a:t>·</a:t>
            </a:r>
            <a:r>
              <a:rPr lang="en-US" altLang="zh-CN" sz="2400">
                <a:latin typeface="Times New Roman" pitchFamily="18" charset="0"/>
                <a:ea typeface="黑体" pitchFamily="49" charset="-122"/>
                <a:cs typeface="Times New Roman" pitchFamily="18" charset="0"/>
              </a:rPr>
              <a:t>5H</a:t>
            </a:r>
            <a:r>
              <a:rPr lang="en-US" altLang="zh-CN" sz="2400" baseline="-25000">
                <a:latin typeface="Times New Roman" pitchFamily="18" charset="0"/>
                <a:ea typeface="黑体" pitchFamily="49" charset="-122"/>
                <a:cs typeface="Times New Roman" pitchFamily="18" charset="0"/>
              </a:rPr>
              <a:t>2</a:t>
            </a:r>
            <a:r>
              <a:rPr lang="en-US" altLang="zh-CN" sz="2400">
                <a:latin typeface="Times New Roman" pitchFamily="18" charset="0"/>
                <a:ea typeface="黑体" pitchFamily="49" charset="-122"/>
                <a:cs typeface="Times New Roman" pitchFamily="18" charset="0"/>
              </a:rPr>
              <a:t>O</a:t>
            </a:r>
            <a:r>
              <a:rPr lang="zh-CN" altLang="zh-CN" sz="2400">
                <a:latin typeface="Times New Roman" pitchFamily="18" charset="0"/>
                <a:ea typeface="黑体" pitchFamily="49" charset="-122"/>
                <a:cs typeface="Times New Roman" pitchFamily="18" charset="0"/>
              </a:rPr>
              <a:t>的</a:t>
            </a:r>
            <a:r>
              <a:rPr lang="en-US" altLang="zh-CN" sz="2400">
                <a:latin typeface="Times New Roman" pitchFamily="18" charset="0"/>
                <a:ea typeface="黑体" pitchFamily="49" charset="-122"/>
                <a:cs typeface="Times New Roman" pitchFamily="18" charset="0"/>
              </a:rPr>
              <a:t>DSC</a:t>
            </a:r>
            <a:r>
              <a:rPr lang="zh-CN" altLang="zh-CN" sz="2400">
                <a:latin typeface="Times New Roman" pitchFamily="18" charset="0"/>
                <a:ea typeface="黑体" pitchFamily="49" charset="-122"/>
                <a:cs typeface="Times New Roman" pitchFamily="18" charset="0"/>
              </a:rPr>
              <a:t>图</a:t>
            </a:r>
            <a:r>
              <a:rPr lang="en-US" altLang="zh-CN" sz="2400">
                <a:latin typeface="Times New Roman" pitchFamily="18" charset="0"/>
                <a:ea typeface="黑体" pitchFamily="49" charset="-122"/>
                <a:cs typeface="Times New Roman" pitchFamily="18" charset="0"/>
              </a:rPr>
              <a:t>, </a:t>
            </a:r>
            <a:r>
              <a:rPr lang="zh-CN" altLang="zh-CN" sz="2400">
                <a:latin typeface="Times New Roman" pitchFamily="18" charset="0"/>
                <a:ea typeface="黑体" pitchFamily="49" charset="-122"/>
                <a:cs typeface="Times New Roman" pitchFamily="18" charset="0"/>
              </a:rPr>
              <a:t>分析试样的热稳定性和热反应机理。</a:t>
            </a:r>
            <a:endParaRPr lang="zh-CN" altLang="en-US" sz="2400" b="1">
              <a:latin typeface="Times New Roman" pitchFamily="18" charset="0"/>
              <a:ea typeface="黑体" pitchFamily="49" charset="-122"/>
              <a:cs typeface="Times New Roman" pitchFamily="18" charset="0"/>
            </a:endParaRPr>
          </a:p>
        </p:txBody>
      </p:sp>
      <p:sp>
        <p:nvSpPr>
          <p:cNvPr id="72708" name="Text Box 4"/>
          <p:cNvSpPr txBox="1">
            <a:spLocks noChangeArrowheads="1"/>
          </p:cNvSpPr>
          <p:nvPr/>
        </p:nvSpPr>
        <p:spPr bwMode="auto">
          <a:xfrm>
            <a:off x="7258050" y="854075"/>
            <a:ext cx="1274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hangingPunct="1">
              <a:spcBef>
                <a:spcPct val="0"/>
              </a:spcBef>
              <a:buFontTx/>
              <a:buNone/>
            </a:pPr>
            <a:r>
              <a:rPr lang="zh-CN" altLang="en-US" sz="2400">
                <a:latin typeface="Times New Roman" pitchFamily="18" charset="0"/>
              </a:rPr>
              <a:t>p43</a:t>
            </a:r>
          </a:p>
        </p:txBody>
      </p:sp>
    </p:spTree>
    <p:extLst>
      <p:ext uri="{BB962C8B-B14F-4D97-AF65-F5344CB8AC3E}">
        <p14:creationId xmlns:p14="http://schemas.microsoft.com/office/powerpoint/2010/main" val="14587764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descr="P30102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60350"/>
            <a:ext cx="8054975" cy="604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7066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xfrm>
            <a:off x="457200" y="190500"/>
            <a:ext cx="8229600" cy="5937250"/>
          </a:xfrm>
        </p:spPr>
        <p:txBody>
          <a:bodyPr>
            <a:normAutofit fontScale="62500" lnSpcReduction="20000"/>
          </a:bodyPr>
          <a:lstStyle/>
          <a:p>
            <a:pPr>
              <a:lnSpc>
                <a:spcPct val="150000"/>
              </a:lnSpc>
              <a:buFontTx/>
              <a:buNone/>
              <a:defRPr/>
            </a:pPr>
            <a:r>
              <a:rPr lang="zh-CN" altLang="en-US" sz="2400" dirty="0" smtClean="0">
                <a:latin typeface="黑体" pitchFamily="49" charset="-122"/>
                <a:ea typeface="黑体" pitchFamily="49" charset="-122"/>
              </a:rPr>
              <a:t>二、实验原理</a:t>
            </a:r>
          </a:p>
          <a:p>
            <a:pPr>
              <a:lnSpc>
                <a:spcPct val="150000"/>
              </a:lnSpc>
              <a:buFontTx/>
              <a:buNone/>
              <a:defRPr/>
            </a:pPr>
            <a:r>
              <a:rPr lang="en-US" altLang="zh-CN" sz="2400" dirty="0" smtClean="0">
                <a:latin typeface="黑体" pitchFamily="49" charset="-122"/>
                <a:ea typeface="黑体" pitchFamily="49" charset="-122"/>
              </a:rPr>
              <a:t>1</a:t>
            </a:r>
            <a:r>
              <a:rPr lang="zh-CN" altLang="en-US" sz="2400" dirty="0" smtClean="0">
                <a:latin typeface="黑体" pitchFamily="49" charset="-122"/>
                <a:ea typeface="黑体" pitchFamily="49" charset="-122"/>
              </a:rPr>
              <a:t>、</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热分析技术的定义为：在程序控制升温下，测量物质的物理性质随温度变化的函数关系的一类技术</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buNone/>
              <a:defRPr/>
            </a:pP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选取一种对热稳定的物质作参比物，将其与待测样品同置于加热炉内，以一定速率使参比温度升高。当体系达到一定温度时</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样品</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发生</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诸如</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相变</a:t>
            </a:r>
            <a:r>
              <a:rPr lang="zh-CN" altLang="en-US" sz="2400"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分解</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等变化，其伴随的热效应使体系温度偏离控制程序。以电能对热效应进行补偿，通过样品和参比物在相同温度</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下热流</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的</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差值</a:t>
            </a:r>
            <a:r>
              <a:rPr lang="zh-CN" altLang="en-US" sz="2400" dirty="0" smtClean="0">
                <a:latin typeface="黑体" pitchFamily="49" charset="-122"/>
                <a:ea typeface="黑体" pitchFamily="49" charset="-122"/>
              </a:rPr>
              <a:t>等于</a:t>
            </a:r>
            <a:r>
              <a:rPr lang="zh-CN" altLang="en-US" sz="2400" dirty="0">
                <a:latin typeface="黑体" pitchFamily="49" charset="-122"/>
                <a:ea typeface="黑体" pitchFamily="49" charset="-122"/>
              </a:rPr>
              <a:t>单位时间试样的焓</a:t>
            </a:r>
            <a:r>
              <a:rPr lang="zh-CN" altLang="en-US" sz="2400" dirty="0" smtClean="0">
                <a:latin typeface="黑体" pitchFamily="49" charset="-122"/>
                <a:ea typeface="黑体" pitchFamily="49" charset="-122"/>
              </a:rPr>
              <a:t>变，热流</a:t>
            </a:r>
            <a:r>
              <a:rPr lang="zh-CN" altLang="en-US" sz="2400" dirty="0">
                <a:latin typeface="黑体" pitchFamily="49" charset="-122"/>
                <a:ea typeface="黑体" pitchFamily="49" charset="-122"/>
              </a:rPr>
              <a:t>差随温度（或时间）变化曲线称为DSC曲线。</a:t>
            </a:r>
          </a:p>
          <a:p>
            <a:pPr>
              <a:lnSpc>
                <a:spcPct val="150000"/>
              </a:lnSpc>
              <a:buFontTx/>
              <a:buNone/>
              <a:defRPr/>
            </a:pPr>
            <a:r>
              <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根据</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补偿的电功率</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P</a:t>
            </a:r>
            <a:r>
              <a:rPr lang="zh-CN" altLang="zh-CN" sz="2400" dirty="0">
                <a:latin typeface="Times New Roman" panose="02020603050405020304" pitchFamily="18" charset="0"/>
                <a:ea typeface="黑体" panose="02010609060101010101" pitchFamily="49" charset="-122"/>
                <a:cs typeface="Times New Roman" panose="02020603050405020304" pitchFamily="18" charset="0"/>
              </a:rPr>
              <a:t>可以计算热流差</a:t>
            </a:r>
            <a:r>
              <a:rPr lang="zh-CN" altLang="zh-CN" sz="240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buFontTx/>
              <a:buNone/>
              <a:defRPr/>
            </a:pP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buFontTx/>
              <a:buNone/>
              <a:defRPr/>
            </a:pPr>
            <a:endParaRPr lang="en-US" altLang="zh-CN" sz="2400" dirty="0" smtClean="0">
              <a:latin typeface="Times New Roman" panose="02020603050405020304" pitchFamily="18" charset="0"/>
              <a:ea typeface="黑体" pitchFamily="49" charset="-122"/>
              <a:cs typeface="Times New Roman" panose="02020603050405020304" pitchFamily="18" charset="0"/>
            </a:endParaRPr>
          </a:p>
          <a:p>
            <a:pPr algn="dist">
              <a:lnSpc>
                <a:spcPct val="150000"/>
              </a:lnSpc>
              <a:buFontTx/>
              <a:buNone/>
              <a:defRPr/>
            </a:pPr>
            <a:endParaRPr lang="en-US" altLang="zh-CN" sz="2400" dirty="0">
              <a:latin typeface="黑体" pitchFamily="49" charset="-122"/>
              <a:ea typeface="黑体" pitchFamily="49" charset="-122"/>
            </a:endParaRPr>
          </a:p>
          <a:p>
            <a:pPr algn="dist">
              <a:lnSpc>
                <a:spcPct val="150000"/>
              </a:lnSpc>
              <a:buFontTx/>
              <a:buNone/>
              <a:defRPr/>
            </a:pPr>
            <a:r>
              <a:rPr lang="zh-CN" altLang="en-US" sz="2400" dirty="0" smtClean="0">
                <a:latin typeface="黑体" pitchFamily="49" charset="-122"/>
                <a:ea typeface="黑体" pitchFamily="49" charset="-122"/>
              </a:rPr>
              <a:t>   物质</a:t>
            </a:r>
            <a:r>
              <a:rPr lang="zh-CN" altLang="en-US" sz="2400" dirty="0" smtClean="0">
                <a:latin typeface="黑体" pitchFamily="49" charset="-122"/>
                <a:ea typeface="黑体" pitchFamily="49" charset="-122"/>
              </a:rPr>
              <a:t>在发生物理变化或者化学变化过程中，往往伴随有热效应产生，此时的吸热或者放热现象则反映了体系焓的改变，并且表现为该物质与外界环境之间存在温度差。</a:t>
            </a:r>
          </a:p>
          <a:p>
            <a:pPr>
              <a:lnSpc>
                <a:spcPct val="150000"/>
              </a:lnSpc>
              <a:buFontTx/>
              <a:buNone/>
              <a:defRPr/>
            </a:pPr>
            <a:r>
              <a:rPr lang="zh-CN" altLang="en-US" sz="2400" dirty="0" smtClean="0">
                <a:latin typeface="黑体" pitchFamily="49" charset="-122"/>
                <a:ea typeface="黑体" pitchFamily="49" charset="-122"/>
              </a:rPr>
              <a:t>  </a:t>
            </a:r>
            <a:r>
              <a:rPr lang="zh-CN" altLang="en-US" sz="2400" dirty="0" smtClean="0">
                <a:latin typeface="黑体" pitchFamily="49" charset="-122"/>
                <a:ea typeface="黑体" pitchFamily="49" charset="-122"/>
              </a:rPr>
              <a:t> 选择</a:t>
            </a:r>
            <a:r>
              <a:rPr lang="zh-CN" altLang="en-US" sz="2400" dirty="0" smtClean="0">
                <a:latin typeface="黑体" pitchFamily="49" charset="-122"/>
                <a:ea typeface="黑体" pitchFamily="49" charset="-122"/>
              </a:rPr>
              <a:t>一种热稳定的物质参比物（热稳定是在所测定温度范围内部发生任何物理变化和化学变化或者说不产生热效应的物质）。将被测物质与参比物质同时置于可按设定速率升温的电炉中， 分别测量参比物的温度及样品与参比物间的温差，据此了解物质的变化规律，确定物质的某些物理化学变化性质。</a:t>
            </a:r>
          </a:p>
          <a:p>
            <a:pPr>
              <a:lnSpc>
                <a:spcPct val="150000"/>
              </a:lnSpc>
              <a:defRPr/>
            </a:pPr>
            <a:endParaRPr lang="zh-CN" altLang="en-US" sz="2400" dirty="0" smtClean="0">
              <a:latin typeface="黑体" pitchFamily="49" charset="-122"/>
              <a:ea typeface="黑体" pitchFamily="49" charset="-122"/>
            </a:endParaRPr>
          </a:p>
        </p:txBody>
      </p:sp>
      <p:graphicFrame>
        <p:nvGraphicFramePr>
          <p:cNvPr id="2" name="对象 1"/>
          <p:cNvGraphicFramePr>
            <a:graphicFrameLocks/>
          </p:cNvGraphicFramePr>
          <p:nvPr>
            <p:extLst>
              <p:ext uri="{D42A27DB-BD31-4B8C-83A1-F6EECF244321}">
                <p14:modId xmlns:p14="http://schemas.microsoft.com/office/powerpoint/2010/main" val="2094829980"/>
              </p:ext>
            </p:extLst>
          </p:nvPr>
        </p:nvGraphicFramePr>
        <p:xfrm>
          <a:off x="1835696" y="2996952"/>
          <a:ext cx="4176464" cy="720080"/>
        </p:xfrm>
        <a:graphic>
          <a:graphicData uri="http://schemas.openxmlformats.org/presentationml/2006/ole">
            <mc:AlternateContent xmlns:mc="http://schemas.openxmlformats.org/markup-compatibility/2006">
              <mc:Choice xmlns:v="urn:schemas-microsoft-com:vml" Requires="v">
                <p:oleObj spid="_x0000_s2052" r:id="rId3" imgW="4635360" imgH="939600" progId="Equation.3">
                  <p:embed/>
                </p:oleObj>
              </mc:Choice>
              <mc:Fallback>
                <p:oleObj r:id="rId3" imgW="4635360" imgH="939600" progId="Equation.3">
                  <p:embed/>
                  <p:pic>
                    <p:nvPicPr>
                      <p:cNvPr id="0" name="对象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996952"/>
                        <a:ext cx="4176464" cy="72008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91973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71600" y="836712"/>
            <a:ext cx="7305675" cy="1130300"/>
          </a:xfrm>
          <a:prstGeom prst="rect">
            <a:avLst/>
          </a:prstGeom>
        </p:spPr>
        <p:txBody>
          <a:bodyPr>
            <a:spAutoFit/>
          </a:bodyPr>
          <a:lstStyle/>
          <a:p>
            <a:pPr indent="3556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、样品与参比物之间的热流差等于单位时间样品的焓变。从</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DSC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曲线的峰面积可以测量热效应值。</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矩形 6"/>
          <p:cNvSpPr/>
          <p:nvPr/>
        </p:nvSpPr>
        <p:spPr>
          <a:xfrm>
            <a:off x="2051720" y="2348880"/>
            <a:ext cx="3178175" cy="576263"/>
          </a:xfrm>
          <a:prstGeom prst="rect">
            <a:avLst/>
          </a:prstGeom>
        </p:spPr>
        <p:txBody>
          <a:bodyPr>
            <a:spAutoFit/>
          </a:bodyPr>
          <a:lstStyle/>
          <a:p>
            <a:pPr algn="ctr">
              <a:lnSpc>
                <a:spcPct val="150000"/>
              </a:lnSpc>
              <a:spcAft>
                <a:spcPts val="0"/>
              </a:spcAft>
              <a:buFont typeface="Arial" charset="0"/>
              <a:buNone/>
              <a:defRPr/>
            </a:pPr>
            <a:r>
              <a:rPr lang="zh-CN" altLang="en-US" sz="2400" kern="0" dirty="0">
                <a:latin typeface="Times New Roman" panose="02020603050405020304" pitchFamily="18" charset="0"/>
                <a:ea typeface="宋体"/>
                <a:cs typeface="Times New Roman" panose="02020603050405020304" pitchFamily="18" charset="0"/>
              </a:rPr>
              <a:t>△</a:t>
            </a:r>
            <a:r>
              <a:rPr lang="en-US" altLang="zh-CN" sz="2400" kern="0" dirty="0">
                <a:latin typeface="Times New Roman" panose="02020603050405020304" pitchFamily="18" charset="0"/>
                <a:ea typeface="宋体"/>
                <a:cs typeface="Times New Roman" panose="02020603050405020304" pitchFamily="18" charset="0"/>
              </a:rPr>
              <a:t>H=KA/m</a:t>
            </a:r>
            <a:endParaRPr lang="zh-CN" altLang="zh-CN" sz="2400" kern="100" dirty="0">
              <a:latin typeface="Times New Roman" panose="02020603050405020304" pitchFamily="18" charset="0"/>
              <a:ea typeface="宋体"/>
              <a:cs typeface="Times New Roman" panose="02020603050405020304" pitchFamily="18" charset="0"/>
            </a:endParaRPr>
          </a:p>
        </p:txBody>
      </p:sp>
      <p:sp>
        <p:nvSpPr>
          <p:cNvPr id="8" name="矩形 7"/>
          <p:cNvSpPr/>
          <p:nvPr/>
        </p:nvSpPr>
        <p:spPr>
          <a:xfrm>
            <a:off x="898525" y="3895725"/>
            <a:ext cx="7642225" cy="1754188"/>
          </a:xfrm>
          <a:prstGeom prst="rect">
            <a:avLst/>
          </a:prstGeom>
        </p:spPr>
        <p:txBody>
          <a:bodyPr>
            <a:spAutoFit/>
          </a:bodyPr>
          <a:lstStyle/>
          <a:p>
            <a:pPr indent="3556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K-</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仪器系数；</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A-</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曲线峰面积；</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m-</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样品质量</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3556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K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需要通过已知热效应的物质求得，在一定程度上与温度有关。</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94904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6725" y="508000"/>
            <a:ext cx="8393113" cy="2246313"/>
          </a:xfrm>
          <a:prstGeom prst="rect">
            <a:avLst/>
          </a:prstGeom>
        </p:spPr>
        <p:txBody>
          <a:bodyPr>
            <a:spAutoFit/>
          </a:bodyPr>
          <a:lstStyle/>
          <a:p>
            <a:pPr indent="3556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 New Roman" panose="02020603050405020304" pitchFamily="18" charset="0"/>
              </a:rPr>
              <a:t>4</a:t>
            </a:r>
            <a:r>
              <a:rPr lang="zh-CN" altLang="zh-CN" sz="2400" kern="0" dirty="0">
                <a:latin typeface="黑体" panose="02010609060101010101" pitchFamily="49" charset="-122"/>
                <a:ea typeface="黑体" panose="02010609060101010101" pitchFamily="49" charset="-122"/>
                <a:cs typeface="Times New Roman" panose="02020603050405020304" pitchFamily="18" charset="0"/>
              </a:rPr>
              <a:t>、在</a:t>
            </a:r>
            <a:r>
              <a:rPr lang="en-US" altLang="zh-CN" sz="2400" kern="0" dirty="0">
                <a:latin typeface="黑体" panose="02010609060101010101" pitchFamily="49" charset="-122"/>
                <a:ea typeface="黑体" panose="02010609060101010101" pitchFamily="49" charset="-122"/>
                <a:cs typeface="Times New Roman" panose="02020603050405020304" pitchFamily="18" charset="0"/>
              </a:rPr>
              <a:t>DSC </a:t>
            </a:r>
            <a:r>
              <a:rPr lang="zh-CN" altLang="zh-CN" sz="2400" kern="0" dirty="0">
                <a:latin typeface="黑体" panose="02010609060101010101" pitchFamily="49" charset="-122"/>
                <a:ea typeface="黑体" panose="02010609060101010101" pitchFamily="49" charset="-122"/>
                <a:cs typeface="Times New Roman" panose="02020603050405020304" pitchFamily="18" charset="0"/>
              </a:rPr>
              <a:t>曲线中，对实验峰取积分所得的面积，用来表征样品在一个物理化学过程中所吸收或放出的热量。</a:t>
            </a:r>
            <a:endParaRPr lang="zh-CN" altLang="zh-CN" sz="2400" kern="100" dirty="0">
              <a:latin typeface="黑体" panose="02010609060101010101" pitchFamily="49" charset="-122"/>
              <a:ea typeface="黑体" panose="02010609060101010101" pitchFamily="49" charset="-122"/>
              <a:cs typeface="Times New Roman" panose="02020603050405020304" pitchFamily="18" charset="0"/>
            </a:endParaRPr>
          </a:p>
          <a:p>
            <a:pPr indent="3556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 New Roman" panose="02020603050405020304" pitchFamily="18" charset="0"/>
              </a:rPr>
              <a:t>5</a:t>
            </a:r>
            <a:r>
              <a:rPr lang="zh-CN" altLang="zh-CN" sz="2400" kern="0" dirty="0">
                <a:latin typeface="黑体" panose="02010609060101010101" pitchFamily="49" charset="-122"/>
                <a:ea typeface="黑体" panose="02010609060101010101" pitchFamily="49" charset="-122"/>
                <a:cs typeface="Times New Roman" panose="02020603050405020304" pitchFamily="18" charset="0"/>
              </a:rPr>
              <a:t>、热分析技术的主要影响因素有</a:t>
            </a:r>
            <a:r>
              <a:rPr lang="en-US" altLang="zh-CN" sz="2400" kern="0" dirty="0">
                <a:latin typeface="黑体" panose="02010609060101010101" pitchFamily="49" charset="-122"/>
                <a:ea typeface="黑体" panose="02010609060101010101" pitchFamily="49" charset="-122"/>
                <a:cs typeface="Times New Roman" panose="02020603050405020304" pitchFamily="18" charset="0"/>
              </a:rPr>
              <a:t>:</a:t>
            </a:r>
            <a:r>
              <a:rPr lang="zh-CN" altLang="zh-CN" sz="2400" kern="0" dirty="0">
                <a:latin typeface="黑体" panose="02010609060101010101" pitchFamily="49" charset="-122"/>
                <a:ea typeface="黑体" panose="02010609060101010101" pitchFamily="49" charset="-122"/>
                <a:cs typeface="Times New Roman" panose="02020603050405020304" pitchFamily="18" charset="0"/>
              </a:rPr>
              <a:t>温度的标定，热焓的测定，升温速率，炉内气氛，试样的处理。</a:t>
            </a:r>
            <a:endParaRPr lang="zh-CN" altLang="zh-CN" sz="2400" kern="100"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7680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50" y="2889250"/>
            <a:ext cx="5295900" cy="380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2002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body" idx="1"/>
          </p:nvPr>
        </p:nvSpPr>
        <p:spPr>
          <a:xfrm>
            <a:off x="457200" y="117475"/>
            <a:ext cx="8229600" cy="6008688"/>
          </a:xfrm>
        </p:spPr>
        <p:txBody>
          <a:bodyPr/>
          <a:lstStyle/>
          <a:p>
            <a:pPr>
              <a:lnSpc>
                <a:spcPct val="150000"/>
              </a:lnSpc>
              <a:buFontTx/>
              <a:buNone/>
            </a:pPr>
            <a:r>
              <a:rPr lang="zh-CN" altLang="en-US" sz="2400" dirty="0" smtClean="0">
                <a:latin typeface="黑体" pitchFamily="49" charset="-122"/>
                <a:ea typeface="黑体" pitchFamily="49" charset="-122"/>
              </a:rPr>
              <a:t>   通过</a:t>
            </a:r>
            <a:r>
              <a:rPr lang="zh-CN" altLang="en-US" sz="2400" dirty="0" smtClean="0">
                <a:latin typeface="黑体" pitchFamily="49" charset="-122"/>
                <a:ea typeface="黑体" pitchFamily="49" charset="-122"/>
              </a:rPr>
              <a:t>分析热分析图谱可获得峰的数目、位置、方向、高度、宽度、对称性及峰的面积等信息。</a:t>
            </a:r>
          </a:p>
          <a:p>
            <a:pPr>
              <a:lnSpc>
                <a:spcPct val="150000"/>
              </a:lnSpc>
              <a:buFontTx/>
              <a:buNone/>
            </a:pPr>
            <a:r>
              <a:rPr lang="zh-CN" altLang="en-US" sz="2400" dirty="0" smtClean="0">
                <a:latin typeface="黑体" pitchFamily="49" charset="-122"/>
                <a:ea typeface="黑体" pitchFamily="49" charset="-122"/>
              </a:rPr>
              <a:t>     峰的数目表示在测定温度范围内，待测样品发生变化的次数；峰的位置表示发生转换的温度范围；峰的方向则表明过程是吸热还是放热。峰的面积反映了热效应大小。</a:t>
            </a:r>
          </a:p>
        </p:txBody>
      </p:sp>
    </p:spTree>
    <p:extLst>
      <p:ext uri="{BB962C8B-B14F-4D97-AF65-F5344CB8AC3E}">
        <p14:creationId xmlns:p14="http://schemas.microsoft.com/office/powerpoint/2010/main" val="2040481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457200" y="404813"/>
            <a:ext cx="8229600" cy="5721350"/>
          </a:xfrm>
        </p:spPr>
        <p:txBody>
          <a:bodyPr/>
          <a:lstStyle/>
          <a:p>
            <a:pPr>
              <a:lnSpc>
                <a:spcPct val="150000"/>
              </a:lnSpc>
            </a:pPr>
            <a:r>
              <a:rPr lang="zh-CN" altLang="en-US" sz="2400" smtClean="0">
                <a:latin typeface="黑体" pitchFamily="49" charset="-122"/>
                <a:ea typeface="黑体" pitchFamily="49" charset="-122"/>
              </a:rPr>
              <a:t>相同条件下，峰面积越大，表示热效应越大。因此从峰的方向和面积可以测定变化过程的热效应的大小和性质。</a:t>
            </a:r>
          </a:p>
          <a:p>
            <a:pPr>
              <a:lnSpc>
                <a:spcPct val="130000"/>
              </a:lnSpc>
            </a:pPr>
            <a:r>
              <a:rPr lang="zh-CN" altLang="en-US" sz="2400" b="1" smtClean="0">
                <a:latin typeface="Times New Roman" pitchFamily="18" charset="0"/>
              </a:rPr>
              <a:t>热分析可以研究材料的熔融与结晶过程、结晶度、玻璃化转变、相转变、液晶转变、氧化稳定性（氧化诱导期O.I.T.）、反应温度与反应热焓，测定物质的比热、纯度，研究高分子共混物的相容性、热固性树脂的固化过程，进行反应动力学研究等 </a:t>
            </a:r>
            <a:r>
              <a:rPr lang="zh-CN" altLang="en-US" sz="2400" b="1" smtClean="0">
                <a:latin typeface="Times New Roman" pitchFamily="18" charset="0"/>
                <a:cs typeface="Times New Roman" pitchFamily="18" charset="0"/>
              </a:rPr>
              <a:t>。    </a:t>
            </a:r>
          </a:p>
          <a:p>
            <a:pPr>
              <a:lnSpc>
                <a:spcPct val="150000"/>
              </a:lnSpc>
            </a:pPr>
            <a:endParaRPr lang="zh-CN" altLang="en-US" sz="2400" b="1" smtClean="0">
              <a:latin typeface="Times New Roman" pitchFamily="18" charset="0"/>
              <a:cs typeface="Times New Roman" pitchFamily="18" charset="0"/>
            </a:endParaRPr>
          </a:p>
        </p:txBody>
      </p:sp>
    </p:spTree>
    <p:extLst>
      <p:ext uri="{BB962C8B-B14F-4D97-AF65-F5344CB8AC3E}">
        <p14:creationId xmlns:p14="http://schemas.microsoft.com/office/powerpoint/2010/main" val="1507626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79388" y="0"/>
            <a:ext cx="8353425" cy="5168900"/>
          </a:xfrm>
          <a:noFill/>
        </p:spPr>
      </p:pic>
      <p:sp>
        <p:nvSpPr>
          <p:cNvPr id="79875" name="Rectangle 3"/>
          <p:cNvSpPr>
            <a:spLocks noChangeArrowheads="1"/>
          </p:cNvSpPr>
          <p:nvPr/>
        </p:nvSpPr>
        <p:spPr bwMode="auto">
          <a:xfrm>
            <a:off x="0" y="5143500"/>
            <a:ext cx="872331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40000"/>
              </a:lnSpc>
              <a:spcBef>
                <a:spcPct val="0"/>
              </a:spcBef>
              <a:buFontTx/>
              <a:buNone/>
            </a:pPr>
            <a:r>
              <a:rPr lang="zh-CN" altLang="zh-CN" sz="2400" b="1">
                <a:latin typeface="Times New Roman" pitchFamily="18" charset="0"/>
              </a:rPr>
              <a:t>比热变化则体现为基线高度的变化，即曲线上的台阶状拐折</a:t>
            </a:r>
          </a:p>
          <a:p>
            <a:pPr>
              <a:lnSpc>
                <a:spcPct val="140000"/>
              </a:lnSpc>
              <a:spcBef>
                <a:spcPct val="0"/>
              </a:spcBef>
              <a:buFontTx/>
              <a:buNone/>
            </a:pPr>
            <a:r>
              <a:rPr lang="zh-CN" altLang="zh-CN" sz="2400" b="1">
                <a:latin typeface="Times New Roman" pitchFamily="18" charset="0"/>
              </a:rPr>
              <a:t>（较为典型的比热变化效应有玻璃化转变、铁磁性转变等）。</a:t>
            </a:r>
          </a:p>
        </p:txBody>
      </p:sp>
    </p:spTree>
    <p:extLst>
      <p:ext uri="{BB962C8B-B14F-4D97-AF65-F5344CB8AC3E}">
        <p14:creationId xmlns:p14="http://schemas.microsoft.com/office/powerpoint/2010/main" val="3597495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68350" y="466725"/>
            <a:ext cx="7553325" cy="2792413"/>
          </a:xfrm>
          <a:prstGeom prst="rect">
            <a:avLst/>
          </a:prstGeom>
        </p:spPr>
        <p:txBody>
          <a:bodyPr>
            <a:spAutoFit/>
          </a:bodyPr>
          <a:lstStyle/>
          <a:p>
            <a:pPr>
              <a:lnSpc>
                <a:spcPct val="150000"/>
              </a:lnSpc>
              <a:spcAft>
                <a:spcPts val="0"/>
              </a:spcAft>
              <a:buFont typeface="Arial" charset="0"/>
              <a:buNone/>
              <a:defRPr/>
            </a:pP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三、仪器与药品：</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．仪器</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355600">
              <a:lnSpc>
                <a:spcPct val="150000"/>
              </a:lnSpc>
              <a:spcAft>
                <a:spcPts val="0"/>
              </a:spcAft>
              <a:buFont typeface="Arial" charset="0"/>
              <a:buNone/>
              <a:defRPr/>
            </a:pP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热分析仪器：</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DSC</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，计算机，分析天平，压样机</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．试剂</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3556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CuSO</a:t>
            </a:r>
            <a:r>
              <a:rPr lang="en-US" altLang="zh-CN" sz="2400" kern="0" baseline="-25000" dirty="0">
                <a:latin typeface="Times New Roman" panose="02020603050405020304" pitchFamily="18" charset="0"/>
                <a:ea typeface="黑体" panose="02010609060101010101" pitchFamily="49" charset="-122"/>
                <a:cs typeface="Times New Roman" panose="02020603050405020304" pitchFamily="18" charset="0"/>
              </a:rPr>
              <a:t>4</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.5H</a:t>
            </a:r>
            <a:r>
              <a:rPr lang="en-US" altLang="zh-CN" sz="2400" kern="0"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O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AR</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0899" name="Picture 4" descr="Sach_ohne_ASC"/>
          <p:cNvPicPr>
            <a:picLocks noChangeAspect="1" noChangeArrowheads="1"/>
          </p:cNvPicPr>
          <p:nvPr/>
        </p:nvPicPr>
        <p:blipFill>
          <a:blip r:embed="rId2">
            <a:extLst>
              <a:ext uri="{28A0092B-C50C-407E-A947-70E740481C1C}">
                <a14:useLocalDpi xmlns:a14="http://schemas.microsoft.com/office/drawing/2010/main" val="0"/>
              </a:ext>
            </a:extLst>
          </a:blip>
          <a:srcRect t="21783"/>
          <a:stretch>
            <a:fillRect/>
          </a:stretch>
        </p:blipFill>
        <p:spPr bwMode="auto">
          <a:xfrm>
            <a:off x="1211263" y="3382963"/>
            <a:ext cx="480060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5054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4175" y="363538"/>
            <a:ext cx="2349500" cy="461962"/>
          </a:xfrm>
          <a:prstGeom prst="rect">
            <a:avLst/>
          </a:prstGeom>
        </p:spPr>
        <p:txBody>
          <a:bodyPr wrap="none">
            <a:spAutoFit/>
          </a:bodyPr>
          <a:lstStyle/>
          <a:p>
            <a:pPr>
              <a:spcAft>
                <a:spcPts val="0"/>
              </a:spcAft>
              <a:buFont typeface="Arial" charset="0"/>
              <a:buNone/>
              <a:defRPr/>
            </a:pPr>
            <a:r>
              <a:rPr lang="zh-CN" altLang="zh-CN" sz="2400" b="1" kern="0" dirty="0">
                <a:latin typeface="黑体" panose="02010609060101010101" pitchFamily="49" charset="-122"/>
                <a:ea typeface="黑体" panose="02010609060101010101" pitchFamily="49" charset="-122"/>
                <a:cs typeface="KaiTi,Bold"/>
              </a:rPr>
              <a:t>四、实验步骤：</a:t>
            </a:r>
            <a:endParaRPr lang="zh-CN" altLang="zh-CN" sz="2400" kern="100" dirty="0">
              <a:latin typeface="黑体" panose="02010609060101010101" pitchFamily="49" charset="-122"/>
              <a:ea typeface="黑体" panose="02010609060101010101" pitchFamily="49" charset="-122"/>
              <a:cs typeface="Times New Roman"/>
            </a:endParaRPr>
          </a:p>
        </p:txBody>
      </p:sp>
      <p:sp>
        <p:nvSpPr>
          <p:cNvPr id="3" name="矩形 2"/>
          <p:cNvSpPr/>
          <p:nvPr/>
        </p:nvSpPr>
        <p:spPr>
          <a:xfrm>
            <a:off x="384175" y="901700"/>
            <a:ext cx="8550275" cy="5632450"/>
          </a:xfrm>
          <a:prstGeom prst="rect">
            <a:avLst/>
          </a:prstGeom>
        </p:spPr>
        <p:txBody>
          <a:bodyPr>
            <a:spAutoFit/>
          </a:bodyPr>
          <a:lstStyle/>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1.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开机</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609600">
              <a:lnSpc>
                <a:spcPct val="150000"/>
              </a:lnSpc>
              <a:spcAft>
                <a:spcPts val="0"/>
              </a:spcAft>
              <a:buFont typeface="Arial" charset="0"/>
              <a:buNone/>
              <a:defRPr/>
            </a:pP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打开分析天平、计算机和热分析仪器主机，预热</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15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分钟；调整</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400" kern="0"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保护气和吹扫气的输出压力和流速，待其稳定。</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2.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样品准备</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609600">
              <a:lnSpc>
                <a:spcPct val="150000"/>
              </a:lnSpc>
              <a:spcAft>
                <a:spcPts val="0"/>
              </a:spcAft>
              <a:buFont typeface="Arial" charset="0"/>
              <a:buNone/>
              <a:defRPr/>
            </a:pP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研磨样品成粉末状，选取坩埚底和坩埚盖，在坩埚盖上戳一个小洞，称量</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3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次至读数稳定，记下读数；</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609600">
              <a:lnSpc>
                <a:spcPct val="150000"/>
              </a:lnSpc>
              <a:spcAft>
                <a:spcPts val="0"/>
              </a:spcAft>
              <a:buFont typeface="Arial" charset="0"/>
              <a:buNone/>
              <a:defRPr/>
            </a:pP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加入样品</a:t>
            </a:r>
            <a:r>
              <a:rPr lang="zh-CN"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约</a:t>
            </a: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3mg</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，称量</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次至读数稳定，记下读数。将坩埚盖盖好坩埚放在压样机上压一下。墩实样品，确保坩埚底部接触良好。将样品坩埚放在仪器的样品位（右侧），同时在参比位放置一个空坩埚（左侧）。</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48314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0688" y="515938"/>
            <a:ext cx="8439150" cy="5076825"/>
          </a:xfrm>
          <a:prstGeom prst="rect">
            <a:avLst/>
          </a:prstGeom>
        </p:spPr>
        <p:txBody>
          <a:bodyPr>
            <a:spAutoFit/>
          </a:bodyPr>
          <a:lstStyle/>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3.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开启氮气钢瓶，调节至适当压力。</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4.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设定温度程序和仪器参数</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609600">
              <a:lnSpc>
                <a:spcPct val="150000"/>
              </a:lnSpc>
              <a:spcAft>
                <a:spcPts val="0"/>
              </a:spcAft>
              <a:buFont typeface="Arial" charset="0"/>
              <a:buNone/>
              <a:defRPr/>
            </a:pP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双击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DSC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测定软件，打开</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在线诊断</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，设定保护气流速为</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70ml/min,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吹扫气</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20ml/min</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打开诊断</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，查看温度、保护气、吹扫气等参数。然后</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新建</a:t>
            </a:r>
            <a:r>
              <a:rPr lang="zh-CN" altLang="zh-CN" sz="2400" kern="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文件</a:t>
            </a:r>
            <a:r>
              <a:rPr lang="en-US" altLang="zh-CN" sz="2400" kern="0" dirty="0" smtClean="0">
                <a:latin typeface="Times New Roman" panose="02020603050405020304" pitchFamily="18" charset="0"/>
                <a:ea typeface="黑体" panose="02010609060101010101" pitchFamily="49" charset="-122"/>
                <a:cs typeface="Times New Roman" panose="02020603050405020304" pitchFamily="18" charset="0"/>
              </a:rPr>
              <a:t>name.sd3</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填写样品各项参数</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选择温度校正文件</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*.td3 ”</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灵敏度校正文件</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*.ed3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。设定温度程序，开始温度一般比室温</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高</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 </a:t>
            </a:r>
            <a:r>
              <a:rPr lang="en-US" altLang="zh-CN" sz="2400" kern="0" baseline="300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o</a:t>
            </a:r>
            <a:r>
              <a:rPr lang="en-US" altLang="zh-CN" sz="2400" kern="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插入温度与开始温度一致，点击</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增加</a:t>
            </a: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设定中止温度为</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280 </a:t>
            </a:r>
            <a:r>
              <a:rPr lang="en-US" altLang="zh-CN" sz="2400" kern="0" baseline="300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o</a:t>
            </a:r>
            <a:r>
              <a:rPr lang="en-US" altLang="zh-CN" sz="2400" kern="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，升温速率为</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10K/min</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，点击</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增加</a:t>
            </a:r>
            <a:r>
              <a:rPr lang="en-US"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52911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6725" y="387350"/>
            <a:ext cx="7653338" cy="2308225"/>
          </a:xfrm>
          <a:prstGeom prst="rect">
            <a:avLst/>
          </a:prstGeom>
        </p:spPr>
        <p:txBody>
          <a:bodyPr>
            <a:spAutoFit/>
          </a:bodyPr>
          <a:lstStyle/>
          <a:p>
            <a:pPr>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5. </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待炉内温度降至室温即可结束实验，</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取出坩埚称取质量并计算失水质量；</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关闭高压钢瓶总阀并</a:t>
            </a:r>
            <a:r>
              <a:rPr lang="zh-CN" altLang="zh-CN" sz="2400" kern="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放出阀内的余气</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，关闭计算机和热分析仪器电源，最后关闭墙上配电箱内的总开关。</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3971"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300" y="2954338"/>
            <a:ext cx="5564188"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9833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822325" y="2651125"/>
          <a:ext cx="5722938" cy="2926080"/>
        </p:xfrm>
        <a:graphic>
          <a:graphicData uri="http://schemas.openxmlformats.org/drawingml/2006/table">
            <a:tbl>
              <a:tblPr/>
              <a:tblGrid>
                <a:gridCol w="949325"/>
                <a:gridCol w="895350"/>
                <a:gridCol w="1022350"/>
                <a:gridCol w="973138"/>
                <a:gridCol w="958850"/>
                <a:gridCol w="923925"/>
              </a:tblGrid>
              <a:tr h="1462882">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编号</a:t>
                      </a:r>
                      <a:endParaRPr kumimoji="0" lang="zh-CN" altLang="zh-CN" sz="10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坩埚质量</a:t>
                      </a:r>
                      <a:r>
                        <a:rPr kumimoji="0" lang="en-US"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/mg</a:t>
                      </a:r>
                      <a:endParaRPr kumimoji="0" lang="zh-CN" altLang="zh-CN" sz="10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坩埚</a:t>
                      </a:r>
                      <a:r>
                        <a:rPr kumimoji="0" lang="en-US"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a:t>
                      </a:r>
                      <a:r>
                        <a:rPr kumimoji="0" lang="zh-CN"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样品</a:t>
                      </a:r>
                      <a:r>
                        <a:rPr kumimoji="0" lang="en-US"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/mg</a:t>
                      </a:r>
                      <a:endParaRPr kumimoji="0" lang="zh-CN" altLang="zh-CN" sz="10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样品质量</a:t>
                      </a: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/mg</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坩埚</a:t>
                      </a: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a:t>
                      </a:r>
                      <a:r>
                        <a:rPr kumimoji="0" lang="zh-CN"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剩余样品</a:t>
                      </a: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/mg</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失水后的质量</a:t>
                      </a: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/mg</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20">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1</a:t>
                      </a:r>
                      <a:endParaRPr kumimoji="0" lang="zh-CN" altLang="zh-CN" sz="10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38.46</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43.49</a:t>
                      </a:r>
                      <a:endParaRPr kumimoji="0" lang="zh-CN" altLang="zh-CN" sz="10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5.03</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41.52</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3.05</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20">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2</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38.46</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43.48</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5.02</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365720">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38.48</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43.48</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5.00</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r h="365720">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平均</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38.47</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43.48</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5.01</a:t>
                      </a:r>
                      <a:endParaRPr kumimoji="0" lang="zh-CN" altLang="zh-CN" sz="10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r>
            </a:tbl>
          </a:graphicData>
        </a:graphic>
      </p:graphicFrame>
      <p:sp>
        <p:nvSpPr>
          <p:cNvPr id="85032" name="Rectangle 1"/>
          <p:cNvSpPr>
            <a:spLocks noChangeArrowheads="1"/>
          </p:cNvSpPr>
          <p:nvPr/>
        </p:nvSpPr>
        <p:spPr bwMode="auto">
          <a:xfrm>
            <a:off x="611188" y="203151"/>
            <a:ext cx="741719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har char="•"/>
              <a:defRPr sz="3200">
                <a:solidFill>
                  <a:schemeClr val="tx1"/>
                </a:solidFill>
                <a:latin typeface="Arial" pitchFamily="34" charset="0"/>
                <a:ea typeface="宋体" pitchFamily="2" charset="-122"/>
              </a:defRPr>
            </a:lvl1pPr>
            <a:lvl2pPr marL="742950" indent="-285750" eaLnBrk="0" hangingPunct="0">
              <a:spcBef>
                <a:spcPct val="20000"/>
              </a:spcBef>
              <a:buChar char="–"/>
              <a:defRPr sz="2800">
                <a:solidFill>
                  <a:schemeClr val="tx1"/>
                </a:solidFill>
                <a:latin typeface="Arial" pitchFamily="34" charset="0"/>
                <a:ea typeface="宋体" pitchFamily="2"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nSpc>
                <a:spcPct val="150000"/>
              </a:lnSpc>
              <a:spcBef>
                <a:spcPct val="0"/>
              </a:spcBef>
              <a:buFontTx/>
              <a:buNone/>
            </a:pPr>
            <a:r>
              <a:rPr lang="zh-CN" altLang="en-US" sz="2400" dirty="0" smtClean="0">
                <a:latin typeface="黑体" pitchFamily="49" charset="-122"/>
                <a:ea typeface="黑体" pitchFamily="49" charset="-122"/>
                <a:cs typeface="Times New Roman" pitchFamily="18" charset="0"/>
              </a:rPr>
              <a:t>五、实验结果</a:t>
            </a:r>
            <a:endParaRPr lang="en-US" altLang="zh-CN" sz="2400" dirty="0" smtClean="0">
              <a:latin typeface="黑体" pitchFamily="49" charset="-122"/>
              <a:ea typeface="黑体" pitchFamily="49" charset="-122"/>
              <a:cs typeface="Times New Roman" pitchFamily="18" charset="0"/>
            </a:endParaRPr>
          </a:p>
          <a:p>
            <a:pPr>
              <a:lnSpc>
                <a:spcPct val="150000"/>
              </a:lnSpc>
              <a:spcBef>
                <a:spcPct val="0"/>
              </a:spcBef>
              <a:buFontTx/>
              <a:buNone/>
            </a:pPr>
            <a:r>
              <a:rPr lang="en-US" altLang="zh-CN" sz="2400" dirty="0" smtClean="0">
                <a:latin typeface="黑体" pitchFamily="49" charset="-122"/>
                <a:ea typeface="黑体" pitchFamily="49" charset="-122"/>
                <a:cs typeface="Times New Roman" pitchFamily="18" charset="0"/>
              </a:rPr>
              <a:t>1</a:t>
            </a:r>
            <a:r>
              <a:rPr lang="en-US" altLang="zh-CN" sz="2400" dirty="0">
                <a:latin typeface="黑体" pitchFamily="49" charset="-122"/>
                <a:ea typeface="黑体" pitchFamily="49" charset="-122"/>
                <a:cs typeface="Times New Roman" pitchFamily="18" charset="0"/>
              </a:rPr>
              <a:t>. </a:t>
            </a:r>
            <a:r>
              <a:rPr lang="zh-CN" altLang="en-US" sz="2400" dirty="0">
                <a:latin typeface="黑体" pitchFamily="49" charset="-122"/>
                <a:ea typeface="黑体" pitchFamily="49" charset="-122"/>
                <a:cs typeface="Times New Roman" pitchFamily="18" charset="0"/>
              </a:rPr>
              <a:t>样品质量</a:t>
            </a:r>
          </a:p>
          <a:p>
            <a:pPr>
              <a:lnSpc>
                <a:spcPct val="150000"/>
              </a:lnSpc>
              <a:spcBef>
                <a:spcPct val="0"/>
              </a:spcBef>
              <a:buFontTx/>
              <a:buNone/>
            </a:pPr>
            <a:r>
              <a:rPr lang="zh-CN" altLang="en-US" sz="2400" dirty="0">
                <a:latin typeface="黑体" pitchFamily="49" charset="-122"/>
                <a:ea typeface="黑体" pitchFamily="49" charset="-122"/>
                <a:cs typeface="Times New Roman" pitchFamily="18" charset="0"/>
              </a:rPr>
              <a:t>空坩埚质量</a:t>
            </a:r>
            <a:r>
              <a:rPr lang="en-US" altLang="zh-CN" sz="2400" dirty="0">
                <a:latin typeface="黑体" pitchFamily="49" charset="-122"/>
                <a:ea typeface="黑体" pitchFamily="49" charset="-122"/>
                <a:cs typeface="Times New Roman" pitchFamily="18" charset="0"/>
              </a:rPr>
              <a:t>:38.47mg </a:t>
            </a:r>
            <a:r>
              <a:rPr lang="zh-CN" altLang="en-US" sz="2400" dirty="0" smtClean="0">
                <a:latin typeface="黑体" pitchFamily="49" charset="-122"/>
                <a:ea typeface="黑体" pitchFamily="49" charset="-122"/>
                <a:cs typeface="Times New Roman" pitchFamily="18" charset="0"/>
              </a:rPr>
              <a:t>，空</a:t>
            </a:r>
            <a:r>
              <a:rPr lang="zh-CN" altLang="en-US" sz="2400" dirty="0">
                <a:latin typeface="黑体" pitchFamily="49" charset="-122"/>
                <a:ea typeface="黑体" pitchFamily="49" charset="-122"/>
                <a:cs typeface="Times New Roman" pitchFamily="18" charset="0"/>
              </a:rPr>
              <a:t>坩埚加样品质量</a:t>
            </a:r>
            <a:r>
              <a:rPr lang="en-US" altLang="zh-CN" sz="2400" dirty="0">
                <a:latin typeface="黑体" pitchFamily="49" charset="-122"/>
                <a:ea typeface="黑体" pitchFamily="49" charset="-122"/>
                <a:cs typeface="Times New Roman" pitchFamily="18" charset="0"/>
              </a:rPr>
              <a:t>:43.48mg </a:t>
            </a:r>
          </a:p>
          <a:p>
            <a:pPr>
              <a:lnSpc>
                <a:spcPct val="150000"/>
              </a:lnSpc>
              <a:spcBef>
                <a:spcPct val="0"/>
              </a:spcBef>
              <a:buFontTx/>
              <a:buNone/>
            </a:pPr>
            <a:r>
              <a:rPr lang="zh-CN" altLang="en-US" sz="2400" dirty="0">
                <a:latin typeface="黑体" pitchFamily="49" charset="-122"/>
                <a:ea typeface="黑体" pitchFamily="49" charset="-122"/>
                <a:cs typeface="Times New Roman" pitchFamily="18" charset="0"/>
              </a:rPr>
              <a:t>样品质量</a:t>
            </a:r>
            <a:r>
              <a:rPr lang="en-US" altLang="zh-CN" sz="2400" dirty="0">
                <a:latin typeface="黑体" pitchFamily="49" charset="-122"/>
                <a:ea typeface="黑体" pitchFamily="49" charset="-122"/>
                <a:cs typeface="Times New Roman" pitchFamily="18" charset="0"/>
              </a:rPr>
              <a:t>:5.01mg</a:t>
            </a:r>
          </a:p>
        </p:txBody>
      </p:sp>
    </p:spTree>
    <p:extLst>
      <p:ext uri="{BB962C8B-B14F-4D97-AF65-F5344CB8AC3E}">
        <p14:creationId xmlns:p14="http://schemas.microsoft.com/office/powerpoint/2010/main" val="742519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60350" y="755650"/>
          <a:ext cx="8535988" cy="4525964"/>
        </p:xfrm>
        <a:graphic>
          <a:graphicData uri="http://schemas.openxmlformats.org/drawingml/2006/table">
            <a:tbl>
              <a:tblPr/>
              <a:tblGrid>
                <a:gridCol w="1120775"/>
                <a:gridCol w="1060450"/>
                <a:gridCol w="831977"/>
                <a:gridCol w="896811"/>
                <a:gridCol w="896937"/>
                <a:gridCol w="3729038"/>
              </a:tblGrid>
              <a:tr h="1422400">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 </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起始温度</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700" b="0" i="0" u="none" strike="noStrike" cap="none" normalizeH="0" baseline="30000" dirty="0" err="1" smtClean="0">
                          <a:ln>
                            <a:noFill/>
                          </a:ln>
                          <a:solidFill>
                            <a:schemeClr val="tx1"/>
                          </a:solidFill>
                          <a:effectLst/>
                          <a:latin typeface="Times New Roman" pitchFamily="18" charset="0"/>
                          <a:ea typeface="黑体" pitchFamily="49" charset="-122"/>
                          <a:cs typeface="Times New Roman" pitchFamily="18" charset="0"/>
                        </a:rPr>
                        <a:t>o</a:t>
                      </a:r>
                      <a:r>
                        <a:rPr kumimoji="0" lang="en-US" altLang="zh-CN" sz="1700" b="0" i="0" u="none" strike="noStrike" cap="none" normalizeH="0" baseline="0" dirty="0" err="1" smtClean="0">
                          <a:ln>
                            <a:noFill/>
                          </a:ln>
                          <a:solidFill>
                            <a:schemeClr val="tx1"/>
                          </a:solidFill>
                          <a:effectLst/>
                          <a:latin typeface="Times New Roman" pitchFamily="18" charset="0"/>
                          <a:ea typeface="黑体" pitchFamily="49" charset="-122"/>
                          <a:cs typeface="Times New Roman" pitchFamily="18" charset="0"/>
                        </a:rPr>
                        <a:t>C</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终止温度</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30000" dirty="0" err="1" smtClean="0">
                          <a:ln>
                            <a:noFill/>
                          </a:ln>
                          <a:solidFill>
                            <a:schemeClr val="tx1"/>
                          </a:solidFill>
                          <a:effectLst/>
                          <a:latin typeface="Times New Roman" pitchFamily="18" charset="0"/>
                          <a:ea typeface="黑体" pitchFamily="49" charset="-122"/>
                          <a:cs typeface="Times New Roman" pitchFamily="18" charset="0"/>
                        </a:rPr>
                        <a:t>o</a:t>
                      </a:r>
                      <a:r>
                        <a:rPr kumimoji="0" lang="en-US" altLang="zh-CN" sz="1700" b="0" i="0" u="none" strike="noStrike" cap="none" normalizeH="0" baseline="0" dirty="0" err="1" smtClean="0">
                          <a:ln>
                            <a:noFill/>
                          </a:ln>
                          <a:solidFill>
                            <a:schemeClr val="tx1"/>
                          </a:solidFill>
                          <a:effectLst/>
                          <a:latin typeface="Times New Roman" pitchFamily="18" charset="0"/>
                          <a:ea typeface="黑体" pitchFamily="49" charset="-122"/>
                          <a:cs typeface="Times New Roman" pitchFamily="18" charset="0"/>
                        </a:rPr>
                        <a:t>C</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峰值</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30000" dirty="0" err="1" smtClean="0">
                          <a:ln>
                            <a:noFill/>
                          </a:ln>
                          <a:solidFill>
                            <a:schemeClr val="tx1"/>
                          </a:solidFill>
                          <a:effectLst/>
                          <a:latin typeface="Times New Roman" pitchFamily="18" charset="0"/>
                          <a:ea typeface="黑体" pitchFamily="49" charset="-122"/>
                          <a:cs typeface="Times New Roman" pitchFamily="18" charset="0"/>
                        </a:rPr>
                        <a:t>o</a:t>
                      </a:r>
                      <a:r>
                        <a:rPr kumimoji="0" lang="en-US" altLang="zh-CN" sz="1700" b="0" i="0" u="none" strike="noStrike" cap="none" normalizeH="0" baseline="0" dirty="0" err="1" smtClean="0">
                          <a:ln>
                            <a:noFill/>
                          </a:ln>
                          <a:solidFill>
                            <a:schemeClr val="tx1"/>
                          </a:solidFill>
                          <a:effectLst/>
                          <a:latin typeface="Times New Roman" pitchFamily="18" charset="0"/>
                          <a:ea typeface="黑体" pitchFamily="49" charset="-122"/>
                          <a:cs typeface="Times New Roman" pitchFamily="18" charset="0"/>
                        </a:rPr>
                        <a:t>C</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面积</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J/g</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发生的反应</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63638">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第一个峰</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81.1</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102.2</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94.9</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231.4</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·5H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 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·3H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O+2H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63638">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第二个峰</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102.7</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124.3</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113.8</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241.3</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·3H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 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O+2H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6288">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第三个峰</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215.1</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246.0</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smtClean="0">
                          <a:ln>
                            <a:noFill/>
                          </a:ln>
                          <a:solidFill>
                            <a:schemeClr val="tx1"/>
                          </a:solidFill>
                          <a:effectLst/>
                          <a:latin typeface="Times New Roman" pitchFamily="18" charset="0"/>
                          <a:ea typeface="黑体" pitchFamily="49" charset="-122"/>
                          <a:cs typeface="Times New Roman" pitchFamily="18" charset="0"/>
                        </a:rPr>
                        <a:t>229.8</a:t>
                      </a:r>
                      <a:endParaRPr kumimoji="0" lang="zh-CN" altLang="zh-CN" sz="700" b="0" i="0" u="none" strike="noStrike" cap="none" normalizeH="0" baseline="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700" b="0"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223.9</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itchFamily="34" charset="0"/>
                          <a:ea typeface="宋体" pitchFamily="2" charset="-122"/>
                        </a:defRPr>
                      </a:lvl1pPr>
                      <a:lvl2pPr marL="742950" indent="-285750" eaLnBrk="0" hangingPunct="0">
                        <a:spcBef>
                          <a:spcPct val="20000"/>
                        </a:spcBef>
                        <a:defRPr sz="2400">
                          <a:solidFill>
                            <a:schemeClr val="tx1"/>
                          </a:solidFill>
                          <a:latin typeface="Arial" pitchFamily="34" charset="0"/>
                          <a:ea typeface="宋体" pitchFamily="2" charset="-122"/>
                        </a:defRPr>
                      </a:lvl2pPr>
                      <a:lvl3pPr marL="1143000" indent="-228600" eaLnBrk="0" hangingPunct="0">
                        <a:spcBef>
                          <a:spcPct val="20000"/>
                        </a:spcBef>
                        <a:defRPr sz="2000">
                          <a:solidFill>
                            <a:schemeClr val="tx1"/>
                          </a:solidFill>
                          <a:latin typeface="Arial" pitchFamily="34" charset="0"/>
                          <a:ea typeface="宋体" pitchFamily="2" charset="-122"/>
                        </a:defRPr>
                      </a:lvl3pPr>
                      <a:lvl4pPr marL="1600200" indent="-228600" eaLnBrk="0" hangingPunct="0">
                        <a:spcBef>
                          <a:spcPct val="20000"/>
                        </a:spcBef>
                        <a:defRPr>
                          <a:solidFill>
                            <a:schemeClr val="tx1"/>
                          </a:solidFill>
                          <a:latin typeface="Arial" pitchFamily="34" charset="0"/>
                          <a:ea typeface="宋体" pitchFamily="2" charset="-122"/>
                        </a:defRPr>
                      </a:lvl4pPr>
                      <a:lvl5pPr marL="2057400" indent="-228600" eaLnBrk="0" hangingPunct="0">
                        <a:spcBef>
                          <a:spcPct val="20000"/>
                        </a:spcBef>
                        <a:defRPr>
                          <a:solidFill>
                            <a:schemeClr val="tx1"/>
                          </a:solidFill>
                          <a:latin typeface="Arial" pitchFamily="34" charset="0"/>
                          <a:ea typeface="宋体" pitchFamily="2" charset="-122"/>
                        </a:defRPr>
                      </a:lvl5pPr>
                      <a:lvl6pPr marL="2514600" indent="-228600" eaLnBrk="0" fontAlgn="base" hangingPunct="0">
                        <a:spcBef>
                          <a:spcPct val="2000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2000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2000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 CuSO</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4</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 +H</a:t>
                      </a:r>
                      <a:r>
                        <a:rPr kumimoji="0" lang="en-US" altLang="zh-CN" sz="1700" b="1" i="0" u="none" strike="noStrike" cap="none" normalizeH="0" baseline="-25000" dirty="0" smtClean="0">
                          <a:ln>
                            <a:noFill/>
                          </a:ln>
                          <a:solidFill>
                            <a:schemeClr val="tx1"/>
                          </a:solidFill>
                          <a:effectLst/>
                          <a:latin typeface="Times New Roman" pitchFamily="18" charset="0"/>
                          <a:ea typeface="黑体" pitchFamily="49" charset="-122"/>
                          <a:cs typeface="Times New Roman" pitchFamily="18" charset="0"/>
                        </a:rPr>
                        <a:t>2</a:t>
                      </a:r>
                      <a:r>
                        <a:rPr kumimoji="0" lang="en-US" altLang="zh-CN" sz="1700" b="1" i="0" u="none" strike="noStrike" cap="none" normalizeH="0" baseline="0" dirty="0" smtClean="0">
                          <a:ln>
                            <a:noFill/>
                          </a:ln>
                          <a:solidFill>
                            <a:schemeClr val="tx1"/>
                          </a:solidFill>
                          <a:effectLst/>
                          <a:latin typeface="Times New Roman" pitchFamily="18" charset="0"/>
                          <a:ea typeface="黑体" pitchFamily="49" charset="-122"/>
                          <a:cs typeface="Times New Roman" pitchFamily="18" charset="0"/>
                        </a:rPr>
                        <a:t>O</a:t>
                      </a:r>
                      <a:endParaRPr kumimoji="0" lang="zh-CN" altLang="zh-CN" sz="700" b="0" i="0" u="none" strike="noStrike" cap="none" normalizeH="0" baseline="0" dirty="0" smtClean="0">
                        <a:ln>
                          <a:noFill/>
                        </a:ln>
                        <a:solidFill>
                          <a:schemeClr val="tx1"/>
                        </a:solidFill>
                        <a:effectLst/>
                        <a:latin typeface="Calibri" pitchFamily="34" charset="0"/>
                        <a:ea typeface="黑体" pitchFamily="49" charset="-122"/>
                        <a:cs typeface="Times New Roman" pitchFamily="18" charset="0"/>
                      </a:endParaRPr>
                    </a:p>
                  </a:txBody>
                  <a:tcPr marL="48492" marR="4849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371515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5788" y="850900"/>
            <a:ext cx="8064500" cy="2678113"/>
          </a:xfrm>
          <a:prstGeom prst="rect">
            <a:avLst/>
          </a:prstGeom>
        </p:spPr>
        <p:txBody>
          <a:bodyPr>
            <a:spAutoFit/>
          </a:bodyPr>
          <a:lstStyle/>
          <a:p>
            <a:pPr>
              <a:spcAft>
                <a:spcPts val="0"/>
              </a:spcAft>
              <a:buFont typeface="Arial" charset="0"/>
              <a:buNone/>
              <a:defRPr/>
            </a:pPr>
            <a:r>
              <a:rPr lang="zh-CN" altLang="zh-CN" sz="2400" b="1" kern="0" dirty="0">
                <a:latin typeface="Times New Roman" panose="02020603050405020304" pitchFamily="18" charset="0"/>
                <a:ea typeface="黑体" panose="02010609060101010101" pitchFamily="49" charset="-122"/>
                <a:cs typeface="Times New Roman" panose="02020603050405020304" pitchFamily="18" charset="0"/>
              </a:rPr>
              <a:t>六、注意事项：</a:t>
            </a:r>
            <a:endParaRPr lang="en-US" altLang="zh-CN" sz="2400" b="1" kern="0" dirty="0">
              <a:latin typeface="Times New Roman" panose="02020603050405020304" pitchFamily="18" charset="0"/>
              <a:ea typeface="黑体" panose="02010609060101010101" pitchFamily="49" charset="-122"/>
              <a:cs typeface="Times New Roman" panose="02020603050405020304" pitchFamily="18" charset="0"/>
            </a:endParaRPr>
          </a:p>
          <a:p>
            <a:pPr indent="1778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．保持样品坩埚的清洁，使用镊子夹取，避免用手触摸。</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1778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．测试样品应与参比物有相近粒度和填充紧密程度。</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1778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．有些热分析仪器需要在通电加热炉体前先打开冷却水。</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a:p>
            <a:pPr indent="177800">
              <a:lnSpc>
                <a:spcPct val="150000"/>
              </a:lnSpc>
              <a:spcAft>
                <a:spcPts val="0"/>
              </a:spcAft>
              <a:buFont typeface="Arial" charset="0"/>
              <a:buNone/>
              <a:defRPr/>
            </a:pPr>
            <a:r>
              <a:rPr lang="en-US" altLang="zh-CN" sz="2400" kern="0" dirty="0">
                <a:latin typeface="Times New Roman" panose="02020603050405020304" pitchFamily="18" charset="0"/>
                <a:ea typeface="黑体" panose="02010609060101010101" pitchFamily="49" charset="-122"/>
                <a:cs typeface="Times New Roman" panose="02020603050405020304" pitchFamily="18" charset="0"/>
              </a:rPr>
              <a:t>4</a:t>
            </a:r>
            <a:r>
              <a:rPr lang="zh-CN" altLang="zh-CN" sz="2400" kern="0" dirty="0">
                <a:latin typeface="Times New Roman" panose="02020603050405020304" pitchFamily="18" charset="0"/>
                <a:ea typeface="黑体" panose="02010609060101010101" pitchFamily="49" charset="-122"/>
                <a:cs typeface="Times New Roman" panose="02020603050405020304" pitchFamily="18" charset="0"/>
              </a:rPr>
              <a:t>．小心不要触动损坏和污染样品杆或支架。</a:t>
            </a:r>
            <a:endParaRPr lang="zh-CN" altLang="zh-CN" sz="2400" kern="1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12408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76263" y="785813"/>
            <a:ext cx="7991475" cy="5078412"/>
          </a:xfrm>
          <a:prstGeom prst="rect">
            <a:avLst/>
          </a:prstGeom>
        </p:spPr>
        <p:txBody>
          <a:bodyPr>
            <a:spAutoFit/>
          </a:bodyPr>
          <a:lstStyle/>
          <a:p>
            <a:pPr>
              <a:spcAft>
                <a:spcPts val="0"/>
              </a:spcAft>
              <a:buFont typeface="Arial" charset="0"/>
              <a:buNone/>
              <a:defRPr/>
            </a:pPr>
            <a:r>
              <a:rPr lang="zh-CN" altLang="zh-CN" sz="2400" b="1" kern="0" dirty="0">
                <a:latin typeface="黑体" panose="02010609060101010101" pitchFamily="49" charset="-122"/>
                <a:ea typeface="黑体" panose="02010609060101010101" pitchFamily="49" charset="-122"/>
                <a:cs typeface="KaiTi,Bold"/>
              </a:rPr>
              <a:t>七．实验心得</a:t>
            </a:r>
            <a:r>
              <a:rPr lang="en-US" altLang="zh-CN" sz="2400" b="1" kern="0" dirty="0">
                <a:latin typeface="黑体" panose="02010609060101010101" pitchFamily="49" charset="-122"/>
                <a:ea typeface="黑体" panose="02010609060101010101" pitchFamily="49" charset="-122"/>
                <a:cs typeface="KaiTi,Bold"/>
              </a:rPr>
              <a:t>:</a:t>
            </a:r>
          </a:p>
          <a:p>
            <a:pPr>
              <a:spcAft>
                <a:spcPts val="0"/>
              </a:spcAft>
              <a:buFont typeface="Arial" charset="0"/>
              <a:buNone/>
              <a:defRPr/>
            </a:pPr>
            <a:endParaRPr lang="zh-CN" altLang="zh-CN" sz="2400" kern="100" dirty="0">
              <a:latin typeface="黑体" panose="02010609060101010101" pitchFamily="49" charset="-122"/>
              <a:ea typeface="黑体" panose="02010609060101010101" pitchFamily="49" charset="-122"/>
              <a:cs typeface="Times New Roman"/>
            </a:endParaRPr>
          </a:p>
          <a:p>
            <a:pPr indent="177800">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NewRomanPSMT"/>
              </a:rPr>
              <a:t>1.</a:t>
            </a:r>
            <a:r>
              <a:rPr lang="zh-CN" altLang="zh-CN" sz="2400" kern="0" dirty="0">
                <a:latin typeface="黑体" panose="02010609060101010101" pitchFamily="49" charset="-122"/>
                <a:ea typeface="黑体" panose="02010609060101010101" pitchFamily="49" charset="-122"/>
                <a:cs typeface="TimesNewRomanPSMT"/>
              </a:rPr>
              <a:t>掌握了热分析的基本原理和方法。</a:t>
            </a:r>
            <a:endParaRPr lang="zh-CN" altLang="zh-CN" sz="2400" kern="100" dirty="0">
              <a:latin typeface="黑体" panose="02010609060101010101" pitchFamily="49" charset="-122"/>
              <a:ea typeface="黑体" panose="02010609060101010101" pitchFamily="49" charset="-122"/>
              <a:cs typeface="Times New Roman"/>
            </a:endParaRPr>
          </a:p>
          <a:p>
            <a:pPr indent="1778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NewRomanPSMT"/>
              </a:rPr>
              <a:t>2. </a:t>
            </a:r>
            <a:r>
              <a:rPr lang="zh-CN" altLang="zh-CN" sz="2400" kern="0" dirty="0">
                <a:latin typeface="黑体" panose="02010609060101010101" pitchFamily="49" charset="-122"/>
                <a:ea typeface="黑体" panose="02010609060101010101" pitchFamily="49" charset="-122"/>
                <a:cs typeface="TimesNewRomanPSMT"/>
              </a:rPr>
              <a:t>实验室中精密仪器需预先开机预热</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以保证仪器稳定</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实验数据准确。本试验应当预先将分析天平与监测器开机预热。</a:t>
            </a:r>
            <a:endParaRPr lang="zh-CN" altLang="zh-CN" sz="2400" kern="100" dirty="0">
              <a:latin typeface="黑体" panose="02010609060101010101" pitchFamily="49" charset="-122"/>
              <a:ea typeface="黑体" panose="02010609060101010101" pitchFamily="49" charset="-122"/>
              <a:cs typeface="Times New Roman"/>
            </a:endParaRPr>
          </a:p>
          <a:p>
            <a:pPr indent="1778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NewRomanPSMT"/>
              </a:rPr>
              <a:t>3.</a:t>
            </a:r>
            <a:r>
              <a:rPr lang="zh-CN" altLang="zh-CN" sz="2400" kern="0" dirty="0">
                <a:latin typeface="黑体" panose="02010609060101010101" pitchFamily="49" charset="-122"/>
                <a:ea typeface="黑体" panose="02010609060101010101" pitchFamily="49" charset="-122"/>
                <a:cs typeface="TimesNewRomanPSMT"/>
              </a:rPr>
              <a:t>电子分析天平测量时</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保证环境稳定</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避免震动</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空气流动影响仪器精准</a:t>
            </a:r>
            <a:r>
              <a:rPr lang="en-US" altLang="zh-CN" sz="2400" kern="0" dirty="0">
                <a:latin typeface="黑体" panose="02010609060101010101" pitchFamily="49" charset="-122"/>
                <a:ea typeface="黑体" panose="02010609060101010101" pitchFamily="49" charset="-122"/>
                <a:cs typeface="TimesNewRomanPSMT"/>
              </a:rPr>
              <a:t>,</a:t>
            </a:r>
            <a:r>
              <a:rPr lang="zh-CN" altLang="zh-CN" sz="2400" kern="0" dirty="0">
                <a:latin typeface="黑体" panose="02010609060101010101" pitchFamily="49" charset="-122"/>
                <a:ea typeface="黑体" panose="02010609060101010101" pitchFamily="49" charset="-122"/>
                <a:cs typeface="TimesNewRomanPSMT"/>
              </a:rPr>
              <a:t>待仪器示数稳定时再读去记录数据</a:t>
            </a:r>
            <a:r>
              <a:rPr lang="en-US" altLang="zh-CN" sz="2400" kern="0" dirty="0">
                <a:latin typeface="黑体" panose="02010609060101010101" pitchFamily="49" charset="-122"/>
                <a:ea typeface="黑体" panose="02010609060101010101" pitchFamily="49" charset="-122"/>
                <a:cs typeface="TimesNewRomanPSMT"/>
              </a:rPr>
              <a:t>.</a:t>
            </a:r>
            <a:endParaRPr lang="zh-CN" altLang="zh-CN" sz="2400" kern="100" dirty="0">
              <a:latin typeface="黑体" panose="02010609060101010101" pitchFamily="49" charset="-122"/>
              <a:ea typeface="黑体" panose="02010609060101010101" pitchFamily="49" charset="-122"/>
              <a:cs typeface="Times New Roman"/>
            </a:endParaRPr>
          </a:p>
          <a:p>
            <a:pPr indent="1778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NewRomanPSMT"/>
              </a:rPr>
              <a:t>4.</a:t>
            </a:r>
            <a:r>
              <a:rPr lang="zh-CN" altLang="zh-CN" sz="2400" kern="0" dirty="0">
                <a:latin typeface="黑体" panose="02010609060101010101" pitchFamily="49" charset="-122"/>
                <a:ea typeface="黑体" panose="02010609060101010101" pitchFamily="49" charset="-122"/>
                <a:cs typeface="TimesNewRomanPSMT"/>
              </a:rPr>
              <a:t>做实验要细心，压样品力度适当。</a:t>
            </a:r>
            <a:endParaRPr lang="zh-CN" altLang="zh-CN" sz="2400" kern="100" dirty="0">
              <a:latin typeface="黑体" panose="02010609060101010101" pitchFamily="49" charset="-122"/>
              <a:ea typeface="黑体" panose="02010609060101010101" pitchFamily="49" charset="-122"/>
              <a:cs typeface="Times New Roman"/>
            </a:endParaRPr>
          </a:p>
          <a:p>
            <a:pPr indent="177800">
              <a:lnSpc>
                <a:spcPct val="150000"/>
              </a:lnSpc>
              <a:spcAft>
                <a:spcPts val="0"/>
              </a:spcAft>
              <a:buFont typeface="Arial" charset="0"/>
              <a:buNone/>
              <a:defRPr/>
            </a:pPr>
            <a:r>
              <a:rPr lang="en-US" altLang="zh-CN" sz="2400" kern="0" dirty="0">
                <a:latin typeface="黑体" panose="02010609060101010101" pitchFamily="49" charset="-122"/>
                <a:ea typeface="黑体" panose="02010609060101010101" pitchFamily="49" charset="-122"/>
                <a:cs typeface="TimesNewRomanPSMT"/>
              </a:rPr>
              <a:t>5.</a:t>
            </a:r>
            <a:r>
              <a:rPr lang="zh-CN" altLang="zh-CN" sz="2400" kern="0" dirty="0">
                <a:latin typeface="黑体" panose="02010609060101010101" pitchFamily="49" charset="-122"/>
                <a:ea typeface="黑体" panose="02010609060101010101" pitchFamily="49" charset="-122"/>
                <a:cs typeface="TimesNewRomanPSMT"/>
              </a:rPr>
              <a:t>基本掌握了</a:t>
            </a:r>
            <a:r>
              <a:rPr lang="en-US" altLang="zh-CN" sz="2400" kern="0" dirty="0">
                <a:latin typeface="黑体" panose="02010609060101010101" pitchFamily="49" charset="-122"/>
                <a:ea typeface="黑体" panose="02010609060101010101" pitchFamily="49" charset="-122"/>
                <a:cs typeface="TimesNewRomanPSMT"/>
              </a:rPr>
              <a:t>DSC 204F1 </a:t>
            </a:r>
            <a:r>
              <a:rPr lang="zh-CN" altLang="zh-CN" sz="2400" kern="0" dirty="0">
                <a:latin typeface="黑体" panose="02010609060101010101" pitchFamily="49" charset="-122"/>
                <a:ea typeface="黑体" panose="02010609060101010101" pitchFamily="49" charset="-122"/>
                <a:cs typeface="TimesNewRomanPSMT"/>
              </a:rPr>
              <a:t>操作规程。</a:t>
            </a:r>
            <a:endParaRPr lang="zh-CN" altLang="zh-CN" sz="2400" kern="100" dirty="0">
              <a:latin typeface="黑体" panose="02010609060101010101" pitchFamily="49" charset="-122"/>
              <a:ea typeface="黑体" panose="02010609060101010101" pitchFamily="49" charset="-122"/>
              <a:cs typeface="Times New Roman"/>
            </a:endParaRPr>
          </a:p>
        </p:txBody>
      </p:sp>
    </p:spTree>
    <p:extLst>
      <p:ext uri="{BB962C8B-B14F-4D97-AF65-F5344CB8AC3E}">
        <p14:creationId xmlns:p14="http://schemas.microsoft.com/office/powerpoint/2010/main" val="31303379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1953</Words>
  <Application>Microsoft Office PowerPoint</Application>
  <PresentationFormat>全屏显示(4:3)</PresentationFormat>
  <Paragraphs>161</Paragraphs>
  <Slides>25</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27" baseType="lpstr">
      <vt:lpstr>Office 主题​​</vt:lpstr>
      <vt:lpstr>Microsoft 公式 3.0</vt:lpstr>
      <vt:lpstr>实验五   苯甲醛红外光谱的密度泛函理论研究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实验五   苯甲醛红外光谱的密度泛函理论研究</dc:title>
  <dc:creator>SJLI</dc:creator>
  <cp:lastModifiedBy>SJLI</cp:lastModifiedBy>
  <cp:revision>9</cp:revision>
  <dcterms:created xsi:type="dcterms:W3CDTF">2017-09-14T07:48:59Z</dcterms:created>
  <dcterms:modified xsi:type="dcterms:W3CDTF">2017-09-15T06:29:32Z</dcterms:modified>
</cp:coreProperties>
</file>