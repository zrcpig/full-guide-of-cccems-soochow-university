
<file path=[Content_Types].xml><?xml version="1.0" encoding="utf-8"?>
<Types xmlns="http://schemas.openxmlformats.org/package/2006/content-types">
  <Default Extension="bin" ContentType="application/vnd.openxmlformats-officedocument.oleObject"/>
  <Default Extension="png" ContentType="image/png"/>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75"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2" d="100"/>
          <a:sy n="82" d="100"/>
        </p:scale>
        <p:origin x="-1474" y="-91"/>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2.wmf"/><Relationship Id="rId1" Type="http://schemas.openxmlformats.org/officeDocument/2006/relationships/image" Target="../media/image1.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wmf"/><Relationship Id="rId1" Type="http://schemas.openxmlformats.org/officeDocument/2006/relationships/image" Target="../media/image1.wmf"/><Relationship Id="rId6" Type="http://schemas.openxmlformats.org/officeDocument/2006/relationships/image" Target="../media/image7.wmf"/><Relationship Id="rId5" Type="http://schemas.openxmlformats.org/officeDocument/2006/relationships/image" Target="../media/image6.wmf"/><Relationship Id="rId4" Type="http://schemas.openxmlformats.org/officeDocument/2006/relationships/image" Target="../media/image5.w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image" Target="../media/image9.wmf"/><Relationship Id="rId1" Type="http://schemas.openxmlformats.org/officeDocument/2006/relationships/image" Target="../media/image8.wmf"/><Relationship Id="rId5" Type="http://schemas.openxmlformats.org/officeDocument/2006/relationships/image" Target="../media/image12.wmf"/><Relationship Id="rId4" Type="http://schemas.openxmlformats.org/officeDocument/2006/relationships/image" Target="../media/image11.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image" Target="../media/image14.wmf"/><Relationship Id="rId1" Type="http://schemas.openxmlformats.org/officeDocument/2006/relationships/image" Target="../media/image13.wmf"/><Relationship Id="rId5" Type="http://schemas.openxmlformats.org/officeDocument/2006/relationships/image" Target="../media/image17.wmf"/><Relationship Id="rId4" Type="http://schemas.openxmlformats.org/officeDocument/2006/relationships/image" Target="../media/image16.wmf"/></Relationships>
</file>

<file path=ppt/drawings/_rels/vmlDrawing5.vml.rels><?xml version="1.0" encoding="UTF-8" standalone="yes"?>
<Relationships xmlns="http://schemas.openxmlformats.org/package/2006/relationships"><Relationship Id="rId8" Type="http://schemas.openxmlformats.org/officeDocument/2006/relationships/image" Target="../media/image25.wmf"/><Relationship Id="rId3" Type="http://schemas.openxmlformats.org/officeDocument/2006/relationships/image" Target="../media/image20.wmf"/><Relationship Id="rId7" Type="http://schemas.openxmlformats.org/officeDocument/2006/relationships/image" Target="../media/image24.wmf"/><Relationship Id="rId2" Type="http://schemas.openxmlformats.org/officeDocument/2006/relationships/image" Target="../media/image19.wmf"/><Relationship Id="rId1" Type="http://schemas.openxmlformats.org/officeDocument/2006/relationships/image" Target="../media/image18.wmf"/><Relationship Id="rId6" Type="http://schemas.openxmlformats.org/officeDocument/2006/relationships/image" Target="../media/image23.wmf"/><Relationship Id="rId11" Type="http://schemas.openxmlformats.org/officeDocument/2006/relationships/image" Target="../media/image28.wmf"/><Relationship Id="rId5" Type="http://schemas.openxmlformats.org/officeDocument/2006/relationships/image" Target="../media/image22.wmf"/><Relationship Id="rId10" Type="http://schemas.openxmlformats.org/officeDocument/2006/relationships/image" Target="../media/image27.wmf"/><Relationship Id="rId4" Type="http://schemas.openxmlformats.org/officeDocument/2006/relationships/image" Target="../media/image21.wmf"/><Relationship Id="rId9" Type="http://schemas.openxmlformats.org/officeDocument/2006/relationships/image" Target="../media/image26.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29.wmf"/></Relationships>
</file>

<file path=ppt/drawings/_rels/vmlDrawing7.vml.rels><?xml version="1.0" encoding="UTF-8" standalone="yes"?>
<Relationships xmlns="http://schemas.openxmlformats.org/package/2006/relationships"><Relationship Id="rId2" Type="http://schemas.openxmlformats.org/officeDocument/2006/relationships/image" Target="../media/image32.wmf"/><Relationship Id="rId1" Type="http://schemas.openxmlformats.org/officeDocument/2006/relationships/image" Target="../media/image31.wmf"/></Relationships>
</file>

<file path=ppt/drawings/_rels/vmlDrawing8.vml.rels><?xml version="1.0" encoding="UTF-8" standalone="yes"?>
<Relationships xmlns="http://schemas.openxmlformats.org/package/2006/relationships"><Relationship Id="rId3" Type="http://schemas.openxmlformats.org/officeDocument/2006/relationships/image" Target="../media/image38.wmf"/><Relationship Id="rId2" Type="http://schemas.openxmlformats.org/officeDocument/2006/relationships/image" Target="../media/image37.wmf"/><Relationship Id="rId1" Type="http://schemas.openxmlformats.org/officeDocument/2006/relationships/image" Target="../media/image36.wmf"/><Relationship Id="rId5" Type="http://schemas.openxmlformats.org/officeDocument/2006/relationships/image" Target="../media/image40.wmf"/><Relationship Id="rId4" Type="http://schemas.openxmlformats.org/officeDocument/2006/relationships/image" Target="../media/image39.wmf"/></Relationships>
</file>

<file path=ppt/drawings/_rels/vmlDrawing9.vml.rels><?xml version="1.0" encoding="UTF-8" standalone="yes"?>
<Relationships xmlns="http://schemas.openxmlformats.org/package/2006/relationships"><Relationship Id="rId2" Type="http://schemas.openxmlformats.org/officeDocument/2006/relationships/image" Target="../media/image43.wmf"/><Relationship Id="rId1" Type="http://schemas.openxmlformats.org/officeDocument/2006/relationships/image" Target="../media/image42.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46.wmf"/></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BA03A7EA-4EDA-47FC-80D3-BA750D4BC9EB}" type="datetimeFigureOut">
              <a:rPr lang="zh-CN" altLang="en-US" smtClean="0"/>
              <a:t>2017/9/19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C27F60D-42C4-402D-B438-414F7666C8CD}" type="slidenum">
              <a:rPr lang="zh-CN" altLang="en-US" smtClean="0"/>
              <a:t>‹#›</a:t>
            </a:fld>
            <a:endParaRPr lang="zh-CN" altLang="en-US"/>
          </a:p>
        </p:txBody>
      </p:sp>
    </p:spTree>
    <p:extLst>
      <p:ext uri="{BB962C8B-B14F-4D97-AF65-F5344CB8AC3E}">
        <p14:creationId xmlns:p14="http://schemas.microsoft.com/office/powerpoint/2010/main" val="5222143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BA03A7EA-4EDA-47FC-80D3-BA750D4BC9EB}" type="datetimeFigureOut">
              <a:rPr lang="zh-CN" altLang="en-US" smtClean="0"/>
              <a:t>2017/9/19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C27F60D-42C4-402D-B438-414F7666C8CD}" type="slidenum">
              <a:rPr lang="zh-CN" altLang="en-US" smtClean="0"/>
              <a:t>‹#›</a:t>
            </a:fld>
            <a:endParaRPr lang="zh-CN" altLang="en-US"/>
          </a:p>
        </p:txBody>
      </p:sp>
    </p:spTree>
    <p:extLst>
      <p:ext uri="{BB962C8B-B14F-4D97-AF65-F5344CB8AC3E}">
        <p14:creationId xmlns:p14="http://schemas.microsoft.com/office/powerpoint/2010/main" val="25761006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p>
            <a:fld id="{BA03A7EA-4EDA-47FC-80D3-BA750D4BC9EB}" type="datetimeFigureOut">
              <a:rPr lang="zh-CN" altLang="en-US" smtClean="0"/>
              <a:t>2017/9/19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C27F60D-42C4-402D-B438-414F7666C8CD}" type="slidenum">
              <a:rPr lang="zh-CN" altLang="en-US" smtClean="0"/>
              <a:t>‹#›</a:t>
            </a:fld>
            <a:endParaRPr lang="zh-CN" altLang="en-US"/>
          </a:p>
        </p:txBody>
      </p:sp>
    </p:spTree>
    <p:extLst>
      <p:ext uri="{BB962C8B-B14F-4D97-AF65-F5344CB8AC3E}">
        <p14:creationId xmlns:p14="http://schemas.microsoft.com/office/powerpoint/2010/main" val="17647723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BA03A7EA-4EDA-47FC-80D3-BA750D4BC9EB}" type="datetimeFigureOut">
              <a:rPr lang="zh-CN" altLang="en-US" smtClean="0"/>
              <a:t>2017/9/19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AC27F60D-42C4-402D-B438-414F7666C8CD}" type="slidenum">
              <a:rPr lang="zh-CN" altLang="en-US" smtClean="0"/>
              <a:t>‹#›</a:t>
            </a:fld>
            <a:endParaRPr lang="zh-CN" altLang="en-US"/>
          </a:p>
        </p:txBody>
      </p:sp>
    </p:spTree>
    <p:extLst>
      <p:ext uri="{BB962C8B-B14F-4D97-AF65-F5344CB8AC3E}">
        <p14:creationId xmlns:p14="http://schemas.microsoft.com/office/powerpoint/2010/main" val="5525840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BA03A7EA-4EDA-47FC-80D3-BA750D4BC9EB}" type="datetimeFigureOut">
              <a:rPr lang="zh-CN" altLang="en-US" smtClean="0"/>
              <a:t>2017/9/19</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AC27F60D-42C4-402D-B438-414F7666C8CD}" type="slidenum">
              <a:rPr lang="zh-CN" altLang="en-US" smtClean="0"/>
              <a:t>‹#›</a:t>
            </a:fld>
            <a:endParaRPr lang="zh-CN" altLang="en-US"/>
          </a:p>
        </p:txBody>
      </p:sp>
    </p:spTree>
    <p:extLst>
      <p:ext uri="{BB962C8B-B14F-4D97-AF65-F5344CB8AC3E}">
        <p14:creationId xmlns:p14="http://schemas.microsoft.com/office/powerpoint/2010/main" val="17932749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BA03A7EA-4EDA-47FC-80D3-BA750D4BC9EB}" type="datetimeFigureOut">
              <a:rPr lang="zh-CN" altLang="en-US" smtClean="0"/>
              <a:t>2017/9/19</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AC27F60D-42C4-402D-B438-414F7666C8CD}" type="slidenum">
              <a:rPr lang="zh-CN" altLang="en-US" smtClean="0"/>
              <a:t>‹#›</a:t>
            </a:fld>
            <a:endParaRPr lang="zh-CN" altLang="en-US"/>
          </a:p>
        </p:txBody>
      </p:sp>
    </p:spTree>
    <p:extLst>
      <p:ext uri="{BB962C8B-B14F-4D97-AF65-F5344CB8AC3E}">
        <p14:creationId xmlns:p14="http://schemas.microsoft.com/office/powerpoint/2010/main" val="28459596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BA03A7EA-4EDA-47FC-80D3-BA750D4BC9EB}" type="datetimeFigureOut">
              <a:rPr lang="zh-CN" altLang="en-US" smtClean="0"/>
              <a:t>2017/9/19</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AC27F60D-42C4-402D-B438-414F7666C8CD}" type="slidenum">
              <a:rPr lang="zh-CN" altLang="en-US" smtClean="0"/>
              <a:t>‹#›</a:t>
            </a:fld>
            <a:endParaRPr lang="zh-CN" altLang="en-US"/>
          </a:p>
        </p:txBody>
      </p:sp>
    </p:spTree>
    <p:extLst>
      <p:ext uri="{BB962C8B-B14F-4D97-AF65-F5344CB8AC3E}">
        <p14:creationId xmlns:p14="http://schemas.microsoft.com/office/powerpoint/2010/main" val="42318099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BA03A7EA-4EDA-47FC-80D3-BA750D4BC9EB}" type="datetimeFigureOut">
              <a:rPr lang="zh-CN" altLang="en-US" smtClean="0"/>
              <a:t>2017/9/19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AC27F60D-42C4-402D-B438-414F7666C8CD}" type="slidenum">
              <a:rPr lang="zh-CN" altLang="en-US" smtClean="0"/>
              <a:t>‹#›</a:t>
            </a:fld>
            <a:endParaRPr lang="zh-CN" altLang="en-US"/>
          </a:p>
        </p:txBody>
      </p:sp>
    </p:spTree>
    <p:extLst>
      <p:ext uri="{BB962C8B-B14F-4D97-AF65-F5344CB8AC3E}">
        <p14:creationId xmlns:p14="http://schemas.microsoft.com/office/powerpoint/2010/main" val="13978329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BA03A7EA-4EDA-47FC-80D3-BA750D4BC9EB}" type="datetimeFigureOut">
              <a:rPr lang="zh-CN" altLang="en-US" smtClean="0"/>
              <a:t>2017/9/19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AC27F60D-42C4-402D-B438-414F7666C8CD}" type="slidenum">
              <a:rPr lang="zh-CN" altLang="en-US" smtClean="0"/>
              <a:t>‹#›</a:t>
            </a:fld>
            <a:endParaRPr lang="zh-CN" altLang="en-US"/>
          </a:p>
        </p:txBody>
      </p:sp>
    </p:spTree>
    <p:extLst>
      <p:ext uri="{BB962C8B-B14F-4D97-AF65-F5344CB8AC3E}">
        <p14:creationId xmlns:p14="http://schemas.microsoft.com/office/powerpoint/2010/main" val="6640483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BA03A7EA-4EDA-47FC-80D3-BA750D4BC9EB}" type="datetimeFigureOut">
              <a:rPr lang="zh-CN" altLang="en-US" smtClean="0"/>
              <a:t>2017/9/19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C27F60D-42C4-402D-B438-414F7666C8CD}" type="slidenum">
              <a:rPr lang="zh-CN" altLang="en-US" smtClean="0"/>
              <a:t>‹#›</a:t>
            </a:fld>
            <a:endParaRPr lang="zh-CN" altLang="en-US"/>
          </a:p>
        </p:txBody>
      </p:sp>
    </p:spTree>
    <p:extLst>
      <p:ext uri="{BB962C8B-B14F-4D97-AF65-F5344CB8AC3E}">
        <p14:creationId xmlns:p14="http://schemas.microsoft.com/office/powerpoint/2010/main" val="32804410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BA03A7EA-4EDA-47FC-80D3-BA750D4BC9EB}" type="datetimeFigureOut">
              <a:rPr lang="zh-CN" altLang="en-US" smtClean="0"/>
              <a:t>2017/9/19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C27F60D-42C4-402D-B438-414F7666C8CD}" type="slidenum">
              <a:rPr lang="zh-CN" altLang="en-US" smtClean="0"/>
              <a:t>‹#›</a:t>
            </a:fld>
            <a:endParaRPr lang="zh-CN" altLang="en-US"/>
          </a:p>
        </p:txBody>
      </p:sp>
    </p:spTree>
    <p:extLst>
      <p:ext uri="{BB962C8B-B14F-4D97-AF65-F5344CB8AC3E}">
        <p14:creationId xmlns:p14="http://schemas.microsoft.com/office/powerpoint/2010/main" val="21697453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A03A7EA-4EDA-47FC-80D3-BA750D4BC9EB}" type="datetimeFigureOut">
              <a:rPr lang="zh-CN" altLang="en-US" smtClean="0"/>
              <a:t>2017/9/19</a:t>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C27F60D-42C4-402D-B438-414F7666C8CD}" type="slidenum">
              <a:rPr lang="zh-CN" altLang="en-US" smtClean="0"/>
              <a:t>‹#›</a:t>
            </a:fld>
            <a:endParaRPr lang="zh-CN" altLang="en-US"/>
          </a:p>
        </p:txBody>
      </p:sp>
    </p:spTree>
    <p:extLst>
      <p:ext uri="{BB962C8B-B14F-4D97-AF65-F5344CB8AC3E}">
        <p14:creationId xmlns:p14="http://schemas.microsoft.com/office/powerpoint/2010/main" val="34030490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7.xml"/><Relationship Id="rId1" Type="http://schemas.openxmlformats.org/officeDocument/2006/relationships/vmlDrawing" Target="../drawings/vmlDrawing1.vml"/><Relationship Id="rId6" Type="http://schemas.openxmlformats.org/officeDocument/2006/relationships/image" Target="../media/image2.wmf"/><Relationship Id="rId5" Type="http://schemas.openxmlformats.org/officeDocument/2006/relationships/oleObject" Target="../embeddings/oleObject2.bin"/><Relationship Id="rId4" Type="http://schemas.openxmlformats.org/officeDocument/2006/relationships/image" Target="../media/image1.wmf"/></Relationships>
</file>

<file path=ppt/slides/_rels/slide4.xml.rels><?xml version="1.0" encoding="UTF-8" standalone="yes"?>
<Relationships xmlns="http://schemas.openxmlformats.org/package/2006/relationships"><Relationship Id="rId8" Type="http://schemas.openxmlformats.org/officeDocument/2006/relationships/image" Target="../media/image4.wmf"/><Relationship Id="rId13" Type="http://schemas.openxmlformats.org/officeDocument/2006/relationships/oleObject" Target="../embeddings/oleObject8.bin"/><Relationship Id="rId3" Type="http://schemas.openxmlformats.org/officeDocument/2006/relationships/oleObject" Target="../embeddings/oleObject3.bin"/><Relationship Id="rId7" Type="http://schemas.openxmlformats.org/officeDocument/2006/relationships/oleObject" Target="../embeddings/oleObject5.bin"/><Relationship Id="rId12" Type="http://schemas.openxmlformats.org/officeDocument/2006/relationships/image" Target="../media/image6.wmf"/><Relationship Id="rId2" Type="http://schemas.openxmlformats.org/officeDocument/2006/relationships/slideLayout" Target="../slideLayouts/slideLayout7.xml"/><Relationship Id="rId1" Type="http://schemas.openxmlformats.org/officeDocument/2006/relationships/vmlDrawing" Target="../drawings/vmlDrawing2.vml"/><Relationship Id="rId6" Type="http://schemas.openxmlformats.org/officeDocument/2006/relationships/image" Target="../media/image3.wmf"/><Relationship Id="rId11" Type="http://schemas.openxmlformats.org/officeDocument/2006/relationships/oleObject" Target="../embeddings/oleObject7.bin"/><Relationship Id="rId5" Type="http://schemas.openxmlformats.org/officeDocument/2006/relationships/oleObject" Target="../embeddings/oleObject4.bin"/><Relationship Id="rId10" Type="http://schemas.openxmlformats.org/officeDocument/2006/relationships/image" Target="../media/image5.wmf"/><Relationship Id="rId4" Type="http://schemas.openxmlformats.org/officeDocument/2006/relationships/image" Target="../media/image1.wmf"/><Relationship Id="rId9" Type="http://schemas.openxmlformats.org/officeDocument/2006/relationships/oleObject" Target="../embeddings/oleObject6.bin"/><Relationship Id="rId14" Type="http://schemas.openxmlformats.org/officeDocument/2006/relationships/image" Target="../media/image7.wmf"/></Relationships>
</file>

<file path=ppt/slides/_rels/slide5.xml.rels><?xml version="1.0" encoding="UTF-8" standalone="yes"?>
<Relationships xmlns="http://schemas.openxmlformats.org/package/2006/relationships"><Relationship Id="rId8" Type="http://schemas.openxmlformats.org/officeDocument/2006/relationships/image" Target="../media/image10.wmf"/><Relationship Id="rId3" Type="http://schemas.openxmlformats.org/officeDocument/2006/relationships/oleObject" Target="../embeddings/oleObject9.bin"/><Relationship Id="rId7" Type="http://schemas.openxmlformats.org/officeDocument/2006/relationships/oleObject" Target="../embeddings/oleObject11.bin"/><Relationship Id="rId12" Type="http://schemas.openxmlformats.org/officeDocument/2006/relationships/image" Target="../media/image12.wmf"/><Relationship Id="rId2" Type="http://schemas.openxmlformats.org/officeDocument/2006/relationships/slideLayout" Target="../slideLayouts/slideLayout7.xml"/><Relationship Id="rId1" Type="http://schemas.openxmlformats.org/officeDocument/2006/relationships/vmlDrawing" Target="../drawings/vmlDrawing3.vml"/><Relationship Id="rId6" Type="http://schemas.openxmlformats.org/officeDocument/2006/relationships/image" Target="../media/image9.wmf"/><Relationship Id="rId11" Type="http://schemas.openxmlformats.org/officeDocument/2006/relationships/oleObject" Target="../embeddings/oleObject13.bin"/><Relationship Id="rId5" Type="http://schemas.openxmlformats.org/officeDocument/2006/relationships/oleObject" Target="../embeddings/oleObject10.bin"/><Relationship Id="rId10" Type="http://schemas.openxmlformats.org/officeDocument/2006/relationships/image" Target="../media/image11.wmf"/><Relationship Id="rId4" Type="http://schemas.openxmlformats.org/officeDocument/2006/relationships/image" Target="../media/image8.wmf"/><Relationship Id="rId9" Type="http://schemas.openxmlformats.org/officeDocument/2006/relationships/oleObject" Target="../embeddings/oleObject12.bin"/></Relationships>
</file>

<file path=ppt/slides/_rels/slide6.xml.rels><?xml version="1.0" encoding="UTF-8" standalone="yes"?>
<Relationships xmlns="http://schemas.openxmlformats.org/package/2006/relationships"><Relationship Id="rId8" Type="http://schemas.openxmlformats.org/officeDocument/2006/relationships/image" Target="../media/image15.wmf"/><Relationship Id="rId3" Type="http://schemas.openxmlformats.org/officeDocument/2006/relationships/oleObject" Target="../embeddings/oleObject14.bin"/><Relationship Id="rId7" Type="http://schemas.openxmlformats.org/officeDocument/2006/relationships/oleObject" Target="../embeddings/oleObject16.bin"/><Relationship Id="rId12" Type="http://schemas.openxmlformats.org/officeDocument/2006/relationships/image" Target="../media/image17.wmf"/><Relationship Id="rId2" Type="http://schemas.openxmlformats.org/officeDocument/2006/relationships/slideLayout" Target="../slideLayouts/slideLayout7.xml"/><Relationship Id="rId1" Type="http://schemas.openxmlformats.org/officeDocument/2006/relationships/vmlDrawing" Target="../drawings/vmlDrawing4.vml"/><Relationship Id="rId6" Type="http://schemas.openxmlformats.org/officeDocument/2006/relationships/image" Target="../media/image14.wmf"/><Relationship Id="rId11" Type="http://schemas.openxmlformats.org/officeDocument/2006/relationships/oleObject" Target="../embeddings/oleObject18.bin"/><Relationship Id="rId5" Type="http://schemas.openxmlformats.org/officeDocument/2006/relationships/oleObject" Target="../embeddings/oleObject15.bin"/><Relationship Id="rId10" Type="http://schemas.openxmlformats.org/officeDocument/2006/relationships/image" Target="../media/image16.wmf"/><Relationship Id="rId4" Type="http://schemas.openxmlformats.org/officeDocument/2006/relationships/image" Target="../media/image13.wmf"/><Relationship Id="rId9" Type="http://schemas.openxmlformats.org/officeDocument/2006/relationships/oleObject" Target="../embeddings/oleObject17.bin"/></Relationships>
</file>

<file path=ppt/slides/_rels/slide7.xml.rels><?xml version="1.0" encoding="UTF-8" standalone="yes"?>
<Relationships xmlns="http://schemas.openxmlformats.org/package/2006/relationships"><Relationship Id="rId8" Type="http://schemas.openxmlformats.org/officeDocument/2006/relationships/image" Target="../media/image20.wmf"/><Relationship Id="rId13" Type="http://schemas.openxmlformats.org/officeDocument/2006/relationships/oleObject" Target="../embeddings/oleObject24.bin"/><Relationship Id="rId18" Type="http://schemas.openxmlformats.org/officeDocument/2006/relationships/image" Target="../media/image25.wmf"/><Relationship Id="rId3" Type="http://schemas.openxmlformats.org/officeDocument/2006/relationships/oleObject" Target="../embeddings/oleObject19.bin"/><Relationship Id="rId21" Type="http://schemas.openxmlformats.org/officeDocument/2006/relationships/oleObject" Target="../embeddings/oleObject28.bin"/><Relationship Id="rId7" Type="http://schemas.openxmlformats.org/officeDocument/2006/relationships/oleObject" Target="../embeddings/oleObject21.bin"/><Relationship Id="rId12" Type="http://schemas.openxmlformats.org/officeDocument/2006/relationships/image" Target="../media/image22.wmf"/><Relationship Id="rId17" Type="http://schemas.openxmlformats.org/officeDocument/2006/relationships/oleObject" Target="../embeddings/oleObject26.bin"/><Relationship Id="rId2" Type="http://schemas.openxmlformats.org/officeDocument/2006/relationships/slideLayout" Target="../slideLayouts/slideLayout7.xml"/><Relationship Id="rId16" Type="http://schemas.openxmlformats.org/officeDocument/2006/relationships/image" Target="../media/image24.wmf"/><Relationship Id="rId20" Type="http://schemas.openxmlformats.org/officeDocument/2006/relationships/image" Target="../media/image26.wmf"/><Relationship Id="rId1" Type="http://schemas.openxmlformats.org/officeDocument/2006/relationships/vmlDrawing" Target="../drawings/vmlDrawing5.vml"/><Relationship Id="rId6" Type="http://schemas.openxmlformats.org/officeDocument/2006/relationships/image" Target="../media/image19.wmf"/><Relationship Id="rId11" Type="http://schemas.openxmlformats.org/officeDocument/2006/relationships/oleObject" Target="../embeddings/oleObject23.bin"/><Relationship Id="rId24" Type="http://schemas.openxmlformats.org/officeDocument/2006/relationships/image" Target="../media/image28.wmf"/><Relationship Id="rId5" Type="http://schemas.openxmlformats.org/officeDocument/2006/relationships/oleObject" Target="../embeddings/oleObject20.bin"/><Relationship Id="rId15" Type="http://schemas.openxmlformats.org/officeDocument/2006/relationships/oleObject" Target="../embeddings/oleObject25.bin"/><Relationship Id="rId23" Type="http://schemas.openxmlformats.org/officeDocument/2006/relationships/oleObject" Target="../embeddings/oleObject29.bin"/><Relationship Id="rId10" Type="http://schemas.openxmlformats.org/officeDocument/2006/relationships/image" Target="../media/image21.wmf"/><Relationship Id="rId19" Type="http://schemas.openxmlformats.org/officeDocument/2006/relationships/oleObject" Target="../embeddings/oleObject27.bin"/><Relationship Id="rId4" Type="http://schemas.openxmlformats.org/officeDocument/2006/relationships/image" Target="../media/image18.wmf"/><Relationship Id="rId9" Type="http://schemas.openxmlformats.org/officeDocument/2006/relationships/oleObject" Target="../embeddings/oleObject22.bin"/><Relationship Id="rId14" Type="http://schemas.openxmlformats.org/officeDocument/2006/relationships/image" Target="../media/image23.wmf"/><Relationship Id="rId22" Type="http://schemas.openxmlformats.org/officeDocument/2006/relationships/image" Target="../media/image27.wmf"/></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30.bin"/><Relationship Id="rId2" Type="http://schemas.openxmlformats.org/officeDocument/2006/relationships/slideLayout" Target="../slideLayouts/slideLayout7.xml"/><Relationship Id="rId1" Type="http://schemas.openxmlformats.org/officeDocument/2006/relationships/vmlDrawing" Target="../drawings/vmlDrawing6.vml"/><Relationship Id="rId4" Type="http://schemas.openxmlformats.org/officeDocument/2006/relationships/image" Target="../media/image29.wmf"/></Relationships>
</file>

<file path=ppt/slides/_rels/slide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33.png"/><Relationship Id="rId7" Type="http://schemas.openxmlformats.org/officeDocument/2006/relationships/image" Target="../media/image32.wmf"/><Relationship Id="rId2" Type="http://schemas.openxmlformats.org/officeDocument/2006/relationships/slideLayout" Target="../slideLayouts/slideLayout7.xml"/><Relationship Id="rId1" Type="http://schemas.openxmlformats.org/officeDocument/2006/relationships/vmlDrawing" Target="../drawings/vmlDrawing7.vml"/><Relationship Id="rId6" Type="http://schemas.openxmlformats.org/officeDocument/2006/relationships/oleObject" Target="../embeddings/oleObject32.bin"/><Relationship Id="rId5" Type="http://schemas.openxmlformats.org/officeDocument/2006/relationships/image" Target="../media/image31.wmf"/><Relationship Id="rId4" Type="http://schemas.openxmlformats.org/officeDocument/2006/relationships/oleObject" Target="../embeddings/oleObject31.bin"/></Relationships>
</file>

<file path=ppt/slides/_rels/slide11.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8" Type="http://schemas.openxmlformats.org/officeDocument/2006/relationships/oleObject" Target="../embeddings/oleObject35.bin"/><Relationship Id="rId13" Type="http://schemas.openxmlformats.org/officeDocument/2006/relationships/image" Target="../media/image40.wmf"/><Relationship Id="rId3" Type="http://schemas.openxmlformats.org/officeDocument/2006/relationships/image" Target="../media/image41.png"/><Relationship Id="rId7" Type="http://schemas.openxmlformats.org/officeDocument/2006/relationships/image" Target="../media/image37.wmf"/><Relationship Id="rId12" Type="http://schemas.openxmlformats.org/officeDocument/2006/relationships/oleObject" Target="../embeddings/oleObject37.bin"/><Relationship Id="rId2" Type="http://schemas.openxmlformats.org/officeDocument/2006/relationships/slideLayout" Target="../slideLayouts/slideLayout7.xml"/><Relationship Id="rId1" Type="http://schemas.openxmlformats.org/officeDocument/2006/relationships/vmlDrawing" Target="../drawings/vmlDrawing8.vml"/><Relationship Id="rId6" Type="http://schemas.openxmlformats.org/officeDocument/2006/relationships/oleObject" Target="../embeddings/oleObject34.bin"/><Relationship Id="rId11" Type="http://schemas.openxmlformats.org/officeDocument/2006/relationships/image" Target="../media/image39.wmf"/><Relationship Id="rId5" Type="http://schemas.openxmlformats.org/officeDocument/2006/relationships/image" Target="../media/image36.wmf"/><Relationship Id="rId10" Type="http://schemas.openxmlformats.org/officeDocument/2006/relationships/oleObject" Target="../embeddings/oleObject36.bin"/><Relationship Id="rId4" Type="http://schemas.openxmlformats.org/officeDocument/2006/relationships/oleObject" Target="../embeddings/oleObject33.bin"/><Relationship Id="rId9" Type="http://schemas.openxmlformats.org/officeDocument/2006/relationships/image" Target="../media/image38.wmf"/></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38.bin"/><Relationship Id="rId2" Type="http://schemas.openxmlformats.org/officeDocument/2006/relationships/slideLayout" Target="../slideLayouts/slideLayout7.xml"/><Relationship Id="rId1" Type="http://schemas.openxmlformats.org/officeDocument/2006/relationships/vmlDrawing" Target="../drawings/vmlDrawing9.vml"/><Relationship Id="rId6" Type="http://schemas.openxmlformats.org/officeDocument/2006/relationships/image" Target="../media/image43.wmf"/><Relationship Id="rId5" Type="http://schemas.openxmlformats.org/officeDocument/2006/relationships/oleObject" Target="../embeddings/oleObject39.bin"/><Relationship Id="rId4" Type="http://schemas.openxmlformats.org/officeDocument/2006/relationships/image" Target="../media/image42.wmf"/></Relationships>
</file>

<file path=ppt/slides/_rels/slide16.xml.rels><?xml version="1.0" encoding="UTF-8" standalone="yes"?>
<Relationships xmlns="http://schemas.openxmlformats.org/package/2006/relationships"><Relationship Id="rId2" Type="http://schemas.openxmlformats.org/officeDocument/2006/relationships/image" Target="../media/image44.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45.jpe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40.bin"/><Relationship Id="rId2" Type="http://schemas.openxmlformats.org/officeDocument/2006/relationships/slideLayout" Target="../slideLayouts/slideLayout2.xml"/><Relationship Id="rId1" Type="http://schemas.openxmlformats.org/officeDocument/2006/relationships/vmlDrawing" Target="../drawings/vmlDrawing10.vml"/><Relationship Id="rId4" Type="http://schemas.openxmlformats.org/officeDocument/2006/relationships/image" Target="../media/image46.wmf"/></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323528" y="2999463"/>
            <a:ext cx="8424936" cy="2243050"/>
          </a:xfrm>
          <a:prstGeom prst="rect">
            <a:avLst/>
          </a:prstGeom>
        </p:spPr>
        <p:txBody>
          <a:bodyPr wrap="square">
            <a:spAutoFit/>
          </a:bodyPr>
          <a:lstStyle/>
          <a:p>
            <a:pPr>
              <a:lnSpc>
                <a:spcPct val="150000"/>
              </a:lnSpc>
            </a:pPr>
            <a:r>
              <a:rPr lang="en-US" altLang="zh-CN" sz="2400" b="1" dirty="0">
                <a:latin typeface="微软雅黑" panose="020B0503020204020204" pitchFamily="34" charset="-122"/>
                <a:ea typeface="微软雅黑" panose="020B0503020204020204" pitchFamily="34" charset="-122"/>
              </a:rPr>
              <a:t>1</a:t>
            </a:r>
            <a:r>
              <a:rPr lang="zh-CN" altLang="zh-CN" sz="2400" b="1" dirty="0">
                <a:latin typeface="微软雅黑" panose="020B0503020204020204" pitchFamily="34" charset="-122"/>
                <a:ea typeface="微软雅黑" panose="020B0503020204020204" pitchFamily="34" charset="-122"/>
              </a:rPr>
              <a:t>、期末总评成绩中，平时实验成绩占</a:t>
            </a:r>
            <a:r>
              <a:rPr lang="en-US" altLang="zh-CN" sz="2400" b="1" dirty="0">
                <a:latin typeface="微软雅黑" panose="020B0503020204020204" pitchFamily="34" charset="-122"/>
                <a:ea typeface="微软雅黑" panose="020B0503020204020204" pitchFamily="34" charset="-122"/>
              </a:rPr>
              <a:t>80%</a:t>
            </a:r>
            <a:r>
              <a:rPr lang="zh-CN" altLang="zh-CN" sz="2400" b="1" dirty="0">
                <a:latin typeface="微软雅黑" panose="020B0503020204020204" pitchFamily="34" charset="-122"/>
                <a:ea typeface="微软雅黑" panose="020B0503020204020204" pitchFamily="34" charset="-122"/>
              </a:rPr>
              <a:t>，实验操作考试占</a:t>
            </a:r>
            <a:r>
              <a:rPr lang="en-US" altLang="zh-CN" sz="2400" b="1" dirty="0">
                <a:latin typeface="微软雅黑" panose="020B0503020204020204" pitchFamily="34" charset="-122"/>
                <a:ea typeface="微软雅黑" panose="020B0503020204020204" pitchFamily="34" charset="-122"/>
              </a:rPr>
              <a:t>20%</a:t>
            </a:r>
            <a:r>
              <a:rPr lang="zh-CN" altLang="zh-CN" sz="2400" b="1" dirty="0">
                <a:latin typeface="微软雅黑" panose="020B0503020204020204" pitchFamily="34" charset="-122"/>
                <a:ea typeface="微软雅黑" panose="020B0503020204020204" pitchFamily="34" charset="-122"/>
              </a:rPr>
              <a:t>。</a:t>
            </a:r>
          </a:p>
          <a:p>
            <a:pPr>
              <a:lnSpc>
                <a:spcPct val="150000"/>
              </a:lnSpc>
            </a:pPr>
            <a:r>
              <a:rPr lang="en-US" altLang="zh-CN" sz="2400" b="1" dirty="0">
                <a:latin typeface="微软雅黑" panose="020B0503020204020204" pitchFamily="34" charset="-122"/>
                <a:ea typeface="微软雅黑" panose="020B0503020204020204" pitchFamily="34" charset="-122"/>
              </a:rPr>
              <a:t>2</a:t>
            </a:r>
            <a:r>
              <a:rPr lang="zh-CN" altLang="zh-CN" sz="2400" b="1" dirty="0">
                <a:latin typeface="微软雅黑" panose="020B0503020204020204" pitchFamily="34" charset="-122"/>
                <a:ea typeface="微软雅黑" panose="020B0503020204020204" pitchFamily="34" charset="-122"/>
              </a:rPr>
              <a:t>、平时实验</a:t>
            </a:r>
            <a:r>
              <a:rPr lang="zh-CN" altLang="zh-CN" sz="2400" b="1" dirty="0" smtClean="0">
                <a:latin typeface="微软雅黑" panose="020B0503020204020204" pitchFamily="34" charset="-122"/>
                <a:ea typeface="微软雅黑" panose="020B0503020204020204" pitchFamily="34" charset="-122"/>
              </a:rPr>
              <a:t>成绩：</a:t>
            </a:r>
            <a:r>
              <a:rPr lang="zh-CN" altLang="zh-CN" sz="2400" b="1" dirty="0">
                <a:latin typeface="微软雅黑" panose="020B0503020204020204" pitchFamily="34" charset="-122"/>
                <a:ea typeface="微软雅黑" panose="020B0503020204020204" pitchFamily="34" charset="-122"/>
              </a:rPr>
              <a:t>其中预习报告满分</a:t>
            </a:r>
            <a:r>
              <a:rPr lang="en-US" altLang="zh-CN" sz="2400" b="1" dirty="0" smtClean="0">
                <a:latin typeface="微软雅黑" panose="020B0503020204020204" pitchFamily="34" charset="-122"/>
                <a:ea typeface="微软雅黑" panose="020B0503020204020204" pitchFamily="34" charset="-122"/>
              </a:rPr>
              <a:t>10%</a:t>
            </a:r>
            <a:r>
              <a:rPr lang="zh-CN" altLang="zh-CN" sz="2400" b="1" dirty="0" smtClean="0">
                <a:latin typeface="微软雅黑" panose="020B0503020204020204" pitchFamily="34" charset="-122"/>
                <a:ea typeface="微软雅黑" panose="020B0503020204020204" pitchFamily="34" charset="-122"/>
              </a:rPr>
              <a:t>；</a:t>
            </a:r>
            <a:r>
              <a:rPr lang="zh-CN" altLang="zh-CN" sz="2400" b="1" dirty="0">
                <a:latin typeface="微软雅黑" panose="020B0503020204020204" pitchFamily="34" charset="-122"/>
                <a:ea typeface="微软雅黑" panose="020B0503020204020204" pitchFamily="34" charset="-122"/>
              </a:rPr>
              <a:t>实验操作</a:t>
            </a:r>
            <a:r>
              <a:rPr lang="zh-CN" altLang="zh-CN" sz="2400" b="1" dirty="0" smtClean="0">
                <a:latin typeface="微软雅黑" panose="020B0503020204020204" pitchFamily="34" charset="-122"/>
                <a:ea typeface="微软雅黑" panose="020B0503020204020204" pitchFamily="34" charset="-122"/>
              </a:rPr>
              <a:t>满分</a:t>
            </a:r>
            <a:r>
              <a:rPr lang="en-US" altLang="zh-CN" sz="2400" b="1" dirty="0" smtClean="0">
                <a:latin typeface="微软雅黑" panose="020B0503020204020204" pitchFamily="34" charset="-122"/>
                <a:ea typeface="微软雅黑" panose="020B0503020204020204" pitchFamily="34" charset="-122"/>
              </a:rPr>
              <a:t>40%</a:t>
            </a:r>
            <a:r>
              <a:rPr lang="zh-CN" altLang="zh-CN" sz="2400" b="1" dirty="0" smtClean="0">
                <a:latin typeface="微软雅黑" panose="020B0503020204020204" pitchFamily="34" charset="-122"/>
                <a:ea typeface="微软雅黑" panose="020B0503020204020204" pitchFamily="34" charset="-122"/>
              </a:rPr>
              <a:t>；</a:t>
            </a:r>
            <a:r>
              <a:rPr lang="zh-CN" altLang="zh-CN" sz="2400" b="1" dirty="0">
                <a:latin typeface="微软雅黑" panose="020B0503020204020204" pitchFamily="34" charset="-122"/>
                <a:ea typeface="微软雅黑" panose="020B0503020204020204" pitchFamily="34" charset="-122"/>
              </a:rPr>
              <a:t>实验报告满分</a:t>
            </a:r>
            <a:r>
              <a:rPr lang="en-US" altLang="zh-CN" sz="2400" b="1" dirty="0" smtClean="0">
                <a:latin typeface="微软雅黑" panose="020B0503020204020204" pitchFamily="34" charset="-122"/>
                <a:ea typeface="微软雅黑" panose="020B0503020204020204" pitchFamily="34" charset="-122"/>
              </a:rPr>
              <a:t>40%</a:t>
            </a:r>
            <a:r>
              <a:rPr lang="zh-CN" altLang="zh-CN" sz="2400" b="1" dirty="0" smtClean="0">
                <a:latin typeface="微软雅黑" panose="020B0503020204020204" pitchFamily="34" charset="-122"/>
                <a:ea typeface="微软雅黑" panose="020B0503020204020204" pitchFamily="34" charset="-122"/>
              </a:rPr>
              <a:t>，</a:t>
            </a:r>
            <a:r>
              <a:rPr lang="zh-CN" altLang="zh-CN" sz="2400" b="1" dirty="0">
                <a:latin typeface="微软雅黑" panose="020B0503020204020204" pitchFamily="34" charset="-122"/>
                <a:ea typeface="微软雅黑" panose="020B0503020204020204" pitchFamily="34" charset="-122"/>
              </a:rPr>
              <a:t>实验结果</a:t>
            </a:r>
            <a:r>
              <a:rPr lang="en-US" altLang="zh-CN" sz="2400" b="1" dirty="0" smtClean="0">
                <a:latin typeface="微软雅黑" panose="020B0503020204020204" pitchFamily="34" charset="-122"/>
                <a:ea typeface="微软雅黑" panose="020B0503020204020204" pitchFamily="34" charset="-122"/>
              </a:rPr>
              <a:t>10%</a:t>
            </a:r>
            <a:r>
              <a:rPr lang="zh-CN" altLang="zh-CN" sz="2400" b="1" dirty="0" smtClean="0">
                <a:latin typeface="微软雅黑" panose="020B0503020204020204" pitchFamily="34" charset="-122"/>
                <a:ea typeface="微软雅黑" panose="020B0503020204020204" pitchFamily="34" charset="-122"/>
              </a:rPr>
              <a:t>。</a:t>
            </a:r>
            <a:endParaRPr lang="zh-CN" altLang="zh-CN" sz="2400" b="1" dirty="0">
              <a:latin typeface="微软雅黑" panose="020B0503020204020204" pitchFamily="34" charset="-122"/>
              <a:ea typeface="微软雅黑" panose="020B0503020204020204" pitchFamily="34" charset="-122"/>
            </a:endParaRPr>
          </a:p>
        </p:txBody>
      </p:sp>
      <p:sp>
        <p:nvSpPr>
          <p:cNvPr id="2" name="TextBox 1"/>
          <p:cNvSpPr txBox="1"/>
          <p:nvPr/>
        </p:nvSpPr>
        <p:spPr>
          <a:xfrm>
            <a:off x="2195736" y="1208116"/>
            <a:ext cx="4339650" cy="923330"/>
          </a:xfrm>
          <a:prstGeom prst="rect">
            <a:avLst/>
          </a:prstGeom>
          <a:noFill/>
        </p:spPr>
        <p:txBody>
          <a:bodyPr wrap="none" rtlCol="0">
            <a:spAutoFit/>
          </a:bodyPr>
          <a:lstStyle/>
          <a:p>
            <a:r>
              <a:rPr lang="zh-CN" altLang="en-US" sz="5400" b="1" dirty="0">
                <a:latin typeface="微软雅黑" panose="020B0503020204020204" pitchFamily="34" charset="-122"/>
                <a:ea typeface="微软雅黑" panose="020B0503020204020204" pitchFamily="34" charset="-122"/>
              </a:rPr>
              <a:t>物理化学实验</a:t>
            </a:r>
          </a:p>
        </p:txBody>
      </p:sp>
    </p:spTree>
    <p:extLst>
      <p:ext uri="{BB962C8B-B14F-4D97-AF65-F5344CB8AC3E}">
        <p14:creationId xmlns:p14="http://schemas.microsoft.com/office/powerpoint/2010/main" val="21775478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ChangeArrowheads="1"/>
          </p:cNvSpPr>
          <p:nvPr/>
        </p:nvSpPr>
        <p:spPr bwMode="auto">
          <a:xfrm>
            <a:off x="1387475" y="723478"/>
            <a:ext cx="541655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algn="ctr">
              <a:lnSpc>
                <a:spcPct val="140000"/>
              </a:lnSpc>
              <a:spcBef>
                <a:spcPct val="0"/>
              </a:spcBef>
              <a:buFontTx/>
              <a:buNone/>
            </a:pPr>
            <a:r>
              <a:rPr lang="zh-CN" altLang="en-US" sz="2400" dirty="0">
                <a:latin typeface="黑体" pitchFamily="49" charset="-122"/>
                <a:ea typeface="黑体" pitchFamily="49" charset="-122"/>
              </a:rPr>
              <a:t>实验七  溶液法测定极性分子的偶极矩</a:t>
            </a:r>
          </a:p>
        </p:txBody>
      </p:sp>
      <p:sp>
        <p:nvSpPr>
          <p:cNvPr id="89091" name="Rectangle 3"/>
          <p:cNvSpPr>
            <a:spLocks noChangeArrowheads="1"/>
          </p:cNvSpPr>
          <p:nvPr/>
        </p:nvSpPr>
        <p:spPr bwMode="auto">
          <a:xfrm>
            <a:off x="539552" y="1988840"/>
            <a:ext cx="7848600" cy="3162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indent="300038"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a:lnSpc>
                <a:spcPct val="140000"/>
              </a:lnSpc>
              <a:spcBef>
                <a:spcPct val="0"/>
              </a:spcBef>
              <a:buFontTx/>
              <a:buNone/>
            </a:pPr>
            <a:r>
              <a:rPr lang="zh-CN" altLang="en-US" sz="2400" dirty="0">
                <a:latin typeface="Times New Roman" pitchFamily="18" charset="0"/>
                <a:ea typeface="黑体" pitchFamily="49" charset="-122"/>
              </a:rPr>
              <a:t>一、实验目的</a:t>
            </a:r>
          </a:p>
          <a:p>
            <a:pPr>
              <a:lnSpc>
                <a:spcPct val="140000"/>
              </a:lnSpc>
              <a:spcBef>
                <a:spcPct val="0"/>
              </a:spcBef>
              <a:buFontTx/>
              <a:buNone/>
            </a:pPr>
            <a:r>
              <a:rPr lang="zh-CN" altLang="en-US" sz="2400" dirty="0">
                <a:latin typeface="Times New Roman" pitchFamily="18" charset="0"/>
                <a:ea typeface="黑体" pitchFamily="49" charset="-122"/>
              </a:rPr>
              <a:t>1．测定氯仿在环已烷中的介电常数和偶极矩，了解偶极矩与分子电性的关系。</a:t>
            </a:r>
          </a:p>
          <a:p>
            <a:pPr>
              <a:lnSpc>
                <a:spcPct val="140000"/>
              </a:lnSpc>
              <a:spcBef>
                <a:spcPct val="0"/>
              </a:spcBef>
              <a:buFontTx/>
              <a:buNone/>
            </a:pPr>
            <a:r>
              <a:rPr lang="zh-CN" altLang="en-US" sz="2400" dirty="0">
                <a:latin typeface="Times New Roman" pitchFamily="18" charset="0"/>
                <a:ea typeface="黑体" pitchFamily="49" charset="-122"/>
              </a:rPr>
              <a:t>2．了解Clansius-Mosotti-Debye方程的意义及公式的使用范围。</a:t>
            </a:r>
          </a:p>
          <a:p>
            <a:pPr>
              <a:lnSpc>
                <a:spcPct val="140000"/>
              </a:lnSpc>
              <a:spcBef>
                <a:spcPct val="0"/>
              </a:spcBef>
              <a:buFontTx/>
              <a:buNone/>
            </a:pPr>
            <a:r>
              <a:rPr lang="zh-CN" altLang="en-US" sz="2400" dirty="0">
                <a:latin typeface="Times New Roman" pitchFamily="18" charset="0"/>
                <a:ea typeface="黑体" pitchFamily="49" charset="-122"/>
              </a:rPr>
              <a:t>3．掌握密度管的使用与电容的测定。</a:t>
            </a:r>
          </a:p>
        </p:txBody>
      </p:sp>
      <p:sp>
        <p:nvSpPr>
          <p:cNvPr id="89092" name="Text Box 4"/>
          <p:cNvSpPr txBox="1">
            <a:spLocks noChangeArrowheads="1"/>
          </p:cNvSpPr>
          <p:nvPr/>
        </p:nvSpPr>
        <p:spPr bwMode="auto">
          <a:xfrm>
            <a:off x="6169025" y="1315616"/>
            <a:ext cx="2292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0"/>
              </a:spcBef>
              <a:buFontTx/>
              <a:buNone/>
            </a:pPr>
            <a:r>
              <a:rPr lang="zh-CN" altLang="en-US" sz="2400" dirty="0">
                <a:latin typeface="Times New Roman" pitchFamily="18" charset="0"/>
              </a:rPr>
              <a:t>p136</a:t>
            </a:r>
          </a:p>
        </p:txBody>
      </p:sp>
    </p:spTree>
    <p:extLst>
      <p:ext uri="{BB962C8B-B14F-4D97-AF65-F5344CB8AC3E}">
        <p14:creationId xmlns:p14="http://schemas.microsoft.com/office/powerpoint/2010/main" val="38192549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p:cNvSpPr>
            <a:spLocks noChangeArrowheads="1"/>
          </p:cNvSpPr>
          <p:nvPr/>
        </p:nvSpPr>
        <p:spPr bwMode="auto">
          <a:xfrm>
            <a:off x="828675" y="909638"/>
            <a:ext cx="30781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a:spcBef>
                <a:spcPct val="0"/>
              </a:spcBef>
              <a:buFontTx/>
              <a:buNone/>
            </a:pPr>
            <a:r>
              <a:rPr lang="zh-CN" altLang="zh-CN" sz="2400">
                <a:solidFill>
                  <a:srgbClr val="000000"/>
                </a:solidFill>
                <a:latin typeface="Times New Roman" pitchFamily="18" charset="0"/>
                <a:ea typeface="黑体" pitchFamily="49" charset="-122"/>
              </a:rPr>
              <a:t>分子的偶极矩定义</a:t>
            </a:r>
            <a:r>
              <a:rPr lang="zh-CN" altLang="zh-CN" sz="2400">
                <a:solidFill>
                  <a:srgbClr val="000000"/>
                </a:solidFill>
                <a:latin typeface="Times New Roman" pitchFamily="18" charset="0"/>
                <a:cs typeface="Times New Roman" pitchFamily="18" charset="0"/>
              </a:rPr>
              <a:t>      </a:t>
            </a:r>
            <a:endParaRPr lang="zh-CN" altLang="zh-CN" sz="2400"/>
          </a:p>
        </p:txBody>
      </p:sp>
      <p:sp>
        <p:nvSpPr>
          <p:cNvPr id="90115" name="Rectangle 3"/>
          <p:cNvSpPr>
            <a:spLocks noChangeArrowheads="1"/>
          </p:cNvSpPr>
          <p:nvPr/>
        </p:nvSpPr>
        <p:spPr bwMode="auto">
          <a:xfrm>
            <a:off x="468313" y="3068638"/>
            <a:ext cx="8170862"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a:lnSpc>
                <a:spcPct val="150000"/>
              </a:lnSpc>
              <a:spcBef>
                <a:spcPct val="0"/>
              </a:spcBef>
              <a:buFontTx/>
              <a:buNone/>
            </a:pPr>
            <a:r>
              <a:rPr lang="zh-CN" altLang="en-US" sz="2400">
                <a:solidFill>
                  <a:srgbClr val="000000"/>
                </a:solidFill>
                <a:latin typeface="黑体" pitchFamily="49" charset="-122"/>
                <a:ea typeface="黑体" pitchFamily="49" charset="-122"/>
              </a:rPr>
              <a:t>摩尔取向极化度P</a:t>
            </a:r>
            <a:r>
              <a:rPr lang="zh-CN" altLang="en-US" sz="2400" baseline="-25000">
                <a:solidFill>
                  <a:srgbClr val="000000"/>
                </a:solidFill>
                <a:latin typeface="黑体" pitchFamily="49" charset="-122"/>
                <a:ea typeface="黑体" pitchFamily="49" charset="-122"/>
              </a:rPr>
              <a:t>取向</a:t>
            </a:r>
            <a:r>
              <a:rPr lang="zh-CN" altLang="en-US" sz="2400">
                <a:solidFill>
                  <a:srgbClr val="000000"/>
                </a:solidFill>
                <a:latin typeface="黑体" pitchFamily="49" charset="-122"/>
                <a:ea typeface="黑体" pitchFamily="49" charset="-122"/>
              </a:rPr>
              <a:t>：偶极矩沿外电场电场作用方向定向排列，衡量分子的极化程度</a:t>
            </a:r>
          </a:p>
          <a:p>
            <a:pPr>
              <a:lnSpc>
                <a:spcPct val="150000"/>
              </a:lnSpc>
              <a:spcBef>
                <a:spcPct val="0"/>
              </a:spcBef>
              <a:buFontTx/>
              <a:buNone/>
            </a:pPr>
            <a:r>
              <a:rPr lang="zh-CN" altLang="en-US" sz="2400">
                <a:latin typeface="黑体" pitchFamily="49" charset="-122"/>
                <a:ea typeface="黑体" pitchFamily="49" charset="-122"/>
              </a:rPr>
              <a:t>变形极化度</a:t>
            </a:r>
            <a:r>
              <a:rPr lang="zh-CN" altLang="en-US" sz="2400">
                <a:latin typeface="Times New Roman" pitchFamily="18" charset="0"/>
                <a:cs typeface="Times New Roman" pitchFamily="18" charset="0"/>
              </a:rPr>
              <a:t>P</a:t>
            </a:r>
            <a:r>
              <a:rPr lang="zh-CN" altLang="en-US" sz="2400" baseline="-25000">
                <a:latin typeface="Times New Roman" pitchFamily="18" charset="0"/>
                <a:cs typeface="Times New Roman" pitchFamily="18" charset="0"/>
              </a:rPr>
              <a:t>电子、</a:t>
            </a:r>
            <a:r>
              <a:rPr lang="zh-CN" altLang="en-US" sz="2400">
                <a:latin typeface="Times New Roman" pitchFamily="18" charset="0"/>
                <a:cs typeface="Times New Roman" pitchFamily="18" charset="0"/>
              </a:rPr>
              <a:t>P</a:t>
            </a:r>
            <a:r>
              <a:rPr lang="zh-CN" altLang="en-US" sz="2400" baseline="-25000">
                <a:latin typeface="Times New Roman" pitchFamily="18" charset="0"/>
                <a:cs typeface="Times New Roman" pitchFamily="18" charset="0"/>
              </a:rPr>
              <a:t>原子</a:t>
            </a:r>
            <a:r>
              <a:rPr lang="zh-CN" altLang="en-US" sz="2400">
                <a:latin typeface="黑体" pitchFamily="49" charset="-122"/>
                <a:ea typeface="黑体" pitchFamily="49" charset="-122"/>
              </a:rPr>
              <a:t>：电子云对分子骨架的相对移动和分子骨架的变形</a:t>
            </a:r>
          </a:p>
        </p:txBody>
      </p:sp>
      <p:sp>
        <p:nvSpPr>
          <p:cNvPr id="90116" name="Rectangle 4"/>
          <p:cNvSpPr>
            <a:spLocks noChangeArrowheads="1"/>
          </p:cNvSpPr>
          <p:nvPr/>
        </p:nvSpPr>
        <p:spPr bwMode="auto">
          <a:xfrm>
            <a:off x="539750" y="1479550"/>
            <a:ext cx="62785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a:spcBef>
                <a:spcPct val="0"/>
              </a:spcBef>
              <a:buFontTx/>
              <a:buNone/>
            </a:pPr>
            <a:r>
              <a:rPr lang="zh-CN" altLang="zh-CN" sz="2400">
                <a:solidFill>
                  <a:srgbClr val="000000"/>
                </a:solidFill>
                <a:ea typeface="黑体" pitchFamily="49" charset="-122"/>
              </a:rPr>
              <a:t>对极性分子，分子的摩尔极化度由三部分组成</a:t>
            </a:r>
          </a:p>
        </p:txBody>
      </p:sp>
      <p:graphicFrame>
        <p:nvGraphicFramePr>
          <p:cNvPr id="90117" name="Object 5"/>
          <p:cNvGraphicFramePr>
            <a:graphicFrameLocks noChangeAspect="1"/>
          </p:cNvGraphicFramePr>
          <p:nvPr/>
        </p:nvGraphicFramePr>
        <p:xfrm>
          <a:off x="2268538" y="2060575"/>
          <a:ext cx="3849687" cy="752475"/>
        </p:xfrm>
        <a:graphic>
          <a:graphicData uri="http://schemas.openxmlformats.org/presentationml/2006/ole">
            <mc:AlternateContent xmlns:mc="http://schemas.openxmlformats.org/markup-compatibility/2006">
              <mc:Choice xmlns:v="urn:schemas-microsoft-com:vml" Requires="v">
                <p:oleObj spid="_x0000_s1040" r:id="rId3" imgW="1347955" imgH="228898" progId="Equation.3">
                  <p:embed/>
                </p:oleObj>
              </mc:Choice>
              <mc:Fallback>
                <p:oleObj r:id="rId3" imgW="1347955" imgH="228898"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68538" y="2060575"/>
                        <a:ext cx="3849687" cy="752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0118" name="Text Box 6"/>
          <p:cNvSpPr txBox="1">
            <a:spLocks noChangeArrowheads="1"/>
          </p:cNvSpPr>
          <p:nvPr/>
        </p:nvSpPr>
        <p:spPr bwMode="auto">
          <a:xfrm>
            <a:off x="323850" y="188913"/>
            <a:ext cx="41306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0"/>
              </a:spcBef>
              <a:buFontTx/>
              <a:buNone/>
            </a:pPr>
            <a:r>
              <a:rPr lang="zh-CN" altLang="en-US" sz="2400">
                <a:ea typeface="黑体" pitchFamily="49" charset="-122"/>
              </a:rPr>
              <a:t>二、实验原理</a:t>
            </a:r>
          </a:p>
        </p:txBody>
      </p:sp>
      <p:graphicFrame>
        <p:nvGraphicFramePr>
          <p:cNvPr id="90119" name="Object 7"/>
          <p:cNvGraphicFramePr>
            <a:graphicFrameLocks noChangeAspect="1"/>
          </p:cNvGraphicFramePr>
          <p:nvPr/>
        </p:nvGraphicFramePr>
        <p:xfrm>
          <a:off x="4068763" y="620713"/>
          <a:ext cx="1708150" cy="868362"/>
        </p:xfrm>
        <a:graphic>
          <a:graphicData uri="http://schemas.openxmlformats.org/presentationml/2006/ole">
            <mc:AlternateContent xmlns:mc="http://schemas.openxmlformats.org/markup-compatibility/2006">
              <mc:Choice xmlns:v="urn:schemas-microsoft-com:vml" Requires="v">
                <p:oleObj spid="_x0000_s1041" r:id="rId5" imgW="547050" imgH="241720" progId="Equation.DSMT4">
                  <p:embed/>
                </p:oleObj>
              </mc:Choice>
              <mc:Fallback>
                <p:oleObj r:id="rId5" imgW="547050" imgH="241720"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068763" y="620713"/>
                        <a:ext cx="1708150" cy="8683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36272683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ChangeArrowheads="1"/>
          </p:cNvSpPr>
          <p:nvPr/>
        </p:nvSpPr>
        <p:spPr bwMode="auto">
          <a:xfrm>
            <a:off x="395288" y="112713"/>
            <a:ext cx="8064500" cy="118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a:lnSpc>
                <a:spcPct val="150000"/>
              </a:lnSpc>
              <a:spcBef>
                <a:spcPct val="0"/>
              </a:spcBef>
              <a:buFontTx/>
              <a:buNone/>
            </a:pPr>
            <a:r>
              <a:rPr lang="zh-CN" altLang="zh-CN" sz="2400">
                <a:solidFill>
                  <a:srgbClr val="000000"/>
                </a:solidFill>
                <a:latin typeface="Times New Roman" pitchFamily="18" charset="0"/>
                <a:ea typeface="黑体" pitchFamily="49" charset="-122"/>
              </a:rPr>
              <a:t>交变电场中，根据电场频率不同，极性分子的摩尔极化度</a:t>
            </a:r>
            <a:r>
              <a:rPr lang="zh-CN" altLang="zh-CN" sz="2400">
                <a:solidFill>
                  <a:srgbClr val="000000"/>
                </a:solidFill>
                <a:ea typeface="黑体" pitchFamily="49" charset="-122"/>
              </a:rPr>
              <a:t>可有以下三种不同情况</a:t>
            </a:r>
          </a:p>
        </p:txBody>
      </p:sp>
      <p:sp>
        <p:nvSpPr>
          <p:cNvPr id="91139" name="Rectangle 3"/>
          <p:cNvSpPr>
            <a:spLocks noChangeArrowheads="1"/>
          </p:cNvSpPr>
          <p:nvPr/>
        </p:nvSpPr>
        <p:spPr bwMode="auto">
          <a:xfrm>
            <a:off x="468313" y="1412875"/>
            <a:ext cx="46910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a:spcBef>
                <a:spcPct val="0"/>
              </a:spcBef>
              <a:buFontTx/>
              <a:buNone/>
            </a:pPr>
            <a:r>
              <a:rPr lang="zh-CN" altLang="en-US" sz="2400">
                <a:solidFill>
                  <a:srgbClr val="000000"/>
                </a:solidFill>
                <a:latin typeface="Times New Roman" pitchFamily="18" charset="0"/>
                <a:cs typeface="Times New Roman" pitchFamily="18" charset="0"/>
              </a:rPr>
              <a:t>1、</a:t>
            </a:r>
            <a:r>
              <a:rPr lang="zh-CN" altLang="en-US" sz="2400">
                <a:solidFill>
                  <a:srgbClr val="000000"/>
                </a:solidFill>
                <a:latin typeface="黑体" pitchFamily="49" charset="-122"/>
                <a:ea typeface="黑体" pitchFamily="49" charset="-122"/>
              </a:rPr>
              <a:t>低频下(＜10</a:t>
            </a:r>
            <a:r>
              <a:rPr lang="zh-CN" altLang="en-US" sz="2400" baseline="30000">
                <a:solidFill>
                  <a:srgbClr val="000000"/>
                </a:solidFill>
                <a:latin typeface="黑体" pitchFamily="49" charset="-122"/>
                <a:ea typeface="黑体" pitchFamily="49" charset="-122"/>
              </a:rPr>
              <a:t>10</a:t>
            </a:r>
            <a:r>
              <a:rPr lang="zh-CN" altLang="en-US" sz="2400">
                <a:solidFill>
                  <a:srgbClr val="000000"/>
                </a:solidFill>
                <a:latin typeface="黑体" pitchFamily="49" charset="-122"/>
                <a:ea typeface="黑体" pitchFamily="49" charset="-122"/>
              </a:rPr>
              <a:t>秒</a:t>
            </a:r>
            <a:r>
              <a:rPr lang="zh-CN" altLang="en-US" sz="2400" baseline="30000">
                <a:solidFill>
                  <a:srgbClr val="000000"/>
                </a:solidFill>
                <a:latin typeface="黑体" pitchFamily="49" charset="-122"/>
                <a:ea typeface="黑体" pitchFamily="49" charset="-122"/>
              </a:rPr>
              <a:t>-1</a:t>
            </a:r>
            <a:r>
              <a:rPr lang="zh-CN" altLang="en-US" sz="2400">
                <a:solidFill>
                  <a:srgbClr val="000000"/>
                </a:solidFill>
                <a:latin typeface="黑体" pitchFamily="49" charset="-122"/>
                <a:ea typeface="黑体" pitchFamily="49" charset="-122"/>
              </a:rPr>
              <a:t>)或静电场中</a:t>
            </a:r>
            <a:endParaRPr lang="zh-CN" altLang="en-US" sz="2400">
              <a:latin typeface="黑体" pitchFamily="49" charset="-122"/>
              <a:ea typeface="黑体" pitchFamily="49" charset="-122"/>
            </a:endParaRPr>
          </a:p>
        </p:txBody>
      </p:sp>
      <p:graphicFrame>
        <p:nvGraphicFramePr>
          <p:cNvPr id="91140" name="Object 4"/>
          <p:cNvGraphicFramePr>
            <a:graphicFrameLocks noChangeAspect="1"/>
          </p:cNvGraphicFramePr>
          <p:nvPr/>
        </p:nvGraphicFramePr>
        <p:xfrm>
          <a:off x="5219700" y="1341438"/>
          <a:ext cx="3344863" cy="654050"/>
        </p:xfrm>
        <a:graphic>
          <a:graphicData uri="http://schemas.openxmlformats.org/presentationml/2006/ole">
            <mc:AlternateContent xmlns:mc="http://schemas.openxmlformats.org/markup-compatibility/2006">
              <mc:Choice xmlns:v="urn:schemas-microsoft-com:vml" Requires="v">
                <p:oleObj spid="_x0000_s2092" r:id="rId3" imgW="1347955" imgH="228898" progId="Equation.3">
                  <p:embed/>
                </p:oleObj>
              </mc:Choice>
              <mc:Fallback>
                <p:oleObj r:id="rId3" imgW="1347955" imgH="228898"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19700" y="1341438"/>
                        <a:ext cx="3344863" cy="654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1141" name="Object 5"/>
          <p:cNvGraphicFramePr>
            <a:graphicFrameLocks noChangeAspect="1"/>
          </p:cNvGraphicFramePr>
          <p:nvPr/>
        </p:nvGraphicFramePr>
        <p:xfrm>
          <a:off x="1908175" y="3213100"/>
          <a:ext cx="1368425" cy="581025"/>
        </p:xfrm>
        <a:graphic>
          <a:graphicData uri="http://schemas.openxmlformats.org/presentationml/2006/ole">
            <mc:AlternateContent xmlns:mc="http://schemas.openxmlformats.org/markup-compatibility/2006">
              <mc:Choice xmlns:v="urn:schemas-microsoft-com:vml" Requires="v">
                <p:oleObj spid="_x0000_s2093" r:id="rId5" imgW="534095" imgH="228898" progId="Equation.3">
                  <p:embed/>
                </p:oleObj>
              </mc:Choice>
              <mc:Fallback>
                <p:oleObj r:id="rId5" imgW="534095" imgH="228898"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08175" y="3213100"/>
                        <a:ext cx="1368425"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1142" name="Rectangle 6"/>
          <p:cNvSpPr>
            <a:spLocks noChangeArrowheads="1"/>
          </p:cNvSpPr>
          <p:nvPr/>
        </p:nvSpPr>
        <p:spPr bwMode="auto">
          <a:xfrm>
            <a:off x="468313" y="2349500"/>
            <a:ext cx="8135937"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a:spcBef>
                <a:spcPct val="0"/>
              </a:spcBef>
              <a:buFontTx/>
              <a:buNone/>
            </a:pPr>
            <a:r>
              <a:rPr lang="zh-CN" altLang="en-US" sz="2400">
                <a:solidFill>
                  <a:srgbClr val="000000"/>
                </a:solidFill>
                <a:latin typeface="Times New Roman" pitchFamily="18" charset="0"/>
                <a:cs typeface="Times New Roman" pitchFamily="18" charset="0"/>
              </a:rPr>
              <a:t>2、</a:t>
            </a:r>
            <a:r>
              <a:rPr lang="zh-CN" altLang="en-US" sz="2400">
                <a:solidFill>
                  <a:srgbClr val="000000"/>
                </a:solidFill>
                <a:latin typeface="黑体" pitchFamily="49" charset="-122"/>
                <a:ea typeface="黑体" pitchFamily="49" charset="-122"/>
              </a:rPr>
              <a:t> 中频下(10</a:t>
            </a:r>
            <a:r>
              <a:rPr lang="zh-CN" altLang="en-US" sz="2400" baseline="30000">
                <a:solidFill>
                  <a:srgbClr val="000000"/>
                </a:solidFill>
                <a:latin typeface="黑体" pitchFamily="49" charset="-122"/>
                <a:ea typeface="黑体" pitchFamily="49" charset="-122"/>
              </a:rPr>
              <a:t>12</a:t>
            </a:r>
            <a:r>
              <a:rPr lang="zh-CN" altLang="en-US" sz="2400">
                <a:solidFill>
                  <a:srgbClr val="000000"/>
                </a:solidFill>
                <a:latin typeface="黑体" pitchFamily="49" charset="-122"/>
                <a:ea typeface="黑体" pitchFamily="49" charset="-122"/>
              </a:rPr>
              <a:t>秒</a:t>
            </a:r>
            <a:r>
              <a:rPr lang="zh-CN" altLang="en-US" sz="2400" baseline="30000">
                <a:solidFill>
                  <a:srgbClr val="000000"/>
                </a:solidFill>
                <a:latin typeface="黑体" pitchFamily="49" charset="-122"/>
                <a:ea typeface="黑体" pitchFamily="49" charset="-122"/>
              </a:rPr>
              <a:t>-1</a:t>
            </a:r>
            <a:r>
              <a:rPr lang="zh-CN" altLang="en-US" sz="2400">
                <a:solidFill>
                  <a:srgbClr val="000000"/>
                </a:solidFill>
                <a:latin typeface="Times New Roman" pitchFamily="18" charset="0"/>
                <a:ea typeface="黑体" pitchFamily="49" charset="-122"/>
              </a:rPr>
              <a:t>~</a:t>
            </a:r>
            <a:r>
              <a:rPr lang="zh-CN" altLang="en-US" sz="2400">
                <a:solidFill>
                  <a:srgbClr val="000000"/>
                </a:solidFill>
                <a:latin typeface="黑体" pitchFamily="49" charset="-122"/>
                <a:ea typeface="黑体" pitchFamily="49" charset="-122"/>
              </a:rPr>
              <a:t>101</a:t>
            </a:r>
            <a:r>
              <a:rPr lang="zh-CN" altLang="en-US" sz="2400" baseline="30000">
                <a:solidFill>
                  <a:srgbClr val="000000"/>
                </a:solidFill>
                <a:latin typeface="黑体" pitchFamily="49" charset="-122"/>
                <a:ea typeface="黑体" pitchFamily="49" charset="-122"/>
              </a:rPr>
              <a:t>4</a:t>
            </a:r>
            <a:r>
              <a:rPr lang="zh-CN" altLang="en-US" sz="2400">
                <a:solidFill>
                  <a:srgbClr val="000000"/>
                </a:solidFill>
                <a:latin typeface="黑体" pitchFamily="49" charset="-122"/>
                <a:ea typeface="黑体" pitchFamily="49" charset="-122"/>
              </a:rPr>
              <a:t>秒</a:t>
            </a:r>
            <a:r>
              <a:rPr lang="zh-CN" altLang="en-US" sz="2400" baseline="30000">
                <a:solidFill>
                  <a:srgbClr val="000000"/>
                </a:solidFill>
                <a:latin typeface="黑体" pitchFamily="49" charset="-122"/>
                <a:ea typeface="黑体" pitchFamily="49" charset="-122"/>
              </a:rPr>
              <a:t>-1</a:t>
            </a:r>
            <a:r>
              <a:rPr lang="zh-CN" altLang="en-US" sz="2400">
                <a:solidFill>
                  <a:srgbClr val="000000"/>
                </a:solidFill>
                <a:latin typeface="黑体" pitchFamily="49" charset="-122"/>
                <a:ea typeface="黑体" pitchFamily="49" charset="-122"/>
              </a:rPr>
              <a:t>)(即红外频率下)，由于极性分子来不及沿电场取向，故</a:t>
            </a:r>
          </a:p>
        </p:txBody>
      </p:sp>
      <p:graphicFrame>
        <p:nvGraphicFramePr>
          <p:cNvPr id="91143" name="Object 7"/>
          <p:cNvGraphicFramePr>
            <a:graphicFrameLocks noChangeAspect="1"/>
          </p:cNvGraphicFramePr>
          <p:nvPr/>
        </p:nvGraphicFramePr>
        <p:xfrm>
          <a:off x="4067175" y="3141663"/>
          <a:ext cx="2366963" cy="654050"/>
        </p:xfrm>
        <a:graphic>
          <a:graphicData uri="http://schemas.openxmlformats.org/presentationml/2006/ole">
            <mc:AlternateContent xmlns:mc="http://schemas.openxmlformats.org/markup-compatibility/2006">
              <mc:Choice xmlns:v="urn:schemas-microsoft-com:vml" Requires="v">
                <p:oleObj spid="_x0000_s2094" r:id="rId7" imgW="953328" imgH="228799" progId="Equation.3">
                  <p:embed/>
                </p:oleObj>
              </mc:Choice>
              <mc:Fallback>
                <p:oleObj r:id="rId7" imgW="953328" imgH="228799"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067175" y="3141663"/>
                        <a:ext cx="2366963" cy="654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1144" name="Rectangle 8"/>
          <p:cNvSpPr>
            <a:spLocks noChangeArrowheads="1"/>
          </p:cNvSpPr>
          <p:nvPr/>
        </p:nvSpPr>
        <p:spPr bwMode="auto">
          <a:xfrm>
            <a:off x="539750" y="3822700"/>
            <a:ext cx="8064500" cy="118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a:lnSpc>
                <a:spcPct val="150000"/>
              </a:lnSpc>
              <a:spcBef>
                <a:spcPct val="0"/>
              </a:spcBef>
              <a:buFontTx/>
              <a:buNone/>
            </a:pPr>
            <a:r>
              <a:rPr lang="zh-CN" altLang="en-US" sz="2400">
                <a:latin typeface="黑体" pitchFamily="49" charset="-122"/>
                <a:ea typeface="黑体" pitchFamily="49" charset="-122"/>
              </a:rPr>
              <a:t>3、 高频下(＞10</a:t>
            </a:r>
            <a:r>
              <a:rPr lang="zh-CN" altLang="en-US" sz="2400" baseline="30000">
                <a:latin typeface="黑体" pitchFamily="49" charset="-122"/>
                <a:ea typeface="黑体" pitchFamily="49" charset="-122"/>
              </a:rPr>
              <a:t>15</a:t>
            </a:r>
            <a:r>
              <a:rPr lang="zh-CN" altLang="en-US" sz="2400">
                <a:latin typeface="黑体" pitchFamily="49" charset="-122"/>
                <a:ea typeface="黑体" pitchFamily="49" charset="-122"/>
              </a:rPr>
              <a:t>秒</a:t>
            </a:r>
            <a:r>
              <a:rPr lang="zh-CN" altLang="en-US" sz="2400" baseline="30000">
                <a:latin typeface="黑体" pitchFamily="49" charset="-122"/>
                <a:ea typeface="黑体" pitchFamily="49" charset="-122"/>
              </a:rPr>
              <a:t>-1</a:t>
            </a:r>
            <a:r>
              <a:rPr lang="zh-CN" altLang="en-US" sz="2400">
                <a:latin typeface="黑体" pitchFamily="49" charset="-122"/>
                <a:ea typeface="黑体" pitchFamily="49" charset="-122"/>
              </a:rPr>
              <a:t>)(即紫外频率和可见光频率下)，极性分子的取向运动和分子骨架变形都跟不上电场的变化，</a:t>
            </a:r>
            <a:r>
              <a:rPr lang="zh-CN" altLang="en-US" sz="2400"/>
              <a:t> </a:t>
            </a:r>
          </a:p>
        </p:txBody>
      </p:sp>
      <p:graphicFrame>
        <p:nvGraphicFramePr>
          <p:cNvPr id="91145" name="Object 9"/>
          <p:cNvGraphicFramePr>
            <a:graphicFrameLocks noChangeAspect="1"/>
          </p:cNvGraphicFramePr>
          <p:nvPr/>
        </p:nvGraphicFramePr>
        <p:xfrm>
          <a:off x="1836738" y="5157788"/>
          <a:ext cx="1223962" cy="519112"/>
        </p:xfrm>
        <a:graphic>
          <a:graphicData uri="http://schemas.openxmlformats.org/presentationml/2006/ole">
            <mc:AlternateContent xmlns:mc="http://schemas.openxmlformats.org/markup-compatibility/2006">
              <mc:Choice xmlns:v="urn:schemas-microsoft-com:vml" Requires="v">
                <p:oleObj spid="_x0000_s2095" r:id="rId9" imgW="534095" imgH="228898" progId="Equation.3">
                  <p:embed/>
                </p:oleObj>
              </mc:Choice>
              <mc:Fallback>
                <p:oleObj r:id="rId9" imgW="534095" imgH="228898"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836738" y="5157788"/>
                        <a:ext cx="1223962"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1146" name="Object 10"/>
          <p:cNvGraphicFramePr>
            <a:graphicFrameLocks noChangeAspect="1"/>
          </p:cNvGraphicFramePr>
          <p:nvPr/>
        </p:nvGraphicFramePr>
        <p:xfrm>
          <a:off x="3419475" y="5086350"/>
          <a:ext cx="1358900" cy="654050"/>
        </p:xfrm>
        <a:graphic>
          <a:graphicData uri="http://schemas.openxmlformats.org/presentationml/2006/ole">
            <mc:AlternateContent xmlns:mc="http://schemas.openxmlformats.org/markup-compatibility/2006">
              <mc:Choice xmlns:v="urn:schemas-microsoft-com:vml" Requires="v">
                <p:oleObj spid="_x0000_s2096" r:id="rId11" imgW="546812" imgH="228898" progId="Equation.3">
                  <p:embed/>
                </p:oleObj>
              </mc:Choice>
              <mc:Fallback>
                <p:oleObj r:id="rId11" imgW="546812" imgH="228898" progId="Equation.3">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419475" y="5086350"/>
                        <a:ext cx="1358900" cy="654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1147" name="Object 11"/>
          <p:cNvGraphicFramePr>
            <a:graphicFrameLocks noChangeAspect="1"/>
          </p:cNvGraphicFramePr>
          <p:nvPr/>
        </p:nvGraphicFramePr>
        <p:xfrm>
          <a:off x="5292725" y="5157788"/>
          <a:ext cx="1357313" cy="654050"/>
        </p:xfrm>
        <a:graphic>
          <a:graphicData uri="http://schemas.openxmlformats.org/presentationml/2006/ole">
            <mc:AlternateContent xmlns:mc="http://schemas.openxmlformats.org/markup-compatibility/2006">
              <mc:Choice xmlns:v="urn:schemas-microsoft-com:vml" Requires="v">
                <p:oleObj spid="_x0000_s2097" r:id="rId13" imgW="546812" imgH="228898" progId="Equation.3">
                  <p:embed/>
                </p:oleObj>
              </mc:Choice>
              <mc:Fallback>
                <p:oleObj r:id="rId13" imgW="546812" imgH="228898" progId="Equation.3">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292725" y="5157788"/>
                        <a:ext cx="1357313" cy="654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1148" name="Rectangle 12"/>
          <p:cNvSpPr>
            <a:spLocks noChangeArrowheads="1"/>
          </p:cNvSpPr>
          <p:nvPr/>
        </p:nvSpPr>
        <p:spPr bwMode="auto">
          <a:xfrm>
            <a:off x="323850" y="5919788"/>
            <a:ext cx="8569325"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a:spcBef>
                <a:spcPct val="0"/>
              </a:spcBef>
              <a:buFontTx/>
              <a:buNone/>
            </a:pPr>
            <a:r>
              <a:rPr lang="zh-CN" altLang="zh-CN" sz="2400">
                <a:solidFill>
                  <a:srgbClr val="000000"/>
                </a:solidFill>
                <a:latin typeface="黑体" pitchFamily="49" charset="-122"/>
                <a:ea typeface="黑体" pitchFamily="49" charset="-122"/>
              </a:rPr>
              <a:t>低频电场测得</a:t>
            </a:r>
            <a:r>
              <a:rPr lang="zh-CN" altLang="zh-CN" sz="2400" i="1">
                <a:solidFill>
                  <a:srgbClr val="000000"/>
                </a:solidFill>
                <a:latin typeface="Times New Roman" pitchFamily="18" charset="0"/>
                <a:ea typeface="黑体" pitchFamily="49" charset="-122"/>
              </a:rPr>
              <a:t>P</a:t>
            </a:r>
            <a:r>
              <a:rPr lang="zh-CN" altLang="zh-CN" sz="2400">
                <a:solidFill>
                  <a:srgbClr val="000000"/>
                </a:solidFill>
                <a:latin typeface="黑体" pitchFamily="49" charset="-122"/>
                <a:ea typeface="黑体" pitchFamily="49" charset="-122"/>
              </a:rPr>
              <a:t>, 在红外频率下测得</a:t>
            </a:r>
            <a:r>
              <a:rPr lang="zh-CN" altLang="zh-CN" sz="2400" i="1">
                <a:solidFill>
                  <a:srgbClr val="000000"/>
                </a:solidFill>
                <a:latin typeface="Times New Roman" pitchFamily="18" charset="0"/>
                <a:cs typeface="Times New Roman" pitchFamily="18" charset="0"/>
              </a:rPr>
              <a:t>P</a:t>
            </a:r>
            <a:r>
              <a:rPr lang="zh-CN" altLang="zh-CN" sz="2400" baseline="-25000">
                <a:solidFill>
                  <a:srgbClr val="000000"/>
                </a:solidFill>
                <a:latin typeface="Times New Roman" pitchFamily="18" charset="0"/>
                <a:cs typeface="Times New Roman" pitchFamily="18" charset="0"/>
              </a:rPr>
              <a:t>变形</a:t>
            </a:r>
            <a:r>
              <a:rPr lang="zh-CN" altLang="zh-CN" sz="2400">
                <a:solidFill>
                  <a:srgbClr val="000000"/>
                </a:solidFill>
                <a:latin typeface="黑体" pitchFamily="49" charset="-122"/>
                <a:ea typeface="黑体" pitchFamily="49" charset="-122"/>
              </a:rPr>
              <a:t>，二者相减可得到</a:t>
            </a:r>
            <a:r>
              <a:rPr lang="zh-CN" altLang="zh-CN" sz="2400" i="1">
                <a:solidFill>
                  <a:srgbClr val="000000"/>
                </a:solidFill>
                <a:latin typeface="Times New Roman" pitchFamily="18" charset="0"/>
                <a:cs typeface="Times New Roman" pitchFamily="18" charset="0"/>
              </a:rPr>
              <a:t>P</a:t>
            </a:r>
            <a:r>
              <a:rPr lang="zh-CN" altLang="zh-CN" sz="2400" baseline="-25000">
                <a:solidFill>
                  <a:srgbClr val="000000"/>
                </a:solidFill>
                <a:latin typeface="Times New Roman" pitchFamily="18" charset="0"/>
                <a:cs typeface="Times New Roman" pitchFamily="18" charset="0"/>
              </a:rPr>
              <a:t>取向</a:t>
            </a:r>
          </a:p>
        </p:txBody>
      </p:sp>
      <p:sp>
        <p:nvSpPr>
          <p:cNvPr id="91149" name="Rectangle 13"/>
          <p:cNvSpPr>
            <a:spLocks noChangeArrowheads="1"/>
          </p:cNvSpPr>
          <p:nvPr/>
        </p:nvSpPr>
        <p:spPr bwMode="auto">
          <a:xfrm>
            <a:off x="3908425" y="3998913"/>
            <a:ext cx="215900" cy="214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a:spcBef>
                <a:spcPct val="0"/>
              </a:spcBef>
              <a:buFontTx/>
              <a:buNone/>
            </a:pPr>
            <a:r>
              <a:rPr lang="zh-CN" altLang="zh-CN" sz="800"/>
              <a:t> </a:t>
            </a:r>
            <a:endParaRPr lang="zh-CN" altLang="zh-CN" sz="1800"/>
          </a:p>
        </p:txBody>
      </p:sp>
    </p:spTree>
    <p:extLst>
      <p:ext uri="{BB962C8B-B14F-4D97-AF65-F5344CB8AC3E}">
        <p14:creationId xmlns:p14="http://schemas.microsoft.com/office/powerpoint/2010/main" val="23839983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2162" name="Object 2"/>
          <p:cNvGraphicFramePr>
            <a:graphicFrameLocks noChangeAspect="1"/>
          </p:cNvGraphicFramePr>
          <p:nvPr/>
        </p:nvGraphicFramePr>
        <p:xfrm>
          <a:off x="2124075" y="188913"/>
          <a:ext cx="3613150" cy="666750"/>
        </p:xfrm>
        <a:graphic>
          <a:graphicData uri="http://schemas.openxmlformats.org/presentationml/2006/ole">
            <mc:AlternateContent xmlns:mc="http://schemas.openxmlformats.org/markup-compatibility/2006">
              <mc:Choice xmlns:v="urn:schemas-microsoft-com:vml" Requires="v">
                <p:oleObj spid="_x0000_s3109" r:id="rId3" imgW="1397607" imgH="254110" progId="Equation.3">
                  <p:embed/>
                </p:oleObj>
              </mc:Choice>
              <mc:Fallback>
                <p:oleObj r:id="rId3" imgW="1397607" imgH="25411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24075" y="188913"/>
                        <a:ext cx="3613150" cy="666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2163" name="Object 3"/>
          <p:cNvGraphicFramePr>
            <a:graphicFrameLocks noChangeAspect="1"/>
          </p:cNvGraphicFramePr>
          <p:nvPr/>
        </p:nvGraphicFramePr>
        <p:xfrm>
          <a:off x="2252663" y="1533525"/>
          <a:ext cx="576262" cy="609600"/>
        </p:xfrm>
        <a:graphic>
          <a:graphicData uri="http://schemas.openxmlformats.org/presentationml/2006/ole">
            <mc:AlternateContent xmlns:mc="http://schemas.openxmlformats.org/markup-compatibility/2006">
              <mc:Choice xmlns:v="urn:schemas-microsoft-com:vml" Requires="v">
                <p:oleObj spid="_x0000_s3110" r:id="rId5" imgW="153131" imgH="165892" progId="Equation.3">
                  <p:embed/>
                </p:oleObj>
              </mc:Choice>
              <mc:Fallback>
                <p:oleObj r:id="rId5" imgW="153131" imgH="165892"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52663" y="1533525"/>
                        <a:ext cx="576262"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2164" name="Rectangle 4"/>
          <p:cNvSpPr>
            <a:spLocks noChangeArrowheads="1"/>
          </p:cNvSpPr>
          <p:nvPr/>
        </p:nvSpPr>
        <p:spPr bwMode="auto">
          <a:xfrm>
            <a:off x="0" y="327342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0"/>
              </a:spcBef>
              <a:buFontTx/>
              <a:buNone/>
            </a:pPr>
            <a:endParaRPr lang="zh-CN" altLang="en-US" sz="1800"/>
          </a:p>
        </p:txBody>
      </p:sp>
      <p:sp>
        <p:nvSpPr>
          <p:cNvPr id="92165" name="Rectangle 5"/>
          <p:cNvSpPr>
            <a:spLocks noChangeArrowheads="1"/>
          </p:cNvSpPr>
          <p:nvPr/>
        </p:nvSpPr>
        <p:spPr bwMode="auto">
          <a:xfrm>
            <a:off x="395288" y="255588"/>
            <a:ext cx="10969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a:spcBef>
                <a:spcPct val="0"/>
              </a:spcBef>
              <a:buFontTx/>
              <a:buNone/>
            </a:pPr>
            <a:r>
              <a:rPr lang="zh-CN" altLang="zh-CN" sz="2400">
                <a:solidFill>
                  <a:srgbClr val="000000"/>
                </a:solidFill>
                <a:ea typeface="黑体" pitchFamily="49" charset="-122"/>
              </a:rPr>
              <a:t>理论式</a:t>
            </a:r>
          </a:p>
        </p:txBody>
      </p:sp>
      <p:sp>
        <p:nvSpPr>
          <p:cNvPr id="92166" name="Rectangle 6"/>
          <p:cNvSpPr>
            <a:spLocks noChangeArrowheads="1"/>
          </p:cNvSpPr>
          <p:nvPr/>
        </p:nvSpPr>
        <p:spPr bwMode="auto">
          <a:xfrm>
            <a:off x="252413" y="836613"/>
            <a:ext cx="82089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a:spcBef>
                <a:spcPct val="0"/>
              </a:spcBef>
              <a:buFontTx/>
              <a:buNone/>
            </a:pPr>
            <a:r>
              <a:rPr lang="zh-CN" altLang="zh-CN" sz="2400" i="1">
                <a:solidFill>
                  <a:srgbClr val="000000"/>
                </a:solidFill>
                <a:latin typeface="Times New Roman" pitchFamily="18" charset="0"/>
                <a:ea typeface="黑体" pitchFamily="49" charset="-122"/>
              </a:rPr>
              <a:t>L</a:t>
            </a:r>
            <a:r>
              <a:rPr lang="zh-CN" altLang="zh-CN" sz="2400">
                <a:solidFill>
                  <a:srgbClr val="000000"/>
                </a:solidFill>
                <a:latin typeface="黑体" pitchFamily="49" charset="-122"/>
                <a:ea typeface="黑体" pitchFamily="49" charset="-122"/>
              </a:rPr>
              <a:t>为阿伏加德罗常数，</a:t>
            </a:r>
            <a:r>
              <a:rPr lang="zh-CN" altLang="zh-CN" sz="2400" i="1">
                <a:solidFill>
                  <a:srgbClr val="000000"/>
                </a:solidFill>
                <a:latin typeface="Times New Roman" pitchFamily="18" charset="0"/>
                <a:ea typeface="黑体" pitchFamily="49" charset="-122"/>
              </a:rPr>
              <a:t>k</a:t>
            </a:r>
            <a:r>
              <a:rPr lang="zh-CN" altLang="zh-CN" sz="2400">
                <a:solidFill>
                  <a:srgbClr val="000000"/>
                </a:solidFill>
                <a:latin typeface="黑体" pitchFamily="49" charset="-122"/>
                <a:ea typeface="黑体" pitchFamily="49" charset="-122"/>
              </a:rPr>
              <a:t>为玻耳兹曼常数，</a:t>
            </a:r>
            <a:r>
              <a:rPr lang="zh-CN" altLang="zh-CN" sz="2400" i="1">
                <a:solidFill>
                  <a:srgbClr val="000000"/>
                </a:solidFill>
                <a:latin typeface="Times New Roman" pitchFamily="18" charset="0"/>
                <a:ea typeface="黑体" pitchFamily="49" charset="-122"/>
              </a:rPr>
              <a:t>T</a:t>
            </a:r>
            <a:r>
              <a:rPr lang="zh-CN" altLang="zh-CN" sz="2400">
                <a:solidFill>
                  <a:srgbClr val="000000"/>
                </a:solidFill>
                <a:latin typeface="黑体" pitchFamily="49" charset="-122"/>
                <a:ea typeface="黑体" pitchFamily="49" charset="-122"/>
              </a:rPr>
              <a:t>为热力学温度</a:t>
            </a:r>
          </a:p>
        </p:txBody>
      </p:sp>
      <p:sp>
        <p:nvSpPr>
          <p:cNvPr id="92167" name="Rectangle 7"/>
          <p:cNvSpPr>
            <a:spLocks noChangeArrowheads="1"/>
          </p:cNvSpPr>
          <p:nvPr/>
        </p:nvSpPr>
        <p:spPr bwMode="auto">
          <a:xfrm>
            <a:off x="2952750" y="1609725"/>
            <a:ext cx="10969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a:spcBef>
                <a:spcPct val="0"/>
              </a:spcBef>
              <a:buFontTx/>
              <a:buNone/>
            </a:pPr>
            <a:r>
              <a:rPr lang="zh-CN" altLang="zh-CN" sz="2400">
                <a:solidFill>
                  <a:srgbClr val="000000"/>
                </a:solidFill>
                <a:ea typeface="黑体" pitchFamily="49" charset="-122"/>
              </a:rPr>
              <a:t>偶极矩</a:t>
            </a:r>
          </a:p>
        </p:txBody>
      </p:sp>
      <p:sp>
        <p:nvSpPr>
          <p:cNvPr id="92168" name="Rectangle 16"/>
          <p:cNvSpPr>
            <a:spLocks noChangeArrowheads="1"/>
          </p:cNvSpPr>
          <p:nvPr/>
        </p:nvSpPr>
        <p:spPr bwMode="auto">
          <a:xfrm>
            <a:off x="539750" y="2532063"/>
            <a:ext cx="65833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a:spcBef>
                <a:spcPct val="0"/>
              </a:spcBef>
              <a:buFontTx/>
              <a:buNone/>
            </a:pPr>
            <a:r>
              <a:rPr lang="zh-CN" altLang="zh-CN" sz="2400">
                <a:solidFill>
                  <a:srgbClr val="000000"/>
                </a:solidFill>
                <a:latin typeface="Times New Roman" pitchFamily="18" charset="0"/>
                <a:ea typeface="黑体" pitchFamily="49" charset="-122"/>
              </a:rPr>
              <a:t>根据溶液的加和性，无限稀释时溶质摩尔极化度</a:t>
            </a:r>
          </a:p>
        </p:txBody>
      </p:sp>
      <p:graphicFrame>
        <p:nvGraphicFramePr>
          <p:cNvPr id="92169" name="Object 17"/>
          <p:cNvGraphicFramePr>
            <a:graphicFrameLocks noChangeAspect="1"/>
          </p:cNvGraphicFramePr>
          <p:nvPr/>
        </p:nvGraphicFramePr>
        <p:xfrm>
          <a:off x="1573213" y="3389313"/>
          <a:ext cx="5421312" cy="750887"/>
        </p:xfrm>
        <a:graphic>
          <a:graphicData uri="http://schemas.openxmlformats.org/presentationml/2006/ole">
            <mc:AlternateContent xmlns:mc="http://schemas.openxmlformats.org/markup-compatibility/2006">
              <mc:Choice xmlns:v="urn:schemas-microsoft-com:vml" Requires="v">
                <p:oleObj spid="_x0000_s3111" name="Equation" r:id="rId7" imgW="2730500" imgH="381000" progId="Equation.DSMT4">
                  <p:embed/>
                </p:oleObj>
              </mc:Choice>
              <mc:Fallback>
                <p:oleObj name="Equation" r:id="rId7" imgW="2730500" imgH="381000" progId="Equation.DSMT4">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573213" y="3389313"/>
                        <a:ext cx="5421312" cy="750887"/>
                      </a:xfrm>
                      <a:prstGeom prst="rect">
                        <a:avLst/>
                      </a:prstGeom>
                      <a:noFill/>
                      <a:ln w="22225">
                        <a:solidFill>
                          <a:srgbClr val="00808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2170" name="Rectangle 18"/>
          <p:cNvSpPr>
            <a:spLocks noChangeArrowheads="1"/>
          </p:cNvSpPr>
          <p:nvPr/>
        </p:nvSpPr>
        <p:spPr bwMode="auto">
          <a:xfrm>
            <a:off x="2828925" y="3567113"/>
            <a:ext cx="2476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a:spcBef>
                <a:spcPct val="0"/>
              </a:spcBef>
              <a:buFontTx/>
              <a:buNone/>
            </a:pPr>
            <a:endParaRPr lang="zh-CN" altLang="zh-CN" sz="1000">
              <a:solidFill>
                <a:srgbClr val="000000"/>
              </a:solidFill>
              <a:latin typeface="Times New Roman" pitchFamily="18" charset="0"/>
              <a:cs typeface="Times New Roman" pitchFamily="18" charset="0"/>
            </a:endParaRPr>
          </a:p>
          <a:p>
            <a:pPr>
              <a:spcBef>
                <a:spcPct val="0"/>
              </a:spcBef>
              <a:buFontTx/>
              <a:buNone/>
            </a:pPr>
            <a:r>
              <a:rPr lang="zh-CN" altLang="zh-CN" sz="1000">
                <a:solidFill>
                  <a:srgbClr val="000000"/>
                </a:solidFill>
                <a:latin typeface="Times New Roman" pitchFamily="18" charset="0"/>
                <a:cs typeface="Times New Roman" pitchFamily="18" charset="0"/>
              </a:rPr>
              <a:t> </a:t>
            </a:r>
            <a:r>
              <a:rPr lang="zh-CN" altLang="zh-CN" sz="800"/>
              <a:t> </a:t>
            </a:r>
            <a:endParaRPr lang="zh-CN" altLang="zh-CN" sz="1800"/>
          </a:p>
        </p:txBody>
      </p:sp>
      <p:sp>
        <p:nvSpPr>
          <p:cNvPr id="92171" name="Rectangle 19"/>
          <p:cNvSpPr>
            <a:spLocks noChangeArrowheads="1"/>
          </p:cNvSpPr>
          <p:nvPr/>
        </p:nvSpPr>
        <p:spPr bwMode="auto">
          <a:xfrm>
            <a:off x="539750" y="4530725"/>
            <a:ext cx="8208963"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a:spcBef>
                <a:spcPct val="0"/>
              </a:spcBef>
              <a:buFontTx/>
              <a:buNone/>
            </a:pPr>
            <a:r>
              <a:rPr lang="zh-CN" altLang="zh-CN" sz="2400">
                <a:solidFill>
                  <a:srgbClr val="FF0000"/>
                </a:solidFill>
                <a:latin typeface="Times New Roman" pitchFamily="18" charset="0"/>
                <a:cs typeface="Times New Roman" pitchFamily="18" charset="0"/>
                <a:sym typeface="Symbol" pitchFamily="18" charset="2"/>
              </a:rPr>
              <a:t></a:t>
            </a:r>
            <a:r>
              <a:rPr lang="zh-CN" altLang="zh-CN" sz="2400" baseline="-25000">
                <a:solidFill>
                  <a:srgbClr val="FF0000"/>
                </a:solidFill>
                <a:latin typeface="Times New Roman" pitchFamily="18" charset="0"/>
                <a:cs typeface="Times New Roman" pitchFamily="18" charset="0"/>
                <a:sym typeface="Symbol" pitchFamily="18" charset="2"/>
              </a:rPr>
              <a:t>1</a:t>
            </a:r>
            <a:r>
              <a:rPr lang="zh-CN" altLang="zh-CN" sz="2400">
                <a:solidFill>
                  <a:srgbClr val="FF0000"/>
                </a:solidFill>
                <a:latin typeface="Times New Roman" pitchFamily="18" charset="0"/>
                <a:cs typeface="Times New Roman" pitchFamily="18" charset="0"/>
                <a:sym typeface="Symbol" pitchFamily="18" charset="2"/>
              </a:rPr>
              <a:t>, </a:t>
            </a:r>
            <a:r>
              <a:rPr lang="zh-CN" altLang="zh-CN" sz="2400" baseline="-25000">
                <a:solidFill>
                  <a:srgbClr val="FF0000"/>
                </a:solidFill>
                <a:latin typeface="Times New Roman" pitchFamily="18" charset="0"/>
                <a:cs typeface="Times New Roman" pitchFamily="18" charset="0"/>
                <a:sym typeface="Symbol" pitchFamily="18" charset="2"/>
              </a:rPr>
              <a:t>1</a:t>
            </a:r>
            <a:r>
              <a:rPr lang="zh-CN" altLang="zh-CN" sz="2400">
                <a:solidFill>
                  <a:srgbClr val="FF0000"/>
                </a:solidFill>
                <a:latin typeface="Times New Roman" pitchFamily="18" charset="0"/>
                <a:cs typeface="Times New Roman" pitchFamily="18" charset="0"/>
                <a:sym typeface="Symbol" pitchFamily="18" charset="2"/>
              </a:rPr>
              <a:t>, M</a:t>
            </a:r>
            <a:r>
              <a:rPr lang="zh-CN" altLang="zh-CN" sz="2400" baseline="-25000">
                <a:solidFill>
                  <a:srgbClr val="FF0000"/>
                </a:solidFill>
                <a:latin typeface="Times New Roman" pitchFamily="18" charset="0"/>
                <a:cs typeface="Times New Roman" pitchFamily="18" charset="0"/>
                <a:sym typeface="Symbol" pitchFamily="18" charset="2"/>
              </a:rPr>
              <a:t>1</a:t>
            </a:r>
            <a:r>
              <a:rPr lang="zh-CN" altLang="zh-CN" sz="2400">
                <a:solidFill>
                  <a:srgbClr val="FF0000"/>
                </a:solidFill>
                <a:latin typeface="Times New Roman" pitchFamily="18" charset="0"/>
                <a:cs typeface="Times New Roman" pitchFamily="18" charset="0"/>
                <a:sym typeface="Symbol" pitchFamily="18" charset="2"/>
              </a:rPr>
              <a:t>, M</a:t>
            </a:r>
            <a:r>
              <a:rPr lang="zh-CN" altLang="zh-CN" sz="2400" baseline="-25000">
                <a:solidFill>
                  <a:srgbClr val="FF0000"/>
                </a:solidFill>
                <a:latin typeface="Times New Roman" pitchFamily="18" charset="0"/>
                <a:cs typeface="Times New Roman" pitchFamily="18" charset="0"/>
                <a:sym typeface="Symbol" pitchFamily="18" charset="2"/>
              </a:rPr>
              <a:t>2</a:t>
            </a:r>
            <a:r>
              <a:rPr lang="zh-CN" altLang="zh-CN" sz="2400">
                <a:solidFill>
                  <a:srgbClr val="FF0000"/>
                </a:solidFill>
                <a:latin typeface="Times New Roman" pitchFamily="18" charset="0"/>
                <a:cs typeface="Times New Roman" pitchFamily="18" charset="0"/>
                <a:sym typeface="Symbol" pitchFamily="18" charset="2"/>
              </a:rPr>
              <a:t>, x</a:t>
            </a:r>
            <a:r>
              <a:rPr lang="zh-CN" altLang="zh-CN" sz="2400" baseline="-25000">
                <a:solidFill>
                  <a:srgbClr val="FF0000"/>
                </a:solidFill>
                <a:latin typeface="Times New Roman" pitchFamily="18" charset="0"/>
                <a:cs typeface="Times New Roman" pitchFamily="18" charset="0"/>
                <a:sym typeface="Symbol" pitchFamily="18" charset="2"/>
              </a:rPr>
              <a:t>2</a:t>
            </a:r>
            <a:r>
              <a:rPr lang="zh-CN" altLang="zh-CN" sz="2400">
                <a:solidFill>
                  <a:srgbClr val="FF0000"/>
                </a:solidFill>
                <a:latin typeface="黑体" pitchFamily="49" charset="-122"/>
                <a:ea typeface="黑体" pitchFamily="49" charset="-122"/>
                <a:sym typeface="Symbol" pitchFamily="18" charset="2"/>
              </a:rPr>
              <a:t> </a:t>
            </a:r>
            <a:r>
              <a:rPr lang="zh-CN" altLang="zh-CN" sz="2400">
                <a:solidFill>
                  <a:srgbClr val="000000"/>
                </a:solidFill>
                <a:latin typeface="黑体" pitchFamily="49" charset="-122"/>
                <a:ea typeface="黑体" pitchFamily="49" charset="-122"/>
              </a:rPr>
              <a:t>分别为溶剂的介电常数、密度、摩尔质量、溶质的摩尔质量、摩尔分数，</a:t>
            </a:r>
            <a:r>
              <a:rPr lang="zh-CN" altLang="zh-CN" sz="2400">
                <a:solidFill>
                  <a:srgbClr val="000000"/>
                </a:solidFill>
                <a:latin typeface="Times New Roman" pitchFamily="18" charset="0"/>
                <a:cs typeface="Times New Roman" pitchFamily="18" charset="0"/>
                <a:sym typeface="Symbol" pitchFamily="18" charset="2"/>
              </a:rPr>
              <a:t>, </a:t>
            </a:r>
            <a:r>
              <a:rPr lang="zh-CN" altLang="zh-CN" sz="2400">
                <a:solidFill>
                  <a:srgbClr val="000000"/>
                </a:solidFill>
                <a:latin typeface="黑体" pitchFamily="49" charset="-122"/>
                <a:ea typeface="黑体" pitchFamily="49" charset="-122"/>
                <a:sym typeface="Symbol" pitchFamily="18" charset="2"/>
              </a:rPr>
              <a:t>满足</a:t>
            </a:r>
            <a:r>
              <a:rPr lang="zh-CN" altLang="zh-CN" sz="2400">
                <a:solidFill>
                  <a:srgbClr val="000000"/>
                </a:solidFill>
                <a:latin typeface="黑体" pitchFamily="49" charset="-122"/>
                <a:ea typeface="黑体" pitchFamily="49" charset="-122"/>
              </a:rPr>
              <a:t>稀溶液近似式</a:t>
            </a:r>
          </a:p>
        </p:txBody>
      </p:sp>
      <p:graphicFrame>
        <p:nvGraphicFramePr>
          <p:cNvPr id="92172" name="Object 20"/>
          <p:cNvGraphicFramePr>
            <a:graphicFrameLocks noChangeAspect="1"/>
          </p:cNvGraphicFramePr>
          <p:nvPr/>
        </p:nvGraphicFramePr>
        <p:xfrm>
          <a:off x="4213225" y="5432425"/>
          <a:ext cx="2119313" cy="428625"/>
        </p:xfrm>
        <a:graphic>
          <a:graphicData uri="http://schemas.openxmlformats.org/presentationml/2006/ole">
            <mc:AlternateContent xmlns:mc="http://schemas.openxmlformats.org/markup-compatibility/2006">
              <mc:Choice xmlns:v="urn:schemas-microsoft-com:vml" Requires="v">
                <p:oleObj spid="_x0000_s3112" name="Equation" r:id="rId9" imgW="914400" imgH="203200" progId="Equation.DSMT4">
                  <p:embed/>
                </p:oleObj>
              </mc:Choice>
              <mc:Fallback>
                <p:oleObj name="Equation" r:id="rId9" imgW="914400" imgH="203200" progId="Equation.DSMT4">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213225" y="5432425"/>
                        <a:ext cx="211931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2173" name="Object 21"/>
          <p:cNvGraphicFramePr>
            <a:graphicFrameLocks noChangeAspect="1"/>
          </p:cNvGraphicFramePr>
          <p:nvPr/>
        </p:nvGraphicFramePr>
        <p:xfrm>
          <a:off x="1330325" y="5434013"/>
          <a:ext cx="1946275" cy="454025"/>
        </p:xfrm>
        <a:graphic>
          <a:graphicData uri="http://schemas.openxmlformats.org/presentationml/2006/ole">
            <mc:AlternateContent xmlns:mc="http://schemas.openxmlformats.org/markup-compatibility/2006">
              <mc:Choice xmlns:v="urn:schemas-microsoft-com:vml" Requires="v">
                <p:oleObj spid="_x0000_s3113" name="Equation" r:id="rId11" imgW="876300" imgH="203200" progId="Equation.DSMT4">
                  <p:embed/>
                </p:oleObj>
              </mc:Choice>
              <mc:Fallback>
                <p:oleObj name="Equation" r:id="rId11" imgW="876300" imgH="203200" progId="Equation.DSMT4">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330325" y="5434013"/>
                        <a:ext cx="1946275"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2174" name="Rectangle 22"/>
          <p:cNvSpPr>
            <a:spLocks noChangeArrowheads="1"/>
          </p:cNvSpPr>
          <p:nvPr/>
        </p:nvSpPr>
        <p:spPr bwMode="auto">
          <a:xfrm>
            <a:off x="1187450" y="6080125"/>
            <a:ext cx="5062538"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a:spcBef>
                <a:spcPct val="0"/>
              </a:spcBef>
              <a:buFontTx/>
              <a:buNone/>
            </a:pPr>
            <a:r>
              <a:rPr lang="zh-CN" altLang="zh-CN" sz="2400">
                <a:solidFill>
                  <a:srgbClr val="000000"/>
                </a:solidFill>
                <a:sym typeface="Symbol" pitchFamily="18" charset="2"/>
              </a:rPr>
              <a:t></a:t>
            </a:r>
            <a:r>
              <a:rPr lang="zh-CN" altLang="zh-CN" sz="2400" baseline="-25000">
                <a:solidFill>
                  <a:srgbClr val="000000"/>
                </a:solidFill>
                <a:sym typeface="Symbol" pitchFamily="18" charset="2"/>
              </a:rPr>
              <a:t>溶</a:t>
            </a:r>
            <a:r>
              <a:rPr lang="zh-CN" altLang="zh-CN" sz="2400">
                <a:solidFill>
                  <a:srgbClr val="000000"/>
                </a:solidFill>
                <a:sym typeface="Symbol" pitchFamily="18" charset="2"/>
              </a:rPr>
              <a:t>, </a:t>
            </a:r>
            <a:r>
              <a:rPr lang="zh-CN" altLang="zh-CN" sz="2400" baseline="-25000">
                <a:solidFill>
                  <a:srgbClr val="000000"/>
                </a:solidFill>
                <a:sym typeface="Symbol" pitchFamily="18" charset="2"/>
              </a:rPr>
              <a:t>溶 </a:t>
            </a:r>
            <a:r>
              <a:rPr lang="zh-CN" altLang="zh-CN" sz="2400">
                <a:solidFill>
                  <a:srgbClr val="000000"/>
                </a:solidFill>
                <a:ea typeface="黑体" pitchFamily="49" charset="-122"/>
              </a:rPr>
              <a:t>分别为溶液的介电常数、密度</a:t>
            </a:r>
          </a:p>
        </p:txBody>
      </p:sp>
    </p:spTree>
    <p:extLst>
      <p:ext uri="{BB962C8B-B14F-4D97-AF65-F5344CB8AC3E}">
        <p14:creationId xmlns:p14="http://schemas.microsoft.com/office/powerpoint/2010/main" val="3997744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p:cNvSpPr>
            <a:spLocks noChangeArrowheads="1"/>
          </p:cNvSpPr>
          <p:nvPr/>
        </p:nvSpPr>
        <p:spPr bwMode="auto">
          <a:xfrm>
            <a:off x="323850" y="188913"/>
            <a:ext cx="8929688"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a:spcBef>
                <a:spcPct val="0"/>
              </a:spcBef>
              <a:buFontTx/>
              <a:buNone/>
            </a:pPr>
            <a:r>
              <a:rPr lang="zh-CN" altLang="zh-CN" sz="2400">
                <a:solidFill>
                  <a:srgbClr val="000000"/>
                </a:solidFill>
                <a:latin typeface="黑体" pitchFamily="49" charset="-122"/>
                <a:ea typeface="黑体" pitchFamily="49" charset="-122"/>
              </a:rPr>
              <a:t>由于在红外频率下测</a:t>
            </a:r>
            <a:r>
              <a:rPr lang="zh-CN" altLang="zh-CN" sz="2400">
                <a:solidFill>
                  <a:srgbClr val="000000"/>
                </a:solidFill>
                <a:latin typeface="Times New Roman" pitchFamily="18" charset="0"/>
                <a:cs typeface="Times New Roman" pitchFamily="18" charset="0"/>
              </a:rPr>
              <a:t>P</a:t>
            </a:r>
            <a:r>
              <a:rPr lang="zh-CN" altLang="zh-CN" sz="2400" baseline="-25000">
                <a:solidFill>
                  <a:srgbClr val="000000"/>
                </a:solidFill>
                <a:latin typeface="Times New Roman" pitchFamily="18" charset="0"/>
                <a:cs typeface="Times New Roman" pitchFamily="18" charset="0"/>
              </a:rPr>
              <a:t>变形</a:t>
            </a:r>
            <a:r>
              <a:rPr lang="zh-CN" altLang="zh-CN" sz="2400">
                <a:solidFill>
                  <a:srgbClr val="000000"/>
                </a:solidFill>
                <a:latin typeface="黑体" pitchFamily="49" charset="-122"/>
                <a:ea typeface="黑体" pitchFamily="49" charset="-122"/>
              </a:rPr>
              <a:t>较困难，所以一般是在高频电场中测</a:t>
            </a:r>
            <a:r>
              <a:rPr lang="zh-CN" altLang="zh-CN" sz="2400">
                <a:solidFill>
                  <a:srgbClr val="000000"/>
                </a:solidFill>
                <a:latin typeface="Times New Roman" pitchFamily="18" charset="0"/>
                <a:cs typeface="Times New Roman" pitchFamily="18" charset="0"/>
              </a:rPr>
              <a:t>P</a:t>
            </a:r>
            <a:r>
              <a:rPr lang="zh-CN" altLang="zh-CN" sz="2400" baseline="-25000">
                <a:solidFill>
                  <a:srgbClr val="000000"/>
                </a:solidFill>
                <a:latin typeface="Times New Roman" pitchFamily="18" charset="0"/>
                <a:cs typeface="Times New Roman" pitchFamily="18" charset="0"/>
              </a:rPr>
              <a:t>电</a:t>
            </a:r>
            <a:r>
              <a:rPr lang="zh-CN" altLang="zh-CN" sz="2400" baseline="-25000">
                <a:solidFill>
                  <a:srgbClr val="000000"/>
                </a:solidFill>
                <a:latin typeface="黑体" pitchFamily="49" charset="-122"/>
                <a:ea typeface="黑体" pitchFamily="49" charset="-122"/>
              </a:rPr>
              <a:t>子</a:t>
            </a:r>
            <a:endParaRPr lang="zh-CN" altLang="zh-CN" sz="2400" baseline="-25000">
              <a:latin typeface="黑体" pitchFamily="49" charset="-122"/>
              <a:ea typeface="黑体" pitchFamily="49" charset="-122"/>
            </a:endParaRPr>
          </a:p>
        </p:txBody>
      </p:sp>
      <p:sp>
        <p:nvSpPr>
          <p:cNvPr id="93187" name="Rectangle 4"/>
          <p:cNvSpPr>
            <a:spLocks noChangeArrowheads="1"/>
          </p:cNvSpPr>
          <p:nvPr/>
        </p:nvSpPr>
        <p:spPr bwMode="auto">
          <a:xfrm>
            <a:off x="0" y="33289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0"/>
              </a:spcBef>
              <a:buFontTx/>
              <a:buNone/>
            </a:pPr>
            <a:endParaRPr lang="zh-CN" altLang="en-US" sz="1800"/>
          </a:p>
        </p:txBody>
      </p:sp>
      <p:sp>
        <p:nvSpPr>
          <p:cNvPr id="93188" name="Rectangle 7"/>
          <p:cNvSpPr>
            <a:spLocks noChangeArrowheads="1"/>
          </p:cNvSpPr>
          <p:nvPr/>
        </p:nvSpPr>
        <p:spPr bwMode="auto">
          <a:xfrm>
            <a:off x="0" y="32051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0"/>
              </a:spcBef>
              <a:buFontTx/>
              <a:buNone/>
            </a:pPr>
            <a:endParaRPr lang="zh-CN" altLang="en-US" sz="1800"/>
          </a:p>
        </p:txBody>
      </p:sp>
      <p:sp>
        <p:nvSpPr>
          <p:cNvPr id="93189" name="Rectangle 9"/>
          <p:cNvSpPr>
            <a:spLocks noChangeArrowheads="1"/>
          </p:cNvSpPr>
          <p:nvPr/>
        </p:nvSpPr>
        <p:spPr bwMode="auto">
          <a:xfrm>
            <a:off x="0" y="32004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0"/>
              </a:spcBef>
              <a:buFontTx/>
              <a:buNone/>
            </a:pPr>
            <a:endParaRPr lang="zh-CN" altLang="en-US" sz="1800"/>
          </a:p>
        </p:txBody>
      </p:sp>
      <p:graphicFrame>
        <p:nvGraphicFramePr>
          <p:cNvPr id="93190" name="Object 10"/>
          <p:cNvGraphicFramePr>
            <a:graphicFrameLocks noChangeAspect="1"/>
          </p:cNvGraphicFramePr>
          <p:nvPr/>
        </p:nvGraphicFramePr>
        <p:xfrm>
          <a:off x="1677988" y="1952625"/>
          <a:ext cx="5570537" cy="766763"/>
        </p:xfrm>
        <a:graphic>
          <a:graphicData uri="http://schemas.openxmlformats.org/presentationml/2006/ole">
            <mc:AlternateContent xmlns:mc="http://schemas.openxmlformats.org/markup-compatibility/2006">
              <mc:Choice xmlns:v="urn:schemas-microsoft-com:vml" Requires="v">
                <p:oleObj spid="_x0000_s4133" name="Equation" r:id="rId3" imgW="2857500" imgH="393700" progId="Equation.DSMT4">
                  <p:embed/>
                </p:oleObj>
              </mc:Choice>
              <mc:Fallback>
                <p:oleObj name="Equation" r:id="rId3" imgW="2857500" imgH="39370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77988" y="1952625"/>
                        <a:ext cx="5570537" cy="766763"/>
                      </a:xfrm>
                      <a:prstGeom prst="rect">
                        <a:avLst/>
                      </a:prstGeom>
                      <a:noFill/>
                      <a:ln w="22225">
                        <a:solidFill>
                          <a:srgbClr val="00808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3191" name="Rectangle 11"/>
          <p:cNvSpPr>
            <a:spLocks noChangeArrowheads="1"/>
          </p:cNvSpPr>
          <p:nvPr/>
        </p:nvSpPr>
        <p:spPr bwMode="auto">
          <a:xfrm>
            <a:off x="765175" y="1069975"/>
            <a:ext cx="4602163" cy="45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a:spcBef>
                <a:spcPct val="0"/>
              </a:spcBef>
              <a:buFontTx/>
              <a:buNone/>
            </a:pPr>
            <a:r>
              <a:rPr lang="zh-CN" altLang="zh-CN" sz="2400">
                <a:latin typeface="黑体" pitchFamily="49" charset="-122"/>
                <a:ea typeface="黑体" pitchFamily="49" charset="-122"/>
              </a:rPr>
              <a:t>溶液无限稀释时溶质摩尔折射度 </a:t>
            </a:r>
          </a:p>
        </p:txBody>
      </p:sp>
      <p:sp>
        <p:nvSpPr>
          <p:cNvPr id="93192" name="Rectangle 12"/>
          <p:cNvSpPr>
            <a:spLocks noChangeArrowheads="1"/>
          </p:cNvSpPr>
          <p:nvPr/>
        </p:nvSpPr>
        <p:spPr bwMode="auto">
          <a:xfrm>
            <a:off x="0" y="33147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0"/>
              </a:spcBef>
              <a:buFontTx/>
              <a:buNone/>
            </a:pPr>
            <a:endParaRPr lang="zh-CN" altLang="en-US" sz="1800"/>
          </a:p>
        </p:txBody>
      </p:sp>
      <p:graphicFrame>
        <p:nvGraphicFramePr>
          <p:cNvPr id="93193" name="Object 13"/>
          <p:cNvGraphicFramePr>
            <a:graphicFrameLocks noChangeAspect="1"/>
          </p:cNvGraphicFramePr>
          <p:nvPr/>
        </p:nvGraphicFramePr>
        <p:xfrm>
          <a:off x="1874838" y="2921000"/>
          <a:ext cx="2381250" cy="558800"/>
        </p:xfrm>
        <a:graphic>
          <a:graphicData uri="http://schemas.openxmlformats.org/presentationml/2006/ole">
            <mc:AlternateContent xmlns:mc="http://schemas.openxmlformats.org/markup-compatibility/2006">
              <mc:Choice xmlns:v="urn:schemas-microsoft-com:vml" Requires="v">
                <p:oleObj spid="_x0000_s4134" name="Equation" r:id="rId5" imgW="863225" imgH="203112" progId="Equation.DSMT4">
                  <p:embed/>
                </p:oleObj>
              </mc:Choice>
              <mc:Fallback>
                <p:oleObj name="Equation" r:id="rId5" imgW="863225" imgH="203112"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874838" y="2921000"/>
                        <a:ext cx="2381250" cy="55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3194" name="Rectangle 14"/>
          <p:cNvSpPr>
            <a:spLocks noChangeArrowheads="1"/>
          </p:cNvSpPr>
          <p:nvPr/>
        </p:nvSpPr>
        <p:spPr bwMode="auto">
          <a:xfrm>
            <a:off x="0" y="33004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0"/>
              </a:spcBef>
              <a:buFontTx/>
              <a:buNone/>
            </a:pPr>
            <a:endParaRPr lang="zh-CN" altLang="en-US" sz="1800"/>
          </a:p>
        </p:txBody>
      </p:sp>
      <p:graphicFrame>
        <p:nvGraphicFramePr>
          <p:cNvPr id="93195" name="Object 15"/>
          <p:cNvGraphicFramePr>
            <a:graphicFrameLocks noChangeAspect="1"/>
          </p:cNvGraphicFramePr>
          <p:nvPr/>
        </p:nvGraphicFramePr>
        <p:xfrm>
          <a:off x="3467100" y="4283075"/>
          <a:ext cx="4110038" cy="514350"/>
        </p:xfrm>
        <a:graphic>
          <a:graphicData uri="http://schemas.openxmlformats.org/presentationml/2006/ole">
            <mc:AlternateContent xmlns:mc="http://schemas.openxmlformats.org/markup-compatibility/2006">
              <mc:Choice xmlns:v="urn:schemas-microsoft-com:vml" Requires="v">
                <p:oleObj spid="_x0000_s4135" r:id="rId7" imgW="2056507" imgH="253890" progId="Equation.3">
                  <p:embed/>
                </p:oleObj>
              </mc:Choice>
              <mc:Fallback>
                <p:oleObj r:id="rId7" imgW="2056507" imgH="25389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467100" y="4283075"/>
                        <a:ext cx="4110038" cy="51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3196" name="Object 16"/>
          <p:cNvGraphicFramePr>
            <a:graphicFrameLocks noChangeAspect="1"/>
          </p:cNvGraphicFramePr>
          <p:nvPr/>
        </p:nvGraphicFramePr>
        <p:xfrm>
          <a:off x="1763713" y="3651250"/>
          <a:ext cx="2714625" cy="488950"/>
        </p:xfrm>
        <a:graphic>
          <a:graphicData uri="http://schemas.openxmlformats.org/presentationml/2006/ole">
            <mc:AlternateContent xmlns:mc="http://schemas.openxmlformats.org/markup-compatibility/2006">
              <mc:Choice xmlns:v="urn:schemas-microsoft-com:vml" Requires="v">
                <p:oleObj spid="_x0000_s4136" r:id="rId9" imgW="1360081" imgH="241510" progId="Equation.3">
                  <p:embed/>
                </p:oleObj>
              </mc:Choice>
              <mc:Fallback>
                <p:oleObj r:id="rId9" imgW="1360081" imgH="241510"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763713" y="3651250"/>
                        <a:ext cx="2714625"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3197" name="Rectangle 17"/>
          <p:cNvSpPr>
            <a:spLocks noChangeArrowheads="1"/>
          </p:cNvSpPr>
          <p:nvPr/>
        </p:nvSpPr>
        <p:spPr bwMode="auto">
          <a:xfrm>
            <a:off x="560388" y="4278313"/>
            <a:ext cx="30956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a:spcBef>
                <a:spcPct val="0"/>
              </a:spcBef>
              <a:buFontTx/>
              <a:buNone/>
            </a:pPr>
            <a:r>
              <a:rPr lang="zh-CN" altLang="zh-CN" sz="2400">
                <a:latin typeface="黑体" pitchFamily="49" charset="-122"/>
                <a:ea typeface="黑体" pitchFamily="49" charset="-122"/>
              </a:rPr>
              <a:t>忽略较小的 </a:t>
            </a:r>
            <a:r>
              <a:rPr lang="zh-CN" altLang="zh-CN" sz="2400" i="1">
                <a:latin typeface="黑体" pitchFamily="49" charset="-122"/>
                <a:ea typeface="黑体" pitchFamily="49" charset="-122"/>
              </a:rPr>
              <a:t>P</a:t>
            </a:r>
            <a:r>
              <a:rPr lang="zh-CN" altLang="zh-CN" sz="2400" baseline="-25000">
                <a:latin typeface="黑体" pitchFamily="49" charset="-122"/>
                <a:ea typeface="黑体" pitchFamily="49" charset="-122"/>
              </a:rPr>
              <a:t>原子</a:t>
            </a:r>
            <a:r>
              <a:rPr lang="zh-CN" altLang="zh-CN" sz="2000">
                <a:latin typeface="Times New Roman" pitchFamily="18" charset="0"/>
              </a:rPr>
              <a:t>： </a:t>
            </a:r>
          </a:p>
        </p:txBody>
      </p:sp>
      <p:sp>
        <p:nvSpPr>
          <p:cNvPr id="93198" name="Rectangle 18"/>
          <p:cNvSpPr>
            <a:spLocks noChangeArrowheads="1"/>
          </p:cNvSpPr>
          <p:nvPr/>
        </p:nvSpPr>
        <p:spPr bwMode="auto">
          <a:xfrm>
            <a:off x="122238" y="6083300"/>
            <a:ext cx="9021762" cy="45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a:spcBef>
                <a:spcPct val="0"/>
              </a:spcBef>
              <a:buFontTx/>
              <a:buNone/>
            </a:pPr>
            <a:r>
              <a:rPr lang="zh-CN" altLang="zh-CN" sz="2400">
                <a:ea typeface="黑体" pitchFamily="49" charset="-122"/>
              </a:rPr>
              <a:t>分子的微观性质偶极矩与宏观性质介电常数、密度和折光率相联系</a:t>
            </a:r>
          </a:p>
        </p:txBody>
      </p:sp>
      <p:graphicFrame>
        <p:nvGraphicFramePr>
          <p:cNvPr id="93199" name="Object 19"/>
          <p:cNvGraphicFramePr>
            <a:graphicFrameLocks noChangeAspect="1"/>
          </p:cNvGraphicFramePr>
          <p:nvPr/>
        </p:nvGraphicFramePr>
        <p:xfrm>
          <a:off x="1423988" y="4797425"/>
          <a:ext cx="6821487" cy="1136650"/>
        </p:xfrm>
        <a:graphic>
          <a:graphicData uri="http://schemas.openxmlformats.org/presentationml/2006/ole">
            <mc:AlternateContent xmlns:mc="http://schemas.openxmlformats.org/markup-compatibility/2006">
              <mc:Choice xmlns:v="urn:schemas-microsoft-com:vml" Requires="v">
                <p:oleObj spid="_x0000_s4137" r:id="rId11" imgW="6006960" imgH="1002960" progId="Equation.3">
                  <p:embed/>
                </p:oleObj>
              </mc:Choice>
              <mc:Fallback>
                <p:oleObj r:id="rId11" imgW="6006960" imgH="1002960" progId="Equation.3">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423988" y="4797425"/>
                        <a:ext cx="6821487" cy="1136650"/>
                      </a:xfrm>
                      <a:prstGeom prst="rect">
                        <a:avLst/>
                      </a:prstGeom>
                      <a:noFill/>
                      <a:ln w="22225">
                        <a:solidFill>
                          <a:srgbClr val="00808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477800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ChangeArrowheads="1"/>
          </p:cNvSpPr>
          <p:nvPr/>
        </p:nvSpPr>
        <p:spPr bwMode="auto">
          <a:xfrm>
            <a:off x="180975" y="358775"/>
            <a:ext cx="85693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a:spcBef>
                <a:spcPct val="0"/>
              </a:spcBef>
              <a:buFontTx/>
              <a:buNone/>
            </a:pPr>
            <a:r>
              <a:rPr lang="zh-CN" altLang="zh-CN" sz="2400">
                <a:ea typeface="黑体" pitchFamily="49" charset="-122"/>
              </a:rPr>
              <a:t>溶液法</a:t>
            </a:r>
            <a:r>
              <a:rPr lang="zh-CN" altLang="en-US" sz="2400">
                <a:ea typeface="黑体" pitchFamily="49" charset="-122"/>
              </a:rPr>
              <a:t>介电常数的测定</a:t>
            </a:r>
            <a:r>
              <a:rPr lang="zh-CN" altLang="zh-CN" sz="2400">
                <a:ea typeface="黑体" pitchFamily="49" charset="-122"/>
              </a:rPr>
              <a:t>：通过测量电容后计算介电常数</a:t>
            </a:r>
          </a:p>
        </p:txBody>
      </p:sp>
      <p:sp>
        <p:nvSpPr>
          <p:cNvPr id="94211" name="Rectangle 3"/>
          <p:cNvSpPr>
            <a:spLocks noChangeArrowheads="1"/>
          </p:cNvSpPr>
          <p:nvPr/>
        </p:nvSpPr>
        <p:spPr bwMode="auto">
          <a:xfrm>
            <a:off x="179388" y="788988"/>
            <a:ext cx="66484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a:spcBef>
                <a:spcPct val="0"/>
              </a:spcBef>
              <a:buFontTx/>
              <a:buNone/>
            </a:pPr>
            <a:r>
              <a:rPr lang="zh-CN" altLang="zh-CN" sz="2400"/>
              <a:t>采用环己烷作为标准物质，用电桥法测量电容。</a:t>
            </a:r>
          </a:p>
        </p:txBody>
      </p:sp>
      <p:graphicFrame>
        <p:nvGraphicFramePr>
          <p:cNvPr id="94212" name="Object 4"/>
          <p:cNvGraphicFramePr>
            <a:graphicFrameLocks noChangeAspect="1"/>
          </p:cNvGraphicFramePr>
          <p:nvPr/>
        </p:nvGraphicFramePr>
        <p:xfrm>
          <a:off x="684213" y="1270000"/>
          <a:ext cx="1979612" cy="466725"/>
        </p:xfrm>
        <a:graphic>
          <a:graphicData uri="http://schemas.openxmlformats.org/presentationml/2006/ole">
            <mc:AlternateContent xmlns:mc="http://schemas.openxmlformats.org/markup-compatibility/2006">
              <mc:Choice xmlns:v="urn:schemas-microsoft-com:vml" Requires="v">
                <p:oleObj spid="_x0000_s5199" r:id="rId3" imgW="877824" imgH="241720" progId="Equation.3">
                  <p:embed/>
                </p:oleObj>
              </mc:Choice>
              <mc:Fallback>
                <p:oleObj r:id="rId3" imgW="877824" imgH="24172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4213" y="1270000"/>
                        <a:ext cx="1979612" cy="466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4213" name="Object 5"/>
          <p:cNvGraphicFramePr>
            <a:graphicFrameLocks noChangeAspect="1"/>
          </p:cNvGraphicFramePr>
          <p:nvPr/>
        </p:nvGraphicFramePr>
        <p:xfrm>
          <a:off x="684213" y="1846263"/>
          <a:ext cx="1979612" cy="463550"/>
        </p:xfrm>
        <a:graphic>
          <a:graphicData uri="http://schemas.openxmlformats.org/presentationml/2006/ole">
            <mc:AlternateContent xmlns:mc="http://schemas.openxmlformats.org/markup-compatibility/2006">
              <mc:Choice xmlns:v="urn:schemas-microsoft-com:vml" Requires="v">
                <p:oleObj spid="_x0000_s5200" r:id="rId5" imgW="864726" imgH="241615" progId="Equation.3">
                  <p:embed/>
                </p:oleObj>
              </mc:Choice>
              <mc:Fallback>
                <p:oleObj r:id="rId5" imgW="864726" imgH="241615"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84213" y="1846263"/>
                        <a:ext cx="1979612"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4214" name="Object 6"/>
          <p:cNvGraphicFramePr>
            <a:graphicFrameLocks noChangeAspect="1"/>
          </p:cNvGraphicFramePr>
          <p:nvPr/>
        </p:nvGraphicFramePr>
        <p:xfrm>
          <a:off x="684213" y="2349500"/>
          <a:ext cx="2016125" cy="522288"/>
        </p:xfrm>
        <a:graphic>
          <a:graphicData uri="http://schemas.openxmlformats.org/presentationml/2006/ole">
            <mc:AlternateContent xmlns:mc="http://schemas.openxmlformats.org/markup-compatibility/2006">
              <mc:Choice xmlns:v="urn:schemas-microsoft-com:vml" Requires="v">
                <p:oleObj spid="_x0000_s5201" r:id="rId7" imgW="941025" imgH="241615" progId="Equation.3">
                  <p:embed/>
                </p:oleObj>
              </mc:Choice>
              <mc:Fallback>
                <p:oleObj r:id="rId7" imgW="941025" imgH="241615"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84213" y="2349500"/>
                        <a:ext cx="2016125" cy="522288"/>
                      </a:xfrm>
                      <a:prstGeom prst="rect">
                        <a:avLst/>
                      </a:prstGeom>
                      <a:noFill/>
                      <a:ln w="22225">
                        <a:solidFill>
                          <a:srgbClr val="00808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4215" name="Rectangle 7"/>
          <p:cNvSpPr>
            <a:spLocks noChangeArrowheads="1"/>
          </p:cNvSpPr>
          <p:nvPr/>
        </p:nvSpPr>
        <p:spPr bwMode="auto">
          <a:xfrm>
            <a:off x="3313113" y="1206500"/>
            <a:ext cx="25177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a:spcBef>
                <a:spcPct val="0"/>
              </a:spcBef>
              <a:buFontTx/>
              <a:buNone/>
            </a:pPr>
            <a:r>
              <a:rPr lang="zh-CN" altLang="zh-CN" sz="2000"/>
              <a:t>C</a:t>
            </a:r>
            <a:r>
              <a:rPr lang="zh-CN" altLang="zh-CN" sz="2000" baseline="-25000"/>
              <a:t>d</a:t>
            </a:r>
            <a:r>
              <a:rPr lang="zh-CN" altLang="zh-CN" sz="2000"/>
              <a:t>：分布电容 </a:t>
            </a:r>
          </a:p>
        </p:txBody>
      </p:sp>
      <p:sp>
        <p:nvSpPr>
          <p:cNvPr id="94216" name="Rectangle 8"/>
          <p:cNvSpPr>
            <a:spLocks noChangeArrowheads="1"/>
          </p:cNvSpPr>
          <p:nvPr/>
        </p:nvSpPr>
        <p:spPr bwMode="auto">
          <a:xfrm>
            <a:off x="3348038" y="1641475"/>
            <a:ext cx="6145212"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a:spcBef>
                <a:spcPct val="0"/>
              </a:spcBef>
              <a:buFontTx/>
              <a:buNone/>
            </a:pPr>
            <a:r>
              <a:rPr lang="zh-CN" altLang="zh-CN" sz="2000">
                <a:solidFill>
                  <a:srgbClr val="FF0000"/>
                </a:solidFill>
              </a:rPr>
              <a:t>C’</a:t>
            </a:r>
            <a:r>
              <a:rPr lang="zh-CN" altLang="zh-CN" sz="2000" baseline="-25000">
                <a:solidFill>
                  <a:srgbClr val="FF0000"/>
                </a:solidFill>
              </a:rPr>
              <a:t>空</a:t>
            </a:r>
            <a:r>
              <a:rPr lang="zh-CN" altLang="zh-CN" sz="2000">
                <a:solidFill>
                  <a:srgbClr val="FF0000"/>
                </a:solidFill>
              </a:rPr>
              <a:t>，C’</a:t>
            </a:r>
            <a:r>
              <a:rPr lang="zh-CN" altLang="zh-CN" sz="2000" baseline="-25000">
                <a:solidFill>
                  <a:srgbClr val="FF0000"/>
                </a:solidFill>
              </a:rPr>
              <a:t>标</a:t>
            </a:r>
            <a:r>
              <a:rPr lang="zh-CN" altLang="zh-CN" sz="2000">
                <a:solidFill>
                  <a:srgbClr val="FF0000"/>
                </a:solidFill>
              </a:rPr>
              <a:t>，C’</a:t>
            </a:r>
            <a:r>
              <a:rPr lang="zh-CN" altLang="zh-CN" sz="2000" baseline="-25000">
                <a:solidFill>
                  <a:srgbClr val="FF0000"/>
                </a:solidFill>
              </a:rPr>
              <a:t>溶</a:t>
            </a:r>
            <a:r>
              <a:rPr lang="zh-CN" altLang="zh-CN" sz="2000">
                <a:solidFill>
                  <a:srgbClr val="FF0000"/>
                </a:solidFill>
              </a:rPr>
              <a:t>：空气、环己烷</a:t>
            </a:r>
            <a:endParaRPr lang="en-US" altLang="zh-CN" sz="2000">
              <a:solidFill>
                <a:srgbClr val="FF0000"/>
              </a:solidFill>
            </a:endParaRPr>
          </a:p>
          <a:p>
            <a:pPr>
              <a:spcBef>
                <a:spcPct val="0"/>
              </a:spcBef>
              <a:buFontTx/>
              <a:buNone/>
            </a:pPr>
            <a:r>
              <a:rPr lang="zh-CN" altLang="zh-CN" sz="2000">
                <a:solidFill>
                  <a:srgbClr val="FF0000"/>
                </a:solidFill>
              </a:rPr>
              <a:t>及溶液的电容测量值</a:t>
            </a:r>
          </a:p>
        </p:txBody>
      </p:sp>
      <p:sp>
        <p:nvSpPr>
          <p:cNvPr id="94217" name="Rectangle 9"/>
          <p:cNvSpPr>
            <a:spLocks noChangeArrowheads="1"/>
          </p:cNvSpPr>
          <p:nvPr/>
        </p:nvSpPr>
        <p:spPr bwMode="auto">
          <a:xfrm>
            <a:off x="3324225" y="2473325"/>
            <a:ext cx="5819775" cy="401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a:spcBef>
                <a:spcPct val="0"/>
              </a:spcBef>
              <a:buFontTx/>
              <a:buNone/>
            </a:pPr>
            <a:r>
              <a:rPr lang="zh-CN" altLang="zh-CN" sz="2000"/>
              <a:t>各真实值C</a:t>
            </a:r>
            <a:r>
              <a:rPr lang="zh-CN" altLang="zh-CN" sz="2000" baseline="-25000"/>
              <a:t>空</a:t>
            </a:r>
            <a:r>
              <a:rPr lang="zh-CN" altLang="zh-CN" sz="2000"/>
              <a:t>,C</a:t>
            </a:r>
            <a:r>
              <a:rPr lang="zh-CN" altLang="zh-CN" sz="2000" baseline="-25000"/>
              <a:t>标</a:t>
            </a:r>
            <a:r>
              <a:rPr lang="zh-CN" altLang="zh-CN" sz="2000"/>
              <a:t>,C</a:t>
            </a:r>
            <a:r>
              <a:rPr lang="zh-CN" altLang="zh-CN" sz="2000" baseline="-25000"/>
              <a:t>溶</a:t>
            </a:r>
            <a:r>
              <a:rPr lang="zh-CN" altLang="zh-CN" sz="2000"/>
              <a:t>应为测量值减去分布电容C</a:t>
            </a:r>
            <a:r>
              <a:rPr lang="zh-CN" altLang="zh-CN" sz="2000" baseline="-25000"/>
              <a:t>d</a:t>
            </a:r>
            <a:r>
              <a:rPr lang="zh-CN" altLang="zh-CN" sz="2000"/>
              <a:t> </a:t>
            </a:r>
          </a:p>
        </p:txBody>
      </p:sp>
      <p:graphicFrame>
        <p:nvGraphicFramePr>
          <p:cNvPr id="94218" name="Object 10"/>
          <p:cNvGraphicFramePr>
            <a:graphicFrameLocks noChangeAspect="1"/>
          </p:cNvGraphicFramePr>
          <p:nvPr/>
        </p:nvGraphicFramePr>
        <p:xfrm>
          <a:off x="3805238" y="3101975"/>
          <a:ext cx="971550" cy="388938"/>
        </p:xfrm>
        <a:graphic>
          <a:graphicData uri="http://schemas.openxmlformats.org/presentationml/2006/ole">
            <mc:AlternateContent xmlns:mc="http://schemas.openxmlformats.org/markup-compatibility/2006">
              <mc:Choice xmlns:v="urn:schemas-microsoft-com:vml" Requires="v">
                <p:oleObj spid="_x0000_s5202" r:id="rId9" imgW="572494" imgH="228998" progId="Equation.3">
                  <p:embed/>
                </p:oleObj>
              </mc:Choice>
              <mc:Fallback>
                <p:oleObj r:id="rId9" imgW="572494" imgH="228998"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805238" y="3101975"/>
                        <a:ext cx="971550" cy="388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4219" name="Object 14"/>
          <p:cNvGraphicFramePr>
            <a:graphicFrameLocks noChangeAspect="1"/>
          </p:cNvGraphicFramePr>
          <p:nvPr/>
        </p:nvGraphicFramePr>
        <p:xfrm>
          <a:off x="5313363" y="3113088"/>
          <a:ext cx="1030287" cy="400050"/>
        </p:xfrm>
        <a:graphic>
          <a:graphicData uri="http://schemas.openxmlformats.org/presentationml/2006/ole">
            <mc:AlternateContent xmlns:mc="http://schemas.openxmlformats.org/markup-compatibility/2006">
              <mc:Choice xmlns:v="urn:schemas-microsoft-com:vml" Requires="v">
                <p:oleObj spid="_x0000_s5203" name="Equation" r:id="rId11" imgW="609336" imgH="203112" progId="Equation.DSMT4">
                  <p:embed/>
                </p:oleObj>
              </mc:Choice>
              <mc:Fallback>
                <p:oleObj name="Equation" r:id="rId11" imgW="609336" imgH="203112" progId="Equation.DSMT4">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313363" y="3113088"/>
                        <a:ext cx="103028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4220" name="Object 15"/>
          <p:cNvGraphicFramePr>
            <a:graphicFrameLocks noChangeAspect="1"/>
          </p:cNvGraphicFramePr>
          <p:nvPr/>
        </p:nvGraphicFramePr>
        <p:xfrm>
          <a:off x="6107113" y="5845175"/>
          <a:ext cx="1441450" cy="450850"/>
        </p:xfrm>
        <a:graphic>
          <a:graphicData uri="http://schemas.openxmlformats.org/presentationml/2006/ole">
            <mc:AlternateContent xmlns:mc="http://schemas.openxmlformats.org/markup-compatibility/2006">
              <mc:Choice xmlns:v="urn:schemas-microsoft-com:vml" Requires="v">
                <p:oleObj spid="_x0000_s5204" r:id="rId13" imgW="852380" imgH="228998" progId="Equation.3">
                  <p:embed/>
                </p:oleObj>
              </mc:Choice>
              <mc:Fallback>
                <p:oleObj r:id="rId13" imgW="852380" imgH="228998" progId="Equation.3">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107113" y="5845175"/>
                        <a:ext cx="1441450" cy="450850"/>
                      </a:xfrm>
                      <a:prstGeom prst="rect">
                        <a:avLst/>
                      </a:prstGeom>
                      <a:noFill/>
                      <a:ln w="22225">
                        <a:solidFill>
                          <a:srgbClr val="00808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4221" name="Object 16"/>
          <p:cNvGraphicFramePr>
            <a:graphicFrameLocks noChangeAspect="1"/>
          </p:cNvGraphicFramePr>
          <p:nvPr/>
        </p:nvGraphicFramePr>
        <p:xfrm>
          <a:off x="1133475" y="4600575"/>
          <a:ext cx="2017713" cy="825500"/>
        </p:xfrm>
        <a:graphic>
          <a:graphicData uri="http://schemas.openxmlformats.org/presentationml/2006/ole">
            <mc:AlternateContent xmlns:mc="http://schemas.openxmlformats.org/markup-compatibility/2006">
              <mc:Choice xmlns:v="urn:schemas-microsoft-com:vml" Requires="v">
                <p:oleObj spid="_x0000_s5205" r:id="rId15" imgW="1144988" imgH="470717" progId="Equation.3">
                  <p:embed/>
                </p:oleObj>
              </mc:Choice>
              <mc:Fallback>
                <p:oleObj r:id="rId15" imgW="1144988" imgH="470717" progId="Equation.3">
                  <p:embed/>
                  <p:pic>
                    <p:nvPicPr>
                      <p:cNvPr id="0" name=""/>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133475" y="4600575"/>
                        <a:ext cx="2017713" cy="825500"/>
                      </a:xfrm>
                      <a:prstGeom prst="rect">
                        <a:avLst/>
                      </a:prstGeom>
                      <a:noFill/>
                      <a:ln w="22225">
                        <a:solidFill>
                          <a:srgbClr val="00808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4222" name="Object 17"/>
          <p:cNvGraphicFramePr>
            <a:graphicFrameLocks noChangeAspect="1"/>
          </p:cNvGraphicFramePr>
          <p:nvPr/>
        </p:nvGraphicFramePr>
        <p:xfrm>
          <a:off x="3368675" y="3679825"/>
          <a:ext cx="1944688" cy="463550"/>
        </p:xfrm>
        <a:graphic>
          <a:graphicData uri="http://schemas.openxmlformats.org/presentationml/2006/ole">
            <mc:AlternateContent xmlns:mc="http://schemas.openxmlformats.org/markup-compatibility/2006">
              <mc:Choice xmlns:v="urn:schemas-microsoft-com:vml" Requires="v">
                <p:oleObj spid="_x0000_s5206" r:id="rId17" imgW="851639" imgH="241510" progId="Equation.3">
                  <p:embed/>
                </p:oleObj>
              </mc:Choice>
              <mc:Fallback>
                <p:oleObj r:id="rId17" imgW="851639" imgH="241510" progId="Equation.3">
                  <p:embed/>
                  <p:pic>
                    <p:nvPicPr>
                      <p:cNvPr id="0" name=""/>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3368675" y="3679825"/>
                        <a:ext cx="1944688"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4223" name="Object 18"/>
          <p:cNvGraphicFramePr>
            <a:graphicFrameLocks noChangeAspect="1"/>
          </p:cNvGraphicFramePr>
          <p:nvPr/>
        </p:nvGraphicFramePr>
        <p:xfrm>
          <a:off x="5830888" y="3665538"/>
          <a:ext cx="1800225" cy="468312"/>
        </p:xfrm>
        <a:graphic>
          <a:graphicData uri="http://schemas.openxmlformats.org/presentationml/2006/ole">
            <mc:AlternateContent xmlns:mc="http://schemas.openxmlformats.org/markup-compatibility/2006">
              <mc:Choice xmlns:v="urn:schemas-microsoft-com:vml" Requires="v">
                <p:oleObj spid="_x0000_s5207" r:id="rId19" imgW="1017325" imgH="241615" progId="Equation.3">
                  <p:embed/>
                </p:oleObj>
              </mc:Choice>
              <mc:Fallback>
                <p:oleObj r:id="rId19" imgW="1017325" imgH="241615" progId="Equation.3">
                  <p:embed/>
                  <p:pic>
                    <p:nvPicPr>
                      <p:cNvPr id="0" name=""/>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5830888" y="3665538"/>
                        <a:ext cx="1800225" cy="468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4224" name="Rectangle 19"/>
          <p:cNvSpPr>
            <a:spLocks noChangeArrowheads="1"/>
          </p:cNvSpPr>
          <p:nvPr/>
        </p:nvSpPr>
        <p:spPr bwMode="auto">
          <a:xfrm>
            <a:off x="427038" y="3733800"/>
            <a:ext cx="256381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a:spcBef>
                <a:spcPct val="0"/>
              </a:spcBef>
              <a:buFontTx/>
              <a:buNone/>
            </a:pPr>
            <a:r>
              <a:rPr lang="zh-CN" altLang="zh-CN" sz="2000"/>
              <a:t>由上述关系式可得： </a:t>
            </a:r>
          </a:p>
        </p:txBody>
      </p:sp>
      <p:sp>
        <p:nvSpPr>
          <p:cNvPr id="94225" name="Rectangle 20"/>
          <p:cNvSpPr>
            <a:spLocks noChangeArrowheads="1"/>
          </p:cNvSpPr>
          <p:nvPr/>
        </p:nvSpPr>
        <p:spPr bwMode="auto">
          <a:xfrm>
            <a:off x="300038" y="5562600"/>
            <a:ext cx="5786437"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a:lnSpc>
                <a:spcPct val="150000"/>
              </a:lnSpc>
              <a:spcBef>
                <a:spcPct val="0"/>
              </a:spcBef>
              <a:buFontTx/>
              <a:buNone/>
            </a:pPr>
            <a:r>
              <a:rPr lang="zh-CN" altLang="zh-CN" sz="2000">
                <a:solidFill>
                  <a:srgbClr val="000000"/>
                </a:solidFill>
              </a:rPr>
              <a:t>将所求得C</a:t>
            </a:r>
            <a:r>
              <a:rPr lang="zh-CN" altLang="zh-CN" sz="2000" baseline="-25000">
                <a:solidFill>
                  <a:srgbClr val="000000"/>
                </a:solidFill>
              </a:rPr>
              <a:t>d</a:t>
            </a:r>
            <a:r>
              <a:rPr lang="zh-CN" altLang="zh-CN" sz="2000">
                <a:solidFill>
                  <a:srgbClr val="000000"/>
                </a:solidFill>
                <a:latin typeface="Times New Roman" pitchFamily="18" charset="0"/>
                <a:cs typeface="Times New Roman" pitchFamily="18" charset="0"/>
              </a:rPr>
              <a:t>值代入式</a:t>
            </a:r>
            <a:r>
              <a:rPr lang="en-US" altLang="zh-CN" sz="2000">
                <a:solidFill>
                  <a:srgbClr val="000000"/>
                </a:solidFill>
                <a:latin typeface="Times New Roman" pitchFamily="18" charset="0"/>
                <a:cs typeface="Times New Roman" pitchFamily="18" charset="0"/>
              </a:rPr>
              <a:t> </a:t>
            </a:r>
            <a:r>
              <a:rPr lang="zh-CN" altLang="zh-CN" sz="2000">
                <a:solidFill>
                  <a:srgbClr val="FF0000"/>
                </a:solidFill>
                <a:latin typeface="Times New Roman" pitchFamily="18" charset="0"/>
                <a:cs typeface="Times New Roman" pitchFamily="18" charset="0"/>
              </a:rPr>
              <a:t>(3)</a:t>
            </a:r>
            <a:r>
              <a:rPr lang="zh-CN" altLang="zh-CN" sz="2000">
                <a:solidFill>
                  <a:srgbClr val="000000"/>
                </a:solidFill>
                <a:latin typeface="Times New Roman" pitchFamily="18" charset="0"/>
                <a:cs typeface="Times New Roman" pitchFamily="18" charset="0"/>
              </a:rPr>
              <a:t>，可得溶液的电容值C</a:t>
            </a:r>
            <a:r>
              <a:rPr lang="zh-CN" altLang="zh-CN" sz="2000" baseline="-25000">
                <a:solidFill>
                  <a:srgbClr val="000000"/>
                </a:solidFill>
                <a:latin typeface="Times New Roman" pitchFamily="18" charset="0"/>
                <a:cs typeface="Times New Roman" pitchFamily="18" charset="0"/>
              </a:rPr>
              <a:t>溶</a:t>
            </a:r>
            <a:r>
              <a:rPr lang="zh-CN" altLang="zh-CN" sz="2000">
                <a:solidFill>
                  <a:srgbClr val="000000"/>
                </a:solidFill>
                <a:latin typeface="Times New Roman" pitchFamily="18" charset="0"/>
                <a:cs typeface="Times New Roman" pitchFamily="18" charset="0"/>
              </a:rPr>
              <a:t>，</a:t>
            </a:r>
            <a:endParaRPr lang="en-US" altLang="zh-CN" sz="2000">
              <a:solidFill>
                <a:srgbClr val="000000"/>
              </a:solidFill>
              <a:latin typeface="Times New Roman" pitchFamily="18" charset="0"/>
              <a:cs typeface="Times New Roman" pitchFamily="18" charset="0"/>
            </a:endParaRPr>
          </a:p>
          <a:p>
            <a:pPr>
              <a:lnSpc>
                <a:spcPct val="150000"/>
              </a:lnSpc>
              <a:spcBef>
                <a:spcPct val="0"/>
              </a:spcBef>
              <a:buFontTx/>
              <a:buNone/>
            </a:pPr>
            <a:r>
              <a:rPr lang="zh-CN" altLang="zh-CN" sz="2000">
                <a:solidFill>
                  <a:srgbClr val="000000"/>
                </a:solidFill>
                <a:latin typeface="Times New Roman" pitchFamily="18" charset="0"/>
                <a:cs typeface="Times New Roman" pitchFamily="18" charset="0"/>
              </a:rPr>
              <a:t>带入</a:t>
            </a:r>
            <a:r>
              <a:rPr lang="zh-CN" altLang="zh-CN" sz="2000">
                <a:solidFill>
                  <a:srgbClr val="FF0000"/>
                </a:solidFill>
                <a:latin typeface="Times New Roman" pitchFamily="18" charset="0"/>
                <a:cs typeface="Times New Roman" pitchFamily="18" charset="0"/>
              </a:rPr>
              <a:t>(</a:t>
            </a:r>
            <a:r>
              <a:rPr lang="en-US" altLang="zh-CN" sz="2000">
                <a:solidFill>
                  <a:srgbClr val="FF0000"/>
                </a:solidFill>
                <a:latin typeface="Times New Roman" pitchFamily="18" charset="0"/>
                <a:cs typeface="Times New Roman" pitchFamily="18" charset="0"/>
              </a:rPr>
              <a:t>7</a:t>
            </a:r>
            <a:r>
              <a:rPr lang="zh-CN" altLang="zh-CN" sz="2000">
                <a:solidFill>
                  <a:srgbClr val="FF0000"/>
                </a:solidFill>
                <a:latin typeface="Times New Roman" pitchFamily="18" charset="0"/>
                <a:cs typeface="Times New Roman" pitchFamily="18" charset="0"/>
              </a:rPr>
              <a:t>)</a:t>
            </a:r>
            <a:r>
              <a:rPr lang="zh-CN" altLang="zh-CN" sz="2000">
                <a:solidFill>
                  <a:srgbClr val="000000"/>
                </a:solidFill>
                <a:latin typeface="Times New Roman" pitchFamily="18" charset="0"/>
                <a:cs typeface="Times New Roman" pitchFamily="18" charset="0"/>
              </a:rPr>
              <a:t>得</a:t>
            </a:r>
            <a:r>
              <a:rPr lang="zh-CN" altLang="zh-CN" sz="2000">
                <a:solidFill>
                  <a:srgbClr val="000000"/>
                </a:solidFill>
                <a:latin typeface="Times New Roman" pitchFamily="18" charset="0"/>
                <a:cs typeface="Times New Roman" pitchFamily="18" charset="0"/>
                <a:sym typeface="Symbol" pitchFamily="18" charset="2"/>
              </a:rPr>
              <a:t></a:t>
            </a:r>
            <a:r>
              <a:rPr lang="zh-CN" altLang="zh-CN" sz="2000"/>
              <a:t> </a:t>
            </a:r>
            <a:r>
              <a:rPr lang="zh-CN" altLang="en-US" sz="2000" baseline="-25000"/>
              <a:t>溶</a:t>
            </a:r>
            <a:endParaRPr lang="zh-CN" altLang="zh-CN" sz="2000" baseline="-25000"/>
          </a:p>
        </p:txBody>
      </p:sp>
      <p:sp>
        <p:nvSpPr>
          <p:cNvPr id="94226" name="Rectangle 21"/>
          <p:cNvSpPr>
            <a:spLocks noChangeArrowheads="1"/>
          </p:cNvSpPr>
          <p:nvPr/>
        </p:nvSpPr>
        <p:spPr bwMode="auto">
          <a:xfrm>
            <a:off x="179388" y="1412875"/>
            <a:ext cx="477837"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a:spcBef>
                <a:spcPct val="0"/>
              </a:spcBef>
              <a:buFontTx/>
              <a:buNone/>
            </a:pPr>
            <a:r>
              <a:rPr lang="zh-CN" altLang="zh-CN" sz="1800">
                <a:solidFill>
                  <a:srgbClr val="FF0000"/>
                </a:solidFill>
              </a:rPr>
              <a:t>(1)</a:t>
            </a:r>
          </a:p>
        </p:txBody>
      </p:sp>
      <p:sp>
        <p:nvSpPr>
          <p:cNvPr id="94227" name="Rectangle 22"/>
          <p:cNvSpPr>
            <a:spLocks noChangeArrowheads="1"/>
          </p:cNvSpPr>
          <p:nvPr/>
        </p:nvSpPr>
        <p:spPr bwMode="auto">
          <a:xfrm>
            <a:off x="179388" y="1989138"/>
            <a:ext cx="477837"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a:spcBef>
                <a:spcPct val="0"/>
              </a:spcBef>
              <a:buFontTx/>
              <a:buNone/>
            </a:pPr>
            <a:r>
              <a:rPr lang="zh-CN" altLang="zh-CN" sz="1800">
                <a:solidFill>
                  <a:srgbClr val="FF0000"/>
                </a:solidFill>
              </a:rPr>
              <a:t>(2)</a:t>
            </a:r>
          </a:p>
        </p:txBody>
      </p:sp>
      <p:sp>
        <p:nvSpPr>
          <p:cNvPr id="94228" name="Rectangle 23"/>
          <p:cNvSpPr>
            <a:spLocks noChangeArrowheads="1"/>
          </p:cNvSpPr>
          <p:nvPr/>
        </p:nvSpPr>
        <p:spPr bwMode="auto">
          <a:xfrm>
            <a:off x="6588125" y="4821238"/>
            <a:ext cx="47942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a:spcBef>
                <a:spcPct val="0"/>
              </a:spcBef>
              <a:buFontTx/>
              <a:buNone/>
            </a:pPr>
            <a:r>
              <a:rPr lang="zh-CN" altLang="zh-CN" sz="1800">
                <a:solidFill>
                  <a:srgbClr val="FF0000"/>
                </a:solidFill>
              </a:rPr>
              <a:t>(</a:t>
            </a:r>
            <a:r>
              <a:rPr lang="en-US" altLang="zh-CN" sz="1800">
                <a:solidFill>
                  <a:srgbClr val="FF0000"/>
                </a:solidFill>
              </a:rPr>
              <a:t>6</a:t>
            </a:r>
            <a:r>
              <a:rPr lang="zh-CN" altLang="zh-CN" sz="1800">
                <a:solidFill>
                  <a:srgbClr val="FF0000"/>
                </a:solidFill>
              </a:rPr>
              <a:t>)</a:t>
            </a:r>
          </a:p>
        </p:txBody>
      </p:sp>
      <p:sp>
        <p:nvSpPr>
          <p:cNvPr id="94229" name="Rectangle 25"/>
          <p:cNvSpPr>
            <a:spLocks noChangeArrowheads="1"/>
          </p:cNvSpPr>
          <p:nvPr/>
        </p:nvSpPr>
        <p:spPr bwMode="auto">
          <a:xfrm>
            <a:off x="427038" y="4133850"/>
            <a:ext cx="35909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a:spcBef>
                <a:spcPct val="0"/>
              </a:spcBef>
              <a:buFontTx/>
              <a:buNone/>
            </a:pPr>
            <a:r>
              <a:rPr lang="zh-CN" altLang="zh-CN" sz="2000"/>
              <a:t>环己烷介电常数与温度的关系 </a:t>
            </a:r>
          </a:p>
        </p:txBody>
      </p:sp>
      <p:graphicFrame>
        <p:nvGraphicFramePr>
          <p:cNvPr id="94230" name="Object 26"/>
          <p:cNvGraphicFramePr>
            <a:graphicFrameLocks noChangeAspect="1"/>
          </p:cNvGraphicFramePr>
          <p:nvPr/>
        </p:nvGraphicFramePr>
        <p:xfrm>
          <a:off x="4119563" y="4143375"/>
          <a:ext cx="3916362" cy="461963"/>
        </p:xfrm>
        <a:graphic>
          <a:graphicData uri="http://schemas.openxmlformats.org/presentationml/2006/ole">
            <mc:AlternateContent xmlns:mc="http://schemas.openxmlformats.org/markup-compatibility/2006">
              <mc:Choice xmlns:v="urn:schemas-microsoft-com:vml" Requires="v">
                <p:oleObj spid="_x0000_s5208" name="Equation" r:id="rId21" imgW="2032000" imgH="241300" progId="Equation.DSMT4">
                  <p:embed/>
                </p:oleObj>
              </mc:Choice>
              <mc:Fallback>
                <p:oleObj name="Equation" r:id="rId21" imgW="2032000" imgH="241300" progId="Equation.DSMT4">
                  <p:embed/>
                  <p:pic>
                    <p:nvPicPr>
                      <p:cNvPr id="0" name=""/>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4119563" y="4143375"/>
                        <a:ext cx="3916362" cy="461963"/>
                      </a:xfrm>
                      <a:prstGeom prst="rect">
                        <a:avLst/>
                      </a:prstGeom>
                      <a:noFill/>
                      <a:ln w="22225">
                        <a:solidFill>
                          <a:srgbClr val="00808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4231" name="Object 27"/>
          <p:cNvGraphicFramePr>
            <a:graphicFrameLocks noChangeAspect="1"/>
          </p:cNvGraphicFramePr>
          <p:nvPr/>
        </p:nvGraphicFramePr>
        <p:xfrm>
          <a:off x="4465638" y="4768850"/>
          <a:ext cx="1871662" cy="782638"/>
        </p:xfrm>
        <a:graphic>
          <a:graphicData uri="http://schemas.openxmlformats.org/presentationml/2006/ole">
            <mc:AlternateContent xmlns:mc="http://schemas.openxmlformats.org/markup-compatibility/2006">
              <mc:Choice xmlns:v="urn:schemas-microsoft-com:vml" Requires="v">
                <p:oleObj spid="_x0000_s5209" r:id="rId23" imgW="928712" imgH="457995" progId="Equation.3">
                  <p:embed/>
                </p:oleObj>
              </mc:Choice>
              <mc:Fallback>
                <p:oleObj r:id="rId23" imgW="928712" imgH="457995" progId="Equation.3">
                  <p:embed/>
                  <p:pic>
                    <p:nvPicPr>
                      <p:cNvPr id="0" name=""/>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4465638" y="4768850"/>
                        <a:ext cx="1871662" cy="782638"/>
                      </a:xfrm>
                      <a:prstGeom prst="rect">
                        <a:avLst/>
                      </a:prstGeom>
                      <a:noFill/>
                      <a:ln w="22225">
                        <a:solidFill>
                          <a:srgbClr val="00808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4232" name="Rectangle 28"/>
          <p:cNvSpPr>
            <a:spLocks noChangeArrowheads="1"/>
          </p:cNvSpPr>
          <p:nvPr/>
        </p:nvSpPr>
        <p:spPr bwMode="auto">
          <a:xfrm>
            <a:off x="3376613" y="4821238"/>
            <a:ext cx="47942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a:spcBef>
                <a:spcPct val="0"/>
              </a:spcBef>
              <a:buFontTx/>
              <a:buNone/>
            </a:pPr>
            <a:r>
              <a:rPr lang="zh-CN" altLang="zh-CN" sz="1800">
                <a:solidFill>
                  <a:srgbClr val="FF0000"/>
                </a:solidFill>
              </a:rPr>
              <a:t>(</a:t>
            </a:r>
            <a:r>
              <a:rPr lang="en-US" altLang="zh-CN" sz="1800">
                <a:solidFill>
                  <a:srgbClr val="FF0000"/>
                </a:solidFill>
              </a:rPr>
              <a:t>5</a:t>
            </a:r>
            <a:r>
              <a:rPr lang="zh-CN" altLang="zh-CN" sz="1800">
                <a:solidFill>
                  <a:srgbClr val="FF0000"/>
                </a:solidFill>
              </a:rPr>
              <a:t>)</a:t>
            </a:r>
          </a:p>
        </p:txBody>
      </p:sp>
      <p:sp>
        <p:nvSpPr>
          <p:cNvPr id="94233" name="Rectangle 29"/>
          <p:cNvSpPr>
            <a:spLocks noChangeArrowheads="1"/>
          </p:cNvSpPr>
          <p:nvPr/>
        </p:nvSpPr>
        <p:spPr bwMode="auto">
          <a:xfrm>
            <a:off x="7796213" y="5886450"/>
            <a:ext cx="477837"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a:spcBef>
                <a:spcPct val="0"/>
              </a:spcBef>
              <a:buFontTx/>
              <a:buNone/>
            </a:pPr>
            <a:r>
              <a:rPr lang="zh-CN" altLang="zh-CN" sz="1800">
                <a:solidFill>
                  <a:srgbClr val="FF0000"/>
                </a:solidFill>
              </a:rPr>
              <a:t>(</a:t>
            </a:r>
            <a:r>
              <a:rPr lang="en-US" altLang="zh-CN" sz="1800">
                <a:solidFill>
                  <a:srgbClr val="FF0000"/>
                </a:solidFill>
              </a:rPr>
              <a:t>7</a:t>
            </a:r>
            <a:r>
              <a:rPr lang="zh-CN" altLang="zh-CN" sz="1800">
                <a:solidFill>
                  <a:srgbClr val="FF0000"/>
                </a:solidFill>
              </a:rPr>
              <a:t>)</a:t>
            </a:r>
          </a:p>
        </p:txBody>
      </p:sp>
      <p:sp>
        <p:nvSpPr>
          <p:cNvPr id="94234" name="Rectangle 30"/>
          <p:cNvSpPr>
            <a:spLocks noChangeArrowheads="1"/>
          </p:cNvSpPr>
          <p:nvPr/>
        </p:nvSpPr>
        <p:spPr bwMode="auto">
          <a:xfrm>
            <a:off x="179388" y="2490788"/>
            <a:ext cx="477837"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a:spcBef>
                <a:spcPct val="0"/>
              </a:spcBef>
              <a:buFontTx/>
              <a:buNone/>
            </a:pPr>
            <a:r>
              <a:rPr lang="zh-CN" altLang="zh-CN" sz="1800">
                <a:solidFill>
                  <a:srgbClr val="FF0000"/>
                </a:solidFill>
              </a:rPr>
              <a:t>(3)</a:t>
            </a:r>
          </a:p>
        </p:txBody>
      </p:sp>
      <p:sp>
        <p:nvSpPr>
          <p:cNvPr id="94235" name="Rectangle 11"/>
          <p:cNvSpPr>
            <a:spLocks noChangeArrowheads="1"/>
          </p:cNvSpPr>
          <p:nvPr/>
        </p:nvSpPr>
        <p:spPr bwMode="auto">
          <a:xfrm>
            <a:off x="669925" y="3086100"/>
            <a:ext cx="29464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a:spcBef>
                <a:spcPct val="0"/>
              </a:spcBef>
              <a:buFontTx/>
              <a:buNone/>
            </a:pPr>
            <a:r>
              <a:rPr lang="zh-CN" altLang="zh-CN" sz="2000"/>
              <a:t>C</a:t>
            </a:r>
            <a:r>
              <a:rPr lang="zh-CN" altLang="zh-CN" sz="2000" baseline="-25000"/>
              <a:t>空</a:t>
            </a:r>
            <a:r>
              <a:rPr lang="zh-CN" altLang="zh-CN" sz="2000"/>
              <a:t>近似等于真空电容C</a:t>
            </a:r>
            <a:r>
              <a:rPr lang="zh-CN" altLang="zh-CN" sz="2000" baseline="-25000"/>
              <a:t>0</a:t>
            </a:r>
            <a:r>
              <a:rPr lang="zh-CN" altLang="zh-CN" sz="2000"/>
              <a:t> </a:t>
            </a:r>
          </a:p>
        </p:txBody>
      </p:sp>
      <p:sp>
        <p:nvSpPr>
          <p:cNvPr id="94236" name="矩形 1"/>
          <p:cNvSpPr>
            <a:spLocks noChangeArrowheads="1"/>
          </p:cNvSpPr>
          <p:nvPr/>
        </p:nvSpPr>
        <p:spPr bwMode="auto">
          <a:xfrm>
            <a:off x="8132763" y="4175125"/>
            <a:ext cx="4667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0"/>
              </a:spcBef>
              <a:buFontTx/>
              <a:buNone/>
            </a:pPr>
            <a:r>
              <a:rPr lang="zh-CN" altLang="zh-CN" sz="1800">
                <a:solidFill>
                  <a:srgbClr val="FF0000"/>
                </a:solidFill>
              </a:rPr>
              <a:t>(</a:t>
            </a:r>
            <a:r>
              <a:rPr lang="en-US" altLang="zh-CN" sz="1800">
                <a:solidFill>
                  <a:srgbClr val="FF0000"/>
                </a:solidFill>
              </a:rPr>
              <a:t>4</a:t>
            </a:r>
            <a:r>
              <a:rPr lang="zh-CN" altLang="zh-CN" sz="1800">
                <a:solidFill>
                  <a:srgbClr val="FF0000"/>
                </a:solidFill>
              </a:rPr>
              <a:t>)</a:t>
            </a:r>
          </a:p>
        </p:txBody>
      </p:sp>
    </p:spTree>
    <p:extLst>
      <p:ext uri="{BB962C8B-B14F-4D97-AF65-F5344CB8AC3E}">
        <p14:creationId xmlns:p14="http://schemas.microsoft.com/office/powerpoint/2010/main" val="35602957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p:cNvSpPr>
            <a:spLocks noChangeArrowheads="1"/>
          </p:cNvSpPr>
          <p:nvPr/>
        </p:nvSpPr>
        <p:spPr bwMode="auto">
          <a:xfrm>
            <a:off x="539750" y="260350"/>
            <a:ext cx="38893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a:spcBef>
                <a:spcPct val="0"/>
              </a:spcBef>
              <a:buFontTx/>
              <a:buNone/>
            </a:pPr>
            <a:r>
              <a:rPr lang="zh-CN" altLang="en-US" sz="2400">
                <a:latin typeface="黑体" pitchFamily="49" charset="-122"/>
                <a:ea typeface="黑体" pitchFamily="49" charset="-122"/>
              </a:rPr>
              <a:t>三、实验步骤 </a:t>
            </a:r>
            <a:r>
              <a:rPr lang="zh-CN" altLang="en-US" sz="2400">
                <a:latin typeface="Times New Roman" pitchFamily="18" charset="0"/>
                <a:ea typeface="黑体" pitchFamily="49" charset="-122"/>
              </a:rPr>
              <a:t>p139</a:t>
            </a:r>
          </a:p>
        </p:txBody>
      </p:sp>
      <p:sp>
        <p:nvSpPr>
          <p:cNvPr id="95235" name="Rectangle 3"/>
          <p:cNvSpPr>
            <a:spLocks noChangeArrowheads="1"/>
          </p:cNvSpPr>
          <p:nvPr/>
        </p:nvSpPr>
        <p:spPr bwMode="auto">
          <a:xfrm>
            <a:off x="611188" y="892175"/>
            <a:ext cx="24923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a:spcBef>
                <a:spcPct val="0"/>
              </a:spcBef>
              <a:buFontTx/>
              <a:buNone/>
            </a:pPr>
            <a:r>
              <a:rPr lang="zh-CN" altLang="zh-CN" sz="2000">
                <a:latin typeface="黑体" pitchFamily="49" charset="-122"/>
                <a:ea typeface="黑体" pitchFamily="49" charset="-122"/>
              </a:rPr>
              <a:t>1. 氯仿溶液的配制 </a:t>
            </a:r>
          </a:p>
        </p:txBody>
      </p:sp>
      <p:sp>
        <p:nvSpPr>
          <p:cNvPr id="95236" name="Rectangle 4"/>
          <p:cNvSpPr>
            <a:spLocks noChangeArrowheads="1"/>
          </p:cNvSpPr>
          <p:nvPr/>
        </p:nvSpPr>
        <p:spPr bwMode="auto">
          <a:xfrm>
            <a:off x="611188" y="1276350"/>
            <a:ext cx="33909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a:spcBef>
                <a:spcPct val="0"/>
              </a:spcBef>
              <a:buFontTx/>
              <a:buNone/>
            </a:pPr>
            <a:r>
              <a:rPr lang="zh-CN" altLang="en-US" sz="2000">
                <a:latin typeface="黑体" pitchFamily="49" charset="-122"/>
                <a:ea typeface="黑体" pitchFamily="49" charset="-122"/>
              </a:rPr>
              <a:t>2．测电容求溶液的介电常数</a:t>
            </a:r>
          </a:p>
        </p:txBody>
      </p:sp>
      <p:sp>
        <p:nvSpPr>
          <p:cNvPr id="95237" name="Rectangle 5"/>
          <p:cNvSpPr>
            <a:spLocks noChangeArrowheads="1"/>
          </p:cNvSpPr>
          <p:nvPr/>
        </p:nvSpPr>
        <p:spPr bwMode="auto">
          <a:xfrm>
            <a:off x="611188" y="1757363"/>
            <a:ext cx="1851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a:spcBef>
                <a:spcPct val="0"/>
              </a:spcBef>
              <a:buFontTx/>
              <a:buNone/>
            </a:pPr>
            <a:r>
              <a:rPr lang="zh-CN" altLang="zh-CN" sz="2000">
                <a:latin typeface="黑体" pitchFamily="49" charset="-122"/>
                <a:ea typeface="黑体" pitchFamily="49" charset="-122"/>
              </a:rPr>
              <a:t>3．测定折光率</a:t>
            </a:r>
          </a:p>
        </p:txBody>
      </p:sp>
      <p:sp>
        <p:nvSpPr>
          <p:cNvPr id="95238" name="Rectangle 6"/>
          <p:cNvSpPr>
            <a:spLocks noChangeArrowheads="1"/>
          </p:cNvSpPr>
          <p:nvPr/>
        </p:nvSpPr>
        <p:spPr bwMode="auto">
          <a:xfrm>
            <a:off x="611188" y="2260600"/>
            <a:ext cx="21082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a:spcBef>
                <a:spcPct val="0"/>
              </a:spcBef>
              <a:buFontTx/>
              <a:buNone/>
            </a:pPr>
            <a:r>
              <a:rPr lang="zh-CN" altLang="zh-CN" sz="2000">
                <a:latin typeface="黑体" pitchFamily="49" charset="-122"/>
                <a:ea typeface="黑体" pitchFamily="49" charset="-122"/>
              </a:rPr>
              <a:t>4．测定溶液密度</a:t>
            </a:r>
          </a:p>
        </p:txBody>
      </p:sp>
      <p:sp>
        <p:nvSpPr>
          <p:cNvPr id="95239" name="Rectangle 7"/>
          <p:cNvSpPr>
            <a:spLocks noChangeArrowheads="1"/>
          </p:cNvSpPr>
          <p:nvPr/>
        </p:nvSpPr>
        <p:spPr bwMode="auto">
          <a:xfrm>
            <a:off x="539750" y="2781300"/>
            <a:ext cx="30543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a:spcBef>
                <a:spcPct val="0"/>
              </a:spcBef>
              <a:buFontTx/>
              <a:buNone/>
            </a:pPr>
            <a:r>
              <a:rPr lang="zh-CN" altLang="en-US" sz="2400" b="1">
                <a:ea typeface="黑体" pitchFamily="49" charset="-122"/>
              </a:rPr>
              <a:t>四、数据记录与 处理</a:t>
            </a:r>
          </a:p>
        </p:txBody>
      </p:sp>
      <p:sp>
        <p:nvSpPr>
          <p:cNvPr id="95240" name="Rectangle 8"/>
          <p:cNvSpPr>
            <a:spLocks noChangeArrowheads="1"/>
          </p:cNvSpPr>
          <p:nvPr/>
        </p:nvSpPr>
        <p:spPr bwMode="auto">
          <a:xfrm>
            <a:off x="395288" y="3355975"/>
            <a:ext cx="858361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a:spcBef>
                <a:spcPct val="0"/>
              </a:spcBef>
              <a:buFontTx/>
              <a:buNone/>
            </a:pPr>
            <a:r>
              <a:rPr lang="zh-CN" altLang="zh-CN" sz="2000">
                <a:solidFill>
                  <a:srgbClr val="000000"/>
                </a:solidFill>
                <a:latin typeface="Times New Roman" pitchFamily="18" charset="0"/>
                <a:ea typeface="黑体" pitchFamily="49" charset="-122"/>
                <a:cs typeface="Times New Roman" pitchFamily="18" charset="0"/>
              </a:rPr>
              <a:t>1 根据称得的氯仿和环己烷的重量，精确计算出各溶液中氯仿的摩尔分数x</a:t>
            </a:r>
            <a:r>
              <a:rPr lang="zh-CN" altLang="zh-CN" sz="2000" baseline="-25000">
                <a:solidFill>
                  <a:srgbClr val="000000"/>
                </a:solidFill>
                <a:latin typeface="Times New Roman" pitchFamily="18" charset="0"/>
                <a:ea typeface="黑体" pitchFamily="49" charset="-122"/>
                <a:cs typeface="Times New Roman" pitchFamily="18" charset="0"/>
              </a:rPr>
              <a:t>2</a:t>
            </a:r>
            <a:endParaRPr lang="zh-CN" altLang="zh-CN" sz="2000" baseline="-25000">
              <a:latin typeface="Times New Roman" pitchFamily="18" charset="0"/>
              <a:ea typeface="黑体" pitchFamily="49" charset="-122"/>
              <a:cs typeface="Times New Roman" pitchFamily="18" charset="0"/>
            </a:endParaRPr>
          </a:p>
        </p:txBody>
      </p:sp>
      <p:sp>
        <p:nvSpPr>
          <p:cNvPr id="95241" name="Rectangle 9"/>
          <p:cNvSpPr>
            <a:spLocks noChangeArrowheads="1"/>
          </p:cNvSpPr>
          <p:nvPr/>
        </p:nvSpPr>
        <p:spPr bwMode="auto">
          <a:xfrm>
            <a:off x="2511425" y="3554413"/>
            <a:ext cx="215900" cy="214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a:spcBef>
                <a:spcPct val="0"/>
              </a:spcBef>
              <a:buFontTx/>
              <a:buNone/>
            </a:pPr>
            <a:r>
              <a:rPr lang="zh-CN" altLang="zh-CN" sz="800"/>
              <a:t> </a:t>
            </a:r>
            <a:endParaRPr lang="zh-CN" altLang="zh-CN" sz="1800"/>
          </a:p>
        </p:txBody>
      </p:sp>
      <p:sp>
        <p:nvSpPr>
          <p:cNvPr id="95242" name="Rectangle 10"/>
          <p:cNvSpPr>
            <a:spLocks noChangeArrowheads="1"/>
          </p:cNvSpPr>
          <p:nvPr/>
        </p:nvSpPr>
        <p:spPr bwMode="auto">
          <a:xfrm>
            <a:off x="395288" y="3787775"/>
            <a:ext cx="79724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a:spcBef>
                <a:spcPct val="0"/>
              </a:spcBef>
              <a:buFontTx/>
              <a:buNone/>
            </a:pPr>
            <a:r>
              <a:rPr lang="zh-CN" altLang="zh-CN" sz="2000">
                <a:solidFill>
                  <a:srgbClr val="000000"/>
                </a:solidFill>
                <a:latin typeface="Times New Roman" pitchFamily="18" charset="0"/>
                <a:ea typeface="黑体" pitchFamily="49" charset="-122"/>
                <a:cs typeface="Times New Roman" pitchFamily="18" charset="0"/>
              </a:rPr>
              <a:t>2 由式(</a:t>
            </a:r>
            <a:r>
              <a:rPr lang="en-US" altLang="zh-CN" sz="2000">
                <a:solidFill>
                  <a:srgbClr val="000000"/>
                </a:solidFill>
                <a:latin typeface="Times New Roman" pitchFamily="18" charset="0"/>
                <a:ea typeface="黑体" pitchFamily="49" charset="-122"/>
                <a:cs typeface="Times New Roman" pitchFamily="18" charset="0"/>
              </a:rPr>
              <a:t>4</a:t>
            </a:r>
            <a:r>
              <a:rPr lang="zh-CN" altLang="zh-CN" sz="2000">
                <a:solidFill>
                  <a:srgbClr val="000000"/>
                </a:solidFill>
                <a:latin typeface="Times New Roman" pitchFamily="18" charset="0"/>
                <a:ea typeface="黑体" pitchFamily="49" charset="-122"/>
                <a:cs typeface="Times New Roman" pitchFamily="18" charset="0"/>
              </a:rPr>
              <a:t>)、(5)、(6)、(</a:t>
            </a:r>
            <a:r>
              <a:rPr lang="en-US" altLang="zh-CN" sz="2000">
                <a:solidFill>
                  <a:srgbClr val="000000"/>
                </a:solidFill>
                <a:latin typeface="Times New Roman" pitchFamily="18" charset="0"/>
                <a:ea typeface="黑体" pitchFamily="49" charset="-122"/>
                <a:cs typeface="Times New Roman" pitchFamily="18" charset="0"/>
              </a:rPr>
              <a:t>3</a:t>
            </a:r>
            <a:r>
              <a:rPr lang="zh-CN" altLang="zh-CN" sz="2000">
                <a:solidFill>
                  <a:srgbClr val="000000"/>
                </a:solidFill>
                <a:latin typeface="Times New Roman" pitchFamily="18" charset="0"/>
                <a:ea typeface="黑体" pitchFamily="49" charset="-122"/>
                <a:cs typeface="Times New Roman" pitchFamily="18" charset="0"/>
              </a:rPr>
              <a:t>)、(</a:t>
            </a:r>
            <a:r>
              <a:rPr lang="en-US" altLang="zh-CN" sz="2000">
                <a:solidFill>
                  <a:srgbClr val="000000"/>
                </a:solidFill>
                <a:latin typeface="Times New Roman" pitchFamily="18" charset="0"/>
                <a:ea typeface="黑体" pitchFamily="49" charset="-122"/>
                <a:cs typeface="Times New Roman" pitchFamily="18" charset="0"/>
              </a:rPr>
              <a:t>7</a:t>
            </a:r>
            <a:r>
              <a:rPr lang="zh-CN" altLang="zh-CN" sz="2000">
                <a:solidFill>
                  <a:srgbClr val="000000"/>
                </a:solidFill>
                <a:latin typeface="Times New Roman" pitchFamily="18" charset="0"/>
                <a:ea typeface="黑体" pitchFamily="49" charset="-122"/>
                <a:cs typeface="Times New Roman" pitchFamily="18" charset="0"/>
              </a:rPr>
              <a:t>)分别计算室温下的</a:t>
            </a:r>
            <a:r>
              <a:rPr lang="zh-CN" altLang="zh-CN" sz="2000">
                <a:solidFill>
                  <a:srgbClr val="000000"/>
                </a:solidFill>
                <a:latin typeface="Times New Roman" pitchFamily="18" charset="0"/>
                <a:ea typeface="黑体" pitchFamily="49" charset="-122"/>
                <a:cs typeface="Times New Roman" pitchFamily="18" charset="0"/>
                <a:sym typeface="Symbol" pitchFamily="18" charset="2"/>
              </a:rPr>
              <a:t></a:t>
            </a:r>
            <a:r>
              <a:rPr lang="zh-CN" altLang="zh-CN" sz="2000" baseline="-25000">
                <a:solidFill>
                  <a:srgbClr val="000000"/>
                </a:solidFill>
                <a:latin typeface="Times New Roman" pitchFamily="18" charset="0"/>
                <a:ea typeface="黑体" pitchFamily="49" charset="-122"/>
                <a:cs typeface="Times New Roman" pitchFamily="18" charset="0"/>
                <a:sym typeface="Symbol" pitchFamily="18" charset="2"/>
              </a:rPr>
              <a:t>标</a:t>
            </a:r>
            <a:r>
              <a:rPr lang="zh-CN" altLang="zh-CN" sz="2000">
                <a:solidFill>
                  <a:srgbClr val="000000"/>
                </a:solidFill>
                <a:latin typeface="Times New Roman" pitchFamily="18" charset="0"/>
                <a:ea typeface="黑体" pitchFamily="49" charset="-122"/>
                <a:cs typeface="Times New Roman" pitchFamily="18" charset="0"/>
                <a:sym typeface="Symbol" pitchFamily="18" charset="2"/>
              </a:rPr>
              <a:t>，C</a:t>
            </a:r>
            <a:r>
              <a:rPr lang="zh-CN" altLang="zh-CN" sz="2000" baseline="-25000">
                <a:solidFill>
                  <a:srgbClr val="000000"/>
                </a:solidFill>
                <a:latin typeface="Times New Roman" pitchFamily="18" charset="0"/>
                <a:ea typeface="黑体" pitchFamily="49" charset="-122"/>
                <a:cs typeface="Times New Roman" pitchFamily="18" charset="0"/>
                <a:sym typeface="Symbol" pitchFamily="18" charset="2"/>
              </a:rPr>
              <a:t>0</a:t>
            </a:r>
            <a:r>
              <a:rPr lang="zh-CN" altLang="zh-CN" sz="2000">
                <a:solidFill>
                  <a:srgbClr val="000000"/>
                </a:solidFill>
                <a:latin typeface="Times New Roman" pitchFamily="18" charset="0"/>
                <a:ea typeface="黑体" pitchFamily="49" charset="-122"/>
                <a:cs typeface="Times New Roman" pitchFamily="18" charset="0"/>
                <a:sym typeface="Symbol" pitchFamily="18" charset="2"/>
              </a:rPr>
              <a:t>，C</a:t>
            </a:r>
            <a:r>
              <a:rPr lang="zh-CN" altLang="zh-CN" sz="2000" baseline="-25000">
                <a:solidFill>
                  <a:srgbClr val="000000"/>
                </a:solidFill>
                <a:latin typeface="Times New Roman" pitchFamily="18" charset="0"/>
                <a:ea typeface="黑体" pitchFamily="49" charset="-122"/>
                <a:cs typeface="Times New Roman" pitchFamily="18" charset="0"/>
                <a:sym typeface="Symbol" pitchFamily="18" charset="2"/>
              </a:rPr>
              <a:t>d</a:t>
            </a:r>
            <a:r>
              <a:rPr lang="zh-CN" altLang="zh-CN" sz="2000">
                <a:solidFill>
                  <a:srgbClr val="000000"/>
                </a:solidFill>
                <a:latin typeface="Times New Roman" pitchFamily="18" charset="0"/>
                <a:ea typeface="黑体" pitchFamily="49" charset="-122"/>
                <a:cs typeface="Times New Roman" pitchFamily="18" charset="0"/>
                <a:sym typeface="Symbol" pitchFamily="18" charset="2"/>
              </a:rPr>
              <a:t>，C</a:t>
            </a:r>
            <a:r>
              <a:rPr lang="zh-CN" altLang="zh-CN" sz="2000" baseline="-25000">
                <a:solidFill>
                  <a:srgbClr val="000000"/>
                </a:solidFill>
                <a:latin typeface="Times New Roman" pitchFamily="18" charset="0"/>
                <a:ea typeface="黑体" pitchFamily="49" charset="-122"/>
                <a:cs typeface="Times New Roman" pitchFamily="18" charset="0"/>
                <a:sym typeface="Symbol" pitchFamily="18" charset="2"/>
              </a:rPr>
              <a:t>溶</a:t>
            </a:r>
            <a:r>
              <a:rPr lang="zh-CN" altLang="zh-CN" sz="2000">
                <a:solidFill>
                  <a:srgbClr val="000000"/>
                </a:solidFill>
                <a:latin typeface="Times New Roman" pitchFamily="18" charset="0"/>
                <a:ea typeface="黑体" pitchFamily="49" charset="-122"/>
                <a:cs typeface="Times New Roman" pitchFamily="18" charset="0"/>
                <a:sym typeface="Symbol" pitchFamily="18" charset="2"/>
              </a:rPr>
              <a:t> ，</a:t>
            </a:r>
            <a:r>
              <a:rPr lang="zh-CN" altLang="zh-CN" sz="2000" baseline="-25000">
                <a:solidFill>
                  <a:srgbClr val="000000"/>
                </a:solidFill>
                <a:latin typeface="Times New Roman" pitchFamily="18" charset="0"/>
                <a:ea typeface="黑体" pitchFamily="49" charset="-122"/>
                <a:cs typeface="Times New Roman" pitchFamily="18" charset="0"/>
                <a:sym typeface="Symbol" pitchFamily="18" charset="2"/>
              </a:rPr>
              <a:t>溶</a:t>
            </a:r>
          </a:p>
        </p:txBody>
      </p:sp>
      <p:sp>
        <p:nvSpPr>
          <p:cNvPr id="95243" name="Rectangle 11"/>
          <p:cNvSpPr>
            <a:spLocks noChangeArrowheads="1"/>
          </p:cNvSpPr>
          <p:nvPr/>
        </p:nvSpPr>
        <p:spPr bwMode="auto">
          <a:xfrm>
            <a:off x="3027363" y="4505325"/>
            <a:ext cx="215900" cy="214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a:spcBef>
                <a:spcPct val="0"/>
              </a:spcBef>
              <a:buFontTx/>
              <a:buNone/>
            </a:pPr>
            <a:r>
              <a:rPr lang="zh-CN" altLang="zh-CN" sz="800"/>
              <a:t> </a:t>
            </a:r>
            <a:endParaRPr lang="zh-CN" altLang="zh-CN" sz="1800"/>
          </a:p>
        </p:txBody>
      </p:sp>
      <p:sp>
        <p:nvSpPr>
          <p:cNvPr id="95244" name="Rectangle 12"/>
          <p:cNvSpPr>
            <a:spLocks noChangeArrowheads="1"/>
          </p:cNvSpPr>
          <p:nvPr/>
        </p:nvSpPr>
        <p:spPr bwMode="auto">
          <a:xfrm>
            <a:off x="395288" y="4419600"/>
            <a:ext cx="2990850" cy="401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a:spcBef>
                <a:spcPct val="0"/>
              </a:spcBef>
              <a:buFontTx/>
              <a:buNone/>
            </a:pPr>
            <a:r>
              <a:rPr lang="zh-CN" altLang="zh-CN" sz="2000">
                <a:latin typeface="Times New Roman" pitchFamily="18" charset="0"/>
                <a:ea typeface="黑体" pitchFamily="49" charset="-122"/>
                <a:cs typeface="Times New Roman" pitchFamily="18" charset="0"/>
              </a:rPr>
              <a:t>3 计算25°C下水的密度 </a:t>
            </a:r>
          </a:p>
        </p:txBody>
      </p:sp>
      <p:graphicFrame>
        <p:nvGraphicFramePr>
          <p:cNvPr id="95245" name="Object 13"/>
          <p:cNvGraphicFramePr>
            <a:graphicFrameLocks noChangeAspect="1"/>
          </p:cNvGraphicFramePr>
          <p:nvPr/>
        </p:nvGraphicFramePr>
        <p:xfrm>
          <a:off x="3492500" y="4343400"/>
          <a:ext cx="4105275" cy="512763"/>
        </p:xfrm>
        <a:graphic>
          <a:graphicData uri="http://schemas.openxmlformats.org/presentationml/2006/ole">
            <mc:AlternateContent xmlns:mc="http://schemas.openxmlformats.org/markup-compatibility/2006">
              <mc:Choice xmlns:v="urn:schemas-microsoft-com:vml" Requires="v">
                <p:oleObj spid="_x0000_s6153" r:id="rId3" imgW="2106372" imgH="266469" progId="Equation.3">
                  <p:embed/>
                </p:oleObj>
              </mc:Choice>
              <mc:Fallback>
                <p:oleObj r:id="rId3" imgW="2106372" imgH="266469"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92500" y="4343400"/>
                        <a:ext cx="4105275" cy="512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5246" name="Rectangle 14"/>
          <p:cNvSpPr>
            <a:spLocks noChangeArrowheads="1"/>
          </p:cNvSpPr>
          <p:nvPr/>
        </p:nvSpPr>
        <p:spPr bwMode="auto">
          <a:xfrm>
            <a:off x="468313" y="4940300"/>
            <a:ext cx="49688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a:spcBef>
                <a:spcPct val="0"/>
              </a:spcBef>
              <a:buFontTx/>
              <a:buNone/>
            </a:pPr>
            <a:r>
              <a:rPr lang="zh-CN" altLang="en-US" sz="2000">
                <a:latin typeface="Times New Roman" pitchFamily="18" charset="0"/>
                <a:ea typeface="黑体" pitchFamily="49" charset="-122"/>
                <a:cs typeface="Times New Roman" pitchFamily="18" charset="0"/>
              </a:rPr>
              <a:t>4 作</a:t>
            </a:r>
            <a:r>
              <a:rPr lang="zh-CN" altLang="en-US" sz="2000">
                <a:latin typeface="Times New Roman" pitchFamily="18" charset="0"/>
                <a:ea typeface="黑体" pitchFamily="49" charset="-122"/>
                <a:cs typeface="Times New Roman" pitchFamily="18" charset="0"/>
                <a:sym typeface="Symbol" pitchFamily="18" charset="2"/>
              </a:rPr>
              <a:t>-x</a:t>
            </a:r>
            <a:r>
              <a:rPr lang="zh-CN" altLang="en-US" sz="2000" baseline="-25000">
                <a:latin typeface="Times New Roman" pitchFamily="18" charset="0"/>
                <a:ea typeface="黑体" pitchFamily="49" charset="-122"/>
                <a:cs typeface="Times New Roman" pitchFamily="18" charset="0"/>
                <a:sym typeface="Symbol" pitchFamily="18" charset="2"/>
              </a:rPr>
              <a:t>2</a:t>
            </a:r>
            <a:r>
              <a:rPr lang="zh-CN" altLang="en-US" sz="2000">
                <a:latin typeface="Times New Roman" pitchFamily="18" charset="0"/>
                <a:ea typeface="黑体" pitchFamily="49" charset="-122"/>
                <a:cs typeface="Times New Roman" pitchFamily="18" charset="0"/>
                <a:sym typeface="Symbol" pitchFamily="18" charset="2"/>
              </a:rPr>
              <a:t>，-x</a:t>
            </a:r>
            <a:r>
              <a:rPr lang="zh-CN" altLang="en-US" sz="2000" baseline="-25000">
                <a:latin typeface="Times New Roman" pitchFamily="18" charset="0"/>
                <a:ea typeface="黑体" pitchFamily="49" charset="-122"/>
                <a:cs typeface="Times New Roman" pitchFamily="18" charset="0"/>
                <a:sym typeface="Symbol" pitchFamily="18" charset="2"/>
              </a:rPr>
              <a:t>2</a:t>
            </a:r>
            <a:r>
              <a:rPr lang="zh-CN" altLang="en-US" sz="2000">
                <a:latin typeface="Times New Roman" pitchFamily="18" charset="0"/>
                <a:ea typeface="黑体" pitchFamily="49" charset="-122"/>
                <a:cs typeface="Times New Roman" pitchFamily="18" charset="0"/>
                <a:sym typeface="Symbol" pitchFamily="18" charset="2"/>
              </a:rPr>
              <a:t>, n-x</a:t>
            </a:r>
            <a:r>
              <a:rPr lang="zh-CN" altLang="en-US" sz="2000" baseline="-25000">
                <a:latin typeface="Times New Roman" pitchFamily="18" charset="0"/>
                <a:ea typeface="黑体" pitchFamily="49" charset="-122"/>
                <a:cs typeface="Times New Roman" pitchFamily="18" charset="0"/>
                <a:sym typeface="Symbol" pitchFamily="18" charset="2"/>
              </a:rPr>
              <a:t>2</a:t>
            </a:r>
            <a:r>
              <a:rPr lang="zh-CN" altLang="en-US" sz="2000">
                <a:latin typeface="Times New Roman" pitchFamily="18" charset="0"/>
                <a:ea typeface="黑体" pitchFamily="49" charset="-122"/>
                <a:cs typeface="Times New Roman" pitchFamily="18" charset="0"/>
                <a:sym typeface="Symbol" pitchFamily="18" charset="2"/>
              </a:rPr>
              <a:t>图，求、</a:t>
            </a:r>
            <a:r>
              <a:rPr lang="el-GR" altLang="en-US" sz="2000">
                <a:latin typeface="Times New Roman" pitchFamily="18" charset="0"/>
                <a:ea typeface="黑体" pitchFamily="49" charset="-122"/>
                <a:cs typeface="Times New Roman" pitchFamily="18" charset="0"/>
                <a:sym typeface="Symbol" pitchFamily="18" charset="2"/>
              </a:rPr>
              <a:t>β</a:t>
            </a:r>
            <a:r>
              <a:rPr lang="zh-CN" altLang="en-US" sz="2000">
                <a:latin typeface="Times New Roman" pitchFamily="18" charset="0"/>
                <a:ea typeface="黑体" pitchFamily="49" charset="-122"/>
                <a:cs typeface="Times New Roman" pitchFamily="18" charset="0"/>
                <a:sym typeface="Symbol" pitchFamily="18" charset="2"/>
              </a:rPr>
              <a:t>、</a:t>
            </a:r>
            <a:r>
              <a:rPr lang="zh-CN" altLang="en-US" sz="2000">
                <a:latin typeface="Times New Roman" pitchFamily="18" charset="0"/>
                <a:ea typeface="黑体" pitchFamily="49" charset="-122"/>
                <a:cs typeface="Times New Roman" pitchFamily="18" charset="0"/>
              </a:rPr>
              <a:t> </a:t>
            </a:r>
          </a:p>
        </p:txBody>
      </p:sp>
      <p:sp>
        <p:nvSpPr>
          <p:cNvPr id="95247" name="Rectangle 15"/>
          <p:cNvSpPr>
            <a:spLocks noChangeArrowheads="1"/>
          </p:cNvSpPr>
          <p:nvPr/>
        </p:nvSpPr>
        <p:spPr bwMode="auto">
          <a:xfrm>
            <a:off x="468313" y="5427663"/>
            <a:ext cx="3054350" cy="401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a:spcBef>
                <a:spcPct val="0"/>
              </a:spcBef>
              <a:buFontTx/>
              <a:buNone/>
            </a:pPr>
            <a:r>
              <a:rPr lang="zh-CN" altLang="zh-CN" sz="2000">
                <a:latin typeface="Times New Roman" pitchFamily="18" charset="0"/>
                <a:ea typeface="黑体" pitchFamily="49" charset="-122"/>
                <a:cs typeface="Times New Roman" pitchFamily="18" charset="0"/>
              </a:rPr>
              <a:t>5 将有关数据求P</a:t>
            </a:r>
            <a:r>
              <a:rPr lang="zh-CN" altLang="zh-CN" sz="2000" baseline="-25000">
                <a:latin typeface="Times New Roman" pitchFamily="18" charset="0"/>
                <a:ea typeface="黑体" pitchFamily="49" charset="-122"/>
                <a:cs typeface="Times New Roman" pitchFamily="18" charset="0"/>
              </a:rPr>
              <a:t>2</a:t>
            </a:r>
            <a:r>
              <a:rPr lang="zh-CN" altLang="zh-CN" sz="2000" baseline="30000">
                <a:latin typeface="Times New Roman" pitchFamily="18" charset="0"/>
                <a:ea typeface="黑体" pitchFamily="49" charset="-122"/>
                <a:cs typeface="Times New Roman" pitchFamily="18" charset="0"/>
                <a:sym typeface="Symbol" pitchFamily="18" charset="2"/>
              </a:rPr>
              <a:t></a:t>
            </a:r>
            <a:r>
              <a:rPr lang="zh-CN" altLang="zh-CN" sz="2000">
                <a:latin typeface="Times New Roman" pitchFamily="18" charset="0"/>
                <a:ea typeface="黑体" pitchFamily="49" charset="-122"/>
                <a:cs typeface="Times New Roman" pitchFamily="18" charset="0"/>
              </a:rPr>
              <a:t>，R</a:t>
            </a:r>
            <a:r>
              <a:rPr lang="zh-CN" altLang="zh-CN" sz="2000" baseline="-25000">
                <a:latin typeface="Times New Roman" pitchFamily="18" charset="0"/>
                <a:ea typeface="黑体" pitchFamily="49" charset="-122"/>
                <a:cs typeface="Times New Roman" pitchFamily="18" charset="0"/>
              </a:rPr>
              <a:t>2</a:t>
            </a:r>
            <a:r>
              <a:rPr lang="zh-CN" altLang="zh-CN" sz="2000" baseline="30000">
                <a:latin typeface="Times New Roman" pitchFamily="18" charset="0"/>
                <a:ea typeface="黑体" pitchFamily="49" charset="-122"/>
                <a:cs typeface="Times New Roman" pitchFamily="18" charset="0"/>
                <a:sym typeface="Symbol" pitchFamily="18" charset="2"/>
              </a:rPr>
              <a:t></a:t>
            </a:r>
            <a:r>
              <a:rPr lang="zh-CN" altLang="zh-CN" sz="2000">
                <a:latin typeface="Times New Roman" pitchFamily="18" charset="0"/>
                <a:ea typeface="黑体" pitchFamily="49" charset="-122"/>
                <a:cs typeface="Times New Roman" pitchFamily="18" charset="0"/>
              </a:rPr>
              <a:t> </a:t>
            </a:r>
          </a:p>
        </p:txBody>
      </p:sp>
      <p:sp>
        <p:nvSpPr>
          <p:cNvPr id="95248" name="Rectangle 16"/>
          <p:cNvSpPr>
            <a:spLocks noChangeArrowheads="1"/>
          </p:cNvSpPr>
          <p:nvPr/>
        </p:nvSpPr>
        <p:spPr bwMode="auto">
          <a:xfrm>
            <a:off x="468313" y="5859463"/>
            <a:ext cx="1550987" cy="401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a:spcBef>
                <a:spcPct val="0"/>
              </a:spcBef>
              <a:buFontTx/>
              <a:buNone/>
            </a:pPr>
            <a:r>
              <a:rPr lang="zh-CN" altLang="zh-CN" sz="2000">
                <a:latin typeface="Times New Roman" pitchFamily="18" charset="0"/>
                <a:ea typeface="黑体" pitchFamily="49" charset="-122"/>
                <a:cs typeface="Times New Roman" pitchFamily="18" charset="0"/>
              </a:rPr>
              <a:t>6 求偶极矩</a:t>
            </a:r>
            <a:r>
              <a:rPr lang="zh-CN" altLang="zh-CN" sz="2000">
                <a:latin typeface="Times New Roman" pitchFamily="18" charset="0"/>
                <a:ea typeface="黑体" pitchFamily="49" charset="-122"/>
                <a:cs typeface="Times New Roman" pitchFamily="18" charset="0"/>
                <a:sym typeface="Symbol" pitchFamily="18" charset="2"/>
              </a:rPr>
              <a:t></a:t>
            </a:r>
            <a:endParaRPr lang="zh-CN" altLang="zh-CN" sz="2000">
              <a:latin typeface="Times New Roman" pitchFamily="18" charset="0"/>
              <a:ea typeface="黑体" pitchFamily="49" charset="-122"/>
              <a:cs typeface="Times New Roman" pitchFamily="18" charset="0"/>
            </a:endParaRPr>
          </a:p>
        </p:txBody>
      </p:sp>
    </p:spTree>
    <p:extLst>
      <p:ext uri="{BB962C8B-B14F-4D97-AF65-F5344CB8AC3E}">
        <p14:creationId xmlns:p14="http://schemas.microsoft.com/office/powerpoint/2010/main" val="11357900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625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6013" y="981075"/>
            <a:ext cx="6829425" cy="4538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6259" name="Rectangle 3"/>
          <p:cNvSpPr>
            <a:spLocks noChangeArrowheads="1"/>
          </p:cNvSpPr>
          <p:nvPr/>
        </p:nvSpPr>
        <p:spPr bwMode="auto">
          <a:xfrm>
            <a:off x="2700338" y="5734050"/>
            <a:ext cx="2255837"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a:spcBef>
                <a:spcPct val="0"/>
              </a:spcBef>
              <a:buFontTx/>
              <a:buNone/>
            </a:pPr>
            <a:r>
              <a:rPr lang="zh-CN" altLang="zh-CN" sz="1800" b="1"/>
              <a:t>循环水浴控温折光仪</a:t>
            </a:r>
          </a:p>
        </p:txBody>
      </p:sp>
    </p:spTree>
    <p:extLst>
      <p:ext uri="{BB962C8B-B14F-4D97-AF65-F5344CB8AC3E}">
        <p14:creationId xmlns:p14="http://schemas.microsoft.com/office/powerpoint/2010/main" val="21814003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p:cNvSpPr>
            <a:spLocks noChangeArrowheads="1"/>
          </p:cNvSpPr>
          <p:nvPr/>
        </p:nvSpPr>
        <p:spPr bwMode="auto">
          <a:xfrm>
            <a:off x="468313" y="31750"/>
            <a:ext cx="8280400" cy="3968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indent="266700"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a:lnSpc>
                <a:spcPct val="150000"/>
              </a:lnSpc>
              <a:spcBef>
                <a:spcPct val="0"/>
              </a:spcBef>
              <a:buFontTx/>
              <a:buNone/>
            </a:pPr>
            <a:endParaRPr lang="en-US" altLang="zh-CN" sz="2400" b="1" dirty="0">
              <a:solidFill>
                <a:srgbClr val="0000FF"/>
              </a:solidFill>
              <a:latin typeface="黑体" pitchFamily="49" charset="-122"/>
              <a:ea typeface="黑体" pitchFamily="49" charset="-122"/>
            </a:endParaRPr>
          </a:p>
          <a:p>
            <a:pPr>
              <a:lnSpc>
                <a:spcPct val="150000"/>
              </a:lnSpc>
              <a:spcBef>
                <a:spcPct val="0"/>
              </a:spcBef>
              <a:buFontTx/>
              <a:buNone/>
            </a:pPr>
            <a:r>
              <a:rPr lang="zh-CN" altLang="zh-CN" sz="2400" b="1" dirty="0">
                <a:solidFill>
                  <a:srgbClr val="0000FF"/>
                </a:solidFill>
                <a:latin typeface="黑体" pitchFamily="49" charset="-122"/>
                <a:ea typeface="黑体" pitchFamily="49" charset="-122"/>
              </a:rPr>
              <a:t>比重瓶法测密度</a:t>
            </a:r>
            <a:r>
              <a:rPr lang="zh-CN" altLang="zh-CN" sz="2400" dirty="0">
                <a:latin typeface="黑体" pitchFamily="49" charset="-122"/>
                <a:ea typeface="黑体" pitchFamily="49" charset="-122"/>
              </a:rPr>
              <a:t> </a:t>
            </a:r>
            <a:r>
              <a:rPr lang="zh-CN" altLang="en-US" sz="2400" dirty="0">
                <a:latin typeface="Times New Roman" pitchFamily="18" charset="0"/>
                <a:ea typeface="黑体" pitchFamily="49" charset="-122"/>
                <a:cs typeface="Times New Roman" pitchFamily="18" charset="0"/>
              </a:rPr>
              <a:t>（</a:t>
            </a:r>
            <a:r>
              <a:rPr lang="en-US" altLang="zh-CN" sz="2400" dirty="0">
                <a:latin typeface="Times New Roman" pitchFamily="18" charset="0"/>
                <a:ea typeface="黑体" pitchFamily="49" charset="-122"/>
                <a:cs typeface="Times New Roman" pitchFamily="18" charset="0"/>
              </a:rPr>
              <a:t>p140 4.</a:t>
            </a:r>
            <a:r>
              <a:rPr lang="zh-CN" altLang="en-US" sz="2400" dirty="0">
                <a:latin typeface="Times New Roman" pitchFamily="18" charset="0"/>
                <a:ea typeface="黑体" pitchFamily="49" charset="-122"/>
                <a:cs typeface="Times New Roman" pitchFamily="18" charset="0"/>
              </a:rPr>
              <a:t>测定溶液的密度）</a:t>
            </a:r>
            <a:endParaRPr lang="en-US" altLang="zh-CN" sz="2400" dirty="0">
              <a:latin typeface="Times New Roman" pitchFamily="18" charset="0"/>
              <a:ea typeface="黑体" pitchFamily="49" charset="-122"/>
              <a:cs typeface="Times New Roman" pitchFamily="18" charset="0"/>
            </a:endParaRPr>
          </a:p>
          <a:p>
            <a:pPr>
              <a:lnSpc>
                <a:spcPct val="150000"/>
              </a:lnSpc>
              <a:spcBef>
                <a:spcPct val="0"/>
              </a:spcBef>
              <a:buFontTx/>
              <a:buNone/>
            </a:pPr>
            <a:r>
              <a:rPr lang="zh-CN" altLang="zh-CN" sz="2400" dirty="0">
                <a:latin typeface="黑体" pitchFamily="49" charset="-122"/>
                <a:ea typeface="黑体" pitchFamily="49" charset="-122"/>
              </a:rPr>
              <a:t>比重瓶标定：  干燥比重瓶，称空瓶重</a:t>
            </a:r>
            <a:r>
              <a:rPr lang="zh-CN" altLang="zh-CN" sz="2400" i="1" dirty="0">
                <a:latin typeface="黑体" pitchFamily="49" charset="-122"/>
                <a:ea typeface="黑体" pitchFamily="49" charset="-122"/>
              </a:rPr>
              <a:t>W</a:t>
            </a:r>
            <a:r>
              <a:rPr lang="zh-CN" altLang="zh-CN" sz="2400" baseline="-30000" dirty="0">
                <a:latin typeface="黑体" pitchFamily="49" charset="-122"/>
                <a:ea typeface="黑体" pitchFamily="49" charset="-122"/>
              </a:rPr>
              <a:t>0</a:t>
            </a:r>
            <a:r>
              <a:rPr lang="zh-CN" altLang="zh-CN" sz="2400" dirty="0">
                <a:latin typeface="黑体" pitchFamily="49" charset="-122"/>
                <a:ea typeface="黑体" pitchFamily="49" charset="-122"/>
              </a:rPr>
              <a:t>，瓶中装蒸馏水，毛细管磨口盖塞，恒温槽中恒温10min，滤纸吸去毛细管口溢出的液体，取出小瓶擦干外臂、再称重得</a:t>
            </a:r>
            <a:r>
              <a:rPr lang="zh-CN" altLang="zh-CN" sz="2400" i="1" dirty="0">
                <a:latin typeface="黑体" pitchFamily="49" charset="-122"/>
                <a:ea typeface="黑体" pitchFamily="49" charset="-122"/>
              </a:rPr>
              <a:t>W</a:t>
            </a:r>
            <a:r>
              <a:rPr lang="zh-CN" altLang="zh-CN" sz="2400" baseline="-30000" dirty="0">
                <a:latin typeface="黑体" pitchFamily="49" charset="-122"/>
                <a:ea typeface="黑体" pitchFamily="49" charset="-122"/>
              </a:rPr>
              <a:t>1</a:t>
            </a:r>
            <a:r>
              <a:rPr lang="zh-CN" altLang="zh-CN" sz="2400" dirty="0">
                <a:latin typeface="黑体" pitchFamily="49" charset="-122"/>
                <a:ea typeface="黑体" pitchFamily="49" charset="-122"/>
              </a:rPr>
              <a:t>。</a:t>
            </a:r>
          </a:p>
          <a:p>
            <a:pPr>
              <a:lnSpc>
                <a:spcPct val="150000"/>
              </a:lnSpc>
              <a:spcBef>
                <a:spcPct val="0"/>
              </a:spcBef>
              <a:buFontTx/>
              <a:buNone/>
            </a:pPr>
            <a:r>
              <a:rPr lang="zh-CN" altLang="zh-CN" sz="2400" dirty="0">
                <a:latin typeface="黑体" pitchFamily="49" charset="-122"/>
                <a:ea typeface="黑体" pitchFamily="49" charset="-122"/>
              </a:rPr>
              <a:t>同样，按上述方法测定待测液体的重量</a:t>
            </a:r>
            <a:r>
              <a:rPr lang="zh-CN" altLang="zh-CN" sz="2400" i="1" dirty="0">
                <a:latin typeface="黑体" pitchFamily="49" charset="-122"/>
                <a:ea typeface="黑体" pitchFamily="49" charset="-122"/>
              </a:rPr>
              <a:t>W</a:t>
            </a:r>
            <a:r>
              <a:rPr lang="zh-CN" altLang="zh-CN" sz="2400" baseline="-30000" dirty="0">
                <a:latin typeface="黑体" pitchFamily="49" charset="-122"/>
                <a:ea typeface="黑体" pitchFamily="49" charset="-122"/>
              </a:rPr>
              <a:t>2，</a:t>
            </a:r>
            <a:r>
              <a:rPr lang="zh-CN" altLang="zh-CN" sz="2400" dirty="0">
                <a:latin typeface="黑体" pitchFamily="49" charset="-122"/>
                <a:ea typeface="黑体" pitchFamily="49" charset="-122"/>
              </a:rPr>
              <a:t>然后用下式计算待测液体的密度。</a:t>
            </a:r>
          </a:p>
        </p:txBody>
      </p:sp>
      <p:pic>
        <p:nvPicPr>
          <p:cNvPr id="97283" name="Picture 3" descr="image02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882438" y="3184525"/>
            <a:ext cx="114300" cy="219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97284" name="Object 4"/>
          <p:cNvGraphicFramePr>
            <a:graphicFrameLocks noChangeAspect="1"/>
          </p:cNvGraphicFramePr>
          <p:nvPr/>
        </p:nvGraphicFramePr>
        <p:xfrm>
          <a:off x="1044575" y="4294188"/>
          <a:ext cx="2514600" cy="977900"/>
        </p:xfrm>
        <a:graphic>
          <a:graphicData uri="http://schemas.openxmlformats.org/presentationml/2006/ole">
            <mc:AlternateContent xmlns:mc="http://schemas.openxmlformats.org/markup-compatibility/2006">
              <mc:Choice xmlns:v="urn:schemas-microsoft-com:vml" Requires="v">
                <p:oleObj spid="_x0000_s7184" r:id="rId4" imgW="2514600" imgH="977760" progId="Equation.3">
                  <p:embed/>
                </p:oleObj>
              </mc:Choice>
              <mc:Fallback>
                <p:oleObj r:id="rId4" imgW="2514600" imgH="97776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44575" y="4294188"/>
                        <a:ext cx="2514600" cy="977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7285" name="Object 5"/>
          <p:cNvGraphicFramePr>
            <a:graphicFrameLocks noChangeAspect="1"/>
          </p:cNvGraphicFramePr>
          <p:nvPr/>
        </p:nvGraphicFramePr>
        <p:xfrm>
          <a:off x="3997325" y="4581525"/>
          <a:ext cx="4783138" cy="427038"/>
        </p:xfrm>
        <a:graphic>
          <a:graphicData uri="http://schemas.openxmlformats.org/presentationml/2006/ole">
            <mc:AlternateContent xmlns:mc="http://schemas.openxmlformats.org/markup-compatibility/2006">
              <mc:Choice xmlns:v="urn:schemas-microsoft-com:vml" Requires="v">
                <p:oleObj spid="_x0000_s7185" r:id="rId6" imgW="4927320" imgH="444240" progId="Equation.3">
                  <p:embed/>
                </p:oleObj>
              </mc:Choice>
              <mc:Fallback>
                <p:oleObj r:id="rId6" imgW="4927320" imgH="444240"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997325" y="4581525"/>
                        <a:ext cx="4783138" cy="4270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19422254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8306" name="Picture 2" descr="PA14003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1188" y="476250"/>
            <a:ext cx="8054975" cy="6042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506435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9330" name="Picture 2" descr="电容法测分子的偶极矩PA15001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5288" y="476250"/>
            <a:ext cx="8050212" cy="6037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3149260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p:cNvSpPr>
            <a:spLocks noChangeArrowheads="1"/>
          </p:cNvSpPr>
          <p:nvPr/>
        </p:nvSpPr>
        <p:spPr bwMode="auto">
          <a:xfrm>
            <a:off x="1187450" y="185738"/>
            <a:ext cx="6119813"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a:lnSpc>
                <a:spcPct val="150000"/>
              </a:lnSpc>
              <a:spcBef>
                <a:spcPct val="0"/>
              </a:spcBef>
              <a:buFontTx/>
              <a:buNone/>
            </a:pPr>
            <a:r>
              <a:rPr lang="zh-CN" altLang="en-US" sz="2400" b="1">
                <a:latin typeface="黑体" pitchFamily="49" charset="-122"/>
                <a:ea typeface="黑体" pitchFamily="49" charset="-122"/>
              </a:rPr>
              <a:t>实验八   甲基红的离解平衡常数测定</a:t>
            </a:r>
            <a:r>
              <a:rPr lang="zh-CN" altLang="en-US" sz="2400">
                <a:latin typeface="黑体" pitchFamily="49" charset="-122"/>
                <a:ea typeface="黑体" pitchFamily="49" charset="-122"/>
              </a:rPr>
              <a:t> </a:t>
            </a:r>
          </a:p>
        </p:txBody>
      </p:sp>
      <p:sp>
        <p:nvSpPr>
          <p:cNvPr id="77827" name="Rectangle 3"/>
          <p:cNvSpPr>
            <a:spLocks noChangeArrowheads="1"/>
          </p:cNvSpPr>
          <p:nvPr/>
        </p:nvSpPr>
        <p:spPr bwMode="auto">
          <a:xfrm>
            <a:off x="468313" y="693738"/>
            <a:ext cx="8353425" cy="2284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a:lnSpc>
                <a:spcPct val="150000"/>
              </a:lnSpc>
              <a:spcBef>
                <a:spcPct val="0"/>
              </a:spcBef>
              <a:buFontTx/>
              <a:buNone/>
            </a:pPr>
            <a:r>
              <a:rPr lang="zh-CN" altLang="en-US" sz="2400" b="1">
                <a:latin typeface="黑体" pitchFamily="49" charset="-122"/>
                <a:ea typeface="黑体" pitchFamily="49" charset="-122"/>
              </a:rPr>
              <a:t>一、实验目的</a:t>
            </a:r>
          </a:p>
          <a:p>
            <a:pPr latinLnBrk="1">
              <a:lnSpc>
                <a:spcPct val="150000"/>
              </a:lnSpc>
              <a:spcBef>
                <a:spcPct val="0"/>
              </a:spcBef>
              <a:buFontTx/>
              <a:buNone/>
            </a:pPr>
            <a:r>
              <a:rPr lang="zh-CN" altLang="en-US" sz="2400" b="1">
                <a:latin typeface="黑体" pitchFamily="49" charset="-122"/>
                <a:ea typeface="黑体" pitchFamily="49" charset="-122"/>
              </a:rPr>
              <a:t>1、学会用分光光度法测定混合物组分的浓度，由此求出甲基红离解平衡常数。</a:t>
            </a:r>
          </a:p>
          <a:p>
            <a:pPr>
              <a:lnSpc>
                <a:spcPct val="150000"/>
              </a:lnSpc>
              <a:spcBef>
                <a:spcPct val="0"/>
              </a:spcBef>
              <a:buFontTx/>
              <a:buNone/>
            </a:pPr>
            <a:r>
              <a:rPr lang="zh-CN" altLang="en-US" sz="2400" b="1">
                <a:latin typeface="黑体" pitchFamily="49" charset="-122"/>
                <a:ea typeface="黑体" pitchFamily="49" charset="-122"/>
              </a:rPr>
              <a:t>2、掌握分光光度计的原理和使用方法。</a:t>
            </a:r>
          </a:p>
        </p:txBody>
      </p:sp>
      <p:sp>
        <p:nvSpPr>
          <p:cNvPr id="77828" name="Text Box 4"/>
          <p:cNvSpPr txBox="1">
            <a:spLocks noChangeArrowheads="1"/>
          </p:cNvSpPr>
          <p:nvPr/>
        </p:nvSpPr>
        <p:spPr bwMode="auto">
          <a:xfrm>
            <a:off x="468313" y="2997200"/>
            <a:ext cx="63373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a:spcBef>
                <a:spcPct val="50000"/>
              </a:spcBef>
              <a:buFontTx/>
              <a:buNone/>
            </a:pPr>
            <a:r>
              <a:rPr lang="zh-CN" altLang="zh-CN" sz="2400" b="1">
                <a:latin typeface="Times New Roman" pitchFamily="18" charset="0"/>
                <a:ea typeface="黑体" pitchFamily="49" charset="-122"/>
              </a:rPr>
              <a:t>二、实验原理</a:t>
            </a:r>
          </a:p>
        </p:txBody>
      </p:sp>
      <p:sp>
        <p:nvSpPr>
          <p:cNvPr id="77829" name="Rectangle 5"/>
          <p:cNvSpPr>
            <a:spLocks noChangeArrowheads="1"/>
          </p:cNvSpPr>
          <p:nvPr/>
        </p:nvSpPr>
        <p:spPr bwMode="auto">
          <a:xfrm>
            <a:off x="0" y="32004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0"/>
              </a:spcBef>
              <a:buFontTx/>
              <a:buNone/>
            </a:pPr>
            <a:endParaRPr lang="zh-CN" altLang="en-US" sz="1800"/>
          </a:p>
        </p:txBody>
      </p:sp>
      <p:sp>
        <p:nvSpPr>
          <p:cNvPr id="77830" name="Text Box 6"/>
          <p:cNvSpPr txBox="1">
            <a:spLocks noChangeArrowheads="1"/>
          </p:cNvSpPr>
          <p:nvPr/>
        </p:nvSpPr>
        <p:spPr bwMode="auto">
          <a:xfrm>
            <a:off x="612775" y="3429000"/>
            <a:ext cx="7921625" cy="3384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a:lnSpc>
                <a:spcPct val="150000"/>
              </a:lnSpc>
              <a:spcBef>
                <a:spcPct val="0"/>
              </a:spcBef>
              <a:buFontTx/>
              <a:buNone/>
            </a:pPr>
            <a:r>
              <a:rPr lang="zh-CN" altLang="zh-CN" sz="2400" b="1">
                <a:latin typeface="黑体" pitchFamily="49" charset="-122"/>
                <a:ea typeface="黑体" pitchFamily="49" charset="-122"/>
              </a:rPr>
              <a:t>1、混合溶液的测定</a:t>
            </a:r>
          </a:p>
          <a:p>
            <a:pPr>
              <a:lnSpc>
                <a:spcPct val="150000"/>
              </a:lnSpc>
              <a:spcBef>
                <a:spcPct val="0"/>
              </a:spcBef>
              <a:buFontTx/>
              <a:buNone/>
            </a:pPr>
            <a:r>
              <a:rPr lang="zh-CN" altLang="zh-CN" sz="2400" b="1">
                <a:latin typeface="黑体" pitchFamily="49" charset="-122"/>
                <a:ea typeface="黑体" pitchFamily="49" charset="-122"/>
              </a:rPr>
              <a:t>分光光度法常常可用来进行多组份混合物的测定。如果混合物中各组份的特征吸收曲线不相重叠，可在波长λ</a:t>
            </a:r>
            <a:r>
              <a:rPr lang="zh-CN" altLang="zh-CN" sz="2400" b="1" baseline="-25000">
                <a:latin typeface="黑体" pitchFamily="49" charset="-122"/>
                <a:ea typeface="黑体" pitchFamily="49" charset="-122"/>
              </a:rPr>
              <a:t>1</a:t>
            </a:r>
            <a:r>
              <a:rPr lang="zh-CN" altLang="zh-CN" sz="2400" b="1">
                <a:latin typeface="黑体" pitchFamily="49" charset="-122"/>
                <a:ea typeface="黑体" pitchFamily="49" charset="-122"/>
              </a:rPr>
              <a:t>测定显著吸收的甲物质，而在波长λ</a:t>
            </a:r>
            <a:r>
              <a:rPr lang="zh-CN" altLang="zh-CN" sz="2400" b="1" baseline="-25000">
                <a:latin typeface="黑体" pitchFamily="49" charset="-122"/>
                <a:ea typeface="黑体" pitchFamily="49" charset="-122"/>
              </a:rPr>
              <a:t>2</a:t>
            </a:r>
            <a:r>
              <a:rPr lang="zh-CN" altLang="zh-CN" sz="2400" b="1">
                <a:latin typeface="黑体" pitchFamily="49" charset="-122"/>
                <a:ea typeface="黑体" pitchFamily="49" charset="-122"/>
              </a:rPr>
              <a:t>测定显著吸收的乙物质。如果混合物中各组份的吸收曲线相互重叠，只要符合朗伯－比尔定律，可测定其含量。  </a:t>
            </a:r>
          </a:p>
        </p:txBody>
      </p:sp>
      <p:sp>
        <p:nvSpPr>
          <p:cNvPr id="100359" name="Text Box 7"/>
          <p:cNvSpPr txBox="1">
            <a:spLocks noChangeArrowheads="1"/>
          </p:cNvSpPr>
          <p:nvPr/>
        </p:nvSpPr>
        <p:spPr bwMode="auto">
          <a:xfrm>
            <a:off x="6227763" y="692150"/>
            <a:ext cx="21605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0"/>
              </a:spcBef>
              <a:buFontTx/>
              <a:buNone/>
            </a:pPr>
            <a:r>
              <a:rPr lang="zh-CN" altLang="en-US" sz="2400">
                <a:latin typeface="Times New Roman" pitchFamily="18" charset="0"/>
              </a:rPr>
              <a:t>p 16</a:t>
            </a:r>
          </a:p>
        </p:txBody>
      </p:sp>
    </p:spTree>
    <p:extLst>
      <p:ext uri="{BB962C8B-B14F-4D97-AF65-F5344CB8AC3E}">
        <p14:creationId xmlns:p14="http://schemas.microsoft.com/office/powerpoint/2010/main" val="102813071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7827"/>
                                        </p:tgtEl>
                                        <p:attrNameLst>
                                          <p:attrName>style.visibility</p:attrName>
                                        </p:attrNameLst>
                                      </p:cBhvr>
                                      <p:to>
                                        <p:strVal val="visible"/>
                                      </p:to>
                                    </p:set>
                                    <p:anim calcmode="lin" valueType="num">
                                      <p:cBhvr additive="base">
                                        <p:cTn id="7" dur="500" fill="hold"/>
                                        <p:tgtEl>
                                          <p:spTgt spid="77827"/>
                                        </p:tgtEl>
                                        <p:attrNameLst>
                                          <p:attrName>ppt_x</p:attrName>
                                        </p:attrNameLst>
                                      </p:cBhvr>
                                      <p:tavLst>
                                        <p:tav tm="0">
                                          <p:val>
                                            <p:strVal val="#ppt_x"/>
                                          </p:val>
                                        </p:tav>
                                        <p:tav tm="100000">
                                          <p:val>
                                            <p:strVal val="#ppt_x"/>
                                          </p:val>
                                        </p:tav>
                                      </p:tavLst>
                                    </p:anim>
                                    <p:anim calcmode="lin" valueType="num">
                                      <p:cBhvr additive="base">
                                        <p:cTn id="8" dur="500" fill="hold"/>
                                        <p:tgtEl>
                                          <p:spTgt spid="77827"/>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nodePh="1">
                                  <p:stCondLst>
                                    <p:cond delay="0"/>
                                  </p:stCondLst>
                                  <p:endCondLst>
                                    <p:cond evt="begin" delay="0">
                                      <p:tn val="11"/>
                                    </p:cond>
                                  </p:endCondLst>
                                  <p:childTnLst>
                                    <p:set>
                                      <p:cBhvr>
                                        <p:cTn id="12" dur="1" fill="hold">
                                          <p:stCondLst>
                                            <p:cond delay="0"/>
                                          </p:stCondLst>
                                        </p:cTn>
                                        <p:tgtEl>
                                          <p:spTgt spid="77829"/>
                                        </p:tgtEl>
                                        <p:attrNameLst>
                                          <p:attrName>style.visibility</p:attrName>
                                        </p:attrNameLst>
                                      </p:cBhvr>
                                      <p:to>
                                        <p:strVal val="visible"/>
                                      </p:to>
                                    </p:set>
                                    <p:anim calcmode="lin" valueType="num">
                                      <p:cBhvr additive="base">
                                        <p:cTn id="13" dur="500" fill="hold"/>
                                        <p:tgtEl>
                                          <p:spTgt spid="77829"/>
                                        </p:tgtEl>
                                        <p:attrNameLst>
                                          <p:attrName>ppt_x</p:attrName>
                                        </p:attrNameLst>
                                      </p:cBhvr>
                                      <p:tavLst>
                                        <p:tav tm="0">
                                          <p:val>
                                            <p:strVal val="#ppt_x"/>
                                          </p:val>
                                        </p:tav>
                                        <p:tav tm="100000">
                                          <p:val>
                                            <p:strVal val="#ppt_x"/>
                                          </p:val>
                                        </p:tav>
                                      </p:tavLst>
                                    </p:anim>
                                    <p:anim calcmode="lin" valueType="num">
                                      <p:cBhvr additive="base">
                                        <p:cTn id="14" dur="500" fill="hold"/>
                                        <p:tgtEl>
                                          <p:spTgt spid="77829"/>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77828"/>
                                        </p:tgtEl>
                                        <p:attrNameLst>
                                          <p:attrName>style.visibility</p:attrName>
                                        </p:attrNameLst>
                                      </p:cBhvr>
                                      <p:to>
                                        <p:strVal val="visible"/>
                                      </p:to>
                                    </p:set>
                                    <p:anim calcmode="lin" valueType="num">
                                      <p:cBhvr additive="base">
                                        <p:cTn id="19" dur="500" fill="hold"/>
                                        <p:tgtEl>
                                          <p:spTgt spid="77828"/>
                                        </p:tgtEl>
                                        <p:attrNameLst>
                                          <p:attrName>ppt_x</p:attrName>
                                        </p:attrNameLst>
                                      </p:cBhvr>
                                      <p:tavLst>
                                        <p:tav tm="0">
                                          <p:val>
                                            <p:strVal val="#ppt_x"/>
                                          </p:val>
                                        </p:tav>
                                        <p:tav tm="100000">
                                          <p:val>
                                            <p:strVal val="#ppt_x"/>
                                          </p:val>
                                        </p:tav>
                                      </p:tavLst>
                                    </p:anim>
                                    <p:anim calcmode="lin" valueType="num">
                                      <p:cBhvr additive="base">
                                        <p:cTn id="20" dur="500" fill="hold"/>
                                        <p:tgtEl>
                                          <p:spTgt spid="77828"/>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77830"/>
                                        </p:tgtEl>
                                        <p:attrNameLst>
                                          <p:attrName>style.visibility</p:attrName>
                                        </p:attrNameLst>
                                      </p:cBhvr>
                                      <p:to>
                                        <p:strVal val="visible"/>
                                      </p:to>
                                    </p:set>
                                    <p:anim calcmode="lin" valueType="num">
                                      <p:cBhvr additive="base">
                                        <p:cTn id="25" dur="500" fill="hold"/>
                                        <p:tgtEl>
                                          <p:spTgt spid="77830"/>
                                        </p:tgtEl>
                                        <p:attrNameLst>
                                          <p:attrName>ppt_x</p:attrName>
                                        </p:attrNameLst>
                                      </p:cBhvr>
                                      <p:tavLst>
                                        <p:tav tm="0">
                                          <p:val>
                                            <p:strVal val="#ppt_x"/>
                                          </p:val>
                                        </p:tav>
                                        <p:tav tm="100000">
                                          <p:val>
                                            <p:strVal val="#ppt_x"/>
                                          </p:val>
                                        </p:tav>
                                      </p:tavLst>
                                    </p:anim>
                                    <p:anim calcmode="lin" valueType="num">
                                      <p:cBhvr additive="base">
                                        <p:cTn id="26" dur="500" fill="hold"/>
                                        <p:tgtEl>
                                          <p:spTgt spid="7783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827" grpId="0" autoUpdateAnimBg="0"/>
      <p:bldP spid="77828" grpId="0" autoUpdateAnimBg="0"/>
      <p:bldP spid="77829" grpId="0" animBg="1"/>
      <p:bldP spid="77830" grpId="0" autoUpdateAnimBg="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2"/>
          <p:cNvSpPr>
            <a:spLocks noChangeArrowheads="1"/>
          </p:cNvSpPr>
          <p:nvPr/>
        </p:nvSpPr>
        <p:spPr bwMode="auto">
          <a:xfrm>
            <a:off x="0" y="17351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0"/>
              </a:spcBef>
              <a:buFontTx/>
              <a:buNone/>
            </a:pPr>
            <a:endParaRPr lang="zh-CN" altLang="en-US" sz="1800"/>
          </a:p>
        </p:txBody>
      </p:sp>
      <p:pic>
        <p:nvPicPr>
          <p:cNvPr id="78851" name="Picture 3" descr="2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9388" y="188913"/>
            <a:ext cx="4421187" cy="4581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78852" name="Object 4"/>
          <p:cNvGraphicFramePr>
            <a:graphicFrameLocks noChangeAspect="1"/>
          </p:cNvGraphicFramePr>
          <p:nvPr/>
        </p:nvGraphicFramePr>
        <p:xfrm>
          <a:off x="4913313" y="333375"/>
          <a:ext cx="2698750" cy="574675"/>
        </p:xfrm>
        <a:graphic>
          <a:graphicData uri="http://schemas.openxmlformats.org/presentationml/2006/ole">
            <mc:AlternateContent xmlns:mc="http://schemas.openxmlformats.org/markup-compatibility/2006">
              <mc:Choice xmlns:v="urn:schemas-microsoft-com:vml" Requires="v">
                <p:oleObj spid="_x0000_s8229" r:id="rId4" imgW="1258392" imgH="266932" progId="Equation.DSMT4">
                  <p:embed/>
                </p:oleObj>
              </mc:Choice>
              <mc:Fallback>
                <p:oleObj r:id="rId4" imgW="1258392" imgH="266932" progId="Equation.DSMT4">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913313" y="333375"/>
                        <a:ext cx="2698750" cy="57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8853" name="Object 5"/>
          <p:cNvGraphicFramePr>
            <a:graphicFrameLocks noChangeAspect="1"/>
          </p:cNvGraphicFramePr>
          <p:nvPr/>
        </p:nvGraphicFramePr>
        <p:xfrm>
          <a:off x="4845050" y="1052513"/>
          <a:ext cx="2909888" cy="606425"/>
        </p:xfrm>
        <a:graphic>
          <a:graphicData uri="http://schemas.openxmlformats.org/presentationml/2006/ole">
            <mc:AlternateContent xmlns:mc="http://schemas.openxmlformats.org/markup-compatibility/2006">
              <mc:Choice xmlns:v="urn:schemas-microsoft-com:vml" Requires="v">
                <p:oleObj spid="_x0000_s8230" r:id="rId6" imgW="1283814" imgH="266932" progId="Equation.DSMT4">
                  <p:embed/>
                </p:oleObj>
              </mc:Choice>
              <mc:Fallback>
                <p:oleObj r:id="rId6" imgW="1283814" imgH="266932" progId="Equation.DSMT4">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845050" y="1052513"/>
                        <a:ext cx="2909888" cy="60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1382" name="Rectangle 6"/>
          <p:cNvSpPr>
            <a:spLocks noChangeArrowheads="1"/>
          </p:cNvSpPr>
          <p:nvPr/>
        </p:nvSpPr>
        <p:spPr bwMode="auto">
          <a:xfrm>
            <a:off x="0" y="30400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0"/>
              </a:spcBef>
              <a:buFontTx/>
              <a:buNone/>
            </a:pPr>
            <a:endParaRPr lang="zh-CN" altLang="en-US" sz="1800"/>
          </a:p>
        </p:txBody>
      </p:sp>
      <p:sp>
        <p:nvSpPr>
          <p:cNvPr id="101383" name="Rectangle 7"/>
          <p:cNvSpPr>
            <a:spLocks noChangeArrowheads="1"/>
          </p:cNvSpPr>
          <p:nvPr/>
        </p:nvSpPr>
        <p:spPr bwMode="auto">
          <a:xfrm>
            <a:off x="0" y="3306763"/>
            <a:ext cx="93345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a:spcBef>
                <a:spcPct val="0"/>
              </a:spcBef>
              <a:buFontTx/>
              <a:buNone/>
            </a:pPr>
            <a:r>
              <a:rPr lang="zh-CN" altLang="zh-CN" sz="1000">
                <a:latin typeface="Times New Roman" pitchFamily="18" charset="0"/>
                <a:cs typeface="Times New Roman" pitchFamily="18" charset="0"/>
              </a:rPr>
              <a:t>    （1）</a:t>
            </a:r>
            <a:endParaRPr lang="zh-CN" altLang="zh-CN" sz="1800"/>
          </a:p>
        </p:txBody>
      </p:sp>
      <p:sp>
        <p:nvSpPr>
          <p:cNvPr id="78856" name="Rectangle 8"/>
          <p:cNvSpPr>
            <a:spLocks noChangeArrowheads="1"/>
          </p:cNvSpPr>
          <p:nvPr/>
        </p:nvSpPr>
        <p:spPr bwMode="auto">
          <a:xfrm>
            <a:off x="4859338" y="1916113"/>
            <a:ext cx="15843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a:spcBef>
                <a:spcPct val="0"/>
              </a:spcBef>
              <a:buFontTx/>
              <a:buNone/>
            </a:pPr>
            <a:r>
              <a:rPr lang="zh-CN" altLang="zh-CN" sz="2400">
                <a:latin typeface="Times New Roman" pitchFamily="18" charset="0"/>
              </a:rPr>
              <a:t>A = K c·l</a:t>
            </a:r>
          </a:p>
        </p:txBody>
      </p:sp>
      <p:graphicFrame>
        <p:nvGraphicFramePr>
          <p:cNvPr id="78857" name="Object 9"/>
          <p:cNvGraphicFramePr>
            <a:graphicFrameLocks noChangeAspect="1"/>
          </p:cNvGraphicFramePr>
          <p:nvPr/>
        </p:nvGraphicFramePr>
        <p:xfrm>
          <a:off x="3735388" y="2565400"/>
          <a:ext cx="5308600" cy="615950"/>
        </p:xfrm>
        <a:graphic>
          <a:graphicData uri="http://schemas.openxmlformats.org/presentationml/2006/ole">
            <mc:AlternateContent xmlns:mc="http://schemas.openxmlformats.org/markup-compatibility/2006">
              <mc:Choice xmlns:v="urn:schemas-microsoft-com:vml" Requires="v">
                <p:oleObj spid="_x0000_s8231" r:id="rId8" imgW="2296706" imgH="266469" progId="Equation.DSMT4">
                  <p:embed/>
                </p:oleObj>
              </mc:Choice>
              <mc:Fallback>
                <p:oleObj r:id="rId8" imgW="2296706" imgH="266469" progId="Equation.DSMT4">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735388" y="2565400"/>
                        <a:ext cx="5308600"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8858" name="Object 10"/>
          <p:cNvGraphicFramePr>
            <a:graphicFrameLocks noChangeAspect="1"/>
          </p:cNvGraphicFramePr>
          <p:nvPr/>
        </p:nvGraphicFramePr>
        <p:xfrm>
          <a:off x="3736975" y="3284538"/>
          <a:ext cx="5162550" cy="600075"/>
        </p:xfrm>
        <a:graphic>
          <a:graphicData uri="http://schemas.openxmlformats.org/presentationml/2006/ole">
            <mc:AlternateContent xmlns:mc="http://schemas.openxmlformats.org/markup-compatibility/2006">
              <mc:Choice xmlns:v="urn:schemas-microsoft-com:vml" Requires="v">
                <p:oleObj spid="_x0000_s8232" r:id="rId10" imgW="2296706" imgH="266469" progId="Equation.DSMT4">
                  <p:embed/>
                </p:oleObj>
              </mc:Choice>
              <mc:Fallback>
                <p:oleObj r:id="rId10" imgW="2296706" imgH="266469" progId="Equation.DSMT4">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736975" y="3284538"/>
                        <a:ext cx="5162550"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8859" name="Object 11"/>
          <p:cNvGraphicFramePr>
            <a:graphicFrameLocks noChangeAspect="1"/>
          </p:cNvGraphicFramePr>
          <p:nvPr/>
        </p:nvGraphicFramePr>
        <p:xfrm>
          <a:off x="3582988" y="5013325"/>
          <a:ext cx="5059362" cy="1073150"/>
        </p:xfrm>
        <a:graphic>
          <a:graphicData uri="http://schemas.openxmlformats.org/presentationml/2006/ole">
            <mc:AlternateContent xmlns:mc="http://schemas.openxmlformats.org/markup-compatibility/2006">
              <mc:Choice xmlns:v="urn:schemas-microsoft-com:vml" Requires="v">
                <p:oleObj spid="_x0000_s8233" r:id="rId12" imgW="2286000" imgH="482600" progId="Equation.DSMT4">
                  <p:embed/>
                </p:oleObj>
              </mc:Choice>
              <mc:Fallback>
                <p:oleObj r:id="rId12" imgW="2286000" imgH="482600" progId="Equation.DSMT4">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582988" y="5013325"/>
                        <a:ext cx="5059362" cy="1073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159287391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78851"/>
                                        </p:tgtEl>
                                        <p:attrNameLst>
                                          <p:attrName>style.visibility</p:attrName>
                                        </p:attrNameLst>
                                      </p:cBhvr>
                                      <p:to>
                                        <p:strVal val="visible"/>
                                      </p:to>
                                    </p:set>
                                    <p:anim calcmode="lin" valueType="num">
                                      <p:cBhvr additive="base">
                                        <p:cTn id="7" dur="500" fill="hold"/>
                                        <p:tgtEl>
                                          <p:spTgt spid="78851"/>
                                        </p:tgtEl>
                                        <p:attrNameLst>
                                          <p:attrName>ppt_x</p:attrName>
                                        </p:attrNameLst>
                                      </p:cBhvr>
                                      <p:tavLst>
                                        <p:tav tm="0">
                                          <p:val>
                                            <p:strVal val="#ppt_x"/>
                                          </p:val>
                                        </p:tav>
                                        <p:tav tm="100000">
                                          <p:val>
                                            <p:strVal val="#ppt_x"/>
                                          </p:val>
                                        </p:tav>
                                      </p:tavLst>
                                    </p:anim>
                                    <p:anim calcmode="lin" valueType="num">
                                      <p:cBhvr additive="base">
                                        <p:cTn id="8" dur="500" fill="hold"/>
                                        <p:tgtEl>
                                          <p:spTgt spid="78851"/>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78852"/>
                                        </p:tgtEl>
                                        <p:attrNameLst>
                                          <p:attrName>style.visibility</p:attrName>
                                        </p:attrNameLst>
                                      </p:cBhvr>
                                      <p:to>
                                        <p:strVal val="visible"/>
                                      </p:to>
                                    </p:set>
                                    <p:anim calcmode="lin" valueType="num">
                                      <p:cBhvr additive="base">
                                        <p:cTn id="13" dur="500" fill="hold"/>
                                        <p:tgtEl>
                                          <p:spTgt spid="78852"/>
                                        </p:tgtEl>
                                        <p:attrNameLst>
                                          <p:attrName>ppt_x</p:attrName>
                                        </p:attrNameLst>
                                      </p:cBhvr>
                                      <p:tavLst>
                                        <p:tav tm="0">
                                          <p:val>
                                            <p:strVal val="#ppt_x"/>
                                          </p:val>
                                        </p:tav>
                                        <p:tav tm="100000">
                                          <p:val>
                                            <p:strVal val="#ppt_x"/>
                                          </p:val>
                                        </p:tav>
                                      </p:tavLst>
                                    </p:anim>
                                    <p:anim calcmode="lin" valueType="num">
                                      <p:cBhvr additive="base">
                                        <p:cTn id="14" dur="500" fill="hold"/>
                                        <p:tgtEl>
                                          <p:spTgt spid="78852"/>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78853"/>
                                        </p:tgtEl>
                                        <p:attrNameLst>
                                          <p:attrName>style.visibility</p:attrName>
                                        </p:attrNameLst>
                                      </p:cBhvr>
                                      <p:to>
                                        <p:strVal val="visible"/>
                                      </p:to>
                                    </p:set>
                                    <p:anim calcmode="lin" valueType="num">
                                      <p:cBhvr additive="base">
                                        <p:cTn id="17" dur="500" fill="hold"/>
                                        <p:tgtEl>
                                          <p:spTgt spid="78853"/>
                                        </p:tgtEl>
                                        <p:attrNameLst>
                                          <p:attrName>ppt_x</p:attrName>
                                        </p:attrNameLst>
                                      </p:cBhvr>
                                      <p:tavLst>
                                        <p:tav tm="0">
                                          <p:val>
                                            <p:strVal val="#ppt_x"/>
                                          </p:val>
                                        </p:tav>
                                        <p:tav tm="100000">
                                          <p:val>
                                            <p:strVal val="#ppt_x"/>
                                          </p:val>
                                        </p:tav>
                                      </p:tavLst>
                                    </p:anim>
                                    <p:anim calcmode="lin" valueType="num">
                                      <p:cBhvr additive="base">
                                        <p:cTn id="18" dur="500" fill="hold"/>
                                        <p:tgtEl>
                                          <p:spTgt spid="78853"/>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78856"/>
                                        </p:tgtEl>
                                        <p:attrNameLst>
                                          <p:attrName>style.visibility</p:attrName>
                                        </p:attrNameLst>
                                      </p:cBhvr>
                                      <p:to>
                                        <p:strVal val="visible"/>
                                      </p:to>
                                    </p:set>
                                    <p:anim calcmode="lin" valueType="num">
                                      <p:cBhvr additive="base">
                                        <p:cTn id="21" dur="500" fill="hold"/>
                                        <p:tgtEl>
                                          <p:spTgt spid="78856"/>
                                        </p:tgtEl>
                                        <p:attrNameLst>
                                          <p:attrName>ppt_x</p:attrName>
                                        </p:attrNameLst>
                                      </p:cBhvr>
                                      <p:tavLst>
                                        <p:tav tm="0">
                                          <p:val>
                                            <p:strVal val="#ppt_x"/>
                                          </p:val>
                                        </p:tav>
                                        <p:tav tm="100000">
                                          <p:val>
                                            <p:strVal val="#ppt_x"/>
                                          </p:val>
                                        </p:tav>
                                      </p:tavLst>
                                    </p:anim>
                                    <p:anim calcmode="lin" valueType="num">
                                      <p:cBhvr additive="base">
                                        <p:cTn id="22" dur="500" fill="hold"/>
                                        <p:tgtEl>
                                          <p:spTgt spid="78856"/>
                                        </p:tgtEl>
                                        <p:attrNameLst>
                                          <p:attrName>ppt_y</p:attrName>
                                        </p:attrNameLst>
                                      </p:cBhvr>
                                      <p:tavLst>
                                        <p:tav tm="0">
                                          <p:val>
                                            <p:strVal val="1+#ppt_h/2"/>
                                          </p:val>
                                        </p:tav>
                                        <p:tav tm="100000">
                                          <p:val>
                                            <p:strVal val="#ppt_y"/>
                                          </p:val>
                                        </p:tav>
                                      </p:tavLst>
                                    </p:anim>
                                  </p:childTnLst>
                                </p:cTn>
                              </p:par>
                            </p:childTnLst>
                          </p:cTn>
                        </p:par>
                      </p:childTnLst>
                    </p:cTn>
                  </p:par>
                  <p:par>
                    <p:cTn id="23" fill="hold" nodeType="clickPar">
                      <p:stCondLst>
                        <p:cond delay="indefinite"/>
                      </p:stCondLst>
                      <p:childTnLst>
                        <p:par>
                          <p:cTn id="24" fill="hold" nodeType="withGroup">
                            <p:stCondLst>
                              <p:cond delay="0"/>
                            </p:stCondLst>
                            <p:childTnLst>
                              <p:par>
                                <p:cTn id="25" presetID="2" presetClass="entr" presetSubtype="4" fill="hold" nodeType="clickEffect">
                                  <p:stCondLst>
                                    <p:cond delay="0"/>
                                  </p:stCondLst>
                                  <p:childTnLst>
                                    <p:set>
                                      <p:cBhvr>
                                        <p:cTn id="26" dur="1" fill="hold">
                                          <p:stCondLst>
                                            <p:cond delay="0"/>
                                          </p:stCondLst>
                                        </p:cTn>
                                        <p:tgtEl>
                                          <p:spTgt spid="78857"/>
                                        </p:tgtEl>
                                        <p:attrNameLst>
                                          <p:attrName>style.visibility</p:attrName>
                                        </p:attrNameLst>
                                      </p:cBhvr>
                                      <p:to>
                                        <p:strVal val="visible"/>
                                      </p:to>
                                    </p:set>
                                    <p:anim calcmode="lin" valueType="num">
                                      <p:cBhvr additive="base">
                                        <p:cTn id="27" dur="500" fill="hold"/>
                                        <p:tgtEl>
                                          <p:spTgt spid="78857"/>
                                        </p:tgtEl>
                                        <p:attrNameLst>
                                          <p:attrName>ppt_x</p:attrName>
                                        </p:attrNameLst>
                                      </p:cBhvr>
                                      <p:tavLst>
                                        <p:tav tm="0">
                                          <p:val>
                                            <p:strVal val="#ppt_x"/>
                                          </p:val>
                                        </p:tav>
                                        <p:tav tm="100000">
                                          <p:val>
                                            <p:strVal val="#ppt_x"/>
                                          </p:val>
                                        </p:tav>
                                      </p:tavLst>
                                    </p:anim>
                                    <p:anim calcmode="lin" valueType="num">
                                      <p:cBhvr additive="base">
                                        <p:cTn id="28" dur="500" fill="hold"/>
                                        <p:tgtEl>
                                          <p:spTgt spid="78857"/>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78858"/>
                                        </p:tgtEl>
                                        <p:attrNameLst>
                                          <p:attrName>style.visibility</p:attrName>
                                        </p:attrNameLst>
                                      </p:cBhvr>
                                      <p:to>
                                        <p:strVal val="visible"/>
                                      </p:to>
                                    </p:set>
                                    <p:anim calcmode="lin" valueType="num">
                                      <p:cBhvr additive="base">
                                        <p:cTn id="31" dur="500" fill="hold"/>
                                        <p:tgtEl>
                                          <p:spTgt spid="78858"/>
                                        </p:tgtEl>
                                        <p:attrNameLst>
                                          <p:attrName>ppt_x</p:attrName>
                                        </p:attrNameLst>
                                      </p:cBhvr>
                                      <p:tavLst>
                                        <p:tav tm="0">
                                          <p:val>
                                            <p:strVal val="#ppt_x"/>
                                          </p:val>
                                        </p:tav>
                                        <p:tav tm="100000">
                                          <p:val>
                                            <p:strVal val="#ppt_x"/>
                                          </p:val>
                                        </p:tav>
                                      </p:tavLst>
                                    </p:anim>
                                    <p:anim calcmode="lin" valueType="num">
                                      <p:cBhvr additive="base">
                                        <p:cTn id="32" dur="500" fill="hold"/>
                                        <p:tgtEl>
                                          <p:spTgt spid="78858"/>
                                        </p:tgtEl>
                                        <p:attrNameLst>
                                          <p:attrName>ppt_y</p:attrName>
                                        </p:attrNameLst>
                                      </p:cBhvr>
                                      <p:tavLst>
                                        <p:tav tm="0">
                                          <p:val>
                                            <p:strVal val="1+#ppt_h/2"/>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4" fill="hold" nodeType="clickEffect">
                                  <p:stCondLst>
                                    <p:cond delay="0"/>
                                  </p:stCondLst>
                                  <p:childTnLst>
                                    <p:set>
                                      <p:cBhvr>
                                        <p:cTn id="36" dur="1" fill="hold">
                                          <p:stCondLst>
                                            <p:cond delay="0"/>
                                          </p:stCondLst>
                                        </p:cTn>
                                        <p:tgtEl>
                                          <p:spTgt spid="78859"/>
                                        </p:tgtEl>
                                        <p:attrNameLst>
                                          <p:attrName>style.visibility</p:attrName>
                                        </p:attrNameLst>
                                      </p:cBhvr>
                                      <p:to>
                                        <p:strVal val="visible"/>
                                      </p:to>
                                    </p:set>
                                    <p:anim calcmode="lin" valueType="num">
                                      <p:cBhvr additive="base">
                                        <p:cTn id="37" dur="500" fill="hold"/>
                                        <p:tgtEl>
                                          <p:spTgt spid="78859"/>
                                        </p:tgtEl>
                                        <p:attrNameLst>
                                          <p:attrName>ppt_x</p:attrName>
                                        </p:attrNameLst>
                                      </p:cBhvr>
                                      <p:tavLst>
                                        <p:tav tm="0">
                                          <p:val>
                                            <p:strVal val="#ppt_x"/>
                                          </p:val>
                                        </p:tav>
                                        <p:tav tm="100000">
                                          <p:val>
                                            <p:strVal val="#ppt_x"/>
                                          </p:val>
                                        </p:tav>
                                      </p:tavLst>
                                    </p:anim>
                                    <p:anim calcmode="lin" valueType="num">
                                      <p:cBhvr additive="base">
                                        <p:cTn id="38" dur="500" fill="hold"/>
                                        <p:tgtEl>
                                          <p:spTgt spid="7885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856" grpId="0" autoUpdateAnimBg="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ChangeArrowheads="1"/>
          </p:cNvSpPr>
          <p:nvPr/>
        </p:nvSpPr>
        <p:spPr bwMode="auto">
          <a:xfrm>
            <a:off x="827088" y="765175"/>
            <a:ext cx="61198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a:spcBef>
                <a:spcPct val="0"/>
              </a:spcBef>
              <a:buFontTx/>
              <a:buNone/>
            </a:pPr>
            <a:r>
              <a:rPr lang="zh-CN" altLang="zh-CN" sz="2400" b="1">
                <a:latin typeface="黑体" pitchFamily="49" charset="-122"/>
                <a:ea typeface="黑体" pitchFamily="49" charset="-122"/>
              </a:rPr>
              <a:t>甲基红的离解平衡常数</a:t>
            </a:r>
          </a:p>
        </p:txBody>
      </p:sp>
      <p:graphicFrame>
        <p:nvGraphicFramePr>
          <p:cNvPr id="79875" name="Object 3"/>
          <p:cNvGraphicFramePr>
            <a:graphicFrameLocks noChangeAspect="1"/>
          </p:cNvGraphicFramePr>
          <p:nvPr/>
        </p:nvGraphicFramePr>
        <p:xfrm>
          <a:off x="971550" y="3500438"/>
          <a:ext cx="3240088" cy="1312862"/>
        </p:xfrm>
        <a:graphic>
          <a:graphicData uri="http://schemas.openxmlformats.org/presentationml/2006/ole">
            <mc:AlternateContent xmlns:mc="http://schemas.openxmlformats.org/markup-compatibility/2006">
              <mc:Choice xmlns:v="urn:schemas-microsoft-com:vml" Requires="v">
                <p:oleObj spid="_x0000_s9232" r:id="rId3" imgW="1106822" imgH="445273" progId="Equation.3">
                  <p:embed/>
                </p:oleObj>
              </mc:Choice>
              <mc:Fallback>
                <p:oleObj r:id="rId3" imgW="1106822" imgH="445273"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71550" y="3500438"/>
                        <a:ext cx="3240088" cy="1312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9876" name="Object 4"/>
          <p:cNvGraphicFramePr>
            <a:graphicFrameLocks noChangeAspect="1"/>
          </p:cNvGraphicFramePr>
          <p:nvPr/>
        </p:nvGraphicFramePr>
        <p:xfrm>
          <a:off x="4500563" y="3429000"/>
          <a:ext cx="3959225" cy="1290638"/>
        </p:xfrm>
        <a:graphic>
          <a:graphicData uri="http://schemas.openxmlformats.org/presentationml/2006/ole">
            <mc:AlternateContent xmlns:mc="http://schemas.openxmlformats.org/markup-compatibility/2006">
              <mc:Choice xmlns:v="urn:schemas-microsoft-com:vml" Requires="v">
                <p:oleObj spid="_x0000_s9233" r:id="rId5" imgW="1373985" imgH="445273" progId="Equation.3">
                  <p:embed/>
                </p:oleObj>
              </mc:Choice>
              <mc:Fallback>
                <p:oleObj r:id="rId5" imgW="1373985" imgH="445273"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500563" y="3429000"/>
                        <a:ext cx="3959225" cy="1290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2" name="Group 5"/>
          <p:cNvGrpSpPr>
            <a:grpSpLocks/>
          </p:cNvGrpSpPr>
          <p:nvPr/>
        </p:nvGrpSpPr>
        <p:grpSpPr bwMode="auto">
          <a:xfrm>
            <a:off x="1403350" y="1844675"/>
            <a:ext cx="5903913" cy="822325"/>
            <a:chOff x="0" y="0"/>
            <a:chExt cx="3719" cy="518"/>
          </a:xfrm>
        </p:grpSpPr>
        <p:grpSp>
          <p:nvGrpSpPr>
            <p:cNvPr id="102406" name="Group 6"/>
            <p:cNvGrpSpPr>
              <a:grpSpLocks/>
            </p:cNvGrpSpPr>
            <p:nvPr/>
          </p:nvGrpSpPr>
          <p:grpSpPr bwMode="auto">
            <a:xfrm>
              <a:off x="1451" y="91"/>
              <a:ext cx="408" cy="137"/>
              <a:chOff x="0" y="0"/>
              <a:chExt cx="309" cy="219"/>
            </a:xfrm>
          </p:grpSpPr>
          <p:sp>
            <p:nvSpPr>
              <p:cNvPr id="102408" name="Freeform 7"/>
              <p:cNvSpPr>
                <a:spLocks/>
              </p:cNvSpPr>
              <p:nvPr/>
            </p:nvSpPr>
            <p:spPr bwMode="auto">
              <a:xfrm>
                <a:off x="0" y="0"/>
                <a:ext cx="309" cy="81"/>
              </a:xfrm>
              <a:custGeom>
                <a:avLst/>
                <a:gdLst>
                  <a:gd name="T0" fmla="*/ 0 w 309"/>
                  <a:gd name="T1" fmla="*/ 81 h 81"/>
                  <a:gd name="T2" fmla="*/ 309 w 309"/>
                  <a:gd name="T3" fmla="*/ 78 h 81"/>
                  <a:gd name="T4" fmla="*/ 234 w 309"/>
                  <a:gd name="T5" fmla="*/ 0 h 81"/>
                  <a:gd name="T6" fmla="*/ 0 60000 65536"/>
                  <a:gd name="T7" fmla="*/ 0 60000 65536"/>
                  <a:gd name="T8" fmla="*/ 0 60000 65536"/>
                  <a:gd name="T9" fmla="*/ 0 w 309"/>
                  <a:gd name="T10" fmla="*/ 0 h 81"/>
                  <a:gd name="T11" fmla="*/ 309 w 309"/>
                  <a:gd name="T12" fmla="*/ 81 h 81"/>
                </a:gdLst>
                <a:ahLst/>
                <a:cxnLst>
                  <a:cxn ang="T6">
                    <a:pos x="T0" y="T1"/>
                  </a:cxn>
                  <a:cxn ang="T7">
                    <a:pos x="T2" y="T3"/>
                  </a:cxn>
                  <a:cxn ang="T8">
                    <a:pos x="T4" y="T5"/>
                  </a:cxn>
                </a:cxnLst>
                <a:rect l="T9" t="T10" r="T11" b="T12"/>
                <a:pathLst>
                  <a:path w="309" h="81">
                    <a:moveTo>
                      <a:pt x="0" y="81"/>
                    </a:moveTo>
                    <a:lnTo>
                      <a:pt x="309" y="78"/>
                    </a:lnTo>
                    <a:lnTo>
                      <a:pt x="234" y="0"/>
                    </a:lnTo>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02409" name="Freeform 8"/>
              <p:cNvSpPr>
                <a:spLocks/>
              </p:cNvSpPr>
              <p:nvPr/>
            </p:nvSpPr>
            <p:spPr bwMode="auto">
              <a:xfrm flipH="1" flipV="1">
                <a:off x="0" y="138"/>
                <a:ext cx="309" cy="81"/>
              </a:xfrm>
              <a:custGeom>
                <a:avLst/>
                <a:gdLst>
                  <a:gd name="T0" fmla="*/ 0 w 309"/>
                  <a:gd name="T1" fmla="*/ 81 h 81"/>
                  <a:gd name="T2" fmla="*/ 309 w 309"/>
                  <a:gd name="T3" fmla="*/ 78 h 81"/>
                  <a:gd name="T4" fmla="*/ 234 w 309"/>
                  <a:gd name="T5" fmla="*/ 0 h 81"/>
                  <a:gd name="T6" fmla="*/ 0 60000 65536"/>
                  <a:gd name="T7" fmla="*/ 0 60000 65536"/>
                  <a:gd name="T8" fmla="*/ 0 60000 65536"/>
                  <a:gd name="T9" fmla="*/ 0 w 309"/>
                  <a:gd name="T10" fmla="*/ 0 h 81"/>
                  <a:gd name="T11" fmla="*/ 309 w 309"/>
                  <a:gd name="T12" fmla="*/ 81 h 81"/>
                </a:gdLst>
                <a:ahLst/>
                <a:cxnLst>
                  <a:cxn ang="T6">
                    <a:pos x="T0" y="T1"/>
                  </a:cxn>
                  <a:cxn ang="T7">
                    <a:pos x="T2" y="T3"/>
                  </a:cxn>
                  <a:cxn ang="T8">
                    <a:pos x="T4" y="T5"/>
                  </a:cxn>
                </a:cxnLst>
                <a:rect l="T9" t="T10" r="T11" b="T12"/>
                <a:pathLst>
                  <a:path w="309" h="81">
                    <a:moveTo>
                      <a:pt x="0" y="81"/>
                    </a:moveTo>
                    <a:lnTo>
                      <a:pt x="309" y="78"/>
                    </a:lnTo>
                    <a:lnTo>
                      <a:pt x="234" y="0"/>
                    </a:lnTo>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102407" name="Rectangle 9"/>
            <p:cNvSpPr>
              <a:spLocks noChangeArrowheads="1"/>
            </p:cNvSpPr>
            <p:nvPr/>
          </p:nvSpPr>
          <p:spPr bwMode="auto">
            <a:xfrm>
              <a:off x="0" y="0"/>
              <a:ext cx="3719"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indent="304800"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a:spcBef>
                  <a:spcPct val="0"/>
                </a:spcBef>
                <a:buFontTx/>
                <a:buNone/>
              </a:pPr>
              <a:r>
                <a:rPr lang="zh-CN" altLang="zh-CN" sz="2400" b="1">
                  <a:latin typeface="Times New Roman" pitchFamily="18" charset="0"/>
                  <a:ea typeface="黑体" pitchFamily="49" charset="-122"/>
                </a:rPr>
                <a:t>HMR（酸型）           MR</a:t>
              </a:r>
              <a:r>
                <a:rPr lang="zh-CN" altLang="zh-CN" sz="2400" b="1" baseline="30000">
                  <a:latin typeface="Times New Roman" pitchFamily="18" charset="0"/>
                  <a:ea typeface="黑体" pitchFamily="49" charset="-122"/>
                </a:rPr>
                <a:t>－</a:t>
              </a:r>
              <a:r>
                <a:rPr lang="zh-CN" altLang="zh-CN" sz="2400" b="1">
                  <a:latin typeface="Times New Roman" pitchFamily="18" charset="0"/>
                  <a:ea typeface="黑体" pitchFamily="49" charset="-122"/>
                </a:rPr>
                <a:t>（碱性）+H</a:t>
              </a:r>
              <a:r>
                <a:rPr lang="zh-CN" altLang="zh-CN" sz="2400" b="1" baseline="30000">
                  <a:latin typeface="Times New Roman" pitchFamily="18" charset="0"/>
                  <a:ea typeface="黑体" pitchFamily="49" charset="-122"/>
                </a:rPr>
                <a:t>+</a:t>
              </a:r>
              <a:endParaRPr lang="zh-CN" altLang="zh-CN" sz="2400" b="1">
                <a:latin typeface="Times New Roman" pitchFamily="18" charset="0"/>
                <a:ea typeface="黑体" pitchFamily="49" charset="-122"/>
              </a:endParaRPr>
            </a:p>
            <a:p>
              <a:pPr>
                <a:spcBef>
                  <a:spcPct val="0"/>
                </a:spcBef>
                <a:buFontTx/>
                <a:buNone/>
              </a:pPr>
              <a:r>
                <a:rPr lang="zh-CN" altLang="zh-CN" sz="2400" b="1">
                  <a:latin typeface="Times New Roman" pitchFamily="18" charset="0"/>
                  <a:ea typeface="黑体" pitchFamily="49" charset="-122"/>
                </a:rPr>
                <a:t>    （红色）             （黄色）</a:t>
              </a:r>
            </a:p>
          </p:txBody>
        </p:sp>
      </p:grpSp>
    </p:spTree>
    <p:extLst>
      <p:ext uri="{BB962C8B-B14F-4D97-AF65-F5344CB8AC3E}">
        <p14:creationId xmlns:p14="http://schemas.microsoft.com/office/powerpoint/2010/main" val="237657133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9874"/>
                                        </p:tgtEl>
                                        <p:attrNameLst>
                                          <p:attrName>style.visibility</p:attrName>
                                        </p:attrNameLst>
                                      </p:cBhvr>
                                      <p:to>
                                        <p:strVal val="visible"/>
                                      </p:to>
                                    </p:set>
                                    <p:anim calcmode="lin" valueType="num">
                                      <p:cBhvr additive="base">
                                        <p:cTn id="7" dur="500" fill="hold"/>
                                        <p:tgtEl>
                                          <p:spTgt spid="79874"/>
                                        </p:tgtEl>
                                        <p:attrNameLst>
                                          <p:attrName>ppt_x</p:attrName>
                                        </p:attrNameLst>
                                      </p:cBhvr>
                                      <p:tavLst>
                                        <p:tav tm="0">
                                          <p:val>
                                            <p:strVal val="#ppt_x"/>
                                          </p:val>
                                        </p:tav>
                                        <p:tav tm="100000">
                                          <p:val>
                                            <p:strVal val="#ppt_x"/>
                                          </p:val>
                                        </p:tav>
                                      </p:tavLst>
                                    </p:anim>
                                    <p:anim calcmode="lin" valueType="num">
                                      <p:cBhvr additive="base">
                                        <p:cTn id="8" dur="500" fill="hold"/>
                                        <p:tgtEl>
                                          <p:spTgt spid="79874"/>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additive="base">
                                        <p:cTn id="11" dur="500" fill="hold"/>
                                        <p:tgtEl>
                                          <p:spTgt spid="2"/>
                                        </p:tgtEl>
                                        <p:attrNameLst>
                                          <p:attrName>ppt_x</p:attrName>
                                        </p:attrNameLst>
                                      </p:cBhvr>
                                      <p:tavLst>
                                        <p:tav tm="0">
                                          <p:val>
                                            <p:strVal val="#ppt_x"/>
                                          </p:val>
                                        </p:tav>
                                        <p:tav tm="100000">
                                          <p:val>
                                            <p:strVal val="#ppt_x"/>
                                          </p:val>
                                        </p:tav>
                                      </p:tavLst>
                                    </p:anim>
                                    <p:anim calcmode="lin" valueType="num">
                                      <p:cBhvr additive="base">
                                        <p:cTn id="12"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4" fill="hold" nodeType="clickEffect">
                                  <p:stCondLst>
                                    <p:cond delay="0"/>
                                  </p:stCondLst>
                                  <p:childTnLst>
                                    <p:set>
                                      <p:cBhvr>
                                        <p:cTn id="16" dur="1" fill="hold">
                                          <p:stCondLst>
                                            <p:cond delay="0"/>
                                          </p:stCondLst>
                                        </p:cTn>
                                        <p:tgtEl>
                                          <p:spTgt spid="79875"/>
                                        </p:tgtEl>
                                        <p:attrNameLst>
                                          <p:attrName>style.visibility</p:attrName>
                                        </p:attrNameLst>
                                      </p:cBhvr>
                                      <p:to>
                                        <p:strVal val="visible"/>
                                      </p:to>
                                    </p:set>
                                    <p:anim calcmode="lin" valueType="num">
                                      <p:cBhvr additive="base">
                                        <p:cTn id="17" dur="500" fill="hold"/>
                                        <p:tgtEl>
                                          <p:spTgt spid="79875"/>
                                        </p:tgtEl>
                                        <p:attrNameLst>
                                          <p:attrName>ppt_x</p:attrName>
                                        </p:attrNameLst>
                                      </p:cBhvr>
                                      <p:tavLst>
                                        <p:tav tm="0">
                                          <p:val>
                                            <p:strVal val="#ppt_x"/>
                                          </p:val>
                                        </p:tav>
                                        <p:tav tm="100000">
                                          <p:val>
                                            <p:strVal val="#ppt_x"/>
                                          </p:val>
                                        </p:tav>
                                      </p:tavLst>
                                    </p:anim>
                                    <p:anim calcmode="lin" valueType="num">
                                      <p:cBhvr additive="base">
                                        <p:cTn id="18" dur="500" fill="hold"/>
                                        <p:tgtEl>
                                          <p:spTgt spid="79875"/>
                                        </p:tgtEl>
                                        <p:attrNameLst>
                                          <p:attrName>ppt_y</p:attrName>
                                        </p:attrNameLst>
                                      </p:cBhvr>
                                      <p:tavLst>
                                        <p:tav tm="0">
                                          <p:val>
                                            <p:strVal val="1+#ppt_h/2"/>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2" presetClass="entr" presetSubtype="4" fill="hold" nodeType="clickEffect">
                                  <p:stCondLst>
                                    <p:cond delay="0"/>
                                  </p:stCondLst>
                                  <p:childTnLst>
                                    <p:set>
                                      <p:cBhvr>
                                        <p:cTn id="22" dur="1" fill="hold">
                                          <p:stCondLst>
                                            <p:cond delay="0"/>
                                          </p:stCondLst>
                                        </p:cTn>
                                        <p:tgtEl>
                                          <p:spTgt spid="79876"/>
                                        </p:tgtEl>
                                        <p:attrNameLst>
                                          <p:attrName>style.visibility</p:attrName>
                                        </p:attrNameLst>
                                      </p:cBhvr>
                                      <p:to>
                                        <p:strVal val="visible"/>
                                      </p:to>
                                    </p:set>
                                    <p:anim calcmode="lin" valueType="num">
                                      <p:cBhvr additive="base">
                                        <p:cTn id="23" dur="500" fill="hold"/>
                                        <p:tgtEl>
                                          <p:spTgt spid="79876"/>
                                        </p:tgtEl>
                                        <p:attrNameLst>
                                          <p:attrName>ppt_x</p:attrName>
                                        </p:attrNameLst>
                                      </p:cBhvr>
                                      <p:tavLst>
                                        <p:tav tm="0">
                                          <p:val>
                                            <p:strVal val="#ppt_x"/>
                                          </p:val>
                                        </p:tav>
                                        <p:tav tm="100000">
                                          <p:val>
                                            <p:strVal val="#ppt_x"/>
                                          </p:val>
                                        </p:tav>
                                      </p:tavLst>
                                    </p:anim>
                                    <p:anim calcmode="lin" valueType="num">
                                      <p:cBhvr additive="base">
                                        <p:cTn id="24" dur="500" fill="hold"/>
                                        <p:tgtEl>
                                          <p:spTgt spid="7987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874" grpId="0"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3426" name="Picture 2" descr="PA29001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8313" y="549275"/>
            <a:ext cx="8054975" cy="6042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240171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4450" name="Picture 2" descr="PA29001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750" y="476250"/>
            <a:ext cx="8054975" cy="6042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22598099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p:cNvSpPr>
            <a:spLocks noGrp="1" noChangeArrowheads="1"/>
          </p:cNvSpPr>
          <p:nvPr>
            <p:ph type="body" idx="1"/>
          </p:nvPr>
        </p:nvSpPr>
        <p:spPr>
          <a:xfrm>
            <a:off x="457200" y="404813"/>
            <a:ext cx="8229600" cy="5721350"/>
          </a:xfrm>
        </p:spPr>
        <p:txBody>
          <a:bodyPr/>
          <a:lstStyle/>
          <a:p>
            <a:pPr marL="0" indent="0">
              <a:lnSpc>
                <a:spcPct val="150000"/>
              </a:lnSpc>
              <a:buFontTx/>
              <a:buNone/>
              <a:defRPr/>
            </a:pPr>
            <a:r>
              <a:rPr lang="zh-CN" altLang="en-US" sz="2400" dirty="0" smtClean="0">
                <a:ea typeface="黑体" pitchFamily="49" charset="-122"/>
              </a:rPr>
              <a:t>三、实验步骤 p18</a:t>
            </a:r>
          </a:p>
          <a:p>
            <a:pPr marL="0" indent="0">
              <a:lnSpc>
                <a:spcPct val="150000"/>
              </a:lnSpc>
              <a:buFontTx/>
              <a:buNone/>
              <a:defRPr/>
            </a:pPr>
            <a:r>
              <a:rPr lang="zh-CN" altLang="en-US" sz="2400" dirty="0" smtClean="0">
                <a:ea typeface="黑体" pitchFamily="49" charset="-122"/>
              </a:rPr>
              <a:t>四、数据记录 p19</a:t>
            </a:r>
          </a:p>
          <a:p>
            <a:pPr marL="0" indent="0">
              <a:lnSpc>
                <a:spcPct val="150000"/>
              </a:lnSpc>
              <a:buFontTx/>
              <a:buNone/>
              <a:defRPr/>
            </a:pPr>
            <a:r>
              <a:rPr lang="zh-CN" altLang="en-US" sz="2400" dirty="0" smtClean="0">
                <a:ea typeface="黑体" pitchFamily="49" charset="-122"/>
              </a:rPr>
              <a:t>五、数据处理</a:t>
            </a:r>
          </a:p>
          <a:p>
            <a:pPr marL="0" indent="0">
              <a:lnSpc>
                <a:spcPct val="150000"/>
              </a:lnSpc>
              <a:buFontTx/>
              <a:buNone/>
              <a:defRPr/>
            </a:pPr>
            <a:r>
              <a:rPr lang="zh-CN" altLang="en-US" sz="2400" dirty="0" smtClean="0">
                <a:ea typeface="黑体" pitchFamily="49" charset="-122"/>
              </a:rPr>
              <a:t>1、酸式HMR为主和碱式MR</a:t>
            </a:r>
            <a:r>
              <a:rPr lang="zh-CN" altLang="en-US" sz="2400" baseline="30000" dirty="0" smtClean="0">
                <a:ea typeface="黑体" pitchFamily="49" charset="-122"/>
              </a:rPr>
              <a:t>-</a:t>
            </a:r>
            <a:r>
              <a:rPr lang="zh-CN" altLang="en-US" sz="2400" dirty="0" smtClean="0">
                <a:ea typeface="黑体" pitchFamily="49" charset="-122"/>
              </a:rPr>
              <a:t>为主的最大吸收峰</a:t>
            </a:r>
            <a:r>
              <a:rPr lang="zh-CN" altLang="en-US" sz="2400" dirty="0" smtClean="0">
                <a:ea typeface="黑体" pitchFamily="49" charset="-122"/>
                <a:sym typeface="Arial" charset="0"/>
              </a:rPr>
              <a:t>λ</a:t>
            </a:r>
            <a:r>
              <a:rPr lang="zh-CN" altLang="en-US" sz="2400" baseline="-25000" dirty="0" smtClean="0">
                <a:ea typeface="黑体" pitchFamily="49" charset="-122"/>
                <a:sym typeface="Arial" charset="0"/>
              </a:rPr>
              <a:t>1</a:t>
            </a:r>
            <a:r>
              <a:rPr lang="zh-CN" altLang="en-US" sz="2400" dirty="0" smtClean="0">
                <a:ea typeface="黑体" pitchFamily="49" charset="-122"/>
                <a:sym typeface="Arial" charset="0"/>
              </a:rPr>
              <a:t>和λ</a:t>
            </a:r>
            <a:r>
              <a:rPr lang="zh-CN" altLang="en-US" sz="2400" baseline="-25000" dirty="0" smtClean="0">
                <a:ea typeface="黑体" pitchFamily="49" charset="-122"/>
                <a:sym typeface="Arial" charset="0"/>
              </a:rPr>
              <a:t>2</a:t>
            </a:r>
          </a:p>
          <a:p>
            <a:pPr marL="0" indent="0">
              <a:lnSpc>
                <a:spcPct val="150000"/>
              </a:lnSpc>
              <a:buFontTx/>
              <a:buNone/>
              <a:defRPr/>
            </a:pPr>
            <a:r>
              <a:rPr lang="zh-CN" altLang="en-US" sz="2400" dirty="0" smtClean="0">
                <a:ea typeface="黑体" pitchFamily="49" charset="-122"/>
              </a:rPr>
              <a:t>2、酸式HMR为主和碱式MR</a:t>
            </a:r>
            <a:r>
              <a:rPr lang="zh-CN" altLang="en-US" sz="2400" baseline="30000" dirty="0" smtClean="0">
                <a:ea typeface="黑体" pitchFamily="49" charset="-122"/>
              </a:rPr>
              <a:t>-</a:t>
            </a:r>
            <a:r>
              <a:rPr lang="zh-CN" altLang="en-US" sz="2400" dirty="0" smtClean="0">
                <a:ea typeface="黑体" pitchFamily="49" charset="-122"/>
              </a:rPr>
              <a:t>为主的甲基红溶液在</a:t>
            </a:r>
            <a:r>
              <a:rPr lang="zh-CN" altLang="en-US" sz="2400" dirty="0" smtClean="0">
                <a:ea typeface="黑体" pitchFamily="49" charset="-122"/>
                <a:sym typeface="Arial" charset="0"/>
              </a:rPr>
              <a:t>λ</a:t>
            </a:r>
            <a:r>
              <a:rPr lang="zh-CN" altLang="en-US" sz="2400" baseline="-25000" dirty="0" smtClean="0">
                <a:ea typeface="黑体" pitchFamily="49" charset="-122"/>
                <a:sym typeface="Arial" charset="0"/>
              </a:rPr>
              <a:t>1</a:t>
            </a:r>
            <a:r>
              <a:rPr lang="zh-CN" altLang="en-US" sz="2400" dirty="0" smtClean="0">
                <a:ea typeface="黑体" pitchFamily="49" charset="-122"/>
                <a:sym typeface="Arial" charset="0"/>
              </a:rPr>
              <a:t>和λ</a:t>
            </a:r>
            <a:r>
              <a:rPr lang="zh-CN" altLang="en-US" sz="2400" baseline="-25000" dirty="0" smtClean="0">
                <a:ea typeface="黑体" pitchFamily="49" charset="-122"/>
                <a:sym typeface="Arial" charset="0"/>
              </a:rPr>
              <a:t>2</a:t>
            </a:r>
            <a:r>
              <a:rPr lang="zh-CN" altLang="en-US" sz="2400" dirty="0" smtClean="0">
                <a:ea typeface="黑体" pitchFamily="49" charset="-122"/>
                <a:sym typeface="Arial" charset="0"/>
              </a:rPr>
              <a:t>处的吸光系数</a:t>
            </a:r>
          </a:p>
          <a:p>
            <a:pPr marL="0" indent="0">
              <a:lnSpc>
                <a:spcPct val="150000"/>
              </a:lnSpc>
              <a:buFontTx/>
              <a:buNone/>
              <a:defRPr/>
            </a:pPr>
            <a:r>
              <a:rPr lang="zh-CN" altLang="en-US" sz="2400" dirty="0" smtClean="0">
                <a:ea typeface="黑体" pitchFamily="49" charset="-122"/>
                <a:sym typeface="Arial" charset="0"/>
              </a:rPr>
              <a:t>3、甲基红溶液中              的计算 ：p17公式（7）</a:t>
            </a:r>
          </a:p>
          <a:p>
            <a:pPr marL="0" indent="0">
              <a:lnSpc>
                <a:spcPct val="150000"/>
              </a:lnSpc>
              <a:buFontTx/>
              <a:buNone/>
              <a:defRPr/>
            </a:pPr>
            <a:r>
              <a:rPr lang="zh-CN" altLang="en-US" sz="2400" dirty="0" smtClean="0">
                <a:ea typeface="黑体" pitchFamily="49" charset="-122"/>
                <a:sym typeface="Arial" charset="0"/>
              </a:rPr>
              <a:t>4、甲基红溶液离解平衡常数的计算：p17公式（8）</a:t>
            </a:r>
          </a:p>
          <a:p>
            <a:pPr marL="0" indent="0">
              <a:lnSpc>
                <a:spcPct val="150000"/>
              </a:lnSpc>
              <a:buFontTx/>
              <a:buNone/>
              <a:defRPr/>
            </a:pPr>
            <a:r>
              <a:rPr lang="zh-CN" altLang="en-US" sz="2400" dirty="0" smtClean="0">
                <a:ea typeface="黑体" pitchFamily="49" charset="-122"/>
                <a:sym typeface="Arial" charset="0"/>
              </a:rPr>
              <a:t>六、思考题 p21</a:t>
            </a:r>
          </a:p>
          <a:p>
            <a:pPr>
              <a:lnSpc>
                <a:spcPct val="150000"/>
              </a:lnSpc>
              <a:defRPr/>
            </a:pPr>
            <a:endParaRPr lang="zh-CN" altLang="en-US" sz="2400" baseline="-25000" dirty="0" smtClean="0">
              <a:ea typeface="黑体" pitchFamily="49" charset="-122"/>
              <a:sym typeface="Arial" charset="0"/>
            </a:endParaRPr>
          </a:p>
        </p:txBody>
      </p:sp>
      <p:graphicFrame>
        <p:nvGraphicFramePr>
          <p:cNvPr id="105475" name="Object 3"/>
          <p:cNvGraphicFramePr>
            <a:graphicFrameLocks noChangeAspect="1"/>
          </p:cNvGraphicFramePr>
          <p:nvPr/>
        </p:nvGraphicFramePr>
        <p:xfrm>
          <a:off x="2911475" y="4005263"/>
          <a:ext cx="1006475" cy="893762"/>
        </p:xfrm>
        <a:graphic>
          <a:graphicData uri="http://schemas.openxmlformats.org/presentationml/2006/ole">
            <mc:AlternateContent xmlns:mc="http://schemas.openxmlformats.org/markup-compatibility/2006">
              <mc:Choice xmlns:v="urn:schemas-microsoft-com:vml" Requires="v">
                <p:oleObj spid="_x0000_s10249" r:id="rId3" imgW="509105" imgH="445467" progId="Equation.DSMT4">
                  <p:embed/>
                </p:oleObj>
              </mc:Choice>
              <mc:Fallback>
                <p:oleObj r:id="rId3" imgW="509105" imgH="445467"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11475" y="4005263"/>
                        <a:ext cx="1006475" cy="8937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138265831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p:cNvSpPr>
            <a:spLocks noGrp="1" noChangeArrowheads="1"/>
          </p:cNvSpPr>
          <p:nvPr>
            <p:ph type="body" idx="1"/>
          </p:nvPr>
        </p:nvSpPr>
        <p:spPr>
          <a:xfrm>
            <a:off x="457200" y="117475"/>
            <a:ext cx="8229600" cy="6010275"/>
          </a:xfrm>
        </p:spPr>
        <p:txBody>
          <a:bodyPr/>
          <a:lstStyle/>
          <a:p>
            <a:pPr>
              <a:lnSpc>
                <a:spcPct val="150000"/>
              </a:lnSpc>
            </a:pPr>
            <a:r>
              <a:rPr lang="zh-CN" altLang="en-US" sz="2400" smtClean="0">
                <a:latin typeface="黑体" pitchFamily="49" charset="-122"/>
                <a:ea typeface="黑体" pitchFamily="49" charset="-122"/>
              </a:rPr>
              <a:t>七、注意事项</a:t>
            </a:r>
          </a:p>
          <a:p>
            <a:pPr>
              <a:lnSpc>
                <a:spcPct val="150000"/>
              </a:lnSpc>
            </a:pPr>
            <a:r>
              <a:rPr lang="zh-CN" altLang="en-US" sz="2400" smtClean="0">
                <a:latin typeface="黑体" pitchFamily="49" charset="-122"/>
                <a:ea typeface="黑体" pitchFamily="49" charset="-122"/>
              </a:rPr>
              <a:t>1、使用分光光度计时，先接通电源，预热30min。为了延长光电管的寿命，在不测定时，将暗盒盖打开。比色皿放置到比色架时，应使其光面连通光路。</a:t>
            </a:r>
          </a:p>
          <a:p>
            <a:pPr>
              <a:lnSpc>
                <a:spcPct val="150000"/>
              </a:lnSpc>
            </a:pPr>
            <a:r>
              <a:rPr lang="zh-CN" altLang="en-US" sz="2400" smtClean="0">
                <a:latin typeface="黑体" pitchFamily="49" charset="-122"/>
                <a:ea typeface="黑体" pitchFamily="49" charset="-122"/>
              </a:rPr>
              <a:t>2、使用酸度计前应预热30min,使仪器稳定，测量pH值应精确到小数点后第二位。</a:t>
            </a:r>
          </a:p>
          <a:p>
            <a:pPr>
              <a:lnSpc>
                <a:spcPct val="150000"/>
              </a:lnSpc>
            </a:pPr>
            <a:r>
              <a:rPr lang="zh-CN" altLang="en-US" sz="2400" smtClean="0">
                <a:latin typeface="黑体" pitchFamily="49" charset="-122"/>
                <a:ea typeface="黑体" pitchFamily="49" charset="-122"/>
              </a:rPr>
              <a:t>3、玻璃电极使用前需在蒸馏水中浸泡24h。如果使用复合pH电极，需在3mol/LKCl溶液中浸泡24h</a:t>
            </a:r>
          </a:p>
          <a:p>
            <a:pPr>
              <a:lnSpc>
                <a:spcPct val="150000"/>
              </a:lnSpc>
            </a:pPr>
            <a:r>
              <a:rPr lang="zh-CN" altLang="en-US" sz="2400" smtClean="0">
                <a:latin typeface="黑体" pitchFamily="49" charset="-122"/>
                <a:ea typeface="黑体" pitchFamily="49" charset="-122"/>
              </a:rPr>
              <a:t>4、如果使用饱和甘汞电极时应将上面的小橡皮塞及下端的橡皮套取下来，以保持液位压差</a:t>
            </a:r>
          </a:p>
        </p:txBody>
      </p:sp>
    </p:spTree>
    <p:extLst>
      <p:ext uri="{BB962C8B-B14F-4D97-AF65-F5344CB8AC3E}">
        <p14:creationId xmlns:p14="http://schemas.microsoft.com/office/powerpoint/2010/main" val="1433008703"/>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39</TotalTime>
  <Words>1177</Words>
  <Application>Microsoft Office PowerPoint</Application>
  <PresentationFormat>全屏显示(4:3)</PresentationFormat>
  <Paragraphs>95</Paragraphs>
  <Slides>19</Slides>
  <Notes>0</Notes>
  <HiddenSlides>0</HiddenSlides>
  <MMClips>0</MMClips>
  <ScaleCrop>false</ScaleCrop>
  <HeadingPairs>
    <vt:vector size="6" baseType="variant">
      <vt:variant>
        <vt:lpstr>主题</vt:lpstr>
      </vt:variant>
      <vt:variant>
        <vt:i4>1</vt:i4>
      </vt:variant>
      <vt:variant>
        <vt:lpstr>嵌入 OLE 服务器</vt:lpstr>
      </vt:variant>
      <vt:variant>
        <vt:i4>3</vt:i4>
      </vt:variant>
      <vt:variant>
        <vt:lpstr>幻灯片标题</vt:lpstr>
      </vt:variant>
      <vt:variant>
        <vt:i4>19</vt:i4>
      </vt:variant>
    </vt:vector>
  </HeadingPairs>
  <TitlesOfParts>
    <vt:vector size="23" baseType="lpstr">
      <vt:lpstr>Office 主题​​</vt:lpstr>
      <vt:lpstr>Microsoft 公式 3.0</vt:lpstr>
      <vt:lpstr>Equation.DSMT4</vt:lpstr>
      <vt:lpstr>Equation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Sky123.Org</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SJLI</dc:creator>
  <cp:lastModifiedBy>guoxia</cp:lastModifiedBy>
  <cp:revision>5</cp:revision>
  <dcterms:created xsi:type="dcterms:W3CDTF">2017-09-05T00:52:47Z</dcterms:created>
  <dcterms:modified xsi:type="dcterms:W3CDTF">2017-09-19T01:50:01Z</dcterms:modified>
</cp:coreProperties>
</file>