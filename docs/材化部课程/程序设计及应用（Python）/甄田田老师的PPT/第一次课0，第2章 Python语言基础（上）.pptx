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6" r:id="rId4"/>
    <p:sldMasterId id="2147483688" r:id="rId5"/>
    <p:sldMasterId id="2147483704" r:id="rId6"/>
  </p:sldMasterIdLst>
  <p:notesMasterIdLst>
    <p:notesMasterId r:id="rId10"/>
  </p:notesMasterIdLst>
  <p:sldIdLst>
    <p:sldId id="484" r:id="rId7"/>
    <p:sldId id="485" r:id="rId8"/>
    <p:sldId id="488" r:id="rId9"/>
    <p:sldId id="577" r:id="rId11"/>
    <p:sldId id="579" r:id="rId12"/>
    <p:sldId id="578" r:id="rId13"/>
    <p:sldId id="499" r:id="rId14"/>
    <p:sldId id="582" r:id="rId15"/>
    <p:sldId id="505" r:id="rId16"/>
    <p:sldId id="583" r:id="rId17"/>
    <p:sldId id="506" r:id="rId18"/>
    <p:sldId id="507" r:id="rId19"/>
    <p:sldId id="584" r:id="rId20"/>
    <p:sldId id="585" r:id="rId21"/>
    <p:sldId id="586" r:id="rId22"/>
    <p:sldId id="508" r:id="rId23"/>
    <p:sldId id="509" r:id="rId24"/>
    <p:sldId id="587" r:id="rId25"/>
    <p:sldId id="510" r:id="rId26"/>
    <p:sldId id="588" r:id="rId27"/>
    <p:sldId id="511" r:id="rId28"/>
    <p:sldId id="512" r:id="rId29"/>
    <p:sldId id="686" r:id="rId30"/>
    <p:sldId id="590" r:id="rId31"/>
    <p:sldId id="596" r:id="rId32"/>
    <p:sldId id="591" r:id="rId33"/>
    <p:sldId id="592" r:id="rId34"/>
    <p:sldId id="609" r:id="rId35"/>
    <p:sldId id="594" r:id="rId36"/>
    <p:sldId id="595" r:id="rId37"/>
    <p:sldId id="597" r:id="rId38"/>
    <p:sldId id="599" r:id="rId39"/>
    <p:sldId id="601" r:id="rId40"/>
    <p:sldId id="610" r:id="rId41"/>
    <p:sldId id="624" r:id="rId42"/>
    <p:sldId id="625" r:id="rId43"/>
    <p:sldId id="626" r:id="rId44"/>
    <p:sldId id="514" r:id="rId45"/>
    <p:sldId id="515" r:id="rId46"/>
    <p:sldId id="629" r:id="rId47"/>
    <p:sldId id="630" r:id="rId48"/>
    <p:sldId id="628" r:id="rId49"/>
    <p:sldId id="632" r:id="rId50"/>
    <p:sldId id="634" r:id="rId51"/>
    <p:sldId id="516" r:id="rId52"/>
    <p:sldId id="517" r:id="rId53"/>
    <p:sldId id="635" r:id="rId54"/>
    <p:sldId id="636" r:id="rId55"/>
    <p:sldId id="638" r:id="rId56"/>
    <p:sldId id="639" r:id="rId57"/>
    <p:sldId id="518" r:id="rId58"/>
    <p:sldId id="687" r:id="rId59"/>
    <p:sldId id="640" r:id="rId60"/>
    <p:sldId id="580" r:id="rId61"/>
    <p:sldId id="581" r:id="rId62"/>
    <p:sldId id="489" r:id="rId63"/>
    <p:sldId id="752" r:id="rId64"/>
    <p:sldId id="612" r:id="rId65"/>
    <p:sldId id="613" r:id="rId66"/>
    <p:sldId id="735" r:id="rId67"/>
    <p:sldId id="736" r:id="rId68"/>
    <p:sldId id="737" r:id="rId69"/>
    <p:sldId id="741" r:id="rId70"/>
    <p:sldId id="616" r:id="rId71"/>
    <p:sldId id="614" r:id="rId72"/>
    <p:sldId id="615" r:id="rId73"/>
    <p:sldId id="617" r:id="rId74"/>
    <p:sldId id="738" r:id="rId75"/>
    <p:sldId id="739" r:id="rId76"/>
    <p:sldId id="742" r:id="rId77"/>
    <p:sldId id="526" r:id="rId78"/>
    <p:sldId id="684" r:id="rId79"/>
    <p:sldId id="497" r:id="rId80"/>
  </p:sldIdLst>
  <p:sldSz cx="12192000" cy="6858000"/>
  <p:notesSz cx="6858000" cy="9144000"/>
  <p:custDataLst>
    <p:tags r:id="rId8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E414DD7-CFAE-436B-8006-133D14A5B8DE}">
          <p14:sldIdLst>
            <p14:sldId id="484"/>
            <p14:sldId id="485"/>
            <p14:sldId id="488"/>
            <p14:sldId id="577"/>
            <p14:sldId id="579"/>
            <p14:sldId id="578"/>
          </p14:sldIdLst>
        </p14:section>
        <p14:section name="2.2 数据类型" id="{B43FA41B-9692-4CF7-8BF6-03FE6C46C9A4}">
          <p14:sldIdLst>
            <p14:sldId id="499"/>
            <p14:sldId id="582"/>
            <p14:sldId id="505"/>
            <p14:sldId id="583"/>
            <p14:sldId id="506"/>
            <p14:sldId id="507"/>
            <p14:sldId id="584"/>
            <p14:sldId id="585"/>
            <p14:sldId id="586"/>
            <p14:sldId id="508"/>
            <p14:sldId id="509"/>
            <p14:sldId id="587"/>
            <p14:sldId id="510"/>
            <p14:sldId id="588"/>
            <p14:sldId id="511"/>
            <p14:sldId id="512"/>
            <p14:sldId id="686"/>
            <p14:sldId id="590"/>
            <p14:sldId id="596"/>
            <p14:sldId id="591"/>
            <p14:sldId id="592"/>
            <p14:sldId id="609"/>
            <p14:sldId id="594"/>
            <p14:sldId id="595"/>
            <p14:sldId id="597"/>
            <p14:sldId id="599"/>
            <p14:sldId id="601"/>
            <p14:sldId id="610"/>
            <p14:sldId id="624"/>
            <p14:sldId id="625"/>
            <p14:sldId id="626"/>
            <p14:sldId id="514"/>
            <p14:sldId id="515"/>
            <p14:sldId id="629"/>
            <p14:sldId id="630"/>
            <p14:sldId id="628"/>
            <p14:sldId id="632"/>
            <p14:sldId id="634"/>
            <p14:sldId id="516"/>
            <p14:sldId id="517"/>
            <p14:sldId id="635"/>
            <p14:sldId id="636"/>
            <p14:sldId id="638"/>
            <p14:sldId id="639"/>
            <p14:sldId id="518"/>
            <p14:sldId id="687"/>
          </p14:sldIdLst>
        </p14:section>
        <p14:section name="2.1常量" id="{9a7c4d52-7485-4e36-922f-5bec688f8622}">
          <p14:sldIdLst>
            <p14:sldId id="640"/>
            <p14:sldId id="580"/>
            <p14:sldId id="581"/>
          </p14:sldIdLst>
        </p14:section>
        <p14:section name="2.3 变量" id="{BB007DBE-6F19-4A48-81ED-4B761F7CCE27}">
          <p14:sldIdLst>
            <p14:sldId id="489"/>
            <p14:sldId id="752"/>
            <p14:sldId id="612"/>
            <p14:sldId id="613"/>
            <p14:sldId id="735"/>
            <p14:sldId id="736"/>
            <p14:sldId id="737"/>
            <p14:sldId id="741"/>
            <p14:sldId id="616"/>
            <p14:sldId id="614"/>
            <p14:sldId id="615"/>
            <p14:sldId id="617"/>
            <p14:sldId id="738"/>
            <p14:sldId id="739"/>
            <p14:sldId id="742"/>
            <p14:sldId id="526"/>
            <p14:sldId id="684"/>
            <p14:sldId id="497"/>
          </p14:sldIdLst>
        </p14:section>
        <p14:section name="2.1 常量" id="{7101EC97-23BB-4199-AFC2-A3B0C05794CB}">
          <p14:sldIdLst/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890" autoAdjust="0"/>
  </p:normalViewPr>
  <p:slideViewPr>
    <p:cSldViewPr showGuides="1">
      <p:cViewPr varScale="1">
        <p:scale>
          <a:sx n="65" d="100"/>
          <a:sy n="65" d="100"/>
        </p:scale>
        <p:origin x="354" y="24"/>
      </p:cViewPr>
      <p:guideLst>
        <p:guide orient="horz" pos="2226"/>
        <p:guide pos="38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5" Type="http://schemas.openxmlformats.org/officeDocument/2006/relationships/tags" Target="tags/tag169.xml"/><Relationship Id="rId84" Type="http://schemas.openxmlformats.org/officeDocument/2006/relationships/commentAuthors" Target="commentAuthors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slide" Target="slides/slide73.xml"/><Relationship Id="rId8" Type="http://schemas.openxmlformats.org/officeDocument/2006/relationships/slide" Target="slides/slide2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复合数据类型一般包括列表（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）、元组（</a:t>
            </a:r>
            <a:r>
              <a:rPr lang="en-US" altLang="zh-CN" dirty="0" smtClean="0"/>
              <a:t>tuple</a:t>
            </a:r>
            <a:r>
              <a:rPr lang="zh-CN" altLang="en-US" dirty="0" smtClean="0"/>
              <a:t>）、字典（</a:t>
            </a:r>
            <a:r>
              <a:rPr lang="en-US" altLang="zh-CN" dirty="0" smtClean="0"/>
              <a:t>dictionary</a:t>
            </a:r>
            <a:r>
              <a:rPr lang="zh-CN" altLang="en-US" dirty="0" smtClean="0"/>
              <a:t>）和集合（</a:t>
            </a:r>
            <a:r>
              <a:rPr lang="en-US" altLang="zh-CN" dirty="0" smtClean="0"/>
              <a:t>set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并不是所有的字符都是可以很，例如制表符、换行符等，所以字符串中除了直接出现的普通字符外，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语言还允许使用一种特殊形式的字符，称为转义字符。它是，采用指定形式来表示指定的特殊字符。例如，。示例如下：</a:t>
            </a:r>
            <a:endParaRPr lang="zh-CN" altLang="en-US" dirty="0" smtClean="0"/>
          </a:p>
          <a:p>
            <a:r>
              <a:rPr lang="en-US" altLang="zh-CN" dirty="0" smtClean="0"/>
              <a:t>&gt;&gt;&gt; print('</a:t>
            </a:r>
            <a:r>
              <a:rPr lang="en-US" altLang="zh-CN" dirty="0" err="1" smtClean="0"/>
              <a:t>abc</a:t>
            </a:r>
            <a:r>
              <a:rPr lang="en-US" altLang="zh-CN" dirty="0" smtClean="0"/>
              <a:t>\n123')</a:t>
            </a:r>
            <a:endParaRPr lang="en-US" altLang="zh-CN" dirty="0" smtClean="0"/>
          </a:p>
          <a:p>
            <a:r>
              <a:rPr lang="en-US" altLang="zh-CN" dirty="0" err="1" smtClean="0"/>
              <a:t>abc</a:t>
            </a:r>
            <a:endParaRPr lang="en-US" altLang="zh-CN" dirty="0" smtClean="0"/>
          </a:p>
          <a:p>
            <a:r>
              <a:rPr lang="en-US" altLang="zh-CN" dirty="0" smtClean="0"/>
              <a:t>123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	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复合数据类型一般包括列表（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）、元组（</a:t>
            </a:r>
            <a:r>
              <a:rPr lang="en-US" altLang="zh-CN" dirty="0" smtClean="0"/>
              <a:t>tuple</a:t>
            </a:r>
            <a:r>
              <a:rPr lang="zh-CN" altLang="en-US" dirty="0" smtClean="0"/>
              <a:t>）、字典（</a:t>
            </a:r>
            <a:r>
              <a:rPr lang="en-US" altLang="zh-CN" dirty="0" smtClean="0"/>
              <a:t>dictionary</a:t>
            </a:r>
            <a:r>
              <a:rPr lang="zh-CN" altLang="en-US" dirty="0" smtClean="0"/>
              <a:t>）和集合（</a:t>
            </a:r>
            <a:r>
              <a:rPr lang="en-US" altLang="zh-CN" dirty="0" smtClean="0"/>
              <a:t>set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．	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、实数</a:t>
            </a:r>
            <a:r>
              <a:rPr lang="en-US" altLang="zh-CN" dirty="0" smtClean="0"/>
              <a:t>float</a:t>
            </a:r>
            <a:r>
              <a:rPr lang="zh-CN" altLang="en-US" dirty="0" smtClean="0"/>
              <a:t>、复数</a:t>
            </a:r>
            <a:r>
              <a:rPr lang="en-US" altLang="zh-CN" dirty="0" smtClean="0"/>
              <a:t>complex</a:t>
            </a:r>
            <a:r>
              <a:rPr lang="zh-CN" altLang="en-US" dirty="0" smtClean="0"/>
              <a:t>、字符串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和元组</a:t>
            </a:r>
            <a:r>
              <a:rPr lang="en-US" altLang="zh-CN" dirty="0" smtClean="0"/>
              <a:t>tuple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、和集合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set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、和集合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set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5.xml"/><Relationship Id="rId7" Type="http://schemas.openxmlformats.org/officeDocument/2006/relationships/image" Target="../media/image6.png"/><Relationship Id="rId6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5.pn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image" Target="../media/image10.png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3" Type="http://schemas.openxmlformats.org/officeDocument/2006/relationships/image" Target="../media/image9.png"/><Relationship Id="rId12" Type="http://schemas.openxmlformats.org/officeDocument/2006/relationships/tags" Target="../tags/tag42.xml"/><Relationship Id="rId11" Type="http://schemas.openxmlformats.org/officeDocument/2006/relationships/image" Target="../media/image10.png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image" Target="../media/image12.png"/><Relationship Id="rId5" Type="http://schemas.openxmlformats.org/officeDocument/2006/relationships/tags" Target="../tags/tag45.xml"/><Relationship Id="rId4" Type="http://schemas.openxmlformats.org/officeDocument/2006/relationships/image" Target="../media/image11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14.png"/><Relationship Id="rId2" Type="http://schemas.openxmlformats.org/officeDocument/2006/relationships/tags" Target="../tags/tag6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image" Target="../media/image5.png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5.png"/><Relationship Id="rId4" Type="http://schemas.openxmlformats.org/officeDocument/2006/relationships/tags" Target="../tags/tag77.xml"/><Relationship Id="rId3" Type="http://schemas.openxmlformats.org/officeDocument/2006/relationships/image" Target="../media/image15.png"/><Relationship Id="rId2" Type="http://schemas.openxmlformats.org/officeDocument/2006/relationships/tags" Target="../tags/tag76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image" Target="../media/image6.png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png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image" Target="../media/image18.png"/><Relationship Id="rId2" Type="http://schemas.openxmlformats.org/officeDocument/2006/relationships/tags" Target="../tags/tag113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19.png"/><Relationship Id="rId2" Type="http://schemas.openxmlformats.org/officeDocument/2006/relationships/tags" Target="../tags/tag12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136.xml"/><Relationship Id="rId7" Type="http://schemas.openxmlformats.org/officeDocument/2006/relationships/image" Target="../media/image20.png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单击以编辑母版副标题样式</a:t>
            </a:r>
            <a:endParaRPr lang="zh-CN" altLang="en-US" strike="noStrike" noProof="1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6"/>
                </p:custDataLst>
              </p:nvPr>
            </p:nvPicPr>
            <p:blipFill rotWithShape="1">
              <a:blip r:embed="rId7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25" y="443230"/>
            <a:ext cx="10852150" cy="716915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25" y="1160145"/>
            <a:ext cx="10852150" cy="518096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12192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251487" y="2681555"/>
            <a:ext cx="3577049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251487" y="3459937"/>
            <a:ext cx="3577050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0" y="-15482"/>
            <a:ext cx="3649343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 rot="10800000">
            <a:off x="8542657" y="15483"/>
            <a:ext cx="3649343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14"/>
            </p:custDataLst>
          </p:nvPr>
        </p:nvSpPr>
        <p:spPr>
          <a:xfrm>
            <a:off x="5638165" y="1484173"/>
            <a:ext cx="9144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5400000">
            <a:off x="-3378783" y="2809615"/>
            <a:ext cx="68580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13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image" Target="../media/image4.jpeg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7" Type="http://schemas.openxmlformats.org/officeDocument/2006/relationships/theme" Target="../theme/theme4.xml"/><Relationship Id="rId16" Type="http://schemas.openxmlformats.org/officeDocument/2006/relationships/image" Target="../media/image4.jpeg"/><Relationship Id="rId15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3" Type="http://schemas.openxmlformats.org/officeDocument/2006/relationships/theme" Target="../theme/theme5.xml"/><Relationship Id="rId32" Type="http://schemas.openxmlformats.org/officeDocument/2006/relationships/tags" Target="../tags/tag144.xml"/><Relationship Id="rId31" Type="http://schemas.openxmlformats.org/officeDocument/2006/relationships/tags" Target="../tags/tag143.xml"/><Relationship Id="rId30" Type="http://schemas.openxmlformats.org/officeDocument/2006/relationships/tags" Target="../tags/tag142.xml"/><Relationship Id="rId3" Type="http://schemas.openxmlformats.org/officeDocument/2006/relationships/slideLayout" Target="../slideLayouts/slideLayout55.xml"/><Relationship Id="rId29" Type="http://schemas.openxmlformats.org/officeDocument/2006/relationships/tags" Target="../tags/tag141.xml"/><Relationship Id="rId28" Type="http://schemas.openxmlformats.org/officeDocument/2006/relationships/tags" Target="../tags/tag140.xml"/><Relationship Id="rId27" Type="http://schemas.openxmlformats.org/officeDocument/2006/relationships/tags" Target="../tags/tag139.xml"/><Relationship Id="rId26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8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4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4.xml"/><Relationship Id="rId4" Type="http://schemas.openxmlformats.org/officeDocument/2006/relationships/tags" Target="../tags/tag146.xml"/><Relationship Id="rId3" Type="http://schemas.openxmlformats.org/officeDocument/2006/relationships/slide" Target="slide56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5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4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2.jpe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4.xml"/><Relationship Id="rId4" Type="http://schemas.openxmlformats.org/officeDocument/2006/relationships/tags" Target="../tags/tag157.xml"/><Relationship Id="rId3" Type="http://schemas.openxmlformats.org/officeDocument/2006/relationships/slide" Target="slide56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58.xml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6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2.jpe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3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2540" y="2292350"/>
            <a:ext cx="9437370" cy="1151255"/>
          </a:xfrm>
        </p:spPr>
        <p:txBody>
          <a:bodyPr/>
          <a:lstStyle/>
          <a:p>
            <a:r>
              <a:rPr lang="zh-CN" altLang="en-US" dirty="0">
                <a:latin typeface="+mj-lt"/>
                <a:ea typeface="+mj-ea"/>
                <a:sym typeface="+mn-ea"/>
              </a:rPr>
              <a:t>第</a:t>
            </a:r>
            <a:r>
              <a:rPr lang="en-US" altLang="zh-CN" dirty="0">
                <a:latin typeface="+mj-lt"/>
                <a:ea typeface="+mj-ea"/>
                <a:sym typeface="+mn-ea"/>
              </a:rPr>
              <a:t>2</a:t>
            </a:r>
            <a:r>
              <a:rPr lang="zh-CN" altLang="en-US" dirty="0">
                <a:latin typeface="+mj-lt"/>
                <a:ea typeface="+mj-ea"/>
                <a:sym typeface="+mn-ea"/>
              </a:rPr>
              <a:t>章 </a:t>
            </a:r>
            <a:r>
              <a:rPr lang="en-US" altLang="zh-CN" dirty="0">
                <a:latin typeface="+mj-lt"/>
                <a:ea typeface="+mj-ea"/>
                <a:sym typeface="+mn-ea"/>
              </a:rPr>
              <a:t>Python</a:t>
            </a:r>
            <a:r>
              <a:rPr lang="zh-CN" altLang="en-US" dirty="0">
                <a:latin typeface="+mj-lt"/>
                <a:ea typeface="+mj-ea"/>
                <a:sym typeface="+mn-ea"/>
              </a:rPr>
              <a:t>语言基础</a:t>
            </a:r>
            <a:endParaRPr lang="zh-CN" altLang="en-US" dirty="0">
              <a:latin typeface="+mj-lt"/>
              <a:ea typeface="+mj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669925" y="133985"/>
            <a:ext cx="10852150" cy="716915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zh-CN" altLang="en-US" sz="4000" dirty="0"/>
              <a:t>目录</a:t>
            </a:r>
            <a:endParaRPr lang="zh-CN" altLang="en-US" sz="4000" dirty="0"/>
          </a:p>
        </p:txBody>
      </p:sp>
      <p:sp>
        <p:nvSpPr>
          <p:cNvPr id="13315" name="内容占位符 2"/>
          <p:cNvSpPr>
            <a:spLocks noGrp="1"/>
          </p:cNvSpPr>
          <p:nvPr>
            <p:ph idx="1" hasCustomPrompt="1"/>
          </p:nvPr>
        </p:nvSpPr>
        <p:spPr>
          <a:xfrm>
            <a:off x="669925" y="850265"/>
            <a:ext cx="10852150" cy="5909310"/>
          </a:xfrm>
        </p:spPr>
        <p:txBody>
          <a:bodyPr vert="horz" wrap="square" lIns="91440" tIns="45720" rIns="91440" bIns="45720" anchor="t">
            <a:normAutofit fontScale="90000" lnSpcReduction="20000"/>
          </a:bodyPr>
          <a:lstStyle/>
          <a:p>
            <a:r>
              <a:rPr lang="en-US" altLang="zh-CN" sz="3200" dirty="0"/>
              <a:t>2.2 </a:t>
            </a:r>
            <a:r>
              <a:rPr sz="3200" dirty="0">
                <a:hlinkClick r:id="rId1" action="ppaction://hlinksldjump"/>
              </a:rPr>
              <a:t>数据类型</a:t>
            </a:r>
            <a:endParaRPr sz="3200" dirty="0">
              <a:hlinkClick r:id="rId1" action="ppaction://hlinksldjump"/>
            </a:endParaRPr>
          </a:p>
          <a:p>
            <a:endParaRPr lang="zh-CN" altLang="en-US" sz="3200" dirty="0"/>
          </a:p>
          <a:p>
            <a:r>
              <a:rPr lang="en-US" altLang="zh-CN" sz="3200">
                <a:sym typeface="+mn-ea"/>
              </a:rPr>
              <a:t>2.1 </a:t>
            </a:r>
            <a:r>
              <a:rPr sz="3200">
                <a:sym typeface="+mn-ea"/>
                <a:hlinkClick r:id="rId2" action="ppaction://hlinksldjump"/>
              </a:rPr>
              <a:t>常量</a:t>
            </a:r>
            <a:endParaRPr lang="zh-CN" altLang="en-US" sz="3200" dirty="0"/>
          </a:p>
          <a:p>
            <a:r>
              <a:rPr lang="en-US" altLang="zh-CN" sz="3200" dirty="0"/>
              <a:t>2.3 </a:t>
            </a:r>
            <a:r>
              <a:rPr sz="3200" dirty="0">
                <a:hlinkClick r:id="rId3" action="ppaction://hlinksldjump"/>
              </a:rPr>
              <a:t>变量</a:t>
            </a:r>
            <a:endParaRPr sz="3200" dirty="0">
              <a:hlinkClick r:id="rId3" action="ppaction://hlinksldjump"/>
            </a:endParaRPr>
          </a:p>
          <a:p>
            <a:endParaRPr lang="zh-CN" altLang="en-US" sz="3200" dirty="0"/>
          </a:p>
          <a:p>
            <a:r>
              <a:rPr lang="en-US" altLang="zh-CN" sz="3200" dirty="0"/>
              <a:t>2.4 </a:t>
            </a:r>
            <a:r>
              <a:rPr sz="3200" dirty="0">
                <a:hlinkClick r:id="rId2" action="ppaction://hlinksldjump"/>
              </a:rPr>
              <a:t>基本运算</a:t>
            </a:r>
            <a:endParaRPr lang="zh-CN" altLang="en-US" sz="3200" dirty="0"/>
          </a:p>
          <a:p>
            <a:r>
              <a:rPr lang="en-US" altLang="zh-CN" sz="3200" dirty="0"/>
              <a:t>2.5 </a:t>
            </a:r>
            <a:r>
              <a:rPr sz="3200" dirty="0">
                <a:hlinkClick r:id="rId2" action="ppaction://hlinksldjump"/>
              </a:rPr>
              <a:t>常用系统函数</a:t>
            </a:r>
            <a:endParaRPr sz="3200" dirty="0">
              <a:hlinkClick r:id="rId2" action="ppaction://hlinksldjump"/>
            </a:endParaRPr>
          </a:p>
          <a:p>
            <a:endParaRPr sz="3200" dirty="0"/>
          </a:p>
          <a:p>
            <a:r>
              <a:rPr lang="en-US" altLang="zh-CN" sz="3200" dirty="0"/>
              <a:t>2.6 </a:t>
            </a:r>
            <a:r>
              <a:rPr lang="en-US" altLang="zh-CN" sz="3200" dirty="0">
                <a:hlinkClick r:id="rId2" action="ppaction://hlinksldjump"/>
              </a:rPr>
              <a:t>Python</a:t>
            </a:r>
            <a:r>
              <a:rPr sz="3200" dirty="0">
                <a:hlinkClick r:id="rId2" action="ppaction://hlinksldjump"/>
              </a:rPr>
              <a:t>的帮助系统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3728720" y="850900"/>
            <a:ext cx="517525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4800" b="1">
                <a:solidFill>
                  <a:srgbClr val="FF0000"/>
                </a:solidFill>
                <a:cs typeface="Arial" panose="020B0604020202020204" pitchFamily="34" charset="0"/>
              </a:rPr>
              <a:t>√</a:t>
            </a:r>
            <a:endParaRPr lang="zh-CN" altLang="en-US" sz="4800" b="1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2.2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数据类型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3690" y="0"/>
            <a:ext cx="30562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  <a:sym typeface="+mn-ea"/>
              </a:rPr>
              <a:t>Python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  <a:sym typeface="+mn-ea"/>
              </a:rPr>
              <a:t>的对象模型</a:t>
            </a:r>
            <a:endParaRPr lang="zh-CN" altLang="en-US" sz="2800"/>
          </a:p>
        </p:txBody>
      </p:sp>
      <p:graphicFrame>
        <p:nvGraphicFramePr>
          <p:cNvPr id="34819" name="表格 34818"/>
          <p:cNvGraphicFramePr/>
          <p:nvPr>
            <p:custDataLst>
              <p:tags r:id="rId1"/>
            </p:custDataLst>
          </p:nvPr>
        </p:nvGraphicFramePr>
        <p:xfrm>
          <a:off x="83185" y="533400"/>
          <a:ext cx="12001500" cy="5165725"/>
        </p:xfrm>
        <a:graphic>
          <a:graphicData uri="http://schemas.openxmlformats.org/drawingml/2006/table">
            <a:tbl>
              <a:tblPr/>
              <a:tblGrid>
                <a:gridCol w="1224280"/>
                <a:gridCol w="1688465"/>
                <a:gridCol w="3807460"/>
                <a:gridCol w="5281295"/>
              </a:tblGrid>
              <a:tr h="5562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对象类型</a:t>
                      </a:r>
                      <a:endParaRPr lang="zh-CN" altLang="en-US" sz="20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</a:rPr>
                        <a:t>类型名称</a:t>
                      </a:r>
                      <a:endParaRPr lang="zh-CN" altLang="en-US" sz="2000" b="1" dirty="0">
                        <a:latin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示例</a:t>
                      </a:r>
                      <a:endParaRPr lang="zh-CN" altLang="en-US" sz="20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</a:rPr>
                        <a:t>简要说明</a:t>
                      </a:r>
                      <a:endParaRPr lang="zh-CN" altLang="en-US" sz="2000" b="1" dirty="0">
                        <a:latin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9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数字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int, float, complex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1234,  3.14, 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1.3e5,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 3+4j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数字大小没有限制，内置支持复数及其运算</a:t>
                      </a:r>
                      <a:endParaRPr lang="zh-CN" altLang="en-US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3795"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布尔型</a:t>
                      </a:r>
                      <a:endParaRPr lang="zh-CN" altLang="en-US" sz="2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bool</a:t>
                      </a:r>
                      <a:endParaRPr lang="en-US" altLang="zh-CN" sz="22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True, False</a:t>
                      </a:r>
                      <a:endParaRPr lang="en-US" altLang="zh-CN" sz="2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逻辑值，关系运算符、成员测试运算符、同一性测试运算符组成的表达式的值一般为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False</a:t>
                      </a:r>
                      <a:endParaRPr lang="en-US" altLang="zh-CN" sz="2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3270"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空类型</a:t>
                      </a:r>
                      <a:endParaRPr lang="zh-CN" altLang="en-US" sz="2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NoneType</a:t>
                      </a:r>
                      <a:endParaRPr lang="en-US" altLang="zh-CN" sz="22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None</a:t>
                      </a:r>
                      <a:endParaRPr lang="en-US" altLang="zh-CN" sz="2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空值</a:t>
                      </a:r>
                      <a:endParaRPr lang="zh-CN" altLang="en-US" sz="22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443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字符串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str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'swfu', "I'm student", '''Python '''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, r'abc', R'bcd'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使用单引号、双引号、三引号作为定界符，以字母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引导的表示原始字符串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9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</a:rPr>
                        <a:t>字节串</a:t>
                      </a:r>
                      <a:endParaRPr lang="zh-CN" altLang="en-US" sz="22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</a:rPr>
                        <a:t>bytes</a:t>
                      </a:r>
                      <a:endParaRPr lang="en-US" altLang="zh-CN" sz="22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</a:rPr>
                        <a:t>b</a:t>
                      </a:r>
                      <a:r>
                        <a:rPr lang="en-US" altLang="zh-CN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’</a:t>
                      </a:r>
                      <a:r>
                        <a:rPr lang="en-US" altLang="zh-CN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</a:rPr>
                        <a:t>hello world</a:t>
                      </a:r>
                      <a:r>
                        <a:rPr lang="en-US" altLang="zh-CN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’</a:t>
                      </a:r>
                      <a:endParaRPr lang="en-US" altLang="zh-CN" sz="22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以字母</a:t>
                      </a:r>
                      <a:r>
                        <a:rPr lang="en-US" altLang="zh-CN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zh-CN" altLang="en-US" sz="2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引导，可以使用单引号、双引号、三引号作为定界符</a:t>
                      </a:r>
                      <a:endParaRPr lang="zh-CN" altLang="en-US" sz="22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819" name="表格 34818"/>
          <p:cNvGraphicFramePr/>
          <p:nvPr>
            <p:custDataLst>
              <p:tags r:id="rId1"/>
            </p:custDataLst>
          </p:nvPr>
        </p:nvGraphicFramePr>
        <p:xfrm>
          <a:off x="101600" y="157480"/>
          <a:ext cx="11988800" cy="5994400"/>
        </p:xfrm>
        <a:graphic>
          <a:graphicData uri="http://schemas.openxmlformats.org/drawingml/2006/table">
            <a:tbl>
              <a:tblPr/>
              <a:tblGrid>
                <a:gridCol w="796925"/>
                <a:gridCol w="1463040"/>
                <a:gridCol w="4453255"/>
                <a:gridCol w="5275580"/>
              </a:tblGrid>
              <a:tr h="1257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列表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list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[1, 2, 3]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['a', 'b', ['c', 2]]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所有元素放在一对方括号中，元素之间使用逗号分隔，其中的元素可以是任意类型</a:t>
                      </a:r>
                      <a:endParaRPr lang="zh-CN" altLang="en-US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031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字典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dict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{1:'food' ,2:'taste', 3:'import'}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所有元素放在一对大括号中，元素之间使用逗号分隔，</a:t>
                      </a:r>
                      <a:r>
                        <a:rPr lang="zh-CN" altLang="en-US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元素形式为“键</a:t>
                      </a:r>
                      <a:r>
                        <a:rPr lang="en-US" altLang="zh-CN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:</a:t>
                      </a:r>
                      <a:r>
                        <a:rPr lang="zh-CN" altLang="en-US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值”</a:t>
                      </a:r>
                      <a:endParaRPr lang="zh-CN" altLang="en-US" sz="22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46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元组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tuple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(2, -5, 6)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, (3,)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不可变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，所有元素放在一对圆括号中，元素之间使用逗号分隔，</a:t>
                      </a:r>
                      <a:r>
                        <a:rPr lang="zh-CN" altLang="en-US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如果元组中只有一个元素的话，后面的逗号不能省略</a:t>
                      </a:r>
                      <a:endParaRPr lang="zh-CN" altLang="en-US" sz="22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10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集合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set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frozenset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{'a', 'b', 'c'}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所有元素放在一对大括号中，元素之间使用逗号分隔，</a:t>
                      </a:r>
                      <a:r>
                        <a:rPr lang="zh-CN" altLang="en-US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元素不允许重复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;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另外，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set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是可变的，而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frozenset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是不可变的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1085"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其他可迭代对象</a:t>
                      </a:r>
                      <a:endParaRPr lang="zh-CN" altLang="en-US" sz="22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22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生成器对象、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range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对象、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zip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对象、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enumerate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对象、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map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对象、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filter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对象等等</a:t>
                      </a:r>
                      <a:endParaRPr lang="en-US" altLang="zh-CN" sz="22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具有</a:t>
                      </a:r>
                      <a:r>
                        <a:rPr lang="zh-CN" altLang="en-US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惰性求值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的特点，除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range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对象之外，其他对象中的元素只能看一次</a:t>
                      </a:r>
                      <a:endParaRPr lang="zh-CN" altLang="en-US" sz="22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842" name="表格 35841"/>
          <p:cNvGraphicFramePr/>
          <p:nvPr>
            <p:custDataLst>
              <p:tags r:id="rId1"/>
            </p:custDataLst>
          </p:nvPr>
        </p:nvGraphicFramePr>
        <p:xfrm>
          <a:off x="72390" y="548005"/>
          <a:ext cx="11943080" cy="4826635"/>
        </p:xfrm>
        <a:graphic>
          <a:graphicData uri="http://schemas.openxmlformats.org/drawingml/2006/table">
            <a:tbl>
              <a:tblPr/>
              <a:tblGrid>
                <a:gridCol w="1532255"/>
                <a:gridCol w="1674495"/>
                <a:gridCol w="4098925"/>
                <a:gridCol w="4637405"/>
              </a:tblGrid>
              <a:tr h="55435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对象类型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类型名称</a:t>
                      </a:r>
                      <a:endParaRPr lang="zh-CN" altLang="en-US" sz="2200" b="1" dirty="0">
                        <a:latin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示例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简要说明</a:t>
                      </a:r>
                      <a:endParaRPr lang="zh-CN" altLang="en-US" sz="2200" b="1" dirty="0">
                        <a:latin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147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异常</a:t>
                      </a:r>
                      <a:endParaRPr lang="zh-CN" altLang="en-US" sz="2200" b="1" dirty="0">
                        <a:latin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Exception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ValueError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TypeError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Python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内置大量异常类，分别对应不同类型的异常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870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文件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 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f 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=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 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open('data.dat', 'r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</a:rPr>
                        <a:t>b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')</a:t>
                      </a:r>
                      <a:endParaRPr lang="en-US" altLang="zh-CN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open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Python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内置函数，使用指定的模式打开文件，返回文件对象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210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编程单元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200" b="1" dirty="0">
                          <a:latin typeface="宋体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函数（使用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def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定义）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类（使用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class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定义）</a:t>
                      </a:r>
                      <a:endParaRPr lang="zh-CN" altLang="en-US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模块（类型为</a:t>
                      </a:r>
                      <a:r>
                        <a:rPr lang="en-US" altLang="zh-CN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module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en-US" altLang="zh-CN" sz="2200" b="1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类和函数都属于</a:t>
                      </a:r>
                      <a:r>
                        <a:rPr lang="zh-CN" altLang="en-US" sz="22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可调用对象</a:t>
                      </a:r>
                      <a:r>
                        <a:rPr lang="zh-CN" altLang="en-US" sz="2200" b="1" dirty="0">
                          <a:latin typeface="宋体" panose="02010600030101010101" pitchFamily="2" charset="-122"/>
                        </a:rPr>
                        <a:t>，模块用来集中存放函数、类、常量或其他对象</a:t>
                      </a:r>
                      <a:endParaRPr lang="zh-CN" altLang="en-US" sz="2200" b="1" dirty="0">
                        <a:latin typeface="宋体" panose="02010600030101010101" pitchFamily="2" charset="-122"/>
                      </a:endParaRPr>
                    </a:p>
                  </a:txBody>
                  <a:tcPr marL="36195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中数据的类型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17505" y="2314488"/>
            <a:ext cx="3600000" cy="3580223"/>
          </a:xfrm>
          <a:prstGeom prst="rect">
            <a:avLst/>
          </a:prstGeom>
          <a:solidFill>
            <a:srgbClr val="FFFFFF"/>
          </a:solidFill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数值（</a:t>
            </a:r>
            <a:r>
              <a:rPr lang="en-US" altLang="zh-CN" sz="2400" dirty="0">
                <a:solidFill>
                  <a:schemeClr val="tx1"/>
                </a:solidFill>
              </a:rPr>
              <a:t>numbers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字符串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string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布尔</a:t>
            </a:r>
            <a:r>
              <a:rPr lang="zh-CN" altLang="en-US" sz="2400" dirty="0">
                <a:solidFill>
                  <a:schemeClr val="tx1"/>
                </a:solidFill>
              </a:rPr>
              <a:t>类型（</a:t>
            </a:r>
            <a:r>
              <a:rPr lang="en-US" altLang="zh-CN" sz="2400" dirty="0">
                <a:solidFill>
                  <a:schemeClr val="tx1"/>
                </a:solidFill>
              </a:rPr>
              <a:t>bool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417505" y="1988840"/>
            <a:ext cx="3600000" cy="651295"/>
          </a:xfrm>
          <a:prstGeom prst="homePlate">
            <a:avLst>
              <a:gd name="adj" fmla="val 63872"/>
            </a:avLst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基本数据类型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13803" y="2314488"/>
            <a:ext cx="3600000" cy="3580223"/>
          </a:xfrm>
          <a:prstGeom prst="rect">
            <a:avLst/>
          </a:prstGeom>
          <a:solidFill>
            <a:srgbClr val="FFFFFF"/>
          </a:solidFill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列表（</a:t>
            </a:r>
            <a:r>
              <a:rPr lang="en-US" altLang="zh-CN" sz="2400" dirty="0">
                <a:solidFill>
                  <a:schemeClr val="tx1"/>
                </a:solidFill>
              </a:rPr>
              <a:t>list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元组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tuple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字典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dictionary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集合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set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 flipH="1">
            <a:off x="6813803" y="1988840"/>
            <a:ext cx="3600000" cy="651295"/>
          </a:xfrm>
          <a:prstGeom prst="homePlate">
            <a:avLst>
              <a:gd name="adj" fmla="val 63872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 smtClea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复合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数据类型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8455" y="2130425"/>
            <a:ext cx="127127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0">
                <a:solidFill>
                  <a:srgbClr val="FF0000"/>
                </a:solidFill>
                <a:cs typeface="Arial" panose="020B0604020202020204" pitchFamily="34" charset="0"/>
              </a:rPr>
              <a:t>√</a:t>
            </a:r>
            <a:endParaRPr lang="zh-CN" altLang="en-US" sz="800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2.2.1 </a:t>
            </a:r>
            <a:r>
              <a:rPr smtClean="0">
                <a:sym typeface="+mn-ea"/>
              </a:rPr>
              <a:t>数值</a:t>
            </a:r>
            <a:r>
              <a:rPr>
                <a:sym typeface="+mn-ea"/>
              </a:rPr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lvl="1" algn="l" defTabSz="914400" eaLnBrk="1" hangingPunct="1">
              <a:buClrTx/>
              <a:buSzTx/>
              <a:buChar char="•"/>
            </a:pPr>
            <a:r>
              <a:rPr smtClean="0">
                <a:sym typeface="+mn-ea"/>
              </a:rPr>
              <a:t>数值</a:t>
            </a:r>
            <a:r>
              <a:rPr smtClean="0">
                <a:sym typeface="+mn-ea"/>
              </a:rPr>
              <a:t>是不可变对象，可以表示任意大小的数字。</a:t>
            </a:r>
            <a:endParaRPr lang="zh-CN" altLang="en-US" dirty="0" smtClean="0"/>
          </a:p>
          <a:p>
            <a:pPr marL="228600" lvl="1" algn="l" defTabSz="914400" eaLnBrk="1" hangingPunct="1">
              <a:lnSpc>
                <a:spcPct val="130000"/>
              </a:lnSpc>
              <a:buClrTx/>
              <a:buSzTx/>
            </a:pPr>
            <a:r>
              <a:rPr smtClean="0">
                <a:sym typeface="+mn-ea"/>
              </a:rPr>
              <a:t>&gt;&gt;&gt; a=99999999999999999999999999999999</a:t>
            </a:r>
            <a:endParaRPr altLang="en-US" dirty="0" smtClean="0"/>
          </a:p>
          <a:p>
            <a:pPr marL="228600" lvl="1" algn="l" defTabSz="914400" eaLnBrk="1" hangingPunct="1">
              <a:lnSpc>
                <a:spcPct val="130000"/>
              </a:lnSpc>
              <a:buClrTx/>
              <a:buSzTx/>
            </a:pPr>
            <a:endParaRPr altLang="en-US" dirty="0" smtClean="0"/>
          </a:p>
          <a:p>
            <a:pPr marL="228600" lvl="1" algn="l" defTabSz="914400" eaLnBrk="1" hangingPunct="1">
              <a:lnSpc>
                <a:spcPct val="130000"/>
              </a:lnSpc>
              <a:buClrTx/>
              <a:buSzTx/>
              <a:buChar char="•"/>
            </a:pPr>
            <a:r>
              <a:rPr smtClean="0">
                <a:sym typeface="+mn-ea"/>
              </a:rPr>
              <a:t>Python的IDEL交互界面可以当做简便计算器来使用。</a:t>
            </a:r>
            <a:endParaRPr lang="zh-CN" altLang="en-US" dirty="0" smtClean="0"/>
          </a:p>
          <a:p>
            <a:pPr marL="228600" lvl="1" algn="l" defTabSz="914400" eaLnBrk="1" hangingPunct="1">
              <a:buClrTx/>
              <a:buSzTx/>
            </a:pPr>
            <a:r>
              <a:rPr smtClean="0">
                <a:sym typeface="+mn-ea"/>
              </a:rPr>
              <a:t>&gt;&gt;&gt; ((3**2) + (4**2)) ** 0.5</a:t>
            </a:r>
            <a:endParaRPr altLang="en-US" dirty="0" smtClean="0"/>
          </a:p>
          <a:p>
            <a:pPr marL="228600" lvl="1" algn="l" defTabSz="914400" eaLnBrk="1" hangingPunct="1">
              <a:buClrTx/>
              <a:buSzTx/>
            </a:pPr>
            <a:r>
              <a:rPr smtClean="0">
                <a:sym typeface="+mn-ea"/>
              </a:rPr>
              <a:t>5.0</a:t>
            </a:r>
            <a:endParaRPr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数值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681711" y="1963123"/>
            <a:ext cx="4248472" cy="1189025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可正可负，没有小数点和小数部分，也没有</a:t>
            </a:r>
            <a:r>
              <a:rPr lang="zh-CN" altLang="en-US" sz="2400" dirty="0" smtClean="0">
                <a:solidFill>
                  <a:schemeClr val="tx1"/>
                </a:solidFill>
              </a:rPr>
              <a:t>分数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69592" y="1786945"/>
            <a:ext cx="3129895" cy="46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整数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六边形 6"/>
          <p:cNvSpPr/>
          <p:nvPr/>
        </p:nvSpPr>
        <p:spPr>
          <a:xfrm>
            <a:off x="226531" y="3152147"/>
            <a:ext cx="2111239" cy="1778805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7760" rIns="0" bIns="37760" rtlCol="0" anchor="ctr"/>
          <a:lstStyle/>
          <a:p>
            <a:pPr algn="ct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数值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numbers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箭头连接符 7"/>
          <p:cNvCxnSpPr>
            <a:stCxn id="7" idx="5"/>
            <a:endCxn id="5" idx="1"/>
          </p:cNvCxnSpPr>
          <p:nvPr/>
        </p:nvCxnSpPr>
        <p:spPr>
          <a:xfrm flipV="1">
            <a:off x="1893069" y="2557636"/>
            <a:ext cx="788642" cy="59451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" idx="0"/>
            <a:endCxn id="11" idx="1"/>
          </p:cNvCxnSpPr>
          <p:nvPr/>
        </p:nvCxnSpPr>
        <p:spPr>
          <a:xfrm>
            <a:off x="2337770" y="4041550"/>
            <a:ext cx="343941" cy="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1"/>
            <a:endCxn id="13" idx="1"/>
          </p:cNvCxnSpPr>
          <p:nvPr/>
        </p:nvCxnSpPr>
        <p:spPr>
          <a:xfrm>
            <a:off x="1893069" y="4930952"/>
            <a:ext cx="788642" cy="83879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681711" y="3447038"/>
            <a:ext cx="4248472" cy="1189025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带小数的数值，可以是正数或负数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69592" y="3270860"/>
            <a:ext cx="3129895" cy="46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浮点数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81711" y="4930953"/>
            <a:ext cx="4248472" cy="1677579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形如</a:t>
            </a:r>
            <a:r>
              <a:rPr lang="en-US" altLang="zh-CN" sz="2400" dirty="0">
                <a:solidFill>
                  <a:schemeClr val="tx1"/>
                </a:solidFill>
              </a:rPr>
              <a:t>z=</a:t>
            </a:r>
            <a:r>
              <a:rPr lang="en-US" altLang="zh-CN" sz="2400" dirty="0" err="1">
                <a:solidFill>
                  <a:schemeClr val="tx1"/>
                </a:solidFill>
              </a:rPr>
              <a:t>a+bi</a:t>
            </a:r>
            <a:r>
              <a:rPr lang="zh-CN" altLang="en-US" sz="2400" dirty="0">
                <a:solidFill>
                  <a:schemeClr val="tx1"/>
                </a:solidFill>
              </a:rPr>
              <a:t>的</a:t>
            </a:r>
            <a:r>
              <a:rPr lang="zh-CN" altLang="en-US" sz="2400" dirty="0" smtClean="0">
                <a:solidFill>
                  <a:schemeClr val="tx1"/>
                </a:solidFill>
              </a:rPr>
              <a:t>数，</a:t>
            </a:r>
            <a:r>
              <a:rPr lang="zh-CN" altLang="en-US" sz="2400" dirty="0">
                <a:solidFill>
                  <a:schemeClr val="tx1"/>
                </a:solidFill>
              </a:rPr>
              <a:t>其中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称为实部，</a:t>
            </a:r>
            <a:r>
              <a:rPr lang="en-US" altLang="zh-CN" sz="2400" dirty="0">
                <a:solidFill>
                  <a:schemeClr val="tx1"/>
                </a:solidFill>
              </a:rPr>
              <a:t>b</a:t>
            </a:r>
            <a:r>
              <a:rPr lang="zh-CN" altLang="en-US" sz="2400" dirty="0">
                <a:solidFill>
                  <a:schemeClr val="tx1"/>
                </a:solidFill>
              </a:rPr>
              <a:t>称为虚部，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zh-CN" altLang="en-US" sz="2400" dirty="0">
                <a:solidFill>
                  <a:schemeClr val="tx1"/>
                </a:solidFill>
              </a:rPr>
              <a:t>是虚数单位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69592" y="4754775"/>
            <a:ext cx="3129895" cy="46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复数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61520" y="235344"/>
            <a:ext cx="4464496" cy="3103202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72000" rIns="75520" bIns="72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十进制</a:t>
            </a:r>
            <a:r>
              <a:rPr lang="zh-CN" altLang="en-US" sz="2200" dirty="0" smtClean="0">
                <a:solidFill>
                  <a:schemeClr val="tx1"/>
                </a:solidFill>
              </a:rPr>
              <a:t>整数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19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-4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1234567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十六进制</a:t>
            </a:r>
            <a:r>
              <a:rPr lang="zh-CN" altLang="en-US" sz="2200" dirty="0" smtClean="0">
                <a:solidFill>
                  <a:schemeClr val="tx1"/>
                </a:solidFill>
              </a:rPr>
              <a:t>整数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zh-CN" altLang="en-US" sz="2200" dirty="0">
                <a:solidFill>
                  <a:schemeClr val="tx1"/>
                </a:solidFill>
              </a:rPr>
              <a:t>以</a:t>
            </a:r>
            <a:r>
              <a:rPr lang="en-US" altLang="zh-CN" sz="2200" dirty="0">
                <a:solidFill>
                  <a:schemeClr val="tx1"/>
                </a:solidFill>
              </a:rPr>
              <a:t>0X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0x</a:t>
            </a:r>
            <a:r>
              <a:rPr lang="zh-CN" altLang="en-US" sz="2200" dirty="0">
                <a:solidFill>
                  <a:schemeClr val="tx1"/>
                </a:solidFill>
              </a:rPr>
              <a:t>开头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0X23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0xFF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-0x9CB2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八进制</a:t>
            </a:r>
            <a:r>
              <a:rPr lang="zh-CN" altLang="en-US" sz="2200" dirty="0" smtClean="0">
                <a:solidFill>
                  <a:schemeClr val="tx1"/>
                </a:solidFill>
              </a:rPr>
              <a:t>整数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zh-CN" altLang="en-US" sz="2200" dirty="0">
                <a:solidFill>
                  <a:schemeClr val="tx1"/>
                </a:solidFill>
              </a:rPr>
              <a:t>以</a:t>
            </a:r>
            <a:r>
              <a:rPr lang="en-US" altLang="zh-CN" sz="2200" dirty="0">
                <a:solidFill>
                  <a:schemeClr val="tx1"/>
                </a:solidFill>
              </a:rPr>
              <a:t>0O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0o</a:t>
            </a:r>
            <a:r>
              <a:rPr lang="zh-CN" altLang="en-US" sz="2200" dirty="0">
                <a:solidFill>
                  <a:schemeClr val="tx1"/>
                </a:solidFill>
              </a:rPr>
              <a:t>开头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0o7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-0O1735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0o735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二进制</a:t>
            </a:r>
            <a:r>
              <a:rPr lang="zh-CN" altLang="en-US" sz="2200" dirty="0" smtClean="0">
                <a:solidFill>
                  <a:schemeClr val="tx1"/>
                </a:solidFill>
              </a:rPr>
              <a:t>整数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zh-CN" altLang="en-US" sz="2200" dirty="0">
                <a:solidFill>
                  <a:schemeClr val="tx1"/>
                </a:solidFill>
              </a:rPr>
              <a:t>以</a:t>
            </a:r>
            <a:r>
              <a:rPr lang="en-US" altLang="zh-CN" sz="2200" dirty="0">
                <a:solidFill>
                  <a:schemeClr val="tx1"/>
                </a:solidFill>
              </a:rPr>
              <a:t>0B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0b</a:t>
            </a:r>
            <a:r>
              <a:rPr lang="zh-CN" altLang="en-US" sz="2200" dirty="0">
                <a:solidFill>
                  <a:schemeClr val="tx1"/>
                </a:solidFill>
              </a:rPr>
              <a:t>开头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0B101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-</a:t>
            </a:r>
            <a:r>
              <a:rPr lang="en-US" altLang="zh-CN" sz="2200" dirty="0">
                <a:solidFill>
                  <a:schemeClr val="tx1"/>
                </a:solidFill>
              </a:rPr>
              <a:t>0B101010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5" idx="3"/>
            <a:endCxn id="19" idx="1"/>
          </p:cNvCxnSpPr>
          <p:nvPr/>
        </p:nvCxnSpPr>
        <p:spPr>
          <a:xfrm flipV="1">
            <a:off x="6930183" y="1786945"/>
            <a:ext cx="431337" cy="77069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361520" y="3544417"/>
            <a:ext cx="4464496" cy="1998186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72000" rIns="75520" bIns="72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chemeClr val="tx1"/>
                </a:solidFill>
              </a:rPr>
              <a:t>常规表示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9.03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-1073.201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科学记数法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 smtClean="0">
                <a:solidFill>
                  <a:schemeClr val="tx1"/>
                </a:solidFill>
              </a:rPr>
              <a:t>1073.201    →    1.073201E3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zh-CN" altLang="en-US" sz="2200" dirty="0">
                <a:solidFill>
                  <a:schemeClr val="tx1"/>
                </a:solidFill>
              </a:rPr>
              <a:t>表示</a:t>
            </a:r>
            <a:r>
              <a:rPr lang="en-US" altLang="zh-CN" sz="2200" dirty="0">
                <a:solidFill>
                  <a:schemeClr val="tx1"/>
                </a:solidFill>
              </a:rPr>
              <a:t>10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zh-CN" altLang="en-US" sz="2200" dirty="0" smtClean="0">
                <a:solidFill>
                  <a:schemeClr val="tx1"/>
                </a:solidFill>
              </a:rPr>
              <a:t>幂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cxnSp>
        <p:nvCxnSpPr>
          <p:cNvPr id="49" name="直接箭头连接符 48"/>
          <p:cNvCxnSpPr>
            <a:stCxn id="11" idx="3"/>
            <a:endCxn id="30" idx="1"/>
          </p:cNvCxnSpPr>
          <p:nvPr/>
        </p:nvCxnSpPr>
        <p:spPr>
          <a:xfrm>
            <a:off x="6930183" y="4041551"/>
            <a:ext cx="431337" cy="501959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7361520" y="5782978"/>
            <a:ext cx="4464496" cy="825554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72000" rIns="75520" bIns="72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虚数单位用</a:t>
            </a:r>
            <a:r>
              <a:rPr lang="en-US" altLang="zh-CN" sz="2200" dirty="0">
                <a:solidFill>
                  <a:schemeClr val="tx1"/>
                </a:solidFill>
              </a:rPr>
              <a:t>j</a:t>
            </a:r>
            <a:r>
              <a:rPr lang="zh-CN" altLang="en-US" sz="2200" dirty="0">
                <a:solidFill>
                  <a:schemeClr val="tx1"/>
                </a:solidFill>
              </a:rPr>
              <a:t>表示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5+6j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-3.7-9.45j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cxnSp>
        <p:nvCxnSpPr>
          <p:cNvPr id="56" name="直接箭头连接符 55"/>
          <p:cNvCxnSpPr>
            <a:stCxn id="13" idx="3"/>
          </p:cNvCxnSpPr>
          <p:nvPr/>
        </p:nvCxnSpPr>
        <p:spPr>
          <a:xfrm>
            <a:off x="6930183" y="5769743"/>
            <a:ext cx="417101" cy="550846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30" grpId="0" animBg="1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复数</a:t>
            </a:r>
            <a:r>
              <a:rPr>
                <a:latin typeface="+mn-ea"/>
                <a:ea typeface="+mn-ea"/>
                <a:sym typeface="+mn-ea"/>
              </a:rPr>
              <a:t>类型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latin typeface="+mn-ea"/>
                <a:ea typeface="+mn-ea"/>
                <a:cs typeface="+mn-ea"/>
                <a:sym typeface="+mn-ea"/>
              </a:rPr>
              <a:t>&gt;&gt;&gt; a = 3+4j</a:t>
            </a:r>
            <a:endParaRPr lang="en-US" altLang="zh-CN" sz="2660" dirty="0"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latin typeface="+mn-ea"/>
                <a:ea typeface="+mn-ea"/>
                <a:cs typeface="+mn-ea"/>
                <a:sym typeface="+mn-ea"/>
              </a:rPr>
              <a:t>&gt;&gt;&gt; b = 5+6j</a:t>
            </a:r>
            <a:endParaRPr lang="en-US" altLang="zh-CN" sz="2660" dirty="0"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latin typeface="+mn-ea"/>
                <a:ea typeface="+mn-ea"/>
                <a:cs typeface="+mn-ea"/>
                <a:sym typeface="+mn-ea"/>
              </a:rPr>
              <a:t>&gt;&gt;&gt; c = a+b</a:t>
            </a:r>
            <a:endParaRPr lang="en-US" altLang="zh-CN" sz="2660" dirty="0"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latin typeface="+mn-ea"/>
                <a:ea typeface="+mn-ea"/>
                <a:cs typeface="+mn-ea"/>
                <a:sym typeface="+mn-ea"/>
              </a:rPr>
              <a:t>&gt;&gt;&gt; c</a:t>
            </a:r>
            <a:endParaRPr lang="en-US" altLang="zh-CN" sz="2660" dirty="0"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solidFill>
                  <a:srgbClr val="00B0F0"/>
                </a:solidFill>
                <a:latin typeface="+mn-ea"/>
                <a:ea typeface="+mn-ea"/>
                <a:cs typeface="+mn-ea"/>
                <a:sym typeface="+mn-ea"/>
              </a:rPr>
              <a:t>(8+10j)</a:t>
            </a:r>
            <a:endParaRPr lang="en-US" altLang="zh-CN" sz="2660" dirty="0">
              <a:solidFill>
                <a:srgbClr val="00B0F0"/>
              </a:solidFill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latin typeface="+mn-ea"/>
                <a:ea typeface="+mn-ea"/>
                <a:cs typeface="+mn-ea"/>
                <a:sym typeface="+mn-ea"/>
              </a:rPr>
              <a:t>&gt;&gt;&gt; c.real        #</a:t>
            </a:r>
            <a:r>
              <a:rPr sz="2660">
                <a:latin typeface="+mn-ea"/>
                <a:ea typeface="+mn-ea"/>
                <a:cs typeface="+mn-ea"/>
                <a:sym typeface="+mn-ea"/>
              </a:rPr>
              <a:t>查看复数实部</a:t>
            </a:r>
            <a:endParaRPr lang="zh-CN" altLang="en-US" sz="2660" dirty="0"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solidFill>
                  <a:srgbClr val="00B0F0"/>
                </a:solidFill>
                <a:latin typeface="+mn-ea"/>
                <a:ea typeface="+mn-ea"/>
                <a:cs typeface="+mn-ea"/>
                <a:sym typeface="+mn-ea"/>
              </a:rPr>
              <a:t>8.0</a:t>
            </a:r>
            <a:endParaRPr lang="en-US" altLang="zh-CN" sz="2660" dirty="0">
              <a:solidFill>
                <a:srgbClr val="00B0F0"/>
              </a:solidFill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latin typeface="+mn-ea"/>
                <a:ea typeface="+mn-ea"/>
                <a:cs typeface="+mn-ea"/>
                <a:sym typeface="+mn-ea"/>
              </a:rPr>
              <a:t>&gt;&gt;&gt; c.imag        #</a:t>
            </a:r>
            <a:r>
              <a:rPr sz="2660">
                <a:latin typeface="+mn-ea"/>
                <a:ea typeface="+mn-ea"/>
                <a:cs typeface="+mn-ea"/>
                <a:sym typeface="+mn-ea"/>
              </a:rPr>
              <a:t>查看复数虚部</a:t>
            </a:r>
            <a:endParaRPr lang="zh-CN" altLang="en-US" sz="2660" dirty="0"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660">
                <a:solidFill>
                  <a:srgbClr val="00B0F0"/>
                </a:solidFill>
                <a:latin typeface="+mn-ea"/>
                <a:ea typeface="+mn-ea"/>
                <a:cs typeface="+mn-ea"/>
                <a:sym typeface="+mn-ea"/>
              </a:rPr>
              <a:t>10.0</a:t>
            </a:r>
            <a:endParaRPr lang="zh-CN" altLang="en-US" sz="2665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2.2.2 </a:t>
            </a:r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一个字符串是一组字符的有序</a:t>
            </a:r>
            <a:r>
              <a:rPr lang="zh-CN" altLang="en-US" b="1" dirty="0" smtClean="0">
                <a:solidFill>
                  <a:srgbClr val="FF0000"/>
                </a:solidFill>
              </a:rPr>
              <a:t>序列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用</a:t>
            </a:r>
            <a:r>
              <a:rPr lang="zh-CN" altLang="en-US" b="1" dirty="0">
                <a:solidFill>
                  <a:srgbClr val="FF0000"/>
                </a:solidFill>
              </a:rPr>
              <a:t>单引号</a:t>
            </a:r>
            <a:r>
              <a:rPr lang="en-US" altLang="zh-CN" b="1" dirty="0">
                <a:solidFill>
                  <a:srgbClr val="FF0000"/>
                </a:solidFill>
              </a:rPr>
              <a:t>'</a:t>
            </a:r>
            <a:r>
              <a:rPr lang="zh-CN" altLang="en-US" b="1" dirty="0">
                <a:solidFill>
                  <a:srgbClr val="FF0000"/>
                </a:solidFill>
              </a:rPr>
              <a:t>或者双引号</a:t>
            </a:r>
            <a:r>
              <a:rPr lang="en-US" altLang="zh-CN" b="1" dirty="0">
                <a:solidFill>
                  <a:srgbClr val="FF0000"/>
                </a:solidFill>
              </a:rPr>
              <a:t>"</a:t>
            </a:r>
            <a:r>
              <a:rPr lang="zh-CN" altLang="en-US" b="1" dirty="0">
                <a:solidFill>
                  <a:srgbClr val="FF0000"/>
                </a:solidFill>
              </a:rPr>
              <a:t>或者三引号</a:t>
            </a:r>
            <a:r>
              <a:rPr lang="zh-CN" altLang="en-US" dirty="0"/>
              <a:t>（</a:t>
            </a:r>
            <a:r>
              <a:rPr lang="en-US" altLang="zh-CN" dirty="0"/>
              <a:t>'''</a:t>
            </a:r>
            <a:r>
              <a:rPr lang="zh-CN" altLang="en-US" dirty="0"/>
              <a:t>或</a:t>
            </a:r>
            <a:r>
              <a:rPr lang="en-US" altLang="zh-CN" dirty="0"/>
              <a:t>"""</a:t>
            </a:r>
            <a:r>
              <a:rPr lang="zh-CN" altLang="en-US" dirty="0"/>
              <a:t>）括起来的</a:t>
            </a:r>
            <a:r>
              <a:rPr lang="zh-CN" altLang="en-US" dirty="0" smtClean="0"/>
              <a:t>文本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单引号</a:t>
            </a:r>
            <a:r>
              <a:rPr lang="en-US" altLang="zh-CN" dirty="0"/>
              <a:t>'</a:t>
            </a:r>
            <a:r>
              <a:rPr lang="zh-CN" altLang="en-US" dirty="0"/>
              <a:t>或者双引号</a:t>
            </a:r>
            <a:r>
              <a:rPr lang="en-US" altLang="zh-CN" dirty="0"/>
              <a:t>"</a:t>
            </a:r>
            <a:r>
              <a:rPr lang="zh-CN" altLang="en-US" dirty="0"/>
              <a:t>或者三引号（</a:t>
            </a:r>
            <a:r>
              <a:rPr lang="en-US" altLang="zh-CN" dirty="0"/>
              <a:t>'''</a:t>
            </a:r>
            <a:r>
              <a:rPr lang="zh-CN" altLang="en-US" dirty="0"/>
              <a:t>或</a:t>
            </a:r>
            <a:r>
              <a:rPr lang="en-US" altLang="zh-CN" dirty="0"/>
              <a:t>"""</a:t>
            </a:r>
            <a:r>
              <a:rPr lang="zh-CN" altLang="en-US" dirty="0"/>
              <a:t>）被称为字符串的定界符</a:t>
            </a:r>
            <a:endParaRPr lang="zh-CN" altLang="en-US" dirty="0"/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1003531" y="4077072"/>
            <a:ext cx="2613418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'a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'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MH_SubTitle_2"/>
          <p:cNvSpPr/>
          <p:nvPr>
            <p:custDataLst>
              <p:tags r:id="rId2"/>
            </p:custDataLst>
          </p:nvPr>
        </p:nvSpPr>
        <p:spPr>
          <a:xfrm>
            <a:off x="3627801" y="4077072"/>
            <a:ext cx="2613419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"my"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MH_SubTitle_2"/>
          <p:cNvSpPr/>
          <p:nvPr>
            <p:custDataLst>
              <p:tags r:id="rId3"/>
            </p:custDataLst>
          </p:nvPr>
        </p:nvSpPr>
        <p:spPr>
          <a:xfrm>
            <a:off x="8876342" y="4077072"/>
            <a:ext cx="2613419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'''123'''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MH_SubTitle_1"/>
          <p:cNvSpPr/>
          <p:nvPr>
            <p:custDataLst>
              <p:tags r:id="rId4"/>
            </p:custDataLst>
          </p:nvPr>
        </p:nvSpPr>
        <p:spPr>
          <a:xfrm>
            <a:off x="6262924" y="4077072"/>
            <a:ext cx="2613418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"""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hello"""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2935" y="2276872"/>
            <a:ext cx="10829139" cy="3960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2.2.2 </a:t>
            </a:r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一对</a:t>
            </a:r>
            <a:r>
              <a:rPr lang="zh-CN" altLang="en-US" dirty="0"/>
              <a:t>定界符之间的字符可以是除本次定界符之外的任意其它英文字符、数字字符、汉字、中英文标点符号</a:t>
            </a:r>
            <a:r>
              <a:rPr lang="zh-CN" altLang="en-US" dirty="0" smtClean="0"/>
              <a:t>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>
                <a:solidFill>
                  <a:srgbClr val="00B050"/>
                </a:solidFill>
              </a:rPr>
              <a:t>"I'm a student!"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"I'm a student!"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>
                <a:solidFill>
                  <a:srgbClr val="00B050"/>
                </a:solidFill>
              </a:rPr>
              <a:t>'''</a:t>
            </a:r>
            <a:r>
              <a:rPr lang="zh-CN" altLang="en-US" dirty="0">
                <a:solidFill>
                  <a:srgbClr val="00B050"/>
                </a:solidFill>
              </a:rPr>
              <a:t>你好</a:t>
            </a:r>
            <a:r>
              <a:rPr lang="en-US" altLang="zh-CN" dirty="0">
                <a:solidFill>
                  <a:srgbClr val="00B050"/>
                </a:solidFill>
              </a:rPr>
              <a:t>'123'''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"</a:t>
            </a:r>
            <a:r>
              <a:rPr lang="zh-CN" altLang="en-US" dirty="0">
                <a:solidFill>
                  <a:srgbClr val="0070C0"/>
                </a:solidFill>
              </a:rPr>
              <a:t>你好</a:t>
            </a:r>
            <a:r>
              <a:rPr lang="en-US" altLang="zh-CN" dirty="0">
                <a:solidFill>
                  <a:srgbClr val="0070C0"/>
                </a:solidFill>
              </a:rPr>
              <a:t>'123"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115" y="1160145"/>
            <a:ext cx="11236960" cy="5485130"/>
          </a:xfrm>
        </p:spPr>
        <p:txBody>
          <a:bodyPr>
            <a:normAutofit lnSpcReduction="10000"/>
          </a:bodyPr>
          <a:p>
            <a:r>
              <a:rPr>
                <a:latin typeface="+mn-ea"/>
                <a:ea typeface="+mn-ea"/>
                <a:cs typeface="+mn-ea"/>
                <a:sym typeface="+mn-ea"/>
              </a:rPr>
              <a:t>单引号、双引号、三单引号、三双引号可以</a:t>
            </a: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互相嵌套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，用来表示复杂字符串</a:t>
            </a:r>
            <a:endParaRPr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>
              <a:latin typeface="+mn-ea"/>
              <a:ea typeface="+mn-ea"/>
              <a:cs typeface="+mn-ea"/>
            </a:endParaRPr>
          </a:p>
          <a:p>
            <a:pPr marL="0" indent="0">
              <a:buNone/>
            </a:pP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</a:t>
            </a:r>
            <a:r>
              <a:rPr lang="en-US" altLang="zh-CN">
                <a:solidFill>
                  <a:srgbClr val="00B050"/>
                </a:solidFill>
                <a:latin typeface="+mn-ea"/>
                <a:ea typeface="+mn-ea"/>
                <a:cs typeface="+mn-ea"/>
                <a:sym typeface="+mn-ea"/>
              </a:rPr>
              <a:t>''' abc'""123'''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#</a:t>
            </a:r>
            <a:r>
              <a:rPr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字符</a:t>
            </a:r>
            <a:r>
              <a:rPr lang="en-US" altLang="zh-CN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c</a:t>
            </a:r>
            <a:r>
              <a:rPr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后输入了一个单引号和两个双引号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0070C0"/>
                </a:solidFill>
                <a:latin typeface="+mn-ea"/>
                <a:ea typeface="+mn-ea"/>
                <a:cs typeface="+mn-ea"/>
                <a:sym typeface="+mn-ea"/>
              </a:rPr>
              <a:t>' </a:t>
            </a:r>
            <a:r>
              <a:rPr lang="en-US" altLang="zh-CN" dirty="0" err="1">
                <a:solidFill>
                  <a:srgbClr val="0070C0"/>
                </a:solidFill>
                <a:latin typeface="+mn-ea"/>
                <a:ea typeface="+mn-ea"/>
                <a:cs typeface="+mn-ea"/>
                <a:sym typeface="+mn-ea"/>
              </a:rPr>
              <a:t>abc</a:t>
            </a:r>
            <a:r>
              <a:rPr lang="en-US" altLang="zh-CN">
                <a:solidFill>
                  <a:srgbClr val="0070C0"/>
                </a:solidFill>
                <a:latin typeface="+mn-ea"/>
                <a:ea typeface="+mn-ea"/>
                <a:cs typeface="+mn-ea"/>
                <a:sym typeface="+mn-ea"/>
              </a:rPr>
              <a:t>\'""123'</a:t>
            </a:r>
            <a:endParaRPr lang="en-US" altLang="zh-CN">
              <a:solidFill>
                <a:srgbClr val="0070C0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rgbClr val="0070C0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'''Tom said, "Let's go"'''</a:t>
            </a:r>
            <a:endParaRPr lang="en-US" altLang="zh-CN" dirty="0">
              <a:solidFill>
                <a:srgbClr val="0070C0"/>
              </a:solidFill>
              <a:latin typeface="+mn-ea"/>
              <a:ea typeface="+mn-ea"/>
              <a:cs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solidFill>
                  <a:srgbClr val="0070C0"/>
                </a:solidFill>
                <a:latin typeface="+mn-ea"/>
                <a:ea typeface="+mn-ea"/>
                <a:cs typeface="+mn-ea"/>
              </a:rPr>
              <a:t>'Tom said, "Let\'s go"'</a:t>
            </a:r>
            <a:endParaRPr lang="en-US" altLang="zh-CN">
              <a:solidFill>
                <a:srgbClr val="0070C0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字符串属于不可变序列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  <a:cs typeface="+mn-ea"/>
              <a:sym typeface="+mn-ea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en-US" altLang="zh-CN" dirty="0">
              <a:latin typeface="+mn-ea"/>
              <a:ea typeface="+mn-ea"/>
              <a:cs typeface="+mn-ea"/>
              <a:sym typeface="+mn-ea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>
                <a:latin typeface="+mn-ea"/>
                <a:ea typeface="+mn-ea"/>
                <a:cs typeface="+mn-ea"/>
                <a:sym typeface="+mn-ea"/>
              </a:rPr>
              <a:t>空字符串表示为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''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或 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""</a:t>
            </a:r>
            <a:r>
              <a:rPr lang="en-GB">
                <a:latin typeface="+mn-ea"/>
                <a:ea typeface="+mn-ea"/>
                <a:cs typeface="+mn-ea"/>
                <a:sym typeface="+mn-ea"/>
              </a:rPr>
              <a:t> </a:t>
            </a:r>
            <a:endParaRPr lang="en-GB">
              <a:latin typeface="+mn-ea"/>
              <a:ea typeface="+mn-ea"/>
              <a:cs typeface="+mn-ea"/>
              <a:sym typeface="+mn-ea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en-GB" altLang="en-US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三引号'''或"""表示的字符串可以换行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，支持排版较为复杂的字符串；三引号还可以在程序中</a:t>
            </a: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表示较长的注释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。</a:t>
            </a:r>
            <a:endParaRPr lang="zh-CN" altLang="en-US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836295"/>
            <a:ext cx="10852150" cy="5504815"/>
          </a:xfrm>
        </p:spPr>
        <p:txBody>
          <a:bodyPr>
            <a:normAutofit lnSpcReduction="10000"/>
          </a:bodyPr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字符串属于不可变序列，但多个字符串可以参与计算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  <a:cs typeface="+mn-ea"/>
              <a:sym typeface="+mn-ea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endParaRPr lang="en-US" altLang="zh-CN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a = 'abc' + '123</a:t>
            </a: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'     #生成新字符串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x = '1234''abcd'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x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solidFill>
                  <a:srgbClr val="00B0F0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'1234abcd'</a:t>
            </a:r>
            <a:endParaRPr lang="zh-CN" altLang="en-US" dirty="0">
              <a:solidFill>
                <a:srgbClr val="00B0F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x = x + ',.;'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x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solidFill>
                  <a:srgbClr val="00B0F0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'1234abcd,.;'</a:t>
            </a:r>
            <a:endParaRPr lang="zh-CN" altLang="en-US" dirty="0">
              <a:solidFill>
                <a:srgbClr val="00B0F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x = x'efg'            </a:t>
            </a:r>
            <a:r>
              <a:rPr lang="en-US" altLang="zh-CN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#</a:t>
            </a: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不允许这样连接字符串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SyntaxError: invalid syntax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3284984"/>
            <a:ext cx="10852149" cy="1944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转义字符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不能简单</a:t>
            </a:r>
            <a:r>
              <a:rPr lang="zh-CN" altLang="en-US" dirty="0"/>
              <a:t>的输入并显示</a:t>
            </a:r>
            <a:r>
              <a:rPr lang="zh-CN" altLang="en-US" dirty="0" smtClean="0"/>
              <a:t>的字符需要使用转义字符</a:t>
            </a:r>
            <a:endParaRPr lang="en-US" altLang="zh-CN" dirty="0" smtClean="0"/>
          </a:p>
          <a:p>
            <a:r>
              <a:rPr lang="zh-CN" altLang="en-US" dirty="0" smtClean="0"/>
              <a:t>转义字符</a:t>
            </a:r>
            <a:r>
              <a:rPr lang="zh-CN" altLang="en-US" dirty="0"/>
              <a:t>以反</a:t>
            </a:r>
            <a:r>
              <a:rPr lang="zh-CN" altLang="en-US" dirty="0" smtClean="0"/>
              <a:t>斜杠</a:t>
            </a:r>
            <a:r>
              <a:rPr lang="en-US" altLang="zh-CN" dirty="0"/>
              <a:t>\</a:t>
            </a:r>
            <a:r>
              <a:rPr lang="zh-CN" altLang="en-US" dirty="0"/>
              <a:t>开头的一个字符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/>
              <a:t>'</a:t>
            </a:r>
            <a:r>
              <a:rPr lang="en-US" altLang="zh-CN" dirty="0" err="1"/>
              <a:t>abc</a:t>
            </a:r>
            <a:r>
              <a:rPr lang="en-US" altLang="zh-CN" dirty="0"/>
              <a:t>\n123'</a:t>
            </a:r>
            <a:r>
              <a:rPr lang="zh-CN" altLang="en-US" dirty="0"/>
              <a:t>中的</a:t>
            </a:r>
            <a:r>
              <a:rPr lang="en-US" altLang="zh-CN" dirty="0"/>
              <a:t>\n</a:t>
            </a:r>
            <a:r>
              <a:rPr lang="zh-CN" altLang="en-US" dirty="0"/>
              <a:t>表示</a:t>
            </a:r>
            <a:r>
              <a:rPr lang="zh-CN" altLang="en-US" dirty="0" smtClean="0"/>
              <a:t>换行符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&gt;&gt;&gt; print(</a:t>
            </a:r>
            <a:r>
              <a:rPr lang="en-US" altLang="zh-CN" dirty="0">
                <a:solidFill>
                  <a:srgbClr val="00B050"/>
                </a:solidFill>
              </a:rPr>
              <a:t>'</a:t>
            </a:r>
            <a:r>
              <a:rPr lang="en-US" altLang="zh-CN" dirty="0" err="1">
                <a:solidFill>
                  <a:srgbClr val="00B050"/>
                </a:solidFill>
              </a:rPr>
              <a:t>abc</a:t>
            </a:r>
            <a:r>
              <a:rPr lang="en-US" altLang="zh-CN" dirty="0">
                <a:solidFill>
                  <a:srgbClr val="00B050"/>
                </a:solidFill>
              </a:rPr>
              <a:t>\n123'</a:t>
            </a:r>
            <a:r>
              <a:rPr lang="en-US" altLang="zh-CN" dirty="0"/>
              <a:t>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>
                <a:solidFill>
                  <a:srgbClr val="0070C0"/>
                </a:solidFill>
              </a:rPr>
              <a:t>abc</a:t>
            </a:r>
            <a:endParaRPr lang="en-US" altLang="zh-CN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123</a:t>
            </a:r>
            <a:endParaRPr lang="en-US" altLang="zh-CN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</a:t>
            </a:r>
            <a:r>
              <a:rPr lang="en-US" altLang="zh-CN" dirty="0"/>
              <a:t>2-1 </a:t>
            </a:r>
            <a:r>
              <a:rPr lang="zh-CN" altLang="en-US" dirty="0"/>
              <a:t>转义字符及含义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847528" y="1109335"/>
          <a:ext cx="9361040" cy="57056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8955"/>
                <a:gridCol w="6877306"/>
                <a:gridCol w="1134779"/>
              </a:tblGrid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字符形式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ASCII</a:t>
                      </a:r>
                      <a:r>
                        <a:rPr lang="zh-CN" sz="2000" kern="100">
                          <a:effectLst/>
                        </a:rPr>
                        <a:t>码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 dirty="0">
                          <a:solidFill>
                            <a:srgbClr val="FF0000"/>
                          </a:solidFill>
                          <a:effectLst/>
                        </a:rPr>
                        <a:t>\n</a:t>
                      </a:r>
                      <a:endParaRPr lang="en-GB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换行，将当前位置移到下一行开头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 dirty="0">
                          <a:solidFill>
                            <a:srgbClr val="FF0000"/>
                          </a:solidFill>
                          <a:effectLst/>
                        </a:rPr>
                        <a:t>\t</a:t>
                      </a:r>
                      <a:endParaRPr lang="en-GB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水平制表（跳到下一个</a:t>
                      </a:r>
                      <a:r>
                        <a:rPr lang="en-GB" sz="2000" kern="100" dirty="0">
                          <a:solidFill>
                            <a:srgbClr val="FF0000"/>
                          </a:solidFill>
                          <a:effectLst/>
                        </a:rPr>
                        <a:t>Tab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位置）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9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\v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垂直制表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11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\b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退格，将当前位置移到前一列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8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回车，将当前位置移到本行开头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13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\f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换页，将当前位置移到下页开头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12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\a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响铃报警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7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\\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代表一个反斜杠字符</a:t>
                      </a:r>
                      <a:r>
                        <a:rPr lang="en-GB" sz="2000" kern="100" dirty="0">
                          <a:solidFill>
                            <a:srgbClr val="FF0000"/>
                          </a:solidFill>
                          <a:effectLst/>
                        </a:rPr>
                        <a:t>\</a:t>
                      </a:r>
                      <a:endParaRPr lang="en-GB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92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\'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代表一个单引号字符</a:t>
                      </a:r>
                      <a:r>
                        <a:rPr lang="en-GB" sz="2000" kern="100" dirty="0">
                          <a:solidFill>
                            <a:srgbClr val="FF0000"/>
                          </a:solidFill>
                          <a:effectLst/>
                        </a:rPr>
                        <a:t>'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。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39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\”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代表一个双引号字符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</a:rPr>
                        <a:t>"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。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FF0000"/>
                          </a:solidFill>
                          <a:effectLst/>
                        </a:rPr>
                        <a:t>34</a:t>
                      </a:r>
                      <a:endParaRPr lang="en-GB" sz="20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\ooo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代表三位</a:t>
                      </a:r>
                      <a:r>
                        <a:rPr lang="en-US" sz="2000" kern="100" dirty="0">
                          <a:effectLst/>
                        </a:rPr>
                        <a:t>8</a:t>
                      </a:r>
                      <a:r>
                        <a:rPr lang="zh-CN" sz="2000" kern="100" dirty="0">
                          <a:effectLst/>
                        </a:rPr>
                        <a:t>进制数对应的字符。如</a:t>
                      </a:r>
                      <a:r>
                        <a:rPr lang="en-GB" sz="2000" kern="100" dirty="0">
                          <a:effectLst/>
                        </a:rPr>
                        <a:t>\101</a:t>
                      </a:r>
                      <a:r>
                        <a:rPr lang="zh-CN" sz="2000" kern="100" dirty="0">
                          <a:effectLst/>
                        </a:rPr>
                        <a:t>表示字符</a:t>
                      </a:r>
                      <a:r>
                        <a:rPr lang="en-GB" sz="2000" kern="100" dirty="0">
                          <a:effectLst/>
                        </a:rPr>
                        <a:t>A</a:t>
                      </a:r>
                      <a:r>
                        <a:rPr lang="zh-CN" sz="2000" kern="100" dirty="0">
                          <a:effectLst/>
                        </a:rPr>
                        <a:t>。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\xhh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代表两位</a:t>
                      </a:r>
                      <a:r>
                        <a:rPr lang="en-US" sz="2000" kern="100" dirty="0">
                          <a:effectLst/>
                        </a:rPr>
                        <a:t>16</a:t>
                      </a:r>
                      <a:r>
                        <a:rPr lang="zh-CN" sz="2000" kern="100" dirty="0">
                          <a:effectLst/>
                        </a:rPr>
                        <a:t>进制数对应的字符。如</a:t>
                      </a:r>
                      <a:r>
                        <a:rPr lang="en-GB" sz="2000" kern="100" dirty="0">
                          <a:effectLst/>
                        </a:rPr>
                        <a:t>\x41</a:t>
                      </a:r>
                      <a:r>
                        <a:rPr lang="zh-CN" sz="2000" kern="100" dirty="0">
                          <a:effectLst/>
                        </a:rPr>
                        <a:t>表示字符</a:t>
                      </a:r>
                      <a:r>
                        <a:rPr lang="en-GB" sz="2000" kern="100" dirty="0">
                          <a:effectLst/>
                        </a:rPr>
                        <a:t>A</a:t>
                      </a:r>
                      <a:r>
                        <a:rPr lang="zh-CN" sz="2000" kern="100" dirty="0">
                          <a:effectLst/>
                        </a:rPr>
                        <a:t>。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200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>
                          <a:effectLst/>
                        </a:rPr>
                        <a:t>\uhhhh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代表四位</a:t>
                      </a:r>
                      <a:r>
                        <a:rPr lang="en-US" sz="2000" kern="100">
                          <a:effectLst/>
                        </a:rPr>
                        <a:t>16</a:t>
                      </a:r>
                      <a:r>
                        <a:rPr lang="zh-CN" sz="2000" kern="100">
                          <a:effectLst/>
                        </a:rPr>
                        <a:t>进制数表示的</a:t>
                      </a:r>
                      <a:r>
                        <a:rPr lang="en-US" sz="2000" kern="100">
                          <a:effectLst/>
                        </a:rPr>
                        <a:t>Unicode</a:t>
                      </a:r>
                      <a:r>
                        <a:rPr lang="zh-CN" sz="2000" kern="100">
                          <a:effectLst/>
                        </a:rPr>
                        <a:t>字符。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mtClean="0">
                <a:sym typeface="+mn-ea"/>
              </a:rPr>
              <a:t>原始</a:t>
            </a:r>
            <a:r>
              <a:rPr>
                <a:sym typeface="+mn-ea"/>
              </a:rPr>
              <a:t>字符串</a:t>
            </a:r>
            <a:br>
              <a:rPr lang="zh-CN" altLang="en-US" dirty="0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ea typeface="宋体" panose="02010600030101010101" pitchFamily="2" charset="-122"/>
                <a:sym typeface="Arial" panose="020B0604020202020204" pitchFamily="34" charset="0"/>
              </a:rPr>
              <a:t>字符串界定符前面加字母r或</a:t>
            </a:r>
            <a:r>
              <a:rPr lang="en-US" altLang="zh-CN">
                <a:ea typeface="宋体" panose="02010600030101010101" pitchFamily="2" charset="-122"/>
                <a:sym typeface="Arial" panose="020B0604020202020204" pitchFamily="34" charset="0"/>
              </a:rPr>
              <a:t>R</a:t>
            </a:r>
            <a:r>
              <a:rPr>
                <a:ea typeface="宋体" panose="02010600030101010101" pitchFamily="2" charset="-122"/>
                <a:sym typeface="Arial" panose="020B0604020202020204" pitchFamily="34" charset="0"/>
              </a:rPr>
              <a:t>表示</a:t>
            </a:r>
            <a:r>
              <a:rPr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原始字符串</a:t>
            </a:r>
            <a:r>
              <a:rPr>
                <a:ea typeface="宋体" panose="02010600030101010101" pitchFamily="2" charset="-122"/>
                <a:sym typeface="Arial" panose="020B0604020202020204" pitchFamily="34" charset="0"/>
              </a:rPr>
              <a:t>，其中的特殊字符不进行转义，但字符串的</a:t>
            </a:r>
            <a:r>
              <a:rPr b="1">
                <a:ea typeface="宋体" panose="02010600030101010101" pitchFamily="2" charset="-122"/>
                <a:sym typeface="Arial" panose="020B0604020202020204" pitchFamily="34" charset="0"/>
              </a:rPr>
              <a:t>最后一个字符不能是</a:t>
            </a:r>
            <a:r>
              <a:rPr lang="en-US" altLang="zh-CN" b="1">
                <a:ea typeface="宋体" panose="02010600030101010101" pitchFamily="2" charset="-122"/>
                <a:sym typeface="Arial" panose="020B0604020202020204" pitchFamily="34" charset="0"/>
              </a:rPr>
              <a:t>\</a:t>
            </a:r>
            <a:r>
              <a:rPr>
                <a:ea typeface="宋体" panose="02010600030101010101" pitchFamily="2" charset="-122"/>
                <a:sym typeface="Arial" panose="020B0604020202020204" pitchFamily="34" charset="0"/>
              </a:rPr>
              <a:t>。</a:t>
            </a:r>
            <a:endParaRPr>
              <a:ea typeface="宋体" panose="02010600030101010101" pitchFamily="2" charset="-122"/>
              <a:sym typeface="Arial" panose="020B0604020202020204" pitchFamily="34" charset="0"/>
            </a:endParaRPr>
          </a:p>
          <a:p>
            <a:endParaRPr>
              <a:ea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>
                <a:ea typeface="宋体" panose="02010600030101010101" pitchFamily="2" charset="-122"/>
                <a:sym typeface="Arial" panose="020B0604020202020204" pitchFamily="34" charset="0"/>
              </a:rPr>
              <a:t>原始字符串</a:t>
            </a:r>
            <a:r>
              <a:rPr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主要用于正则表达式、文件路径或者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URL</a:t>
            </a:r>
            <a:r>
              <a:rPr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的场合。</a:t>
            </a:r>
            <a:endParaRPr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  <a:p>
            <a:endParaRPr>
              <a:ea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b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原始字符串，任何字符都不转义</a:t>
            </a:r>
            <a:endParaRPr>
              <a:ea typeface="宋体" panose="02010600030101010101" pitchFamily="2" charset="-122"/>
              <a:sym typeface="Arial" panose="020B0604020202020204" pitchFamily="34" charset="0"/>
            </a:endParaRPr>
          </a:p>
          <a:p>
            <a:endParaRPr lang="zh-CN" altLang="en-US" dirty="0">
              <a:ea typeface="宋体" panose="02010600030101010101" pitchFamily="2" charset="-122"/>
              <a:sym typeface="Arial" panose="020B0604020202020204" pitchFamily="34" charset="0"/>
            </a:endParaRPr>
          </a:p>
          <a:p>
            <a:endParaRPr lang="zh-CN" altLang="en-US" dirty="0">
              <a:ea typeface="宋体" panose="02010600030101010101" pitchFamily="2" charset="-122"/>
              <a:sym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1877060"/>
            <a:ext cx="10852149" cy="33521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原始</a:t>
            </a:r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altLang="zh-CN" dirty="0"/>
              <a:t>&gt;&gt;&gt; print(</a:t>
            </a:r>
            <a:r>
              <a:rPr lang="pt-BR" altLang="zh-CN" dirty="0">
                <a:solidFill>
                  <a:srgbClr val="00B050"/>
                </a:solidFill>
              </a:rPr>
              <a:t>r'a\n2'</a:t>
            </a:r>
            <a:r>
              <a:rPr lang="pt-BR" altLang="zh-CN" dirty="0"/>
              <a:t>)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>
                <a:solidFill>
                  <a:srgbClr val="0070C0"/>
                </a:solidFill>
              </a:rPr>
              <a:t>a\n2</a:t>
            </a:r>
            <a:endParaRPr lang="pt-BR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altLang="zh-CN" dirty="0"/>
              <a:t>&gt;&gt;&gt; print(</a:t>
            </a:r>
            <a:r>
              <a:rPr lang="pt-BR" altLang="zh-CN" dirty="0">
                <a:solidFill>
                  <a:srgbClr val="00B050"/>
                </a:solidFill>
              </a:rPr>
              <a:t>'a\n2'</a:t>
            </a:r>
            <a:r>
              <a:rPr lang="pt-BR" altLang="zh-CN" dirty="0"/>
              <a:t>)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>
                <a:solidFill>
                  <a:srgbClr val="0070C0"/>
                </a:solidFill>
              </a:rPr>
              <a:t>a</a:t>
            </a:r>
            <a:endParaRPr lang="pt-BR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altLang="zh-CN" dirty="0" smtClean="0">
                <a:solidFill>
                  <a:srgbClr val="0070C0"/>
                </a:solidFill>
              </a:rPr>
              <a:t>2</a:t>
            </a:r>
            <a:endParaRPr lang="pt-BR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1704340"/>
            <a:ext cx="10852150" cy="4568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原始</a:t>
            </a:r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&gt;&gt;&gt; path = 'C:\Windows\notepad.exe'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1" hangingPunct="1"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&gt;&gt;&gt; print(path)                      #字符\n被转义为换行符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1" hangingPunct="1">
              <a:buSzPct val="90000"/>
              <a:buFont typeface="Wingdings" panose="05000000000000000000" pitchFamily="2" charset="2"/>
              <a:buNone/>
            </a:pPr>
            <a:r>
              <a:rPr>
                <a:solidFill>
                  <a:srgbClr val="00B0F0"/>
                </a:solidFill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C:\Windows</a:t>
            </a:r>
            <a:endParaRPr lang="zh-CN" altLang="en-US" dirty="0">
              <a:solidFill>
                <a:srgbClr val="00B0F0"/>
              </a:solidFill>
              <a:latin typeface="Consolas" panose="020B0609020204030204" pitchFamily="49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1" hangingPunct="1">
              <a:buSzPct val="90000"/>
              <a:buFont typeface="Wingdings" panose="05000000000000000000" pitchFamily="2" charset="2"/>
              <a:buNone/>
            </a:pPr>
            <a:r>
              <a:rPr>
                <a:solidFill>
                  <a:srgbClr val="00B0F0"/>
                </a:solidFill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otepad.exe</a:t>
            </a:r>
            <a:endParaRPr lang="zh-CN" altLang="en-US" dirty="0">
              <a:solidFill>
                <a:srgbClr val="00B0F0"/>
              </a:solidFill>
              <a:latin typeface="Consolas" panose="020B0609020204030204" pitchFamily="49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1" hangingPunct="1"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&gt;&gt;&gt; path = r'C:\Windows\notepad.exe' 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1" hangingPunct="1">
              <a:buSzPct val="90000"/>
              <a:buFont typeface="Wingdings" panose="05000000000000000000" pitchFamily="2" charset="2"/>
              <a:buNone/>
            </a:pPr>
            <a:r>
              <a:rPr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&gt;&gt;&gt; print(path)</a:t>
            </a:r>
            <a:endParaRPr lang="zh-CN" altLang="en-US" dirty="0">
              <a:latin typeface="Consolas" panose="020B0609020204030204" pitchFamily="49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1" hangingPunct="1">
              <a:buSzPct val="90000"/>
              <a:buFont typeface="Wingdings" panose="05000000000000000000" pitchFamily="2" charset="2"/>
              <a:buNone/>
            </a:pPr>
            <a:r>
              <a:rPr>
                <a:solidFill>
                  <a:srgbClr val="00B0F0"/>
                </a:solidFill>
                <a:latin typeface="Consolas" panose="020B0609020204030204" pitchFamily="49" charset="0"/>
                <a:ea typeface="宋体" panose="02010600030101010101" pitchFamily="2" charset="-122"/>
                <a:sym typeface="Arial" panose="020B0604020202020204" pitchFamily="34" charset="0"/>
              </a:rPr>
              <a:t>C:\Windows\notepad.exe</a:t>
            </a:r>
            <a:endParaRPr lang="pt-BR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2780928"/>
            <a:ext cx="11042699" cy="3816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字符串中换行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437207"/>
          </a:xfrm>
        </p:spPr>
        <p:txBody>
          <a:bodyPr>
            <a:normAutofit lnSpcReduction="10000"/>
          </a:bodyPr>
          <a:lstStyle/>
          <a:p>
            <a:pPr>
              <a:spcAft>
                <a:spcPts val="400"/>
              </a:spcAft>
            </a:pPr>
            <a:r>
              <a:rPr lang="zh-CN" altLang="en-US" dirty="0">
                <a:solidFill>
                  <a:srgbClr val="FF0000"/>
                </a:solidFill>
              </a:rPr>
              <a:t>三引号</a:t>
            </a:r>
            <a:r>
              <a:rPr lang="zh-CN" altLang="en-US" dirty="0"/>
              <a:t>内的字符串</a:t>
            </a:r>
            <a:r>
              <a:rPr lang="zh-CN" altLang="en-US" dirty="0" smtClean="0"/>
              <a:t>可直接</a:t>
            </a:r>
            <a:r>
              <a:rPr lang="zh-CN" altLang="en-US" dirty="0"/>
              <a:t>按</a:t>
            </a:r>
            <a:r>
              <a:rPr lang="zh-CN" altLang="en-US" dirty="0">
                <a:solidFill>
                  <a:srgbClr val="FF0000"/>
                </a:solidFill>
              </a:rPr>
              <a:t>回车键</a:t>
            </a:r>
            <a:r>
              <a:rPr lang="zh-CN" altLang="en-US" dirty="0"/>
              <a:t>换行的，会形成一个</a:t>
            </a:r>
            <a:r>
              <a:rPr lang="en-US" altLang="zh-CN" dirty="0">
                <a:solidFill>
                  <a:srgbClr val="FF0000"/>
                </a:solidFill>
              </a:rPr>
              <a:t>\n</a:t>
            </a:r>
            <a:r>
              <a:rPr lang="zh-CN" altLang="en-US" dirty="0" smtClean="0">
                <a:solidFill>
                  <a:srgbClr val="FF0000"/>
                </a:solidFill>
              </a:rPr>
              <a:t>字符</a:t>
            </a:r>
            <a:endParaRPr lang="en-US" altLang="zh-CN" dirty="0" smtClean="0"/>
          </a:p>
          <a:p>
            <a:pPr>
              <a:spcAft>
                <a:spcPts val="40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单引号</a:t>
            </a:r>
            <a:r>
              <a:rPr lang="zh-CN" altLang="en-US" dirty="0">
                <a:solidFill>
                  <a:srgbClr val="FF0000"/>
                </a:solidFill>
              </a:rPr>
              <a:t>或双引号</a:t>
            </a:r>
            <a:r>
              <a:rPr lang="zh-CN" altLang="en-US" dirty="0"/>
              <a:t>内的</a:t>
            </a:r>
            <a:r>
              <a:rPr lang="zh-CN" altLang="en-US" dirty="0" smtClean="0"/>
              <a:t>字符在行</a:t>
            </a:r>
            <a:r>
              <a:rPr lang="zh-CN" altLang="en-US" dirty="0"/>
              <a:t>末输入</a:t>
            </a: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en-US" altLang="zh-CN" dirty="0">
                <a:solidFill>
                  <a:srgbClr val="FF0000"/>
                </a:solidFill>
              </a:rPr>
              <a:t>\</a:t>
            </a:r>
            <a:r>
              <a:rPr lang="zh-CN" altLang="en-US" dirty="0"/>
              <a:t>就可以换下一行输入，但是</a:t>
            </a:r>
            <a:r>
              <a:rPr lang="zh-CN" altLang="en-US" dirty="0">
                <a:solidFill>
                  <a:srgbClr val="FF0000"/>
                </a:solidFill>
              </a:rPr>
              <a:t>不会形成</a:t>
            </a:r>
            <a:r>
              <a:rPr lang="en-US" altLang="zh-CN" dirty="0">
                <a:solidFill>
                  <a:srgbClr val="FF0000"/>
                </a:solidFill>
              </a:rPr>
              <a:t>\n</a:t>
            </a:r>
            <a:r>
              <a:rPr lang="zh-CN" altLang="en-US" dirty="0"/>
              <a:t>字符。命令行末的</a:t>
            </a:r>
            <a:r>
              <a:rPr lang="en-US" altLang="zh-CN" dirty="0"/>
              <a:t>\</a:t>
            </a:r>
            <a:r>
              <a:rPr lang="zh-CN" altLang="en-US" dirty="0"/>
              <a:t>实为</a:t>
            </a:r>
            <a:r>
              <a:rPr lang="zh-CN" altLang="en-US" dirty="0">
                <a:solidFill>
                  <a:srgbClr val="FF0000"/>
                </a:solidFill>
              </a:rPr>
              <a:t>续行</a:t>
            </a:r>
            <a:r>
              <a:rPr lang="zh-CN" altLang="en-US" dirty="0" smtClean="0">
                <a:solidFill>
                  <a:srgbClr val="FF0000"/>
                </a:solidFill>
              </a:rPr>
              <a:t>符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/>
              <a:t>&gt;&gt;&gt; </a:t>
            </a:r>
            <a:r>
              <a:rPr lang="pt-BR" altLang="zh-CN" sz="2600" dirty="0">
                <a:solidFill>
                  <a:srgbClr val="00B050"/>
                </a:solidFill>
              </a:rPr>
              <a:t>'''12</a:t>
            </a:r>
            <a:endParaRPr lang="pt-BR" altLang="zh-CN" sz="2600" dirty="0">
              <a:solidFill>
                <a:srgbClr val="00B05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B050"/>
                </a:solidFill>
              </a:rPr>
              <a:t>34</a:t>
            </a:r>
            <a:endParaRPr lang="pt-BR" altLang="zh-CN" sz="2600" dirty="0">
              <a:solidFill>
                <a:srgbClr val="00B05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B050"/>
                </a:solidFill>
              </a:rPr>
              <a:t>56'''</a:t>
            </a:r>
            <a:endParaRPr lang="pt-BR" altLang="zh-CN" sz="2600" dirty="0">
              <a:solidFill>
                <a:srgbClr val="00B05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70C0"/>
                </a:solidFill>
              </a:rPr>
              <a:t>'12\n34\n56'</a:t>
            </a:r>
            <a:endParaRPr lang="pt-BR" altLang="zh-CN" sz="2600" dirty="0">
              <a:solidFill>
                <a:srgbClr val="0070C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/>
              <a:t>&gt;&gt;&gt;</a:t>
            </a:r>
            <a:r>
              <a:rPr lang="pt-BR" altLang="zh-CN" sz="2600" dirty="0">
                <a:solidFill>
                  <a:srgbClr val="00B050"/>
                </a:solidFill>
              </a:rPr>
              <a:t> '12\</a:t>
            </a:r>
            <a:endParaRPr lang="pt-BR" altLang="zh-CN" sz="2600" dirty="0">
              <a:solidFill>
                <a:srgbClr val="00B05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B050"/>
                </a:solidFill>
              </a:rPr>
              <a:t>34'</a:t>
            </a:r>
            <a:endParaRPr lang="pt-BR" altLang="zh-CN" sz="2600" dirty="0">
              <a:solidFill>
                <a:srgbClr val="00B05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70C0"/>
                </a:solidFill>
              </a:rPr>
              <a:t>'1234'</a:t>
            </a:r>
            <a:endParaRPr lang="pt-BR" altLang="zh-CN" sz="2600" dirty="0">
              <a:solidFill>
                <a:srgbClr val="0070C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zh-CN" alt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2.2.3 </a:t>
            </a:r>
            <a:r>
              <a:rPr lang="zh-CN" altLang="en-US" dirty="0" smtClean="0"/>
              <a:t>布尔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布尔值通常用来表示判断条件是否</a:t>
            </a:r>
            <a:r>
              <a:rPr lang="zh-CN" altLang="en-US" dirty="0" smtClean="0"/>
              <a:t>成立</a:t>
            </a:r>
            <a:endParaRPr lang="en-US" altLang="zh-CN" dirty="0" smtClean="0"/>
          </a:p>
          <a:p>
            <a:r>
              <a:rPr lang="zh-CN" altLang="en-US" dirty="0" smtClean="0"/>
              <a:t>两个值：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 smtClean="0"/>
              <a:t>False</a:t>
            </a:r>
            <a:endParaRPr lang="en-US" altLang="zh-CN" dirty="0" smtClean="0"/>
          </a:p>
          <a:p>
            <a:r>
              <a:rPr lang="zh-CN" altLang="en-US" dirty="0" smtClean="0"/>
              <a:t>等价</a:t>
            </a:r>
            <a:endParaRPr lang="en-US" altLang="zh-CN" dirty="0" smtClean="0"/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None</a:t>
            </a:r>
            <a:r>
              <a:rPr lang="zh-CN" altLang="en-US" b="1" dirty="0">
                <a:solidFill>
                  <a:srgbClr val="FF0000"/>
                </a:solidFill>
              </a:rPr>
              <a:t>、任何数值类型中的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、空字符</a:t>
            </a:r>
            <a:r>
              <a:rPr lang="zh-CN" altLang="en-US" b="1" dirty="0" smtClean="0">
                <a:solidFill>
                  <a:srgbClr val="FF0000"/>
                </a:solidFill>
              </a:rPr>
              <a:t>串</a:t>
            </a:r>
            <a:r>
              <a:rPr lang="en-US" altLang="zh-CN" b="1" dirty="0" smtClean="0">
                <a:solidFill>
                  <a:srgbClr val="FF0000"/>
                </a:solidFill>
              </a:rPr>
              <a:t>“”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空元组</a:t>
            </a:r>
            <a:r>
              <a:rPr lang="en-US" altLang="zh-CN" b="1" dirty="0">
                <a:solidFill>
                  <a:srgbClr val="FF0000"/>
                </a:solidFill>
              </a:rPr>
              <a:t>()</a:t>
            </a:r>
            <a:r>
              <a:rPr lang="zh-CN" altLang="en-US" b="1" dirty="0">
                <a:solidFill>
                  <a:srgbClr val="FF0000"/>
                </a:solidFill>
              </a:rPr>
              <a:t>、空列表</a:t>
            </a:r>
            <a:r>
              <a:rPr lang="en-US" altLang="zh-CN" b="1" dirty="0">
                <a:solidFill>
                  <a:srgbClr val="FF0000"/>
                </a:solidFill>
              </a:rPr>
              <a:t>[]</a:t>
            </a:r>
            <a:r>
              <a:rPr lang="zh-CN" altLang="en-US" b="1" dirty="0">
                <a:solidFill>
                  <a:srgbClr val="FF0000"/>
                </a:solidFill>
              </a:rPr>
              <a:t>、空字典</a:t>
            </a:r>
            <a:r>
              <a:rPr lang="en-US" altLang="zh-CN" b="1" dirty="0">
                <a:solidFill>
                  <a:srgbClr val="FF0000"/>
                </a:solidFill>
              </a:rPr>
              <a:t>{}</a:t>
            </a:r>
            <a:r>
              <a:rPr lang="zh-CN" altLang="en-US" b="1" dirty="0">
                <a:solidFill>
                  <a:srgbClr val="FF0000"/>
                </a:solidFill>
              </a:rPr>
              <a:t>、空集合等</a:t>
            </a:r>
            <a:r>
              <a:rPr lang="zh-CN" altLang="en-US" b="1" dirty="0" smtClean="0">
                <a:solidFill>
                  <a:srgbClr val="FF0000"/>
                </a:solidFill>
              </a:rPr>
              <a:t>都可以被</a:t>
            </a:r>
            <a:r>
              <a:rPr lang="zh-CN" altLang="en-US" b="1" dirty="0">
                <a:solidFill>
                  <a:srgbClr val="FF0000"/>
                </a:solidFill>
              </a:rPr>
              <a:t>当作</a:t>
            </a:r>
            <a:r>
              <a:rPr lang="en-US" altLang="zh-CN" b="1" dirty="0">
                <a:solidFill>
                  <a:srgbClr val="FF0000"/>
                </a:solidFill>
              </a:rPr>
              <a:t>False</a:t>
            </a: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其他值则等价</a:t>
            </a:r>
            <a:r>
              <a:rPr lang="zh-CN" altLang="en-US" dirty="0"/>
              <a:t>于</a:t>
            </a:r>
            <a:r>
              <a:rPr lang="en-US" altLang="zh-CN" dirty="0"/>
              <a:t>True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第2章 Python语言基础（上）"/>
          <p:cNvPicPr>
            <a:picLocks noChangeAspect="1"/>
          </p:cNvPicPr>
          <p:nvPr>
            <p:ph idx="1"/>
          </p:nvPr>
        </p:nvPicPr>
        <p:blipFill>
          <a:blip r:embed="rId1"/>
          <a:srcRect l="30925" b="57383"/>
          <a:stretch>
            <a:fillRect/>
          </a:stretch>
        </p:blipFill>
        <p:spPr>
          <a:xfrm>
            <a:off x="494665" y="53340"/>
            <a:ext cx="11383010" cy="6751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中数据的类型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17505" y="2314488"/>
            <a:ext cx="3600000" cy="3580223"/>
          </a:xfrm>
          <a:prstGeom prst="rect">
            <a:avLst/>
          </a:prstGeom>
          <a:solidFill>
            <a:srgbClr val="FFFFFF"/>
          </a:solidFill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数值（</a:t>
            </a:r>
            <a:r>
              <a:rPr lang="en-US" altLang="zh-CN" sz="2400" dirty="0">
                <a:solidFill>
                  <a:schemeClr val="tx1"/>
                </a:solidFill>
              </a:rPr>
              <a:t>numbers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字符串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string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布尔</a:t>
            </a:r>
            <a:r>
              <a:rPr lang="zh-CN" altLang="en-US" sz="2400" dirty="0">
                <a:solidFill>
                  <a:schemeClr val="tx1"/>
                </a:solidFill>
              </a:rPr>
              <a:t>类型（</a:t>
            </a:r>
            <a:r>
              <a:rPr lang="en-US" altLang="zh-CN" sz="2400" dirty="0">
                <a:solidFill>
                  <a:schemeClr val="tx1"/>
                </a:solidFill>
              </a:rPr>
              <a:t>bool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417505" y="1988840"/>
            <a:ext cx="3600000" cy="651295"/>
          </a:xfrm>
          <a:prstGeom prst="homePlate">
            <a:avLst>
              <a:gd name="adj" fmla="val 63872"/>
            </a:avLst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基本数据类型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13803" y="2314488"/>
            <a:ext cx="3600000" cy="3580223"/>
          </a:xfrm>
          <a:prstGeom prst="rect">
            <a:avLst/>
          </a:prstGeom>
          <a:solidFill>
            <a:srgbClr val="FFFFFF"/>
          </a:solidFill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列表（</a:t>
            </a:r>
            <a:r>
              <a:rPr lang="en-US" altLang="zh-CN" sz="2400" dirty="0">
                <a:solidFill>
                  <a:schemeClr val="tx1"/>
                </a:solidFill>
              </a:rPr>
              <a:t>list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元组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tuple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字典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dictionary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集合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set</a:t>
            </a:r>
            <a:r>
              <a:rPr lang="zh-CN" altLang="en-US" sz="2400" dirty="0" smtClean="0">
                <a:solidFill>
                  <a:schemeClr val="tx1"/>
                </a:solidFill>
              </a:rPr>
              <a:t>）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 flipH="1">
            <a:off x="6813803" y="1988840"/>
            <a:ext cx="3600000" cy="651295"/>
          </a:xfrm>
          <a:prstGeom prst="homePlate">
            <a:avLst>
              <a:gd name="adj" fmla="val 63872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 smtClea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复合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数据类型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60365" y="2191385"/>
            <a:ext cx="127127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0">
                <a:solidFill>
                  <a:srgbClr val="FF0000"/>
                </a:solidFill>
                <a:cs typeface="Arial" panose="020B0604020202020204" pitchFamily="34" charset="0"/>
              </a:rPr>
              <a:t>√</a:t>
            </a:r>
            <a:endParaRPr lang="zh-CN" altLang="en-US" sz="800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024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Python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序列概述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7651" name="文本占位符 1024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altLang="zh-CN" sz="2400" dirty="0"/>
              <a:t>Python</a:t>
            </a:r>
            <a:r>
              <a:rPr lang="zh-CN" altLang="en-US" sz="2400" dirty="0"/>
              <a:t>中常用的序列结构有列表、元组、字符串，字典、集合以及</a:t>
            </a:r>
            <a:r>
              <a:rPr lang="en-US" altLang="zh-CN" sz="2400" dirty="0"/>
              <a:t>range</a:t>
            </a:r>
            <a:r>
              <a:rPr lang="zh-CN" altLang="en-US" sz="2400" dirty="0"/>
              <a:t>等对象也支持很多类似的操作。</a:t>
            </a:r>
            <a:endParaRPr lang="zh-CN" altLang="en-US" sz="2400" dirty="0"/>
          </a:p>
          <a:p>
            <a:pPr eaLnBrk="1" hangingPunct="1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endParaRPr lang="zh-CN" altLang="en-US" sz="2400" dirty="0"/>
          </a:p>
          <a:p>
            <a:pPr eaLnBrk="1" hangingPunct="1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b="1" dirty="0">
                <a:solidFill>
                  <a:srgbClr val="FF0000"/>
                </a:solidFill>
              </a:rPr>
              <a:t>列表、元组、字符串支持双向索引，第一个元素下标为0，第二个元素下标为1，以此类推；最后一个元素下标为-1，倒数第二个元素下标为-2，以此类推。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7652" name="Picture -2147482620"/>
          <p:cNvPicPr>
            <a:picLocks noChangeAspect="1"/>
          </p:cNvPicPr>
          <p:nvPr/>
        </p:nvPicPr>
        <p:blipFill>
          <a:blip r:embed="rId1"/>
          <a:srcRect b="40339"/>
          <a:stretch>
            <a:fillRect/>
          </a:stretch>
        </p:blipFill>
        <p:spPr>
          <a:xfrm>
            <a:off x="2432050" y="4719955"/>
            <a:ext cx="7126605" cy="11941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3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1407160" y="5685790"/>
            <a:ext cx="89458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sym typeface="+mn-ea"/>
              </a:rPr>
              <a:t>正向下标为      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0                   1            2               3                4               5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sym typeface="+mn-ea"/>
              </a:rPr>
              <a:t>反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向下标为      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-6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                 -5           -4              -3               -2              -1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  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4" name="画布 8"/>
          <p:cNvGrpSpPr/>
          <p:nvPr/>
        </p:nvGrpSpPr>
        <p:grpSpPr>
          <a:xfrm>
            <a:off x="885825" y="420370"/>
            <a:ext cx="10104120" cy="5391785"/>
            <a:chOff x="0" y="0"/>
            <a:chExt cx="4302760" cy="3054985"/>
          </a:xfrm>
        </p:grpSpPr>
        <p:sp>
          <p:nvSpPr>
            <p:cNvPr id="28677" name="画布 8"/>
            <p:cNvSpPr/>
            <p:nvPr/>
          </p:nvSpPr>
          <p:spPr>
            <a:xfrm>
              <a:off x="0" y="0"/>
              <a:ext cx="4302760" cy="305498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文本框 9"/>
            <p:cNvSpPr txBox="1"/>
            <p:nvPr/>
          </p:nvSpPr>
          <p:spPr>
            <a:xfrm>
              <a:off x="95100" y="660760"/>
              <a:ext cx="734494" cy="28167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有序序列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" name="文本框 10"/>
            <p:cNvSpPr txBox="1"/>
            <p:nvPr/>
          </p:nvSpPr>
          <p:spPr>
            <a:xfrm>
              <a:off x="105217" y="1510475"/>
              <a:ext cx="734494" cy="28167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无序序列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" name="文本框 11"/>
            <p:cNvSpPr txBox="1"/>
            <p:nvPr/>
          </p:nvSpPr>
          <p:spPr>
            <a:xfrm>
              <a:off x="1545877" y="25820"/>
              <a:ext cx="1193806" cy="2805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列表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" name="文本框 12"/>
            <p:cNvSpPr txBox="1"/>
            <p:nvPr/>
          </p:nvSpPr>
          <p:spPr>
            <a:xfrm>
              <a:off x="1540819" y="512881"/>
              <a:ext cx="1198864" cy="2805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元组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" name="文本框 13"/>
            <p:cNvSpPr txBox="1"/>
            <p:nvPr/>
          </p:nvSpPr>
          <p:spPr>
            <a:xfrm>
              <a:off x="1540819" y="1001115"/>
              <a:ext cx="1198864" cy="28167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字符串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4" name="文本框 14"/>
            <p:cNvSpPr txBox="1"/>
            <p:nvPr/>
          </p:nvSpPr>
          <p:spPr>
            <a:xfrm>
              <a:off x="1539807" y="1508128"/>
              <a:ext cx="1199876" cy="2805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字典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1539807" y="2043307"/>
              <a:ext cx="1199876" cy="28167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集合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6" name="文本框 16"/>
            <p:cNvSpPr txBox="1"/>
            <p:nvPr/>
          </p:nvSpPr>
          <p:spPr>
            <a:xfrm>
              <a:off x="1539807" y="2525673"/>
              <a:ext cx="1199876" cy="499971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range、zip、map、enumerate等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" name="文本框 17"/>
            <p:cNvSpPr txBox="1"/>
            <p:nvPr/>
          </p:nvSpPr>
          <p:spPr>
            <a:xfrm>
              <a:off x="3306235" y="687753"/>
              <a:ext cx="915589" cy="28167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可变序列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" name="文本框 18"/>
            <p:cNvSpPr txBox="1"/>
            <p:nvPr/>
          </p:nvSpPr>
          <p:spPr>
            <a:xfrm>
              <a:off x="3305224" y="1512822"/>
              <a:ext cx="914577" cy="28284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/>
                  <a:sym typeface="Times New Roman" panose="02020603050405020304"/>
                </a:rPr>
                <a:t>不可变序列</a:t>
              </a:r>
              <a:endParaRPr kumimoji="0" lang="en-US" altLang="zh-CN" sz="1800" b="0" i="0" u="none" strike="noStrike" kern="1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19" name="直接箭头连接符 19"/>
            <p:cNvCxnSpPr>
              <a:stCxn id="11" idx="3"/>
              <a:endCxn id="17" idx="1"/>
            </p:cNvCxnSpPr>
            <p:nvPr/>
          </p:nvCxnSpPr>
          <p:spPr>
            <a:xfrm>
              <a:off x="2739683" y="166657"/>
              <a:ext cx="565541" cy="663107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20"/>
            <p:cNvCxnSpPr>
              <a:stCxn id="14" idx="3"/>
              <a:endCxn id="17" idx="1"/>
            </p:cNvCxnSpPr>
            <p:nvPr/>
          </p:nvCxnSpPr>
          <p:spPr>
            <a:xfrm flipV="1">
              <a:off x="2739683" y="828590"/>
              <a:ext cx="565541" cy="820375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1"/>
            <p:cNvCxnSpPr>
              <a:stCxn id="15" idx="3"/>
              <a:endCxn id="17" idx="1"/>
            </p:cNvCxnSpPr>
            <p:nvPr/>
          </p:nvCxnSpPr>
          <p:spPr>
            <a:xfrm flipV="1">
              <a:off x="2740695" y="828590"/>
              <a:ext cx="564529" cy="1355554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2"/>
            <p:cNvCxnSpPr>
              <a:stCxn id="12" idx="3"/>
              <a:endCxn id="18" idx="1"/>
            </p:cNvCxnSpPr>
            <p:nvPr/>
          </p:nvCxnSpPr>
          <p:spPr>
            <a:xfrm>
              <a:off x="2739683" y="653718"/>
              <a:ext cx="565541" cy="100111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3"/>
            <p:cNvCxnSpPr>
              <a:stCxn id="13" idx="3"/>
              <a:endCxn id="18" idx="1"/>
            </p:cNvCxnSpPr>
            <p:nvPr/>
          </p:nvCxnSpPr>
          <p:spPr>
            <a:xfrm>
              <a:off x="2739683" y="1141952"/>
              <a:ext cx="565541" cy="51288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4"/>
            <p:cNvCxnSpPr>
              <a:stCxn id="16" idx="3"/>
              <a:endCxn id="18" idx="1"/>
            </p:cNvCxnSpPr>
            <p:nvPr/>
          </p:nvCxnSpPr>
          <p:spPr>
            <a:xfrm flipV="1">
              <a:off x="2739683" y="1653659"/>
              <a:ext cx="565541" cy="1122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5"/>
            <p:cNvCxnSpPr>
              <a:stCxn id="11" idx="1"/>
              <a:endCxn id="9" idx="3"/>
            </p:cNvCxnSpPr>
            <p:nvPr/>
          </p:nvCxnSpPr>
          <p:spPr>
            <a:xfrm flipH="1">
              <a:off x="829594" y="166657"/>
              <a:ext cx="716284" cy="6361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6"/>
            <p:cNvCxnSpPr>
              <a:stCxn id="12" idx="1"/>
              <a:endCxn id="9" idx="3"/>
            </p:cNvCxnSpPr>
            <p:nvPr/>
          </p:nvCxnSpPr>
          <p:spPr>
            <a:xfrm flipH="1">
              <a:off x="829594" y="653718"/>
              <a:ext cx="711225" cy="14905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7"/>
            <p:cNvCxnSpPr>
              <a:stCxn id="13" idx="1"/>
              <a:endCxn id="9" idx="3"/>
            </p:cNvCxnSpPr>
            <p:nvPr/>
          </p:nvCxnSpPr>
          <p:spPr>
            <a:xfrm flipH="1" flipV="1">
              <a:off x="829594" y="802770"/>
              <a:ext cx="711225" cy="3391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8"/>
            <p:cNvCxnSpPr>
              <a:stCxn id="16" idx="1"/>
              <a:endCxn id="9" idx="3"/>
            </p:cNvCxnSpPr>
            <p:nvPr/>
          </p:nvCxnSpPr>
          <p:spPr>
            <a:xfrm flipH="1" flipV="1">
              <a:off x="829594" y="801596"/>
              <a:ext cx="710213" cy="197406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9"/>
            <p:cNvCxnSpPr>
              <a:stCxn id="14" idx="1"/>
              <a:endCxn id="10" idx="3"/>
            </p:cNvCxnSpPr>
            <p:nvPr/>
          </p:nvCxnSpPr>
          <p:spPr>
            <a:xfrm flipH="1">
              <a:off x="838700" y="1648964"/>
              <a:ext cx="701108" cy="3521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30"/>
            <p:cNvCxnSpPr>
              <a:stCxn id="15" idx="1"/>
              <a:endCxn id="10" idx="3"/>
            </p:cNvCxnSpPr>
            <p:nvPr/>
          </p:nvCxnSpPr>
          <p:spPr>
            <a:xfrm flipH="1" flipV="1">
              <a:off x="838700" y="1652485"/>
              <a:ext cx="701108" cy="531659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-1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-13335" y="318770"/>
          <a:ext cx="12205335" cy="6904990"/>
        </p:xfrm>
        <a:graphic>
          <a:graphicData uri="http://schemas.openxmlformats.org/drawingml/2006/table">
            <a:tbl>
              <a:tblPr/>
              <a:tblGrid>
                <a:gridCol w="2820670"/>
                <a:gridCol w="2395220"/>
                <a:gridCol w="2633345"/>
                <a:gridCol w="2641600"/>
                <a:gridCol w="1714500"/>
              </a:tblGrid>
              <a:tr h="45339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列表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字典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9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类型名称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list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tuple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dict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set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定界符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方括号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[]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圆括号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()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大括号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{}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大括号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{}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95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是否可变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91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是否有序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263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是否支持下标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是（使用序号作为下标）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是（使用序号作为下标）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是（使用“键”作为下标）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91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元素分隔符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逗号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逗号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逗号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逗号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54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对元素形式的要求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键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: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值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必须可哈希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70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对元素值的要求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键”必须可哈希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必须可哈希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438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元素是否可重复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键”不允许重复，“值”可以重复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91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元素查找速度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非常慢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非常快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非常快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263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新增和删除元素速度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尾部操作快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其他位置慢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不允许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快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快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36195" marB="3619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7200"/>
              <a:t>列表</a:t>
            </a:r>
            <a:endParaRPr sz="7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列表</a:t>
            </a:r>
            <a:r>
              <a:rPr lang="en-US" altLang="zh-CN"/>
              <a:t>	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latin typeface="+mn-ea"/>
                <a:ea typeface="+mn-ea"/>
                <a:cs typeface="+mn-ea"/>
                <a:sym typeface="+mn-ea"/>
              </a:rPr>
              <a:t>列表是内置</a:t>
            </a: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有序、可变</a:t>
            </a:r>
            <a:r>
              <a:rPr b="1">
                <a:latin typeface="+mn-ea"/>
                <a:ea typeface="+mn-ea"/>
                <a:cs typeface="+mn-ea"/>
                <a:sym typeface="+mn-ea"/>
              </a:rPr>
              <a:t>序列，列表的所有元素放在一对中括号“</a:t>
            </a:r>
            <a:r>
              <a:rPr lang="en-US" altLang="zh-CN" b="1">
                <a:latin typeface="+mn-ea"/>
                <a:ea typeface="+mn-ea"/>
                <a:cs typeface="+mn-ea"/>
                <a:sym typeface="+mn-ea"/>
              </a:rPr>
              <a:t>[]”</a:t>
            </a:r>
            <a:r>
              <a:rPr b="1">
                <a:latin typeface="+mn-ea"/>
                <a:ea typeface="+mn-ea"/>
                <a:cs typeface="+mn-ea"/>
                <a:sym typeface="+mn-ea"/>
              </a:rPr>
              <a:t>中，并使用逗号分隔开；</a:t>
            </a:r>
            <a:endParaRPr lang="zh-CN" altLang="en-US" b="1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zh-CN" altLang="en-US" b="1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zh-CN" altLang="en-US" b="1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当列表元素增加或删除时，列表对象自动进行扩展或收缩内存，保证元素之间没有缝隙</a:t>
            </a:r>
            <a:r>
              <a:rPr b="1">
                <a:latin typeface="+mn-ea"/>
                <a:ea typeface="+mn-ea"/>
                <a:cs typeface="+mn-ea"/>
                <a:sym typeface="+mn-ea"/>
              </a:rPr>
              <a:t>；</a:t>
            </a:r>
            <a:endParaRPr lang="zh-CN" altLang="en-US" dirty="0">
              <a:latin typeface="+mn-ea"/>
              <a:ea typeface="+mn-ea"/>
              <a:cs typeface="+mn-ea"/>
            </a:endParaRPr>
          </a:p>
          <a:p>
            <a:endParaRPr lang="zh-CN" altLang="en-US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列表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一个列表中的数据类型可以各不相同</a:t>
            </a:r>
            <a:r>
              <a:rPr b="1">
                <a:latin typeface="+mn-ea"/>
                <a:ea typeface="+mn-ea"/>
                <a:sym typeface="+mn-ea"/>
              </a:rPr>
              <a:t>，</a:t>
            </a:r>
            <a:endParaRPr lang="zh-CN" altLang="en-US" b="1" dirty="0">
              <a:latin typeface="+mn-ea"/>
              <a:ea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zh-CN" altLang="en-US" b="1" dirty="0">
              <a:latin typeface="+mn-ea"/>
              <a:ea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latin typeface="+mn-ea"/>
                <a:ea typeface="+mn-ea"/>
                <a:sym typeface="+mn-ea"/>
              </a:rPr>
              <a:t>可以同时分别为整数、实数、字符串等基本类型，甚至是列表、元组、字典、集合以及其他自定义类型的对象。</a:t>
            </a:r>
            <a:endParaRPr b="1">
              <a:latin typeface="+mn-ea"/>
              <a:ea typeface="+mn-ea"/>
              <a:sym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b="1">
              <a:sym typeface="+mn-ea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b="1">
                <a:latin typeface="Consolas" panose="020B0609020204030204" pitchFamily="49" charset="0"/>
                <a:sym typeface="+mn-ea"/>
              </a:rPr>
              <a:t>[10, 20, 30, 40]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algn="l" eaLnBrk="1" hangingPunct="1">
              <a:lnSpc>
                <a:spcPct val="80000"/>
              </a:lnSpc>
              <a:buClrTx/>
              <a:buSzPct val="90000"/>
              <a:buFont typeface="Wingdings" panose="05000000000000000000" pitchFamily="2" charset="2"/>
              <a:buNone/>
            </a:pPr>
            <a:r>
              <a:rPr lang="en-US" altLang="zh-CN" b="1">
                <a:latin typeface="Consolas" panose="020B0609020204030204" pitchFamily="49" charset="0"/>
                <a:sym typeface="+mn-ea"/>
              </a:rPr>
              <a:t>['crunchy frog', 'ram bladder', 'lark vomit']</a:t>
            </a:r>
            <a:endParaRPr lang="en-US" altLang="zh-CN" b="1">
              <a:latin typeface="Consolas" panose="020B0609020204030204" pitchFamily="49" charset="0"/>
            </a:endParaRPr>
          </a:p>
          <a:p>
            <a:pPr algn="l" eaLnBrk="1" hangingPunct="1">
              <a:lnSpc>
                <a:spcPct val="80000"/>
              </a:lnSpc>
              <a:buClrTx/>
              <a:buSzPct val="90000"/>
              <a:buFont typeface="Wingdings" panose="05000000000000000000" pitchFamily="2" charset="2"/>
              <a:buNone/>
            </a:pPr>
            <a:r>
              <a:rPr lang="en-US" altLang="zh-CN" b="1">
                <a:latin typeface="Consolas" panose="020B0609020204030204" pitchFamily="49" charset="0"/>
                <a:sym typeface="+mn-ea"/>
              </a:rPr>
              <a:t>['spam', 2.0, 5, [10, 20]]</a:t>
            </a:r>
            <a:endParaRPr lang="en-US" altLang="zh-CN" b="1">
              <a:latin typeface="Consolas" panose="020B0609020204030204" pitchFamily="49" charset="0"/>
            </a:endParaRPr>
          </a:p>
          <a:p>
            <a:pPr algn="l" eaLnBrk="1" hangingPunct="1">
              <a:lnSpc>
                <a:spcPct val="80000"/>
              </a:lnSpc>
              <a:buClrTx/>
              <a:buSzPct val="90000"/>
              <a:buFont typeface="Wingdings" panose="05000000000000000000" pitchFamily="2" charset="2"/>
              <a:buNone/>
            </a:pPr>
            <a:r>
              <a:rPr lang="en-US" altLang="zh-CN" b="1">
                <a:latin typeface="Consolas" panose="020B0609020204030204" pitchFamily="49" charset="0"/>
                <a:sym typeface="+mn-ea"/>
              </a:rPr>
              <a:t>[['file1', 200,7], ['file2', 260,9]]</a:t>
            </a:r>
            <a:endParaRPr lang="en-US" altLang="zh-CN" b="1">
              <a:latin typeface="Consolas" panose="020B0609020204030204" pitchFamily="49" charset="0"/>
              <a:sym typeface="+mn-ea"/>
            </a:endParaRPr>
          </a:p>
          <a:p>
            <a:pPr algn="l">
              <a:lnSpc>
                <a:spcPct val="80000"/>
              </a:lnSpc>
              <a:buClrTx/>
              <a:buSzPct val="90000"/>
              <a:buNone/>
            </a:pPr>
            <a:r>
              <a:rPr lang="en-US" altLang="zh-CN" b="1">
                <a:latin typeface="Consolas" panose="020B0609020204030204" pitchFamily="49" charset="0"/>
                <a:sym typeface="+mn-ea"/>
              </a:rPr>
              <a:t>[25, 'Hi', -9.34, (3+4j)]</a:t>
            </a:r>
            <a:endParaRPr lang="en-US" altLang="zh-CN" b="1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lvl="1" defTabSz="914400">
              <a:tabLst>
                <a:tab pos="1609725" algn="l"/>
                <a:tab pos="1609725" algn="l"/>
              </a:tabLst>
            </a:pPr>
            <a:r>
              <a:rPr lang="zh-CN" altLang="en-US" b="1" dirty="0" smtClean="0"/>
              <a:t>列表</a:t>
            </a:r>
            <a:r>
              <a:rPr lang="zh-CN" altLang="en-US" b="1" dirty="0"/>
              <a:t>是有序的，列表中的数据元素可重复，也可以被</a:t>
            </a:r>
            <a:r>
              <a:rPr lang="zh-CN" altLang="en-US" b="1" dirty="0" smtClean="0"/>
              <a:t>修改</a:t>
            </a:r>
            <a:endParaRPr lang="en-US" altLang="zh-CN" b="1" dirty="0" smtClean="0"/>
          </a:p>
          <a:p>
            <a:pPr marL="0" lvl="1" defTabSz="914400">
              <a:tabLst>
                <a:tab pos="1609725" algn="l"/>
                <a:tab pos="1609725" algn="l"/>
              </a:tabLst>
            </a:pPr>
            <a:r>
              <a:rPr lang="zh-CN" altLang="en-US" b="1" dirty="0" smtClean="0"/>
              <a:t>列表</a:t>
            </a:r>
            <a:r>
              <a:rPr lang="zh-CN" altLang="en-US" b="1" dirty="0"/>
              <a:t>中的数据元素通过</a:t>
            </a:r>
            <a:r>
              <a:rPr lang="zh-CN" altLang="en-US" b="1" dirty="0">
                <a:solidFill>
                  <a:srgbClr val="FF0000"/>
                </a:solidFill>
              </a:rPr>
              <a:t>序号</a:t>
            </a:r>
            <a:r>
              <a:rPr lang="zh-CN" altLang="en-US" b="1" dirty="0" smtClean="0">
                <a:solidFill>
                  <a:srgbClr val="FF0000"/>
                </a:solidFill>
              </a:rPr>
              <a:t>引用</a:t>
            </a:r>
            <a:endParaRPr lang="en-US" altLang="zh-CN" b="1" dirty="0" smtClean="0"/>
          </a:p>
          <a:p>
            <a:pPr marL="0" indent="0">
              <a:buNone/>
            </a:pPr>
            <a:r>
              <a:rPr lang="en-US" altLang="zh-CN" b="1" dirty="0"/>
              <a:t>&gt;&gt;&gt; x = [1, 2, 3] </a:t>
            </a:r>
            <a:endParaRPr lang="en-US" altLang="zh-CN" b="1" dirty="0" smtClean="0"/>
          </a:p>
          <a:p>
            <a:pPr marL="0" indent="0">
              <a:buNone/>
            </a:pPr>
            <a:r>
              <a:rPr lang="en-US" altLang="zh-CN" b="1" dirty="0" smtClean="0"/>
              <a:t>&gt;&gt;&gt; </a:t>
            </a:r>
            <a:r>
              <a:rPr lang="en-US" altLang="zh-CN" b="1" dirty="0"/>
              <a:t>x[2] = -</a:t>
            </a:r>
            <a:r>
              <a:rPr lang="en-US" altLang="zh-CN" b="1" dirty="0" smtClean="0"/>
              <a:t>100            </a:t>
            </a:r>
            <a:r>
              <a:rPr b="1" dirty="0" smtClean="0"/>
              <a:t>下标</a:t>
            </a:r>
            <a:r>
              <a:rPr lang="en-US" altLang="zh-CN" b="1" dirty="0" smtClean="0"/>
              <a:t>2</a:t>
            </a:r>
            <a:r>
              <a:rPr b="1" dirty="0" smtClean="0"/>
              <a:t>表示第三个元素</a:t>
            </a:r>
            <a:endParaRPr lang="en-US" altLang="zh-CN" b="1" dirty="0" smtClean="0"/>
          </a:p>
          <a:p>
            <a:pPr marL="0" indent="0" algn="l">
              <a:lnSpc>
                <a:spcPct val="13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b="1">
                <a:sym typeface="+mn-ea"/>
              </a:rPr>
              <a:t>&gt;&gt;&gt; x</a:t>
            </a:r>
            <a:endParaRPr lang="en-US" altLang="zh-CN" b="1" spc="15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ct val="13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b="1">
                <a:sym typeface="+mn-ea"/>
              </a:rPr>
              <a:t>[1, 2, -100]</a:t>
            </a:r>
            <a:endParaRPr lang="en-US" altLang="zh-CN" b="1" spc="150" noProof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ct val="13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b="1">
                <a:sym typeface="+mn-ea"/>
              </a:rPr>
              <a:t>&gt;&gt;&gt; j = 2</a:t>
            </a:r>
            <a:endParaRPr lang="en-US" altLang="zh-CN" b="1" spc="15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ct val="13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b="1">
                <a:sym typeface="+mn-ea"/>
              </a:rPr>
              <a:t>&gt;&gt;&gt; x[j]</a:t>
            </a:r>
            <a:endParaRPr lang="en-US" altLang="zh-CN" b="1" spc="15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ct val="13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b="1">
                <a:sym typeface="+mn-ea"/>
              </a:rPr>
              <a:t>-100</a:t>
            </a:r>
            <a:endParaRPr lang="en-US" altLang="zh-CN" b="1" spc="150" noProof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33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kern="1200" dirty="0">
                <a:latin typeface="+mj-lt"/>
                <a:ea typeface="+mj-ea"/>
                <a:cs typeface="+mj-cs"/>
              </a:rPr>
              <a:t>列表创建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3315" name="文本占位符 1331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使用“</a:t>
            </a:r>
            <a:r>
              <a:rPr kumimoji="0" lang="en-US" altLang="zh-CN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=”</a:t>
            </a:r>
            <a:r>
              <a:rPr kumimoji="0" lang="zh-CN" altLang="en-US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直接将一个列表赋值给变量即可创建列表对象</a:t>
            </a:r>
            <a:endParaRPr kumimoji="0" lang="zh-CN" altLang="en-US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&gt;&gt;&gt; a_list = ['a', 'b', 'mpilgrim', 'z', 'example']</a:t>
            </a:r>
            <a:endParaRPr kumimoji="0" lang="en-US" altLang="zh-CN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&gt;&gt;&gt; a_list = []          #</a:t>
            </a:r>
            <a:r>
              <a:rPr kumimoji="0" lang="zh-CN" altLang="en-US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创建空列表</a:t>
            </a:r>
            <a:endParaRPr kumimoji="0" lang="zh-CN" altLang="en-US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  <p:sp>
        <p:nvSpPr>
          <p:cNvPr id="33796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638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kern="1200" dirty="0">
                <a:latin typeface="+mj-lt"/>
                <a:ea typeface="+mj-ea"/>
                <a:cs typeface="+mj-cs"/>
              </a:rPr>
              <a:t>列表删除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6387" name="文本占位符 1638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当不再使用时，使用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删除整个列表。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如果列表对象所指向的值不再有其他对象指向，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Python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将同时删除该值。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&gt;&gt;&gt; del a_list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&gt;&gt;&gt; a_list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Traceback (most recent call last):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File "&lt;pyshell#6&gt;", line 1, in &lt;module&gt;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a_list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NameError: name 'a_list' is not defined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844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7200"/>
              <a:t>元组</a:t>
            </a:r>
            <a:endParaRPr sz="7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标题 6553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kern="1200" dirty="0">
                <a:latin typeface="+mj-lt"/>
                <a:ea typeface="+mj-ea"/>
                <a:cs typeface="+mj-cs"/>
              </a:rPr>
              <a:t>元组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0595" name="文本占位符 6553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zh-CN" altLang="en-US" dirty="0"/>
              <a:t>元组和列表类似，但</a:t>
            </a:r>
            <a:r>
              <a:rPr lang="zh-CN" altLang="en-US" b="1" dirty="0">
                <a:solidFill>
                  <a:srgbClr val="FF0000"/>
                </a:solidFill>
              </a:rPr>
              <a:t>属于不可变序列，元组一旦创建，用任何方法都不可以修改其元素。</a:t>
            </a:r>
            <a:endParaRPr lang="zh-CN" alt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zh-CN" altLang="en-US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zh-CN" altLang="en-US" dirty="0"/>
              <a:t>定义时所有元素是放在一对圆括号“（）”中，而不是方括号中。逗号隔开各个元素。</a:t>
            </a:r>
            <a:endParaRPr lang="zh-CN" altLang="en-US" dirty="0"/>
          </a:p>
        </p:txBody>
      </p:sp>
      <p:sp>
        <p:nvSpPr>
          <p:cNvPr id="110596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标题 6553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kern="1200" dirty="0">
                <a:latin typeface="+mj-lt"/>
                <a:ea typeface="+mj-ea"/>
                <a:cs typeface="+mj-cs"/>
              </a:rPr>
              <a:t>元组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0595" name="文本占位符 6553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0" lvl="1" indent="0">
              <a:buNone/>
            </a:pPr>
            <a:r>
              <a:rPr>
                <a:sym typeface="+mn-ea"/>
              </a:rPr>
              <a:t>元组中的数据元素类型可以</a:t>
            </a:r>
            <a:r>
              <a:rPr smtClean="0">
                <a:sym typeface="+mn-ea"/>
              </a:rPr>
              <a:t>不同</a:t>
            </a:r>
            <a:endParaRPr lang="en-US" altLang="zh-CN" dirty="0" smtClean="0"/>
          </a:p>
          <a:p>
            <a:pPr marL="0" lvl="1" indent="0">
              <a:buNone/>
            </a:pPr>
            <a:endParaRPr smtClean="0">
              <a:sym typeface="+mn-ea"/>
            </a:endParaRPr>
          </a:p>
          <a:p>
            <a:pPr marL="0" lvl="1" indent="0">
              <a:buNone/>
            </a:pPr>
            <a:endParaRPr smtClean="0">
              <a:sym typeface="+mn-ea"/>
            </a:endParaRPr>
          </a:p>
          <a:p>
            <a:pPr marL="0" lvl="1" indent="0">
              <a:buNone/>
            </a:pPr>
            <a:r>
              <a:rPr smtClean="0">
                <a:sym typeface="+mn-ea"/>
              </a:rPr>
              <a:t>数据</a:t>
            </a:r>
            <a:r>
              <a:rPr>
                <a:sym typeface="+mn-ea"/>
              </a:rPr>
              <a:t>元素值</a:t>
            </a:r>
            <a:r>
              <a:rPr b="1">
                <a:solidFill>
                  <a:srgbClr val="FF0000"/>
                </a:solidFill>
                <a:sym typeface="+mn-ea"/>
              </a:rPr>
              <a:t>不能修改</a:t>
            </a:r>
            <a:r>
              <a:rPr>
                <a:solidFill>
                  <a:srgbClr val="FF0000"/>
                </a:solidFill>
                <a:sym typeface="+mn-ea"/>
              </a:rPr>
              <a:t>、可重复、可</a:t>
            </a:r>
            <a:r>
              <a:rPr smtClean="0">
                <a:solidFill>
                  <a:srgbClr val="FF0000"/>
                </a:solidFill>
                <a:sym typeface="+mn-ea"/>
              </a:rPr>
              <a:t>嵌套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smtClean="0">
              <a:sym typeface="+mn-ea"/>
            </a:endParaRPr>
          </a:p>
          <a:p>
            <a:pPr marL="0" lvl="1" indent="0">
              <a:buNone/>
            </a:pPr>
            <a:endParaRPr smtClean="0">
              <a:sym typeface="+mn-ea"/>
            </a:endParaRPr>
          </a:p>
          <a:p>
            <a:pPr marL="0" lvl="1" indent="0">
              <a:buNone/>
            </a:pPr>
            <a:r>
              <a:rPr smtClean="0">
                <a:sym typeface="+mn-ea"/>
              </a:rPr>
              <a:t>总之，元组</a:t>
            </a:r>
            <a:r>
              <a:rPr>
                <a:sym typeface="+mn-ea"/>
              </a:rPr>
              <a:t>是不可变、有序的对象集合</a:t>
            </a:r>
            <a:r>
              <a:rPr smtClean="0">
                <a:sym typeface="+mn-ea"/>
              </a:rPr>
              <a:t>。</a:t>
            </a:r>
            <a:endParaRPr lang="zh-CN" altLang="en-US" dirty="0"/>
          </a:p>
        </p:txBody>
      </p:sp>
      <p:sp>
        <p:nvSpPr>
          <p:cNvPr id="110596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元组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Char char="§"/>
            </a:pPr>
            <a:r>
              <a:rPr>
                <a:sym typeface="+mn-ea"/>
              </a:rPr>
              <a:t>使用“</a:t>
            </a:r>
            <a:r>
              <a:rPr lang="en-US" altLang="zh-CN">
                <a:sym typeface="+mn-ea"/>
              </a:rPr>
              <a:t>=”</a:t>
            </a:r>
            <a:r>
              <a:rPr>
                <a:sym typeface="+mn-ea"/>
              </a:rPr>
              <a:t>将一个元组赋值给变量</a:t>
            </a:r>
            <a:endParaRPr lang="zh-CN" altLang="en-US" dirty="0"/>
          </a:p>
          <a:p>
            <a:pPr eaLnBrk="1" hangingPunct="1">
              <a:lnSpc>
                <a:spcPct val="80000"/>
              </a:lnSpc>
              <a:buClr>
                <a:srgbClr val="008000"/>
              </a:buClr>
              <a:buSzPct val="90000"/>
              <a:buFont typeface="Times New Roman" panose="02020603050405020304" pitchFamily="18" charset="0"/>
              <a:buNone/>
            </a:pPr>
            <a:endParaRPr lang="en-US" altLang="zh-CN" dirty="0"/>
          </a:p>
          <a:p>
            <a:pPr eaLnBrk="1" hangingPunct="1">
              <a:lnSpc>
                <a:spcPct val="80000"/>
              </a:lnSpc>
              <a:buClr>
                <a:srgbClr val="008000"/>
              </a:buClr>
              <a:buSzPct val="90000"/>
              <a:buFont typeface="Times New Roman" panose="02020603050405020304" pitchFamily="18" charset="0"/>
              <a:buNone/>
            </a:pPr>
            <a:r>
              <a:rPr lang="en-US" altLang="zh-CN">
                <a:latin typeface="Consolas" panose="020B0609020204030204" pitchFamily="49" charset="0"/>
                <a:sym typeface="+mn-ea"/>
              </a:rPr>
              <a:t>&gt;&gt;&gt; a_tuple = ('a', 'b', 'mpilgrim', 'z', 'example')</a:t>
            </a:r>
            <a:endParaRPr lang="en-US" altLang="zh-CN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Clr>
                <a:srgbClr val="008000"/>
              </a:buClr>
              <a:buSzPct val="90000"/>
              <a:buFont typeface="Times New Roman" panose="02020603050405020304" pitchFamily="18" charset="0"/>
              <a:buNone/>
            </a:pPr>
            <a:r>
              <a:rPr lang="en-US" altLang="zh-CN">
                <a:latin typeface="Consolas" panose="020B0609020204030204" pitchFamily="49" charset="0"/>
                <a:sym typeface="+mn-ea"/>
              </a:rPr>
              <a:t>&gt;&gt;&gt; a_tuple</a:t>
            </a:r>
            <a:endParaRPr lang="en-US" altLang="zh-CN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Clr>
                <a:srgbClr val="3333CC"/>
              </a:buClr>
              <a:buSzPct val="90000"/>
              <a:buFont typeface="Times New Roman" panose="02020603050405020304" pitchFamily="18" charset="0"/>
              <a:buNone/>
            </a:pPr>
            <a:r>
              <a:rPr lang="en-US" altLang="zh-CN">
                <a:solidFill>
                  <a:srgbClr val="00B0F0"/>
                </a:solidFill>
                <a:latin typeface="Consolas" panose="020B0609020204030204" pitchFamily="49" charset="0"/>
                <a:sym typeface="+mn-ea"/>
              </a:rPr>
              <a:t>('a', 'b', 'mpilgrim', 'z', 'example')</a:t>
            </a:r>
            <a:endParaRPr lang="en-US" altLang="zh-CN">
              <a:solidFill>
                <a:srgbClr val="00B0F0"/>
              </a:solidFill>
              <a:latin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80000"/>
              </a:lnSpc>
              <a:buClr>
                <a:srgbClr val="3333CC"/>
              </a:buClr>
              <a:buSzPct val="90000"/>
              <a:buFont typeface="Times New Roman" panose="02020603050405020304" pitchFamily="18" charset="0"/>
              <a:buNone/>
            </a:pPr>
            <a:endParaRPr lang="en-US" altLang="zh-CN" dirty="0">
              <a:solidFill>
                <a:srgbClr val="00B0F0"/>
              </a:solidFill>
              <a:latin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80000"/>
              </a:lnSpc>
              <a:buClr>
                <a:srgbClr val="3333CC"/>
              </a:buClr>
              <a:buSzPct val="90000"/>
              <a:buFont typeface="Times New Roman" panose="02020603050405020304" pitchFamily="18" charset="0"/>
              <a:buNone/>
            </a:pPr>
            <a:endParaRPr lang="en-US" altLang="zh-CN" dirty="0">
              <a:solidFill>
                <a:srgbClr val="00B0F0"/>
              </a:solidFill>
              <a:latin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80000"/>
              </a:lnSpc>
              <a:buClr>
                <a:srgbClr val="3333CC"/>
              </a:buClr>
              <a:buSzPct val="90000"/>
              <a:buFont typeface="Times New Roman" panose="02020603050405020304" pitchFamily="18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&gt;&gt;&gt; del a_tuple   </a:t>
            </a:r>
            <a:r>
              <a:rPr dirty="0">
                <a:solidFill>
                  <a:schemeClr val="tx1"/>
                </a:solidFill>
                <a:latin typeface="Consolas" panose="020B0609020204030204" pitchFamily="49" charset="0"/>
              </a:rPr>
              <a:t>删除这个元组</a:t>
            </a:r>
            <a:endParaRPr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 smtClean="0"/>
              <a:t>任何</a:t>
            </a:r>
            <a:r>
              <a:rPr lang="zh-CN" altLang="en-US" dirty="0"/>
              <a:t>一组用逗号分隔的数据，会被系统默认为元组。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&gt;&gt;&gt; (10, 20, 30)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(10, 20, 30</a:t>
            </a:r>
            <a:r>
              <a:rPr lang="en-US" altLang="zh-CN" dirty="0" smtClean="0">
                <a:solidFill>
                  <a:srgbClr val="0070C0"/>
                </a:solidFill>
              </a:rPr>
              <a:t>)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&gt;&gt;&gt; 1,2,3,4,5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(1, 2, 3, 4, 5)</a:t>
            </a:r>
            <a:endParaRPr lang="en-US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&gt;&gt;&gt; s = 3 + 7, 9 // 2, 'Y', True                           #</a:t>
            </a:r>
            <a:r>
              <a:rPr>
                <a:sym typeface="+mn-ea"/>
              </a:rPr>
              <a:t>用逗号分隔的数据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&gt;&gt;&gt;s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70C0"/>
                </a:solidFill>
              </a:rPr>
              <a:t>(10, 4, 'Y', True)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&gt;&gt;&gt; </a:t>
            </a:r>
            <a:r>
              <a:rPr lang="en-US" altLang="zh-CN" dirty="0"/>
              <a:t>workday = ('</a:t>
            </a:r>
            <a:r>
              <a:rPr lang="zh-CN" altLang="en-US" dirty="0"/>
              <a:t>周一</a:t>
            </a:r>
            <a:r>
              <a:rPr lang="en-US" altLang="zh-CN" dirty="0"/>
              <a:t>', '</a:t>
            </a:r>
            <a:r>
              <a:rPr lang="zh-CN" altLang="en-US" dirty="0"/>
              <a:t>周二</a:t>
            </a:r>
            <a:r>
              <a:rPr lang="en-US" altLang="zh-CN" dirty="0"/>
              <a:t>', '</a:t>
            </a:r>
            <a:r>
              <a:rPr lang="zh-CN" altLang="en-US" dirty="0"/>
              <a:t>周三</a:t>
            </a:r>
            <a:r>
              <a:rPr lang="en-US" altLang="zh-CN" dirty="0"/>
              <a:t>', '</a:t>
            </a:r>
            <a:r>
              <a:rPr lang="zh-CN" altLang="en-US" dirty="0"/>
              <a:t>周四</a:t>
            </a:r>
            <a:r>
              <a:rPr lang="en-US" altLang="zh-CN" dirty="0"/>
              <a:t>', '</a:t>
            </a:r>
            <a:r>
              <a:rPr lang="zh-CN" altLang="en-US" dirty="0"/>
              <a:t>周五</a:t>
            </a:r>
            <a:r>
              <a:rPr lang="en-US" altLang="zh-CN" dirty="0"/>
              <a:t>')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workday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('</a:t>
            </a:r>
            <a:r>
              <a:rPr lang="zh-CN" altLang="en-US" dirty="0">
                <a:solidFill>
                  <a:srgbClr val="0070C0"/>
                </a:solidFill>
              </a:rPr>
              <a:t>周一</a:t>
            </a:r>
            <a:r>
              <a:rPr lang="en-US" altLang="zh-CN" dirty="0">
                <a:solidFill>
                  <a:srgbClr val="0070C0"/>
                </a:solidFill>
              </a:rPr>
              <a:t>', '</a:t>
            </a:r>
            <a:r>
              <a:rPr lang="zh-CN" altLang="en-US" dirty="0">
                <a:solidFill>
                  <a:srgbClr val="0070C0"/>
                </a:solidFill>
              </a:rPr>
              <a:t>周二</a:t>
            </a:r>
            <a:r>
              <a:rPr lang="en-US" altLang="zh-CN" dirty="0">
                <a:solidFill>
                  <a:srgbClr val="0070C0"/>
                </a:solidFill>
              </a:rPr>
              <a:t>', '</a:t>
            </a:r>
            <a:r>
              <a:rPr lang="zh-CN" altLang="en-US" dirty="0">
                <a:solidFill>
                  <a:srgbClr val="0070C0"/>
                </a:solidFill>
              </a:rPr>
              <a:t>周三</a:t>
            </a:r>
            <a:r>
              <a:rPr lang="en-US" altLang="zh-CN" dirty="0">
                <a:solidFill>
                  <a:srgbClr val="0070C0"/>
                </a:solidFill>
              </a:rPr>
              <a:t>', '</a:t>
            </a:r>
            <a:r>
              <a:rPr lang="zh-CN" altLang="en-US" dirty="0">
                <a:solidFill>
                  <a:srgbClr val="0070C0"/>
                </a:solidFill>
              </a:rPr>
              <a:t>周四</a:t>
            </a:r>
            <a:r>
              <a:rPr lang="en-US" altLang="zh-CN" dirty="0">
                <a:solidFill>
                  <a:srgbClr val="0070C0"/>
                </a:solidFill>
              </a:rPr>
              <a:t>', '</a:t>
            </a:r>
            <a:r>
              <a:rPr lang="zh-CN" altLang="en-US" dirty="0">
                <a:solidFill>
                  <a:srgbClr val="0070C0"/>
                </a:solidFill>
              </a:rPr>
              <a:t>周五</a:t>
            </a:r>
            <a:r>
              <a:rPr lang="en-US" altLang="zh-CN" dirty="0">
                <a:solidFill>
                  <a:srgbClr val="0070C0"/>
                </a:solidFill>
              </a:rPr>
              <a:t>')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workday[3] = 'Thursday'   #</a:t>
            </a:r>
            <a:r>
              <a:rPr lang="zh-CN" altLang="en-US" dirty="0"/>
              <a:t>元组中的数据元素值不能修改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Traceback</a:t>
            </a:r>
            <a:r>
              <a:rPr lang="en-US" altLang="zh-CN" dirty="0">
                <a:solidFill>
                  <a:srgbClr val="FF0000"/>
                </a:solidFill>
              </a:rPr>
              <a:t> (most recent call last):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File "&lt;pyshell#45&gt;", line 1, in &lt;module&gt;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workday[3] = 'Thursday'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TypeError</a:t>
            </a:r>
            <a:r>
              <a:rPr lang="en-US" altLang="zh-CN" dirty="0">
                <a:solidFill>
                  <a:srgbClr val="FF0000"/>
                </a:solidFill>
              </a:rPr>
              <a:t>: 'tuple' object does not support item assignment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标题 6860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kern="1200" dirty="0">
                <a:latin typeface="+mj-lt"/>
                <a:ea typeface="+mj-ea"/>
                <a:cs typeface="+mj-cs"/>
              </a:rPr>
              <a:t>元组与列表的区别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4691" name="文本占位符 6861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>
            <a:noAutofit/>
          </a:bodyPr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r>
              <a:rPr lang="zh-CN" altLang="en-US" b="1" dirty="0"/>
              <a:t>元组一旦定义就</a:t>
            </a:r>
            <a:r>
              <a:rPr lang="zh-CN" altLang="en-US" b="1" dirty="0">
                <a:solidFill>
                  <a:srgbClr val="FF0000"/>
                </a:solidFill>
              </a:rPr>
              <a:t>不允许更改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endParaRPr lang="zh-CN" altLang="en-US" b="1" dirty="0"/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r>
              <a:rPr lang="zh-CN" altLang="en-US" b="1" dirty="0"/>
              <a:t>元组</a:t>
            </a:r>
            <a:r>
              <a:rPr lang="zh-CN" altLang="en-US" b="1" dirty="0">
                <a:solidFill>
                  <a:srgbClr val="FF0000"/>
                </a:solidFill>
              </a:rPr>
              <a:t>无法向元组中添加元素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endParaRPr lang="zh-CN" altLang="en-US" b="1" dirty="0"/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r>
              <a:rPr lang="zh-CN" altLang="en-US" b="1" dirty="0"/>
              <a:t>元组</a:t>
            </a:r>
            <a:r>
              <a:rPr lang="zh-CN" altLang="en-US" b="1" dirty="0">
                <a:solidFill>
                  <a:srgbClr val="FF0000"/>
                </a:solidFill>
              </a:rPr>
              <a:t>不能从元组中删除元素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endParaRPr lang="zh-CN" altLang="en-US" b="1" dirty="0"/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r>
              <a:rPr b="1">
                <a:sym typeface="+mn-ea"/>
              </a:rPr>
              <a:t>从效果上看，</a:t>
            </a:r>
            <a:r>
              <a:rPr lang="en-US" altLang="zh-CN" b="1">
                <a:sym typeface="+mn-ea"/>
              </a:rPr>
              <a:t>tuple( )</a:t>
            </a:r>
            <a:r>
              <a:rPr b="1">
                <a:sym typeface="+mn-ea"/>
              </a:rPr>
              <a:t>冻结列表，而</a:t>
            </a:r>
            <a:r>
              <a:rPr lang="en-US" altLang="zh-CN" b="1">
                <a:sym typeface="+mn-ea"/>
              </a:rPr>
              <a:t>list( )</a:t>
            </a:r>
            <a:r>
              <a:rPr b="1">
                <a:sym typeface="+mn-ea"/>
              </a:rPr>
              <a:t>融化元组。</a:t>
            </a:r>
            <a:endParaRPr lang="zh-CN" altLang="en-US" b="1" dirty="0">
              <a:sym typeface="+mn-ea"/>
            </a:endParaRPr>
          </a:p>
        </p:txBody>
      </p:sp>
      <p:sp>
        <p:nvSpPr>
          <p:cNvPr id="114692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标题 696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kern="1200" dirty="0">
                <a:latin typeface="+mj-lt"/>
                <a:ea typeface="+mj-ea"/>
                <a:cs typeface="+mj-cs"/>
              </a:rPr>
              <a:t>元组的优点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5715" name="文本占位符 6963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FF0000"/>
                </a:solidFill>
              </a:rPr>
              <a:t>元组的速度比列表更快</a:t>
            </a:r>
            <a:r>
              <a:rPr lang="zh-CN" altLang="en-US" dirty="0"/>
              <a:t>。如果定义了一系列常量值，而所需做的仅是对它进行遍历，那么一般使用元组而不用列表。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v"/>
            </a:pPr>
            <a:endParaRPr lang="zh-CN" altLang="en-US" dirty="0"/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v"/>
            </a:pPr>
            <a:r>
              <a:rPr lang="zh-CN" altLang="en-US" b="1" dirty="0"/>
              <a:t>元组对不需要改变的数据进行</a:t>
            </a:r>
            <a:r>
              <a:rPr lang="zh-CN" altLang="en-US" b="1" dirty="0">
                <a:solidFill>
                  <a:srgbClr val="FF0000"/>
                </a:solidFill>
              </a:rPr>
              <a:t>“写保护”</a:t>
            </a:r>
            <a:r>
              <a:rPr lang="zh-CN" altLang="en-US" b="1" dirty="0"/>
              <a:t>将使得代码</a:t>
            </a:r>
            <a:r>
              <a:rPr lang="zh-CN" altLang="en-US" b="1" dirty="0">
                <a:solidFill>
                  <a:srgbClr val="FF0000"/>
                </a:solidFill>
              </a:rPr>
              <a:t>更加安全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v"/>
            </a:pPr>
            <a:endParaRPr lang="zh-CN" altLang="en-US" dirty="0"/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chemeClr val="tx1"/>
                </a:solidFill>
              </a:rPr>
              <a:t>元组可用作字典的</a:t>
            </a:r>
            <a:r>
              <a:rPr lang="en-US" altLang="zh-CN" b="1" dirty="0">
                <a:solidFill>
                  <a:schemeClr val="tx1"/>
                </a:solidFill>
              </a:rPr>
              <a:t>“</a:t>
            </a:r>
            <a:r>
              <a:rPr lang="zh-CN" altLang="en-US" b="1" dirty="0">
                <a:solidFill>
                  <a:schemeClr val="tx1"/>
                </a:solidFill>
              </a:rPr>
              <a:t>键</a:t>
            </a:r>
            <a:r>
              <a:rPr lang="en-US" altLang="zh-CN" b="1" dirty="0">
                <a:solidFill>
                  <a:schemeClr val="tx1"/>
                </a:solidFill>
              </a:rPr>
              <a:t>”</a:t>
            </a:r>
            <a:r>
              <a:rPr lang="zh-CN" altLang="en-US" b="1" dirty="0">
                <a:solidFill>
                  <a:schemeClr val="tx1"/>
                </a:solidFill>
              </a:rPr>
              <a:t>，也可以作为集合的元素。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5716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7200"/>
              <a:t>字典</a:t>
            </a:r>
            <a:endParaRPr sz="7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latin typeface="+mj-lt"/>
                <a:ea typeface="+mj-ea"/>
                <a:sym typeface="+mn-ea"/>
              </a:rPr>
              <a:t>字典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1">
                <a:sym typeface="+mn-ea"/>
              </a:rPr>
              <a:t>字典是</a:t>
            </a:r>
            <a:r>
              <a:rPr b="1">
                <a:solidFill>
                  <a:srgbClr val="FF0000"/>
                </a:solidFill>
                <a:sym typeface="+mn-ea"/>
              </a:rPr>
              <a:t>无序、可变</a:t>
            </a:r>
            <a:r>
              <a:rPr b="1">
                <a:sym typeface="+mn-ea"/>
              </a:rPr>
              <a:t>序列。</a:t>
            </a:r>
            <a:endParaRPr b="1">
              <a:sym typeface="+mn-ea"/>
            </a:endParaRPr>
          </a:p>
          <a:p>
            <a:endParaRPr b="1">
              <a:sym typeface="+mn-ea"/>
            </a:endParaRPr>
          </a:p>
          <a:p>
            <a:r>
              <a:rPr b="1">
                <a:sym typeface="+mn-ea"/>
              </a:rPr>
              <a:t>字典是写在大括号{}之间、用逗号分隔的数据元素集合。</a:t>
            </a:r>
            <a:endParaRPr b="1"/>
          </a:p>
          <a:p>
            <a:endParaRPr b="1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latin typeface="+mj-lt"/>
                <a:ea typeface="+mj-ea"/>
                <a:sym typeface="+mn-ea"/>
              </a:rPr>
              <a:t>字典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b="1">
                <a:sym typeface="+mn-ea"/>
              </a:rPr>
              <a:t>定义字典时，每个元素的键和值用</a:t>
            </a:r>
            <a:r>
              <a:rPr b="1">
                <a:solidFill>
                  <a:srgbClr val="FF0000"/>
                </a:solidFill>
                <a:sym typeface="+mn-ea"/>
              </a:rPr>
              <a:t>冒号</a:t>
            </a:r>
            <a:r>
              <a:rPr b="1">
                <a:sym typeface="+mn-ea"/>
              </a:rPr>
              <a:t>分隔，元素之间用</a:t>
            </a:r>
            <a:r>
              <a:rPr b="1">
                <a:solidFill>
                  <a:srgbClr val="FF0000"/>
                </a:solidFill>
                <a:sym typeface="+mn-ea"/>
              </a:rPr>
              <a:t>逗号</a:t>
            </a:r>
            <a:r>
              <a:rPr b="1">
                <a:sym typeface="+mn-ea"/>
              </a:rPr>
              <a:t>分隔，所有的元素放在一对</a:t>
            </a:r>
            <a:r>
              <a:rPr b="1">
                <a:solidFill>
                  <a:srgbClr val="FF0000"/>
                </a:solidFill>
                <a:sym typeface="+mn-ea"/>
              </a:rPr>
              <a:t>大括号</a:t>
            </a:r>
            <a:r>
              <a:rPr b="1">
                <a:sym typeface="+mn-ea"/>
              </a:rPr>
              <a:t>“｛｝”中。</a:t>
            </a:r>
            <a:endParaRPr b="1">
              <a:sym typeface="+mn-ea"/>
            </a:endParaRPr>
          </a:p>
          <a:p>
            <a:endParaRPr b="1"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b="1">
                <a:sym typeface="+mn-ea"/>
              </a:rPr>
              <a:t>字典中的</a:t>
            </a:r>
            <a:r>
              <a:rPr b="1">
                <a:solidFill>
                  <a:srgbClr val="FF0000"/>
                </a:solidFill>
                <a:sym typeface="+mn-ea"/>
              </a:rPr>
              <a:t>键可以为任意不可变数据</a:t>
            </a:r>
            <a:r>
              <a:rPr b="1">
                <a:sym typeface="+mn-ea"/>
              </a:rPr>
              <a:t>，比如整数、实数、复数、字符串、元组等等。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endParaRPr lang="zh-CN" altLang="en-US" b="1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altLang="zh-CN" b="1">
                <a:latin typeface="宋体" panose="02010600030101010101" pitchFamily="2" charset="-122"/>
                <a:sym typeface="+mn-ea"/>
              </a:rPr>
              <a:t>“</a:t>
            </a:r>
            <a:r>
              <a:rPr b="1">
                <a:latin typeface="宋体" panose="02010600030101010101" pitchFamily="2" charset="-122"/>
                <a:sym typeface="+mn-ea"/>
              </a:rPr>
              <a:t>键”</a:t>
            </a:r>
            <a:r>
              <a:rPr lang="en-US" altLang="zh-CN" b="1">
                <a:latin typeface="宋体" panose="02010600030101010101" pitchFamily="2" charset="-122"/>
                <a:sym typeface="+mn-ea"/>
              </a:rPr>
              <a:t>key</a:t>
            </a:r>
            <a:r>
              <a:rPr b="1">
                <a:latin typeface="宋体" panose="02010600030101010101" pitchFamily="2" charset="-122"/>
                <a:sym typeface="+mn-ea"/>
              </a:rPr>
              <a:t>不允许重复，“值”</a:t>
            </a:r>
            <a:r>
              <a:rPr lang="en-US" altLang="zh-CN" b="1">
                <a:latin typeface="宋体" panose="02010600030101010101" pitchFamily="2" charset="-122"/>
                <a:sym typeface="+mn-ea"/>
              </a:rPr>
              <a:t>value</a:t>
            </a:r>
            <a:r>
              <a:rPr b="1">
                <a:latin typeface="宋体" panose="02010600030101010101" pitchFamily="2" charset="-122"/>
                <a:sym typeface="+mn-ea"/>
              </a:rPr>
              <a:t>可以重复</a:t>
            </a:r>
            <a:endParaRPr lang="zh-CN" altLang="en-US" b="1" dirty="0"/>
          </a:p>
          <a:p>
            <a:endParaRPr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570865"/>
            <a:ext cx="10852150" cy="51809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b="1" dirty="0"/>
              <a:t>新建字典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&gt;&gt;&gt; d = {'name': 'Mike', "age": 12, '</a:t>
            </a:r>
            <a:r>
              <a:rPr lang="en-US" altLang="zh-CN" b="1" dirty="0" err="1"/>
              <a:t>sal</a:t>
            </a:r>
            <a:r>
              <a:rPr lang="en-US" altLang="zh-CN" b="1" dirty="0"/>
              <a:t>': 5000</a:t>
            </a:r>
            <a:r>
              <a:rPr lang="en-US" altLang="zh-CN" b="1" dirty="0" smtClean="0"/>
              <a:t>}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b="1" dirty="0"/>
              <a:t>&gt;&gt;&gt; d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0070C0"/>
                </a:solidFill>
              </a:rPr>
              <a:t>{'name': 'Mike', 'age': 12, '</a:t>
            </a:r>
            <a:r>
              <a:rPr lang="en-US" altLang="zh-CN" b="1" dirty="0" err="1">
                <a:solidFill>
                  <a:srgbClr val="0070C0"/>
                </a:solidFill>
              </a:rPr>
              <a:t>sal</a:t>
            </a:r>
            <a:r>
              <a:rPr lang="en-US" altLang="zh-CN" b="1" dirty="0">
                <a:solidFill>
                  <a:srgbClr val="0070C0"/>
                </a:solidFill>
              </a:rPr>
              <a:t>': 5000</a:t>
            </a:r>
            <a:r>
              <a:rPr lang="en-US" altLang="zh-CN" b="1" dirty="0" smtClean="0">
                <a:solidFill>
                  <a:srgbClr val="0070C0"/>
                </a:solidFill>
              </a:rPr>
              <a:t>}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zh-CN" alt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删除删除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&gt;&gt;&gt; del d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1197590" cy="716915"/>
          </a:xfrm>
        </p:spPr>
        <p:txBody>
          <a:bodyPr/>
          <a:lstStyle/>
          <a:p>
            <a:r>
              <a:rPr>
                <a:solidFill>
                  <a:srgbClr val="FF0000"/>
                </a:solidFill>
                <a:sym typeface="+mn-ea"/>
              </a:rPr>
              <a:t>以键作为下标</a:t>
            </a:r>
            <a:r>
              <a:rPr>
                <a:sym typeface="+mn-ea"/>
              </a:rPr>
              <a:t>可以读取字典元素，若键不存在则抛出异常</a:t>
            </a:r>
            <a:endParaRPr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393825"/>
            <a:ext cx="10852150" cy="308800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&gt;&gt;&gt; d['age']           </a:t>
            </a:r>
            <a:r>
              <a:rPr lang="en-US" altLang="zh-CN" sz="2400" b="1" dirty="0">
                <a:solidFill>
                  <a:srgbClr val="FF0000"/>
                </a:solidFill>
              </a:rPr>
              <a:t># </a:t>
            </a:r>
            <a:r>
              <a:rPr lang="zh-CN" altLang="en-US" sz="2400" b="1" dirty="0">
                <a:solidFill>
                  <a:srgbClr val="FF0000"/>
                </a:solidFill>
              </a:rPr>
              <a:t>显示字典</a:t>
            </a:r>
            <a:r>
              <a:rPr lang="en-US" altLang="zh-CN" sz="2400" b="1" dirty="0">
                <a:solidFill>
                  <a:srgbClr val="FF0000"/>
                </a:solidFill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</a:rPr>
              <a:t>中关键字为</a:t>
            </a:r>
            <a:r>
              <a:rPr lang="en-US" altLang="zh-CN" sz="2400" b="1" dirty="0">
                <a:solidFill>
                  <a:srgbClr val="FF0000"/>
                </a:solidFill>
              </a:rPr>
              <a:t>age</a:t>
            </a:r>
            <a:r>
              <a:rPr lang="zh-CN" altLang="en-US" sz="2400" b="1" dirty="0">
                <a:solidFill>
                  <a:srgbClr val="FF0000"/>
                </a:solidFill>
              </a:rPr>
              <a:t>的值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12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b="1" dirty="0"/>
              <a:t>&gt;&gt;&gt; d['</a:t>
            </a:r>
            <a:r>
              <a:rPr lang="en-US" altLang="zh-CN" sz="2400" b="1" dirty="0" err="1"/>
              <a:t>sal</a:t>
            </a:r>
            <a:r>
              <a:rPr lang="en-US" altLang="zh-CN" sz="2400" b="1" dirty="0"/>
              <a:t>'] = 6000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&gt;&gt;&gt; d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{'name': 'Mike', 'age': 12, '</a:t>
            </a:r>
            <a:r>
              <a:rPr lang="en-US" altLang="zh-CN" sz="2400" b="1" dirty="0" err="1">
                <a:solidFill>
                  <a:srgbClr val="0070C0"/>
                </a:solidFill>
              </a:rPr>
              <a:t>sal</a:t>
            </a:r>
            <a:r>
              <a:rPr lang="en-US" altLang="zh-CN" sz="2400" b="1" dirty="0">
                <a:solidFill>
                  <a:srgbClr val="0070C0"/>
                </a:solidFill>
              </a:rPr>
              <a:t>': 6000}</a:t>
            </a:r>
            <a:endParaRPr lang="en-US" altLang="zh-CN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+mj-lt"/>
                <a:ea typeface="+mj-ea"/>
                <a:sym typeface="+mn-ea"/>
              </a:rPr>
              <a:t>字典元素的添加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840865"/>
            <a:ext cx="10852150" cy="210248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d['bonus'] = 3000    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en-US" sz="2400" dirty="0">
                <a:solidFill>
                  <a:srgbClr val="FF0000"/>
                </a:solidFill>
              </a:rPr>
              <a:t>增加了一个新元素</a:t>
            </a:r>
            <a:r>
              <a:rPr lang="en-US" altLang="zh-CN" sz="2400" dirty="0">
                <a:solidFill>
                  <a:srgbClr val="FF0000"/>
                </a:solidFill>
              </a:rPr>
              <a:t>'bonus': 3000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&gt;&gt;&gt; d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{'name': 'Mike', 'age': 12, '</a:t>
            </a:r>
            <a:r>
              <a:rPr lang="en-US" altLang="zh-CN" sz="2400" dirty="0" err="1">
                <a:solidFill>
                  <a:srgbClr val="0070C0"/>
                </a:solidFill>
              </a:rPr>
              <a:t>sal</a:t>
            </a:r>
            <a:r>
              <a:rPr lang="en-US" altLang="zh-CN" sz="2400" dirty="0">
                <a:solidFill>
                  <a:srgbClr val="0070C0"/>
                </a:solidFill>
              </a:rPr>
              <a:t>': 6000, 'bonus': 3000</a:t>
            </a:r>
            <a:r>
              <a:rPr lang="en-US" altLang="zh-CN" sz="2400" dirty="0" smtClean="0">
                <a:solidFill>
                  <a:srgbClr val="0070C0"/>
                </a:solidFill>
              </a:rPr>
              <a:t>}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7200"/>
              <a:t>集合</a:t>
            </a:r>
            <a:endParaRPr sz="7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集合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ym typeface="+mn-ea"/>
              </a:rPr>
              <a:t>集合是</a:t>
            </a:r>
            <a:r>
              <a:rPr b="1">
                <a:solidFill>
                  <a:srgbClr val="FF0000"/>
                </a:solidFill>
                <a:sym typeface="+mn-ea"/>
              </a:rPr>
              <a:t>无序、可变</a:t>
            </a:r>
            <a:r>
              <a:rPr b="1">
                <a:sym typeface="+mn-ea"/>
              </a:rPr>
              <a:t>序列，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zh-CN" altLang="en-US" b="1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ym typeface="+mn-ea"/>
              </a:rPr>
              <a:t>使用一对大括号</a:t>
            </a:r>
            <a:r>
              <a:rPr lang="en-US" altLang="zh-CN" b="1">
                <a:sym typeface="+mn-ea"/>
              </a:rPr>
              <a:t>{}</a:t>
            </a:r>
            <a:r>
              <a:rPr b="1">
                <a:sym typeface="+mn-ea"/>
              </a:rPr>
              <a:t>界定，</a:t>
            </a:r>
            <a:r>
              <a:rPr b="1">
                <a:solidFill>
                  <a:srgbClr val="FF0000"/>
                </a:solidFill>
                <a:sym typeface="+mn-ea"/>
              </a:rPr>
              <a:t>元素无序、不可重复</a:t>
            </a:r>
            <a:r>
              <a:rPr b="1">
                <a:sym typeface="+mn-ea"/>
              </a:rPr>
              <a:t>，同一个集合中每个元素都是唯一的。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集合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ym typeface="+mn-ea"/>
              </a:rPr>
              <a:t>集合中</a:t>
            </a:r>
            <a:r>
              <a:rPr b="1">
                <a:solidFill>
                  <a:srgbClr val="FF0000"/>
                </a:solidFill>
                <a:sym typeface="+mn-ea"/>
              </a:rPr>
              <a:t>只能包含数字、字符串、元组等不可变类型（不可重复）</a:t>
            </a:r>
            <a:r>
              <a:rPr b="1">
                <a:sym typeface="+mn-ea"/>
              </a:rPr>
              <a:t>的数据，</a:t>
            </a:r>
            <a:endParaRPr b="1"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b="1"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b="1">
                <a:sym typeface="+mn-ea"/>
              </a:rPr>
              <a:t>而不能包含列表、字典、集合等可变类型的数据。</a:t>
            </a:r>
            <a:endParaRPr b="1"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zh-CN" altLang="en-US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en-GB" b="1">
                <a:sym typeface="+mn-ea"/>
              </a:rPr>
              <a:t>Python</a:t>
            </a:r>
            <a:r>
              <a:rPr b="1">
                <a:sym typeface="+mn-ea"/>
              </a:rPr>
              <a:t>集合支持交集、并集、差集等运算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zh-CN" altLang="en-US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405" y="550545"/>
            <a:ext cx="11228070" cy="5475605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新建集合</a:t>
            </a:r>
            <a:endParaRPr b="1" dirty="0"/>
          </a:p>
          <a:p>
            <a:pPr marL="0" indent="0">
              <a:buNone/>
            </a:pPr>
            <a:r>
              <a:rPr lang="en-US" altLang="zh-CN" b="1" dirty="0"/>
              <a:t>&gt;&gt;&gt; s1 = {'Jim', 'Mike', 'Mary', 'Tom', 'Jim'}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&gt;&gt;&gt; s1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0070C0"/>
                </a:solidFill>
              </a:rPr>
              <a:t>{'Jim', 'Tom', 'Mary', 'Mike</a:t>
            </a:r>
            <a:r>
              <a:rPr lang="en-US" altLang="zh-CN" b="1" dirty="0" smtClean="0">
                <a:solidFill>
                  <a:srgbClr val="0070C0"/>
                </a:solidFill>
              </a:rPr>
              <a:t>'}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b="1" dirty="0">
                <a:solidFill>
                  <a:schemeClr val="tx1"/>
                </a:solidFill>
              </a:rPr>
              <a:t>删除集合</a:t>
            </a:r>
            <a:endParaRPr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b="1" dirty="0">
                <a:solidFill>
                  <a:schemeClr val="tx1"/>
                </a:solidFill>
              </a:rPr>
              <a:t>&gt;&gt;&gt; del s1</a:t>
            </a:r>
            <a:endParaRPr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第2章 Python语言基础（上）"/>
          <p:cNvPicPr>
            <a:picLocks noChangeAspect="1"/>
          </p:cNvPicPr>
          <p:nvPr>
            <p:ph idx="1"/>
          </p:nvPr>
        </p:nvPicPr>
        <p:blipFill>
          <a:blip r:embed="rId1"/>
          <a:srcRect l="30946" t="41558" r="9301" b="28894"/>
          <a:stretch>
            <a:fillRect/>
          </a:stretch>
        </p:blipFill>
        <p:spPr>
          <a:xfrm>
            <a:off x="141605" y="342900"/>
            <a:ext cx="11525250" cy="547941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669925" y="133985"/>
            <a:ext cx="10852150" cy="716915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zh-CN" altLang="en-US" sz="4000" dirty="0"/>
              <a:t>目录</a:t>
            </a:r>
            <a:endParaRPr lang="zh-CN" altLang="en-US" sz="4000" dirty="0"/>
          </a:p>
        </p:txBody>
      </p:sp>
      <p:sp>
        <p:nvSpPr>
          <p:cNvPr id="13315" name="内容占位符 2"/>
          <p:cNvSpPr>
            <a:spLocks noGrp="1"/>
          </p:cNvSpPr>
          <p:nvPr>
            <p:ph idx="1" hasCustomPrompt="1"/>
          </p:nvPr>
        </p:nvSpPr>
        <p:spPr>
          <a:xfrm>
            <a:off x="669925" y="850265"/>
            <a:ext cx="10852150" cy="5909310"/>
          </a:xfrm>
        </p:spPr>
        <p:txBody>
          <a:bodyPr vert="horz" wrap="square" lIns="91440" tIns="45720" rIns="91440" bIns="45720" anchor="t">
            <a:normAutofit fontScale="90000" lnSpcReduction="20000"/>
          </a:bodyPr>
          <a:lstStyle/>
          <a:p>
            <a:r>
              <a:rPr lang="en-US" altLang="zh-CN" sz="3200" dirty="0"/>
              <a:t>2.2 </a:t>
            </a:r>
            <a:r>
              <a:rPr sz="3200" dirty="0">
                <a:hlinkClick r:id="rId1" action="ppaction://hlinksldjump"/>
              </a:rPr>
              <a:t>数据类型</a:t>
            </a:r>
            <a:endParaRPr sz="3200" dirty="0">
              <a:hlinkClick r:id="rId1" action="ppaction://hlinksldjump"/>
            </a:endParaRPr>
          </a:p>
          <a:p>
            <a:endParaRPr lang="zh-CN" altLang="en-US" sz="3200" dirty="0"/>
          </a:p>
          <a:p>
            <a:r>
              <a:rPr lang="en-US" altLang="zh-CN" sz="3200">
                <a:sym typeface="+mn-ea"/>
              </a:rPr>
              <a:t>2.1 </a:t>
            </a:r>
            <a:r>
              <a:rPr sz="3200">
                <a:sym typeface="+mn-ea"/>
                <a:hlinkClick r:id="rId2" action="ppaction://hlinksldjump"/>
              </a:rPr>
              <a:t>常量</a:t>
            </a:r>
            <a:endParaRPr lang="zh-CN" altLang="en-US" sz="3200" dirty="0"/>
          </a:p>
          <a:p>
            <a:r>
              <a:rPr lang="en-US" altLang="zh-CN" sz="3200" dirty="0"/>
              <a:t>2.3 </a:t>
            </a:r>
            <a:r>
              <a:rPr sz="3200" dirty="0">
                <a:hlinkClick r:id="rId3" action="ppaction://hlinksldjump"/>
              </a:rPr>
              <a:t>变量</a:t>
            </a:r>
            <a:endParaRPr sz="3200" dirty="0">
              <a:hlinkClick r:id="rId3" action="ppaction://hlinksldjump"/>
            </a:endParaRPr>
          </a:p>
          <a:p>
            <a:endParaRPr lang="zh-CN" altLang="en-US" sz="3200" dirty="0"/>
          </a:p>
          <a:p>
            <a:r>
              <a:rPr lang="en-US" altLang="zh-CN" sz="3200" dirty="0"/>
              <a:t>2.4 </a:t>
            </a:r>
            <a:r>
              <a:rPr sz="3200" dirty="0">
                <a:hlinkClick r:id="rId2" action="ppaction://hlinksldjump"/>
              </a:rPr>
              <a:t>基本运算</a:t>
            </a:r>
            <a:endParaRPr lang="zh-CN" altLang="en-US" sz="3200" dirty="0"/>
          </a:p>
          <a:p>
            <a:r>
              <a:rPr lang="en-US" altLang="zh-CN" sz="3200" dirty="0"/>
              <a:t>2.5 </a:t>
            </a:r>
            <a:r>
              <a:rPr sz="3200" dirty="0">
                <a:hlinkClick r:id="rId2" action="ppaction://hlinksldjump"/>
              </a:rPr>
              <a:t>常用系统函数</a:t>
            </a:r>
            <a:endParaRPr sz="3200" dirty="0">
              <a:hlinkClick r:id="rId2" action="ppaction://hlinksldjump"/>
            </a:endParaRPr>
          </a:p>
          <a:p>
            <a:endParaRPr sz="3200" dirty="0"/>
          </a:p>
          <a:p>
            <a:r>
              <a:rPr lang="en-US" altLang="zh-CN" sz="3200" dirty="0"/>
              <a:t>2.6 </a:t>
            </a:r>
            <a:r>
              <a:rPr lang="en-US" altLang="zh-CN" sz="3200" dirty="0">
                <a:hlinkClick r:id="rId2" action="ppaction://hlinksldjump"/>
              </a:rPr>
              <a:t>Python</a:t>
            </a:r>
            <a:r>
              <a:rPr sz="3200" dirty="0">
                <a:hlinkClick r:id="rId2" action="ppaction://hlinksldjump"/>
              </a:rPr>
              <a:t>的帮助系统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3302000" y="2303780"/>
            <a:ext cx="517525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4800" b="1">
                <a:solidFill>
                  <a:srgbClr val="FF0000"/>
                </a:solidFill>
                <a:cs typeface="Arial" panose="020B0604020202020204" pitchFamily="34" charset="0"/>
              </a:rPr>
              <a:t>√</a:t>
            </a:r>
            <a:endParaRPr lang="zh-CN" altLang="en-US" sz="4800" b="1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2.1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常量</a:t>
            </a:r>
            <a:endParaRPr lang="zh-CN" altLang="en-US" dirty="0">
              <a:latin typeface="+mj-lt"/>
              <a:ea typeface="+mj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559425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在程序执行期间，常量的值和含义不会被</a:t>
            </a:r>
            <a:r>
              <a:rPr lang="zh-CN" altLang="en-US" dirty="0" smtClean="0">
                <a:solidFill>
                  <a:srgbClr val="FF0000"/>
                </a:solidFill>
              </a:rPr>
              <a:t>改变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常量根据其书写的格式，被</a:t>
            </a:r>
            <a:r>
              <a:rPr lang="en-US" altLang="zh-CN" dirty="0"/>
              <a:t>Python</a:t>
            </a:r>
            <a:r>
              <a:rPr lang="zh-CN" altLang="en-US" dirty="0"/>
              <a:t>自动判定为相应数据类型的对象，统一进行管理。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整数            浮点数          字符串         布尔型        空类型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710666" y="3573016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 lnSpcReduction="10000"/>
          </a:bodyPr>
          <a:lstStyle/>
          <a:p>
            <a:pPr algn="ctr">
              <a:lnSpc>
                <a:spcPct val="120000"/>
              </a:lnSpc>
              <a:defRPr/>
            </a:pPr>
            <a:endParaRPr lang="en-US" altLang="zh-CN" sz="2400" dirty="0" smtClean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5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MH_SubTitle_2"/>
          <p:cNvSpPr/>
          <p:nvPr>
            <p:custDataLst>
              <p:tags r:id="rId2"/>
            </p:custDataLst>
          </p:nvPr>
        </p:nvSpPr>
        <p:spPr>
          <a:xfrm>
            <a:off x="2858773" y="3579711"/>
            <a:ext cx="2171697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 lnSpcReduction="10000"/>
          </a:bodyPr>
          <a:lstStyle/>
          <a:p>
            <a:pPr algn="ctr">
              <a:lnSpc>
                <a:spcPct val="120000"/>
              </a:lnSpc>
              <a:defRPr/>
            </a:pPr>
            <a:endParaRPr lang="en-US" altLang="zh-CN" sz="2400" dirty="0" smtClean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1.23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MH_SubTitle_2"/>
          <p:cNvSpPr/>
          <p:nvPr>
            <p:custDataLst>
              <p:tags r:id="rId3"/>
            </p:custDataLst>
          </p:nvPr>
        </p:nvSpPr>
        <p:spPr>
          <a:xfrm>
            <a:off x="7154989" y="3579711"/>
            <a:ext cx="2171697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True</a:t>
            </a:r>
            <a:endParaRPr lang="en-US" altLang="zh-CN" sz="2400" dirty="0" smtClean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False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MH_SubTitle_1"/>
          <p:cNvSpPr/>
          <p:nvPr>
            <p:custDataLst>
              <p:tags r:id="rId4"/>
            </p:custDataLst>
          </p:nvPr>
        </p:nvSpPr>
        <p:spPr>
          <a:xfrm>
            <a:off x="5006881" y="3573016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endParaRPr lang="en-US" altLang="zh-CN" sz="2400" dirty="0" smtClean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'Hello'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MH_SubTitle_1"/>
          <p:cNvSpPr/>
          <p:nvPr>
            <p:custDataLst>
              <p:tags r:id="rId5"/>
            </p:custDataLst>
          </p:nvPr>
        </p:nvSpPr>
        <p:spPr>
          <a:xfrm>
            <a:off x="9326686" y="3573016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endParaRPr lang="en-US" altLang="zh-CN" sz="2400" dirty="0" smtClean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None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2.3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变量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标识符（变量）</a:t>
            </a:r>
            <a:r>
              <a:rPr lang="zh-CN" altLang="en-US"/>
              <a:t>命名规则：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30" y="1160145"/>
            <a:ext cx="12129770" cy="5789930"/>
          </a:xfrm>
        </p:spPr>
        <p:txBody>
          <a:bodyPr>
            <a:noAutofit/>
          </a:bodyPr>
          <a:p>
            <a:pPr eaLnBrk="1" hangingPunct="1">
              <a:lnSpc>
                <a:spcPct val="80000"/>
              </a:lnSpc>
              <a:buSzPct val="90000"/>
              <a:buFont typeface="Wingdings" panose="05000000000000000000" pitchFamily="2" charset="2"/>
              <a:buChar char="§"/>
            </a:pP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在定义变量名的时候，需要注意以下问题：</a:t>
            </a:r>
            <a:endParaRPr lang="zh-CN" altLang="en-US" sz="23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ü"/>
            </a:pP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变量名</a:t>
            </a:r>
            <a:r>
              <a:rPr sz="23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必须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以字母或下划线开头，但以下划线开头的变量在</a:t>
            </a:r>
            <a:r>
              <a:rPr lang="en-US" altLang="zh-CN"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Python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中有特殊含义；</a:t>
            </a:r>
            <a:endParaRPr lang="zh-CN" altLang="en-US" sz="23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ü"/>
            </a:pP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变量名中</a:t>
            </a:r>
            <a:r>
              <a:rPr sz="23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不能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有空格以及标点符号（括号、引号、逗号、斜线、反斜线、冒号、句号、问号等等）；</a:t>
            </a:r>
            <a:endParaRPr lang="zh-CN" altLang="en-US" sz="23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ü"/>
            </a:pPr>
            <a:r>
              <a:rPr sz="23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不能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使用关键字作变量名，可以导入</a:t>
            </a:r>
            <a:r>
              <a:rPr lang="en-US" altLang="zh-CN"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keyword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模块后使用</a:t>
            </a:r>
            <a:r>
              <a:rPr lang="en-US" altLang="zh-CN"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print(keyword.kwlist)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查看所有</a:t>
            </a:r>
            <a:r>
              <a:rPr lang="en-US" altLang="zh-CN"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Python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关键字；</a:t>
            </a:r>
            <a:endParaRPr lang="en-US" altLang="zh-CN" sz="23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ü"/>
            </a:pPr>
            <a:r>
              <a:rPr sz="23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不建议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使用系统内置的模块名、类型名或函数名以及已导入的模块名及其成员名作变量名，这将会改变其类型和含义，可以通过</a:t>
            </a:r>
            <a:r>
              <a:rPr lang="en-US" altLang="zh-CN"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dir(__builtins__)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查看所有内置模块、类型和函数；</a:t>
            </a:r>
            <a:endParaRPr lang="zh-CN" altLang="en-US" sz="23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ü"/>
            </a:pP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变量名对英文字母的</a:t>
            </a:r>
            <a:r>
              <a:rPr sz="23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大小写敏感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，例如</a:t>
            </a:r>
            <a:r>
              <a:rPr lang="en-US" altLang="zh-CN"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student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Student</a:t>
            </a:r>
            <a:r>
              <a:rPr sz="2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是不同的变量。</a:t>
            </a:r>
            <a:endParaRPr lang="zh-CN" altLang="en-US" sz="23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3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变量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>
                <a:latin typeface="+mn-ea"/>
                <a:ea typeface="+mn-ea"/>
                <a:cs typeface="+mn-ea"/>
                <a:sym typeface="+mn-ea"/>
              </a:rPr>
              <a:t>在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Python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中，</a:t>
            </a: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不需要事先声明变量名及其类型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，直接赋值即可创建各种类型的对象变量。</a:t>
            </a: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这一点适用于</a:t>
            </a:r>
            <a:r>
              <a:rPr lang="en-US" altLang="zh-CN">
                <a:latin typeface="+mn-ea"/>
                <a:ea typeface="+mn-ea"/>
                <a:cs typeface="+mn-ea"/>
                <a:sym typeface="Arial" panose="020B0604020202020204" pitchFamily="34" charset="0"/>
              </a:rPr>
              <a:t>Python</a:t>
            </a: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任意类型的对象。</a:t>
            </a:r>
            <a:endParaRPr lang="zh-CN" altLang="en-US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>
                <a:latin typeface="+mn-ea"/>
                <a:ea typeface="+mn-ea"/>
                <a:cs typeface="+mn-ea"/>
                <a:sym typeface="+mn-ea"/>
              </a:rPr>
              <a:t>例如语句</a:t>
            </a:r>
            <a:endParaRPr lang="zh-CN" altLang="en-US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x = 3</a:t>
            </a:r>
            <a:endParaRPr lang="en-US" altLang="zh-CN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>
                <a:latin typeface="+mn-ea"/>
                <a:ea typeface="+mn-ea"/>
                <a:cs typeface="+mn-ea"/>
                <a:sym typeface="+mn-ea"/>
              </a:rPr>
              <a:t>创建了整型变量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x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，并赋值为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，再例如语句</a:t>
            </a:r>
            <a:endParaRPr lang="zh-CN" altLang="en-US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x = 'Hello world.'</a:t>
            </a:r>
            <a:endParaRPr lang="en-US" altLang="zh-CN" dirty="0">
              <a:latin typeface="+mn-ea"/>
              <a:ea typeface="+mn-ea"/>
              <a:cs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>
                <a:latin typeface="+mn-ea"/>
                <a:ea typeface="+mn-ea"/>
                <a:cs typeface="+mn-ea"/>
                <a:sym typeface="+mn-ea"/>
              </a:rPr>
              <a:t>创建了字符串变量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x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，并赋值为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'Hello world.'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。</a:t>
            </a:r>
            <a:endParaRPr lang="zh-CN" altLang="en-US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存储空间</a:t>
            </a:r>
            <a:r>
              <a:rPr lang="en-US" altLang="zh-CN"/>
              <a:t>	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存储空间</a:t>
            </a:r>
            <a:r>
              <a:rPr lang="zh-CN" altLang="en-US"/>
              <a:t>两大属性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值属性</a:t>
            </a:r>
            <a:r>
              <a:rPr lang="en-US" altLang="zh-CN"/>
              <a:t>------</a:t>
            </a:r>
            <a:r>
              <a:t>存储空间的内容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地址属性</a:t>
            </a:r>
            <a:r>
              <a:rPr lang="en-US" altLang="zh-CN"/>
              <a:t>----</a:t>
            </a:r>
            <a:r>
              <a:t>存储空间的地址</a:t>
            </a:r>
            <a:r>
              <a:rPr lang="en-US" altLang="zh-CN"/>
              <a:t>(</a:t>
            </a:r>
            <a:r>
              <a:t>唯一标识）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x = 3+2</a:t>
            </a:r>
            <a:br>
              <a:rPr lang="en-US" altLang="zh-CN" dirty="0">
                <a:latin typeface="+mn-ea"/>
                <a:ea typeface="+mn-ea"/>
                <a:cs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1160145"/>
            <a:ext cx="12192000" cy="5698490"/>
          </a:xfrm>
        </p:spPr>
        <p:txBody>
          <a:bodyPr>
            <a:normAutofit/>
          </a:bodyPr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l"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赋值语句的执行过程是：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l"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首先把等号右侧表达式的值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计算出来</a:t>
            </a:r>
            <a:r>
              <a:rPr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endParaRPr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l"/>
            </a:pP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（计算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3+2</a:t>
            </a:r>
            <a:r>
              <a:rPr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值为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5</a:t>
            </a:r>
            <a:r>
              <a:rPr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）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l"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然后在内存中寻找一个位置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把值存放进去，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l"/>
            </a:pP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（创建第一个常量</a:t>
            </a: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存储空间，将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存到这里，它的地址是2043734000</a:t>
            </a: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l"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最后创建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变量并指向这个内存地址。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l"/>
            </a:pP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（创建第二个变量存储空间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，将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的地址2043734000，存在这里</a:t>
            </a:r>
            <a:r>
              <a: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5780" y="1822450"/>
            <a:ext cx="4552950" cy="716915"/>
          </a:xfrm>
        </p:spPr>
        <p:txBody>
          <a:bodyPr/>
          <a:p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x = 3+2</a:t>
            </a: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id(x)</a:t>
            </a: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2043734000</a:t>
            </a: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&gt;&gt;&gt;x=6</a:t>
            </a: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&gt;&gt;&gt; id(x)</a:t>
            </a: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2043734016</a:t>
            </a:r>
            <a:br>
              <a:rPr lang="en-US" altLang="zh-CN">
                <a:latin typeface="+mn-ea"/>
                <a:ea typeface="+mn-ea"/>
                <a:cs typeface="+mn-ea"/>
                <a:sym typeface="+mn-ea"/>
              </a:rPr>
            </a:br>
            <a:br>
              <a:rPr lang="en-US" altLang="zh-CN" dirty="0">
                <a:latin typeface="+mn-ea"/>
                <a:ea typeface="+mn-ea"/>
                <a:cs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8905"/>
            <a:ext cx="12192000" cy="1497330"/>
          </a:xfrm>
        </p:spPr>
        <p:txBody>
          <a:bodyPr>
            <a:normAutofit/>
          </a:bodyPr>
          <a:p>
            <a:pPr eaLnBrk="1" hangingPunct="1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v"/>
            </a:pP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Python中的变量并不直接存储值，而是存储了值的内存地址或者引用，这也是变量类型随时可以改变的原因。</a:t>
            </a:r>
            <a:endParaRPr lang="en-US" altLang="zh-CN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887" y="1822648"/>
            <a:ext cx="4680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/>
              <a:t>变量名     引用     数据对象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725805" y="2507615"/>
            <a:ext cx="111950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2043734000</a:t>
            </a:r>
            <a:endParaRPr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925193" y="2468217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845073" y="2792253"/>
            <a:ext cx="1080120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913380" y="2139315"/>
            <a:ext cx="1338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b="1">
                <a:latin typeface="宋体" panose="02010600030101010101" pitchFamily="2" charset="-122"/>
                <a:sym typeface="+mn-ea"/>
              </a:rPr>
              <a:t>2043734000</a:t>
            </a:r>
            <a:endParaRPr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1845" y="4417060"/>
            <a:ext cx="111950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20437340</a:t>
            </a:r>
            <a:r>
              <a:rPr 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16</a:t>
            </a:r>
            <a:endParaRPr 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991233" y="437766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7" name="圆角矩形 6"/>
          <p:cNvSpPr/>
          <p:nvPr/>
        </p:nvSpPr>
        <p:spPr>
          <a:xfrm>
            <a:off x="2979687" y="563780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cxnSp>
        <p:nvCxnSpPr>
          <p:cNvPr id="9" name="肘形连接符 8"/>
          <p:cNvCxnSpPr>
            <a:stCxn id="5" idx="3"/>
            <a:endCxn id="7" idx="1"/>
          </p:cNvCxnSpPr>
          <p:nvPr/>
        </p:nvCxnSpPr>
        <p:spPr>
          <a:xfrm>
            <a:off x="1911350" y="4701540"/>
            <a:ext cx="1068070" cy="1260475"/>
          </a:xfrm>
          <a:prstGeom prst="bentConnector3">
            <a:avLst>
              <a:gd name="adj1" fmla="val 50000"/>
            </a:avLst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979420" y="4048760"/>
            <a:ext cx="1338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b="1">
                <a:latin typeface="宋体" panose="02010600030101010101" pitchFamily="2" charset="-122"/>
                <a:sym typeface="+mn-ea"/>
              </a:rPr>
              <a:t>2043734000</a:t>
            </a:r>
            <a:endParaRPr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76245" y="5269230"/>
            <a:ext cx="1338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b="1">
                <a:latin typeface="宋体" panose="02010600030101010101" pitchFamily="2" charset="-122"/>
                <a:sym typeface="+mn-ea"/>
              </a:rPr>
              <a:t>20437340</a:t>
            </a:r>
            <a:r>
              <a:rPr lang="en-US" b="1">
                <a:latin typeface="宋体" panose="02010600030101010101" pitchFamily="2" charset="-122"/>
                <a:sym typeface="+mn-ea"/>
              </a:rPr>
              <a:t>16</a:t>
            </a:r>
            <a:endParaRPr 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6715" y="2399665"/>
            <a:ext cx="33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  <p:sp>
        <p:nvSpPr>
          <p:cNvPr id="19" name="文本框 18"/>
          <p:cNvSpPr txBox="1"/>
          <p:nvPr/>
        </p:nvSpPr>
        <p:spPr>
          <a:xfrm>
            <a:off x="462915" y="4392295"/>
            <a:ext cx="328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ldLvl="0" animBg="1"/>
      <p:bldP spid="13" grpId="0" bldLvl="0" animBg="1"/>
      <p:bldP spid="5" grpId="0" bldLvl="0" animBg="1"/>
      <p:bldP spid="6" grpId="0" bldLvl="0" animBg="1"/>
      <p:bldP spid="7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Python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具有</a:t>
            </a: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自动内存管理功能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，对于没有任何变量指向的值，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Python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自动将其删除。</a:t>
            </a:r>
            <a:endParaRPr>
              <a:latin typeface="+mn-ea"/>
              <a:ea typeface="+mn-ea"/>
              <a:cs typeface="+mn-ea"/>
              <a:sym typeface="+mn-ea"/>
            </a:endParaRPr>
          </a:p>
          <a:p>
            <a:endParaRPr lang="en-US" altLang="zh-CN" b="1">
              <a:solidFill>
                <a:srgbClr val="FF0000"/>
              </a:solidFill>
              <a:latin typeface="+mn-ea"/>
              <a:ea typeface="+mn-ea"/>
              <a:cs typeface="+mn-ea"/>
              <a:sym typeface="+mn-ea"/>
            </a:endParaRPr>
          </a:p>
          <a:p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Python</a:t>
            </a:r>
            <a:r>
              <a:rPr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会跟踪所有的值，并自动删除不再有变量指向的值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。因此，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Python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程序员一般情况下不需要太多考虑内存管理的问题。</a:t>
            </a:r>
            <a:endParaRPr lang="zh-CN" altLang="en-US" dirty="0">
              <a:latin typeface="+mn-ea"/>
              <a:ea typeface="+mn-ea"/>
              <a:cs typeface="+mn-ea"/>
            </a:endParaRPr>
          </a:p>
          <a:p>
            <a:endParaRPr lang="zh-CN" altLang="en-US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3045" y="113665"/>
            <a:ext cx="11766550" cy="6490970"/>
          </a:xfrm>
        </p:spPr>
        <p:txBody>
          <a:bodyPr>
            <a:normAutofit lnSpcReduction="10000"/>
          </a:bodyPr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3110">
                <a:latin typeface="+mn-ea"/>
                <a:ea typeface="+mn-ea"/>
                <a:cs typeface="+mn-ea"/>
                <a:sym typeface="+mn-ea"/>
              </a:rPr>
              <a:t>Python</a:t>
            </a:r>
            <a:r>
              <a:rPr sz="3110">
                <a:latin typeface="+mn-ea"/>
                <a:ea typeface="+mn-ea"/>
                <a:cs typeface="+mn-ea"/>
                <a:sym typeface="+mn-ea"/>
              </a:rPr>
              <a:t>采用的是</a:t>
            </a:r>
            <a:r>
              <a:rPr sz="3110"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基于值的内存管理方式</a:t>
            </a:r>
            <a:r>
              <a:rPr sz="3110">
                <a:latin typeface="+mn-ea"/>
                <a:ea typeface="+mn-ea"/>
                <a:cs typeface="+mn-ea"/>
                <a:sym typeface="+mn-ea"/>
              </a:rPr>
              <a:t>，如果为不同变量赋值为相同值，这个值在内存中只有一份，多个变量指向同一块内存地址。</a:t>
            </a:r>
            <a:endParaRPr lang="zh-CN" altLang="en-US" sz="3110" dirty="0">
              <a:latin typeface="+mn-ea"/>
              <a:ea typeface="+mn-ea"/>
              <a:cs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400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x=3</a:t>
            </a:r>
            <a:endParaRPr lang="en-US" altLang="zh-CN" sz="400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400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id(x)</a:t>
            </a:r>
            <a:endParaRPr lang="en-US" altLang="zh-CN" sz="400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400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2043733968</a:t>
            </a:r>
            <a:endParaRPr lang="en-US" altLang="zh-CN" sz="4000">
              <a:solidFill>
                <a:schemeClr val="accent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400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y=3</a:t>
            </a:r>
            <a:endParaRPr lang="en-US" altLang="zh-CN" sz="400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400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&gt;&gt;&gt; id(y)</a:t>
            </a:r>
            <a:endParaRPr lang="en-US" altLang="zh-CN" sz="400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400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2043733968</a:t>
            </a:r>
            <a:endParaRPr lang="en-US" altLang="zh-CN" sz="4000">
              <a:solidFill>
                <a:schemeClr val="accent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71565" y="2926080"/>
            <a:ext cx="124142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eaLnBrk="1" hangingPunct="1">
              <a:lnSpc>
                <a:spcPct val="80000"/>
              </a:lnSpc>
              <a:buNone/>
            </a:pPr>
            <a:r>
              <a:rPr lang="en-US" altLang="zh-CN" sz="140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2043733968</a:t>
            </a:r>
            <a:endParaRPr lang="en-US" altLang="zh-CN" sz="1400" b="1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492873" y="288668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412753" y="3210718"/>
            <a:ext cx="1080120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481060" y="2557780"/>
            <a:ext cx="1440180" cy="3124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 eaLnBrk="1" hangingPunct="1">
              <a:lnSpc>
                <a:spcPct val="80000"/>
              </a:lnSpc>
              <a:buNone/>
            </a:pPr>
            <a:r>
              <a:rPr lang="en-US" altLang="zh-CN">
                <a:solidFill>
                  <a:schemeClr val="tx1"/>
                </a:solidFill>
                <a:latin typeface="Consolas" panose="020B0609020204030204" pitchFamily="49" charset="0"/>
                <a:sym typeface="+mn-ea"/>
              </a:rPr>
              <a:t>2043733968</a:t>
            </a:r>
            <a:endParaRPr lang="en-US" altLang="zh-CN" b="1">
              <a:solidFill>
                <a:schemeClr val="tx1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2475" y="2818130"/>
            <a:ext cx="33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  <p:sp>
        <p:nvSpPr>
          <p:cNvPr id="11" name="文本框 10"/>
          <p:cNvSpPr txBox="1"/>
          <p:nvPr/>
        </p:nvSpPr>
        <p:spPr>
          <a:xfrm>
            <a:off x="6293457" y="2015688"/>
            <a:ext cx="4680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/>
              <a:t>变量名     引用     数据对象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6171565" y="4150360"/>
            <a:ext cx="124142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eaLnBrk="1" hangingPunct="1">
              <a:lnSpc>
                <a:spcPct val="80000"/>
              </a:lnSpc>
              <a:buNone/>
            </a:pPr>
            <a:r>
              <a:rPr lang="en-US" altLang="zh-CN" sz="140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2043733968</a:t>
            </a:r>
            <a:endParaRPr lang="en-US" altLang="zh-CN" sz="1400" b="1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6" name="直接箭头连接符 5"/>
          <p:cNvCxnSpPr>
            <a:endCxn id="13" idx="2"/>
          </p:cNvCxnSpPr>
          <p:nvPr/>
        </p:nvCxnSpPr>
        <p:spPr>
          <a:xfrm flipV="1">
            <a:off x="7412990" y="3535045"/>
            <a:ext cx="1800225" cy="899795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832475" y="4042410"/>
            <a:ext cx="33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y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1" grpId="0"/>
      <p:bldP spid="5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文本占位符 26626"/>
          <p:cNvSpPr>
            <a:spLocks noGrp="1"/>
          </p:cNvSpPr>
          <p:nvPr>
            <p:ph idx="1"/>
          </p:nvPr>
        </p:nvSpPr>
        <p:spPr>
          <a:xfrm>
            <a:off x="162560" y="154940"/>
            <a:ext cx="11359515" cy="6623050"/>
          </a:xfrm>
        </p:spPr>
        <p:txBody>
          <a:bodyPr vert="horz" wrap="square" lIns="91440" tIns="45720" rIns="91440" bIns="45720" anchor="t">
            <a:normAutofit/>
          </a:bodyPr>
          <a:p>
            <a:pPr>
              <a:lnSpc>
                <a:spcPct val="100000"/>
              </a:lnSpc>
              <a:buNone/>
            </a:pPr>
            <a:r>
              <a:rPr lang="zh-CN" altLang="en-US" sz="3110">
                <a:latin typeface="+mn-ea"/>
                <a:ea typeface="+mn-ea"/>
                <a:cs typeface="+mn-ea"/>
              </a:rPr>
              <a:t>当为其中一个变量修改值以后，其内存地址将会变化，</a:t>
            </a:r>
            <a:endParaRPr lang="zh-CN" altLang="en-US" sz="3110"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sz="3110">
                <a:latin typeface="+mn-ea"/>
                <a:ea typeface="+mn-ea"/>
                <a:cs typeface="+mn-ea"/>
              </a:rPr>
              <a:t>但这并不影响另一个变量，例如接着上面的代码再继续执行下面的代码：</a:t>
            </a:r>
            <a:endParaRPr lang="zh-CN" altLang="en-US" sz="3110"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b="1" dirty="0">
                <a:latin typeface="+mn-ea"/>
                <a:ea typeface="+mn-ea"/>
                <a:cs typeface="+mn-ea"/>
              </a:rPr>
              <a:t>&gt;&gt;&gt; x=x+6</a:t>
            </a:r>
            <a:endParaRPr lang="en-US" altLang="zh-CN" b="1" dirty="0"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b="1" dirty="0">
                <a:latin typeface="+mn-ea"/>
                <a:ea typeface="+mn-ea"/>
                <a:cs typeface="+mn-ea"/>
              </a:rPr>
              <a:t>&gt;&gt;&gt; id(x)</a:t>
            </a:r>
            <a:endParaRPr lang="en-US" altLang="zh-CN" b="1" dirty="0"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2043734064</a:t>
            </a:r>
            <a:endParaRPr lang="en-US" altLang="zh-CN" b="1" dirty="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b="1" dirty="0">
                <a:latin typeface="+mn-ea"/>
                <a:ea typeface="+mn-ea"/>
                <a:cs typeface="+mn-ea"/>
              </a:rPr>
              <a:t>&gt;&gt;&gt; y</a:t>
            </a:r>
            <a:endParaRPr lang="en-US" altLang="zh-CN" b="1" dirty="0"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b="1" dirty="0">
                <a:latin typeface="+mn-ea"/>
                <a:ea typeface="+mn-ea"/>
                <a:cs typeface="+mn-ea"/>
              </a:rPr>
              <a:t>3</a:t>
            </a:r>
            <a:endParaRPr lang="en-US" altLang="zh-CN" b="1" dirty="0"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b="1" dirty="0">
                <a:latin typeface="+mn-ea"/>
                <a:ea typeface="+mn-ea"/>
                <a:cs typeface="+mn-ea"/>
              </a:rPr>
              <a:t>&gt;&gt;&gt; id(y)</a:t>
            </a:r>
            <a:endParaRPr lang="en-US" altLang="zh-CN" b="1" dirty="0">
              <a:latin typeface="+mn-ea"/>
              <a:ea typeface="+mn-ea"/>
              <a:cs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2043733968</a:t>
            </a:r>
            <a:endParaRPr lang="en-US" altLang="zh-CN" b="1" dirty="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93485" y="2926080"/>
            <a:ext cx="140398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2043734068</a:t>
            </a:r>
            <a:endParaRPr lang="en-US" altLang="zh-CN" sz="1400" b="1" dirty="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>
            <a:pPr algn="ctr"/>
            <a:endParaRPr 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544943" y="407794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533130" y="3749040"/>
            <a:ext cx="1592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rPr>
              <a:t>2043734068</a:t>
            </a:r>
            <a:endParaRPr 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54395" y="2818130"/>
            <a:ext cx="33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  <p:sp>
        <p:nvSpPr>
          <p:cNvPr id="11" name="文本框 10"/>
          <p:cNvSpPr txBox="1"/>
          <p:nvPr/>
        </p:nvSpPr>
        <p:spPr>
          <a:xfrm>
            <a:off x="6293457" y="2015688"/>
            <a:ext cx="4680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/>
              <a:t>变量名     引用     数据对象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6293485" y="4150360"/>
            <a:ext cx="1404620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2043734068</a:t>
            </a:r>
            <a:endParaRPr lang="en-US" altLang="zh-CN" sz="1400" b="1" dirty="0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>
            <a:pPr algn="ctr"/>
            <a:endParaRPr 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6" name="直接箭头连接符 5"/>
          <p:cNvCxnSpPr>
            <a:endCxn id="13" idx="1"/>
          </p:cNvCxnSpPr>
          <p:nvPr/>
        </p:nvCxnSpPr>
        <p:spPr>
          <a:xfrm flipV="1">
            <a:off x="7698105" y="4401820"/>
            <a:ext cx="847090" cy="10541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822950" y="4171950"/>
            <a:ext cx="40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y</a:t>
            </a:r>
            <a:endParaRPr lang="en-US" altLang="zh-CN" sz="2400"/>
          </a:p>
        </p:txBody>
      </p:sp>
      <p:sp>
        <p:nvSpPr>
          <p:cNvPr id="2" name="圆角矩形 1"/>
          <p:cNvSpPr/>
          <p:nvPr/>
        </p:nvSpPr>
        <p:spPr>
          <a:xfrm>
            <a:off x="8544943" y="288668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33130" y="2557780"/>
            <a:ext cx="1592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rPr>
              <a:t>2043734064</a:t>
            </a:r>
            <a:endParaRPr lang="en-US" b="1">
              <a:latin typeface="宋体" panose="02010600030101010101" pitchFamily="2" charset="-122"/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698105" y="3173095"/>
            <a:ext cx="847090" cy="10541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1" grpId="0"/>
      <p:bldP spid="5" grpId="0" bldLvl="0" animBg="1"/>
      <p:bldP spid="2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总结：</a:t>
            </a:r>
            <a:r>
              <a:rPr lang="zh-CN" altLang="en-US" dirty="0" smtClean="0"/>
              <a:t>不可变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2565" y="2525395"/>
            <a:ext cx="11319510" cy="3815715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变量引用不可变数据类型（整数、实数、复数、字符串、元组</a:t>
            </a:r>
            <a:endParaRPr lang="zh-CN" altLang="en-US" dirty="0" smtClean="0"/>
          </a:p>
          <a:p>
            <a:endParaRPr lang="zh-CN" altLang="en-US" dirty="0"/>
          </a:p>
          <a:p>
            <a:r>
              <a:rPr>
                <a:sym typeface="+mn-ea"/>
              </a:rPr>
              <a:t>值属性</a:t>
            </a:r>
            <a:r>
              <a:rPr lang="en-US" altLang="zh-CN">
                <a:sym typeface="+mn-ea"/>
              </a:rPr>
              <a:t>------</a:t>
            </a:r>
            <a:r>
              <a:rPr>
                <a:sym typeface="+mn-ea"/>
              </a:rPr>
              <a:t>存储空间的内容</a:t>
            </a:r>
            <a:r>
              <a:rPr lang="en-US" altLang="zh-CN">
                <a:sym typeface="+mn-ea"/>
              </a:rPr>
              <a:t>------------</a:t>
            </a:r>
            <a:r>
              <a:rPr>
                <a:sym typeface="+mn-ea"/>
              </a:rPr>
              <a:t>值发生改变</a:t>
            </a:r>
            <a:endParaRPr lang="zh-CN" altLang="en-US"/>
          </a:p>
          <a:p>
            <a:endParaRPr lang="zh-CN" altLang="en-US"/>
          </a:p>
          <a:p>
            <a:r>
              <a:rPr>
                <a:sym typeface="+mn-ea"/>
              </a:rPr>
              <a:t>地址属性</a:t>
            </a:r>
            <a:r>
              <a:rPr lang="en-US" altLang="zh-CN">
                <a:sym typeface="+mn-ea"/>
              </a:rPr>
              <a:t>----</a:t>
            </a:r>
            <a:r>
              <a:rPr>
                <a:sym typeface="+mn-ea"/>
              </a:rPr>
              <a:t>存储空间的地址-</a:t>
            </a:r>
            <a:r>
              <a:rPr lang="en-US" altLang="zh-CN">
                <a:sym typeface="+mn-ea"/>
              </a:rPr>
              <a:t>----------</a:t>
            </a:r>
            <a:r>
              <a:rPr>
                <a:sym typeface="+mn-ea"/>
              </a:rPr>
              <a:t>地址也跟着发生改变</a:t>
            </a:r>
            <a:endParaRPr>
              <a:sym typeface="+mn-ea"/>
            </a:endParaRPr>
          </a:p>
        </p:txBody>
      </p:sp>
      <p:sp>
        <p:nvSpPr>
          <p:cNvPr id="4" name="燕尾形 3"/>
          <p:cNvSpPr/>
          <p:nvPr/>
        </p:nvSpPr>
        <p:spPr>
          <a:xfrm>
            <a:off x="671433" y="1373004"/>
            <a:ext cx="2592288" cy="10081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bg2"/>
                </a:solidFill>
              </a:rPr>
              <a:t>不可变</a:t>
            </a:r>
            <a:endParaRPr lang="en-US" altLang="zh-CN" sz="2400" dirty="0" smtClean="0">
              <a:solidFill>
                <a:schemeClr val="bg2"/>
              </a:solidFill>
            </a:endParaRPr>
          </a:p>
          <a:p>
            <a:pPr algn="ctr"/>
            <a:r>
              <a:rPr lang="zh-CN" altLang="en-US" sz="2400" dirty="0" smtClean="0">
                <a:solidFill>
                  <a:schemeClr val="bg2"/>
                </a:solidFill>
              </a:rPr>
              <a:t>数据类型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5" name="燕尾形 4"/>
          <p:cNvSpPr/>
          <p:nvPr/>
        </p:nvSpPr>
        <p:spPr>
          <a:xfrm>
            <a:off x="3002626" y="1517020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>
                <a:solidFill>
                  <a:schemeClr val="tx1"/>
                </a:solidFill>
              </a:rPr>
              <a:t>整数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err="1" smtClean="0">
                <a:solidFill>
                  <a:schemeClr val="tx1"/>
                </a:solidFill>
              </a:rPr>
              <a:t>int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燕尾形 5"/>
          <p:cNvSpPr/>
          <p:nvPr/>
        </p:nvSpPr>
        <p:spPr>
          <a:xfrm>
            <a:off x="4585117" y="1517020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实数</a:t>
            </a:r>
            <a:r>
              <a:rPr lang="en-US" altLang="zh-CN" sz="2400" dirty="0">
                <a:solidFill>
                  <a:schemeClr val="tx1"/>
                </a:solidFill>
              </a:rPr>
              <a:t>float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6181814" y="1517020"/>
            <a:ext cx="2146433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复数</a:t>
            </a:r>
            <a:r>
              <a:rPr lang="en-US" altLang="zh-CN" sz="2400" dirty="0">
                <a:solidFill>
                  <a:schemeClr val="tx1"/>
                </a:solidFill>
              </a:rPr>
              <a:t>complex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8053815" y="1517020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字符串</a:t>
            </a:r>
            <a:r>
              <a:rPr lang="en-US" altLang="zh-CN" sz="2400" dirty="0">
                <a:solidFill>
                  <a:schemeClr val="tx1"/>
                </a:solidFill>
              </a:rPr>
              <a:t>string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9636306" y="1517020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元组</a:t>
            </a:r>
            <a:r>
              <a:rPr lang="en-US" altLang="zh-CN" sz="2400" dirty="0">
                <a:solidFill>
                  <a:schemeClr val="tx1"/>
                </a:solidFill>
              </a:rPr>
              <a:t>tuple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7" name="五角星 16"/>
          <p:cNvSpPr/>
          <p:nvPr/>
        </p:nvSpPr>
        <p:spPr>
          <a:xfrm>
            <a:off x="10517505" y="2525395"/>
            <a:ext cx="1583690" cy="1296035"/>
          </a:xfrm>
          <a:prstGeom prst="star5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605" y="1487170"/>
            <a:ext cx="11959590" cy="485394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变量引用可变数据类型</a:t>
            </a:r>
            <a:endParaRPr lang="zh-CN" altLang="en-US" dirty="0" smtClean="0"/>
          </a:p>
          <a:p>
            <a:endParaRPr lang="zh-CN" altLang="en-US" dirty="0"/>
          </a:p>
          <a:p>
            <a:r>
              <a:rPr lang="zh-CN" altLang="en-US" dirty="0"/>
              <a:t>包括：列表、字典、集合</a:t>
            </a:r>
            <a:endParaRPr lang="zh-CN" altLang="en-US" dirty="0"/>
          </a:p>
        </p:txBody>
      </p:sp>
      <p:sp>
        <p:nvSpPr>
          <p:cNvPr id="4" name="燕尾形 3"/>
          <p:cNvSpPr/>
          <p:nvPr/>
        </p:nvSpPr>
        <p:spPr>
          <a:xfrm flipH="1">
            <a:off x="8866362" y="296237"/>
            <a:ext cx="2592288" cy="10081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bg2"/>
                </a:solidFill>
              </a:rPr>
              <a:t>可变</a:t>
            </a:r>
            <a:endParaRPr lang="en-US" altLang="zh-CN" sz="2400" dirty="0" smtClean="0">
              <a:solidFill>
                <a:schemeClr val="bg2"/>
              </a:solidFill>
            </a:endParaRPr>
          </a:p>
          <a:p>
            <a:pPr algn="ctr"/>
            <a:r>
              <a:rPr lang="zh-CN" altLang="en-US" sz="2400" dirty="0" smtClean="0">
                <a:solidFill>
                  <a:schemeClr val="bg2"/>
                </a:solidFill>
              </a:rPr>
              <a:t>数据类型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5" name="燕尾形 4"/>
          <p:cNvSpPr/>
          <p:nvPr/>
        </p:nvSpPr>
        <p:spPr>
          <a:xfrm flipH="1">
            <a:off x="4079189" y="440253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列表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list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燕尾形 5"/>
          <p:cNvSpPr/>
          <p:nvPr/>
        </p:nvSpPr>
        <p:spPr>
          <a:xfrm flipH="1">
            <a:off x="5661680" y="440253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字典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err="1" smtClean="0">
                <a:solidFill>
                  <a:schemeClr val="tx1"/>
                </a:solidFill>
              </a:rPr>
              <a:t>dict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/>
        </p:nvSpPr>
        <p:spPr>
          <a:xfrm flipH="1">
            <a:off x="7258378" y="440253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集合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set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62000" y="1227455"/>
            <a:ext cx="4845685" cy="5285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500"/>
              </a:lnSpc>
            </a:pPr>
            <a:r>
              <a:rPr lang="zh-CN" altLang="en-US" sz="2800" b="1"/>
              <a:t>原表操作</a:t>
            </a:r>
            <a:endParaRPr lang="zh-CN" altLang="en-US" sz="2800" b="1"/>
          </a:p>
          <a:p>
            <a:pPr>
              <a:lnSpc>
                <a:spcPts val="4500"/>
              </a:lnSpc>
            </a:pPr>
            <a:r>
              <a:rPr lang="zh-CN" altLang="en-US" sz="2800"/>
              <a:t>&gt;&gt;&gt; x=[1,2,3]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/>
              <a:t>&gt;&gt;&gt; id(x)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/>
              <a:t>62895592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>
                <a:solidFill>
                  <a:srgbClr val="FF0000"/>
                </a:solidFill>
              </a:rPr>
              <a:t>&gt;&gt;&gt; x.append(4)</a:t>
            </a:r>
            <a:endParaRPr lang="zh-CN" altLang="en-US" sz="2800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 lang="zh-CN" altLang="en-US" sz="2800">
                <a:solidFill>
                  <a:srgbClr val="FF0000"/>
                </a:solidFill>
              </a:rPr>
              <a:t>&gt;&gt;&gt; id(x)</a:t>
            </a:r>
            <a:endParaRPr lang="zh-CN" altLang="en-US" sz="2800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 lang="zh-CN" altLang="en-US" sz="2800">
                <a:solidFill>
                  <a:srgbClr val="FF0000"/>
                </a:solidFill>
              </a:rPr>
              <a:t>62895592</a:t>
            </a:r>
            <a:endParaRPr lang="zh-CN" altLang="en-US" sz="2800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 lang="zh-CN" altLang="en-US" sz="2800"/>
              <a:t>&gt;&gt;&gt; x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/>
              <a:t>[1, 2, 3, 4]</a:t>
            </a:r>
            <a:endParaRPr lang="zh-CN" altLang="en-US" sz="28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/>
              <a:t>改变列表元素值的两种操作</a:t>
            </a:r>
            <a:endParaRPr lang="zh-CN" altLang="en-US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5816600" y="1227455"/>
            <a:ext cx="4845685" cy="5285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500"/>
              </a:lnSpc>
            </a:pPr>
            <a:r>
              <a:rPr lang="zh-CN" altLang="en-US" sz="2800" b="1"/>
              <a:t>新</a:t>
            </a:r>
            <a:r>
              <a:rPr lang="zh-CN" altLang="en-US" sz="2800" b="1"/>
              <a:t>表操作</a:t>
            </a:r>
            <a:endParaRPr lang="zh-CN" altLang="en-US" sz="2800" b="1"/>
          </a:p>
          <a:p>
            <a:pPr>
              <a:lnSpc>
                <a:spcPts val="4500"/>
              </a:lnSpc>
            </a:pPr>
            <a:r>
              <a:rPr lang="zh-CN" altLang="en-US" sz="2800"/>
              <a:t>&gt;&gt;&gt; x=[1,2,3]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/>
              <a:t>&gt;&gt;&gt; id(x)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/>
              <a:t>62895592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>
                <a:solidFill>
                  <a:srgbClr val="FF0000"/>
                </a:solidFill>
              </a:rPr>
              <a:t>&gt;&gt;&gt; x=[1,2,3,4]</a:t>
            </a:r>
            <a:endParaRPr lang="zh-CN" altLang="en-US" sz="2800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 lang="zh-CN" altLang="en-US" sz="2800">
                <a:solidFill>
                  <a:srgbClr val="FF0000"/>
                </a:solidFill>
              </a:rPr>
              <a:t>&gt;&gt;&gt; id(x)</a:t>
            </a:r>
            <a:endParaRPr lang="zh-CN" altLang="en-US" sz="2800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 lang="zh-CN" altLang="en-US" sz="2800">
                <a:solidFill>
                  <a:srgbClr val="FF0000"/>
                </a:solidFill>
              </a:rPr>
              <a:t>68250152</a:t>
            </a:r>
            <a:br>
              <a:rPr lang="zh-CN" altLang="en-US" sz="2800"/>
            </a:br>
            <a:r>
              <a:rPr lang="zh-CN" altLang="en-US" sz="2800"/>
              <a:t>&gt;&gt;&gt; x</a:t>
            </a:r>
            <a:endParaRPr lang="zh-CN" altLang="en-US" sz="2800"/>
          </a:p>
          <a:p>
            <a:pPr>
              <a:lnSpc>
                <a:spcPts val="4500"/>
              </a:lnSpc>
            </a:pPr>
            <a:r>
              <a:rPr lang="zh-CN" altLang="en-US" sz="2800"/>
              <a:t>[1, 2, 3, 4]</a:t>
            </a:r>
            <a:endParaRPr lang="zh-CN" altLang="en-US" sz="28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5605780" y="-635"/>
            <a:ext cx="4552950" cy="64516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>
              <a:lnSpc>
                <a:spcPts val="4500"/>
              </a:lnSpc>
            </a:pPr>
            <a:r>
              <a:rPr>
                <a:sym typeface="+mn-ea"/>
              </a:rPr>
              <a:t>原表操作</a:t>
            </a:r>
            <a:endParaRPr lang="zh-CN" altLang="en-US" b="1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&gt;&gt;&gt; x=[1,2,3]</a:t>
            </a: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&gt;&gt;&gt; id(x)</a:t>
            </a: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62895592</a:t>
            </a:r>
            <a:endParaRPr>
              <a:sym typeface="+mn-ea"/>
            </a:endParaRPr>
          </a:p>
          <a:p>
            <a:pPr>
              <a:lnSpc>
                <a:spcPts val="4500"/>
              </a:lnSpc>
            </a:pPr>
            <a:endParaRPr lang="zh-CN" altLang="en-US"/>
          </a:p>
          <a:p>
            <a:pPr>
              <a:lnSpc>
                <a:spcPts val="4500"/>
              </a:lnSpc>
            </a:pP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olidFill>
                  <a:srgbClr val="FF0000"/>
                </a:solidFill>
                <a:sym typeface="+mn-ea"/>
              </a:rPr>
              <a:t>&gt;&gt;&gt; x.append(4)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>
                <a:solidFill>
                  <a:srgbClr val="FF0000"/>
                </a:solidFill>
                <a:sym typeface="+mn-ea"/>
              </a:rPr>
              <a:t>&gt;&gt;&gt; id(x)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>
                <a:solidFill>
                  <a:srgbClr val="FF0000"/>
                </a:solidFill>
                <a:sym typeface="+mn-ea"/>
              </a:rPr>
              <a:t>62895592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&gt;&gt;&gt; x</a:t>
            </a: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[1, 2, 3, 4]</a:t>
            </a:r>
            <a:endParaRPr lang="zh-CN" altLang="en-US"/>
          </a:p>
          <a:p>
            <a:br>
              <a:rPr lang="en-US" altLang="zh-CN" dirty="0">
                <a:latin typeface="+mn-ea"/>
                <a:ea typeface="+mn-ea"/>
                <a:cs typeface="+mn-ea"/>
              </a:rPr>
            </a:b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6687" y="961588"/>
            <a:ext cx="4680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/>
              <a:t>变量名     引用     数据对象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725805" y="1646555"/>
            <a:ext cx="111950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18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62895592</a:t>
            </a:r>
            <a:endParaRPr lang="en-US" sz="1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925193" y="1607157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/>
              <a:t>[1,2,3]</a:t>
            </a:r>
            <a:endParaRPr lang="en-US" altLang="zh-CN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845073" y="1931193"/>
            <a:ext cx="1080120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13380" y="1278255"/>
            <a:ext cx="11074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b="1">
                <a:latin typeface="宋体" panose="02010600030101010101" pitchFamily="2" charset="-122"/>
                <a:sym typeface="+mn-ea"/>
              </a:rPr>
              <a:t>62895592</a:t>
            </a:r>
            <a:endParaRPr 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6715" y="1538605"/>
            <a:ext cx="33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  <p:sp>
        <p:nvSpPr>
          <p:cNvPr id="14" name="矩形 13"/>
          <p:cNvSpPr/>
          <p:nvPr/>
        </p:nvSpPr>
        <p:spPr>
          <a:xfrm>
            <a:off x="770890" y="4211955"/>
            <a:ext cx="111950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18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62895592</a:t>
            </a:r>
            <a:endParaRPr lang="en-US" sz="1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970278" y="4172557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/>
              <a:t>[1,2,3,4]</a:t>
            </a:r>
            <a:endParaRPr lang="en-US" altLang="zh-CN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890158" y="4496593"/>
            <a:ext cx="1080120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958465" y="3843655"/>
            <a:ext cx="11074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b="1">
                <a:latin typeface="宋体" panose="02010600030101010101" pitchFamily="2" charset="-122"/>
                <a:sym typeface="+mn-ea"/>
              </a:rPr>
              <a:t>62895592</a:t>
            </a:r>
            <a:endParaRPr 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1800" y="4104005"/>
            <a:ext cx="33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ldLvl="0" animBg="1"/>
      <p:bldP spid="13" grpId="0" bldLvl="0" animBg="1"/>
      <p:bldP spid="14" grpId="0" bldLvl="0" animBg="1"/>
      <p:bldP spid="16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5605780" y="420370"/>
            <a:ext cx="4552950" cy="603059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>
              <a:lnSpc>
                <a:spcPts val="4500"/>
              </a:lnSpc>
            </a:pPr>
            <a:r>
              <a:rPr>
                <a:sym typeface="+mn-ea"/>
              </a:rPr>
              <a:t>新表操作</a:t>
            </a:r>
            <a:endParaRPr lang="zh-CN" altLang="en-US" b="1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&gt;&gt;&gt; x=[1,2,3]</a:t>
            </a: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&gt;&gt;&gt; id(x)</a:t>
            </a: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62895592</a:t>
            </a:r>
            <a:endParaRPr>
              <a:sym typeface="+mn-ea"/>
            </a:endParaRPr>
          </a:p>
          <a:p>
            <a:pPr>
              <a:lnSpc>
                <a:spcPts val="4500"/>
              </a:lnSpc>
            </a:pP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olidFill>
                  <a:srgbClr val="FF0000"/>
                </a:solidFill>
                <a:sym typeface="+mn-ea"/>
              </a:rPr>
              <a:t>&gt;&gt;&gt; x=[1,2,3,4]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>
                <a:solidFill>
                  <a:srgbClr val="FF0000"/>
                </a:solidFill>
                <a:sym typeface="+mn-ea"/>
              </a:rPr>
              <a:t>&gt;&gt;&gt; id(x)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ts val="4500"/>
              </a:lnSpc>
            </a:pPr>
            <a:r>
              <a:rPr>
                <a:solidFill>
                  <a:srgbClr val="FF0000"/>
                </a:solidFill>
                <a:sym typeface="+mn-ea"/>
              </a:rPr>
              <a:t>68250152</a:t>
            </a:r>
            <a:br>
              <a:rPr>
                <a:sym typeface="+mn-ea"/>
              </a:rPr>
            </a:br>
            <a:r>
              <a:rPr>
                <a:sym typeface="+mn-ea"/>
              </a:rPr>
              <a:t>&gt;&gt;&gt; x</a:t>
            </a:r>
            <a:endParaRPr lang="zh-CN" altLang="en-US"/>
          </a:p>
          <a:p>
            <a:pPr>
              <a:lnSpc>
                <a:spcPts val="4500"/>
              </a:lnSpc>
            </a:pPr>
            <a:r>
              <a:rPr>
                <a:sym typeface="+mn-ea"/>
              </a:rPr>
              <a:t>[1, 2, 3, 4]</a:t>
            </a:r>
            <a:endParaRPr lang="zh-CN" altLang="en-US"/>
          </a:p>
          <a:p>
            <a:br>
              <a:rPr lang="en-US" altLang="zh-CN" dirty="0">
                <a:latin typeface="+mn-ea"/>
                <a:ea typeface="+mn-ea"/>
                <a:cs typeface="+mn-ea"/>
              </a:rPr>
            </a:b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0992" y="804743"/>
            <a:ext cx="4680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/>
              <a:t>变量名     引用     数据对象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725805" y="1718310"/>
            <a:ext cx="111950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18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62895592</a:t>
            </a:r>
            <a:endParaRPr lang="en-US" sz="1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925193" y="167891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/>
              <a:t>[1,2,3]</a:t>
            </a:r>
            <a:endParaRPr lang="en-US" altLang="zh-CN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845073" y="2002948"/>
            <a:ext cx="1080120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13380" y="1350010"/>
            <a:ext cx="11074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b="1">
                <a:latin typeface="宋体" panose="02010600030101010101" pitchFamily="2" charset="-122"/>
                <a:sym typeface="+mn-ea"/>
              </a:rPr>
              <a:t>62895592</a:t>
            </a:r>
            <a:endParaRPr 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1845" y="4417060"/>
            <a:ext cx="1119505" cy="568960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400">
                <a:solidFill>
                  <a:srgbClr val="FF0000"/>
                </a:solidFill>
                <a:sym typeface="+mn-ea"/>
              </a:rPr>
              <a:t>68250152</a:t>
            </a:r>
            <a:endParaRPr 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91233" y="437766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ym typeface="+mn-ea"/>
              </a:rPr>
              <a:t>[1,2,3]</a:t>
            </a:r>
            <a:endParaRPr 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979687" y="5637802"/>
            <a:ext cx="144016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/>
              <a:t>[1,2,3,4]</a:t>
            </a:r>
            <a:endParaRPr lang="en-US" altLang="zh-CN" dirty="0"/>
          </a:p>
        </p:txBody>
      </p:sp>
      <p:cxnSp>
        <p:nvCxnSpPr>
          <p:cNvPr id="9" name="肘形连接符 8"/>
          <p:cNvCxnSpPr>
            <a:stCxn id="6" idx="3"/>
            <a:endCxn id="8" idx="1"/>
          </p:cNvCxnSpPr>
          <p:nvPr/>
        </p:nvCxnSpPr>
        <p:spPr>
          <a:xfrm>
            <a:off x="1911350" y="4701540"/>
            <a:ext cx="1068070" cy="1260475"/>
          </a:xfrm>
          <a:prstGeom prst="bentConnector3">
            <a:avLst>
              <a:gd name="adj1" fmla="val 50000"/>
            </a:avLst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979420" y="4048760"/>
            <a:ext cx="11074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b="1">
                <a:latin typeface="宋体" panose="02010600030101010101" pitchFamily="2" charset="-122"/>
                <a:sym typeface="+mn-ea"/>
              </a:rPr>
              <a:t>62895592</a:t>
            </a:r>
            <a:endParaRPr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76245" y="5269230"/>
            <a:ext cx="1198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>
                <a:solidFill>
                  <a:srgbClr val="FF0000"/>
                </a:solidFill>
                <a:sym typeface="+mn-ea"/>
              </a:rPr>
              <a:t>68250152</a:t>
            </a:r>
            <a:endParaRPr 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6715" y="1610360"/>
            <a:ext cx="33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  <p:sp>
        <p:nvSpPr>
          <p:cNvPr id="19" name="文本框 18"/>
          <p:cNvSpPr txBox="1"/>
          <p:nvPr/>
        </p:nvSpPr>
        <p:spPr>
          <a:xfrm>
            <a:off x="462915" y="4392295"/>
            <a:ext cx="328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x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ldLvl="0" animBg="1"/>
      <p:bldP spid="13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605" y="440055"/>
            <a:ext cx="10852150" cy="716915"/>
          </a:xfrm>
        </p:spPr>
        <p:txBody>
          <a:bodyPr/>
          <a:lstStyle/>
          <a:p>
            <a:r>
              <a:rPr lang="zh-CN" altLang="en-US" dirty="0" smtClean="0"/>
              <a:t>总结：可变数据类型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605" y="1487170"/>
            <a:ext cx="11959590" cy="485394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变量引用可变数据类型</a:t>
            </a:r>
            <a:endParaRPr lang="zh-CN" altLang="en-US" dirty="0" smtClean="0"/>
          </a:p>
          <a:p>
            <a:endParaRPr lang="zh-CN" altLang="en-US" dirty="0"/>
          </a:p>
          <a:p>
            <a:r>
              <a:rPr>
                <a:sym typeface="+mn-ea"/>
              </a:rPr>
              <a:t>值属性</a:t>
            </a:r>
            <a:r>
              <a:rPr lang="en-US" altLang="zh-CN">
                <a:sym typeface="+mn-ea"/>
              </a:rPr>
              <a:t>------</a:t>
            </a:r>
            <a:r>
              <a:rPr>
                <a:sym typeface="+mn-ea"/>
              </a:rPr>
              <a:t>存储空间的内容</a:t>
            </a:r>
            <a:r>
              <a:rPr lang="en-US" altLang="zh-CN">
                <a:sym typeface="+mn-ea"/>
              </a:rPr>
              <a:t>------------</a:t>
            </a:r>
            <a:r>
              <a:rPr>
                <a:sym typeface="+mn-ea"/>
              </a:rPr>
              <a:t>值发生改变</a:t>
            </a:r>
            <a:endParaRPr lang="zh-CN" altLang="en-US"/>
          </a:p>
          <a:p>
            <a:endParaRPr lang="zh-CN" altLang="en-US"/>
          </a:p>
          <a:p>
            <a:r>
              <a:rPr>
                <a:sym typeface="+mn-ea"/>
              </a:rPr>
              <a:t>地址属性</a:t>
            </a:r>
            <a:r>
              <a:rPr lang="en-US" altLang="zh-CN">
                <a:sym typeface="+mn-ea"/>
              </a:rPr>
              <a:t>----</a:t>
            </a:r>
            <a:r>
              <a:rPr>
                <a:sym typeface="+mn-ea"/>
              </a:rPr>
              <a:t>存储空间的地址-</a:t>
            </a:r>
            <a:r>
              <a:rPr lang="en-US" altLang="zh-CN">
                <a:sym typeface="+mn-ea"/>
              </a:rPr>
              <a:t>----------</a:t>
            </a:r>
            <a:r>
              <a:rPr>
                <a:sym typeface="+mn-ea"/>
              </a:rPr>
              <a:t>地址不一定跟着发生改变。取决与，原表改值，还是新表改值。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原表改值，地址不会发生改变，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新表改值，地址会发生改变。</a:t>
            </a:r>
            <a:endParaRPr lang="zh-CN" altLang="en-US" dirty="0"/>
          </a:p>
        </p:txBody>
      </p:sp>
      <p:sp>
        <p:nvSpPr>
          <p:cNvPr id="4" name="燕尾形 3"/>
          <p:cNvSpPr/>
          <p:nvPr/>
        </p:nvSpPr>
        <p:spPr>
          <a:xfrm flipH="1">
            <a:off x="8866362" y="296237"/>
            <a:ext cx="2592288" cy="10081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bg2"/>
                </a:solidFill>
              </a:rPr>
              <a:t>可变</a:t>
            </a:r>
            <a:endParaRPr lang="en-US" altLang="zh-CN" sz="2400" dirty="0" smtClean="0">
              <a:solidFill>
                <a:schemeClr val="bg2"/>
              </a:solidFill>
            </a:endParaRPr>
          </a:p>
          <a:p>
            <a:pPr algn="ctr"/>
            <a:r>
              <a:rPr lang="zh-CN" altLang="en-US" sz="2400" dirty="0" smtClean="0">
                <a:solidFill>
                  <a:schemeClr val="bg2"/>
                </a:solidFill>
              </a:rPr>
              <a:t>数据类型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5" name="燕尾形 4"/>
          <p:cNvSpPr/>
          <p:nvPr/>
        </p:nvSpPr>
        <p:spPr>
          <a:xfrm flipH="1">
            <a:off x="4079189" y="440253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列表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list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燕尾形 5"/>
          <p:cNvSpPr/>
          <p:nvPr/>
        </p:nvSpPr>
        <p:spPr>
          <a:xfrm flipH="1">
            <a:off x="5661680" y="440253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字典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err="1" smtClean="0">
                <a:solidFill>
                  <a:schemeClr val="tx1"/>
                </a:solidFill>
              </a:rPr>
              <a:t>dict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/>
        </p:nvSpPr>
        <p:spPr>
          <a:xfrm flipH="1">
            <a:off x="7258378" y="440253"/>
            <a:ext cx="1872000" cy="720080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集合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set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五角星 7"/>
          <p:cNvSpPr/>
          <p:nvPr/>
        </p:nvSpPr>
        <p:spPr>
          <a:xfrm>
            <a:off x="10517505" y="2041525"/>
            <a:ext cx="1583690" cy="1296035"/>
          </a:xfrm>
          <a:prstGeom prst="star5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id</a:t>
            </a:r>
            <a:r>
              <a:rPr lang="zh-CN" altLang="en-US" smtClean="0"/>
              <a:t>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0527" y="2401162"/>
            <a:ext cx="3240361" cy="370419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smtClean="0"/>
              <a:t>&gt;&gt;&gt; </a:t>
            </a:r>
            <a:r>
              <a:rPr lang="en-US" altLang="zh-CN" sz="2400" dirty="0"/>
              <a:t>x = 3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&gt;&gt;&gt; x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3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&gt;&gt;&gt; id(x)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1618018832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&gt;&gt;&gt; id(3)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1618018832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3384376" cy="792088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+mj-ea"/>
                <a:ea typeface="+mj-ea"/>
              </a:rPr>
              <a:t>格式</a:t>
            </a:r>
            <a:r>
              <a:rPr lang="zh-CN" altLang="en-US" sz="2800" dirty="0">
                <a:latin typeface="+mj-ea"/>
                <a:ea typeface="+mj-ea"/>
              </a:rPr>
              <a:t>：</a:t>
            </a:r>
            <a:r>
              <a:rPr lang="en-US" altLang="zh-CN" sz="2800" dirty="0">
                <a:latin typeface="+mj-ea"/>
                <a:ea typeface="+mj-ea"/>
              </a:rPr>
              <a:t>id(</a:t>
            </a:r>
            <a:r>
              <a:rPr lang="en-US" altLang="zh-CN" sz="2800" dirty="0" err="1">
                <a:latin typeface="+mj-ea"/>
                <a:ea typeface="+mj-ea"/>
              </a:rPr>
              <a:t>obj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endParaRPr lang="en-US" altLang="zh-CN" sz="2800" dirty="0">
              <a:latin typeface="+mj-ea"/>
              <a:ea typeface="+mj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8228521" y="2420888"/>
            <a:ext cx="3240361" cy="36844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&gt;&gt;&gt; x = 6</a:t>
            </a:r>
            <a:endParaRPr lang="en-US" altLang="zh-CN" sz="2400" dirty="0" smtClean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&gt;&gt;&gt; x</a:t>
            </a:r>
            <a:endParaRPr lang="en-US" altLang="zh-CN" sz="2400" dirty="0" smtClean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6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&gt;&gt;&gt; id(x)</a:t>
            </a:r>
            <a:endParaRPr lang="en-US" altLang="zh-CN" sz="2400" dirty="0" smtClean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1618018928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4412702" y="1925914"/>
            <a:ext cx="5436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701853" y="1376272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</a:rPr>
              <a:t>obj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对象的内存地址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第2章 Python语言基础（上）"/>
          <p:cNvPicPr>
            <a:picLocks noChangeAspect="1"/>
          </p:cNvPicPr>
          <p:nvPr>
            <p:ph idx="1"/>
          </p:nvPr>
        </p:nvPicPr>
        <p:blipFill>
          <a:blip r:embed="rId1"/>
          <a:srcRect l="21456" t="70061" r="22286"/>
          <a:stretch>
            <a:fillRect/>
          </a:stretch>
        </p:blipFill>
        <p:spPr>
          <a:xfrm>
            <a:off x="342900" y="380365"/>
            <a:ext cx="11515725" cy="589153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endParaRPr lang="zh-CN" altLang="en-US" sz="5400" dirty="0">
              <a:solidFill>
                <a:schemeClr val="accent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谢   谢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145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46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47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48.xml><?xml version="1.0" encoding="utf-8"?>
<p:tagLst xmlns:p="http://schemas.openxmlformats.org/presentationml/2006/main">
  <p:tag name="KSO_WM_UNIT_TABLE_BEAUTIFY" val="smartTable{df4e1ad5-465a-4180-b8c8-57d0e69592fa}"/>
</p:tagLst>
</file>

<file path=ppt/tags/tag149.xml><?xml version="1.0" encoding="utf-8"?>
<p:tagLst xmlns:p="http://schemas.openxmlformats.org/presentationml/2006/main">
  <p:tag name="KSO_WM_UNIT_TABLE_BEAUTIFY" val="smartTable{99635bb4-d883-4a31-8571-59a103a9687c}"/>
</p:tagLst>
</file>

<file path=ppt/tags/tag150.xml><?xml version="1.0" encoding="utf-8"?>
<p:tagLst xmlns:p="http://schemas.openxmlformats.org/presentationml/2006/main">
  <p:tag name="KSO_WM_UNIT_TABLE_BEAUTIFY" val="smartTable{5cbc21cf-5b8b-416e-acc3-5433d120fda4}"/>
</p:tagLst>
</file>

<file path=ppt/tags/tag151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1"/>
</p:tagLst>
</file>

<file path=ppt/tags/tag152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2"/>
</p:tagLst>
</file>

<file path=ppt/tags/tag153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2"/>
</p:tagLst>
</file>

<file path=ppt/tags/tag154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1"/>
</p:tagLst>
</file>

<file path=ppt/tags/tag155.xml><?xml version="1.0" encoding="utf-8"?>
<p:tagLst xmlns:p="http://schemas.openxmlformats.org/presentationml/2006/main">
  <p:tag name="KSO_WM_UNIT_TABLE_BEAUTIFY" val="smartTable{c4e744be-ad09-4895-bf30-0f96558b14ab}"/>
</p:tagLst>
</file>

<file path=ppt/tags/tag156.xml><?xml version="1.0" encoding="utf-8"?>
<p:tagLst xmlns:p="http://schemas.openxmlformats.org/presentationml/2006/main">
  <p:tag name="KSO_WM_UNIT_TABLE_BEAUTIFY" val="smartTable{f6f7e6b2-afa6-4120-8220-57ea581c41ea}"/>
</p:tagLst>
</file>

<file path=ppt/tags/tag157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8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9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1"/>
</p:tagLst>
</file>

<file path=ppt/tags/tag160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2"/>
</p:tagLst>
</file>

<file path=ppt/tags/tag161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2"/>
</p:tagLst>
</file>

<file path=ppt/tags/tag162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1"/>
</p:tagLst>
</file>

<file path=ppt/tags/tag163.xml><?xml version="1.0" encoding="utf-8"?>
<p:tagLst xmlns:p="http://schemas.openxmlformats.org/presentationml/2006/main">
  <p:tag name="MH" val="20151008134811"/>
  <p:tag name="MH_LIBRARY" val="GRAPHIC"/>
  <p:tag name="MH_TYPE" val="SubTitle"/>
  <p:tag name="MH_ORDER" val="1"/>
</p:tagLst>
</file>

<file path=ppt/tags/tag164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260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ags/tag168.xml><?xml version="1.0" encoding="utf-8"?>
<p:tagLst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69.xml><?xml version="1.0" encoding="utf-8"?>
<p:tagLst xmlns:p="http://schemas.openxmlformats.org/presentationml/2006/main">
  <p:tag name="ISPRING_PRESENTATION_TITLE" val="幻灯片 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8776</Words>
  <Application>WPS 演示</Application>
  <PresentationFormat>宽屏</PresentationFormat>
  <Paragraphs>1128</Paragraphs>
  <Slides>73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73</vt:i4>
      </vt:variant>
    </vt:vector>
  </HeadingPairs>
  <TitlesOfParts>
    <vt:vector size="95" baseType="lpstr">
      <vt:lpstr>Arial</vt:lpstr>
      <vt:lpstr>宋体</vt:lpstr>
      <vt:lpstr>Wingdings</vt:lpstr>
      <vt:lpstr>Calibri Light</vt:lpstr>
      <vt:lpstr>等线 Light</vt:lpstr>
      <vt:lpstr>微软雅黑</vt:lpstr>
      <vt:lpstr>汉仪旗黑-85S</vt:lpstr>
      <vt:lpstr>Viner Hand ITC</vt:lpstr>
      <vt:lpstr>华文新魏</vt:lpstr>
      <vt:lpstr>Times New Roman</vt:lpstr>
      <vt:lpstr>Calibri</vt:lpstr>
      <vt:lpstr>Arial Unicode MS</vt:lpstr>
      <vt:lpstr>黑体</vt:lpstr>
      <vt:lpstr>Consolas</vt:lpstr>
      <vt:lpstr>Calibri</vt:lpstr>
      <vt:lpstr>Times New Roman</vt:lpstr>
      <vt:lpstr>Wingdings</vt:lpstr>
      <vt:lpstr>当图网</vt:lpstr>
      <vt:lpstr>当图网1</vt:lpstr>
      <vt:lpstr>1_当图网</vt:lpstr>
      <vt:lpstr>1_当图网1</vt:lpstr>
      <vt:lpstr>1_Office 主题​​</vt:lpstr>
      <vt:lpstr>第2章 Python语言基础</vt:lpstr>
      <vt:lpstr>目录</vt:lpstr>
      <vt:lpstr>2.2 数据类型</vt:lpstr>
      <vt:lpstr>PowerPoint 演示文稿</vt:lpstr>
      <vt:lpstr>PowerPoint 演示文稿</vt:lpstr>
      <vt:lpstr>PowerPoint 演示文稿</vt:lpstr>
      <vt:lpstr>Python中数据的类型</vt:lpstr>
      <vt:lpstr>2.2.1 数值类型</vt:lpstr>
      <vt:lpstr>2.2.1 数值类型</vt:lpstr>
      <vt:lpstr>复数类型</vt:lpstr>
      <vt:lpstr>2.2.2 字符串</vt:lpstr>
      <vt:lpstr>2.2.2 字符串</vt:lpstr>
      <vt:lpstr>PowerPoint 演示文稿</vt:lpstr>
      <vt:lpstr>PowerPoint 演示文稿</vt:lpstr>
      <vt:lpstr>PowerPoint 演示文稿</vt:lpstr>
      <vt:lpstr>转义字符</vt:lpstr>
      <vt:lpstr>表2-1 转义字符及含义</vt:lpstr>
      <vt:lpstr>原始字符串 </vt:lpstr>
      <vt:lpstr>原始字符串</vt:lpstr>
      <vt:lpstr>原始字符串</vt:lpstr>
      <vt:lpstr>字符串中换行</vt:lpstr>
      <vt:lpstr>2.2.3 布尔类型</vt:lpstr>
      <vt:lpstr>PowerPoint 演示文稿</vt:lpstr>
      <vt:lpstr>Python中数据的类型</vt:lpstr>
      <vt:lpstr>Python序列概述</vt:lpstr>
      <vt:lpstr>PowerPoint 演示文稿</vt:lpstr>
      <vt:lpstr>PowerPoint 演示文稿</vt:lpstr>
      <vt:lpstr>PowerPoint 演示文稿</vt:lpstr>
      <vt:lpstr>列表	</vt:lpstr>
      <vt:lpstr>列表</vt:lpstr>
      <vt:lpstr>列表 </vt:lpstr>
      <vt:lpstr>列表创建</vt:lpstr>
      <vt:lpstr>列表删除</vt:lpstr>
      <vt:lpstr>PowerPoint 演示文稿</vt:lpstr>
      <vt:lpstr>元组</vt:lpstr>
      <vt:lpstr>元组</vt:lpstr>
      <vt:lpstr>元组</vt:lpstr>
      <vt:lpstr>元组</vt:lpstr>
      <vt:lpstr>元组</vt:lpstr>
      <vt:lpstr>元组与列表的区别</vt:lpstr>
      <vt:lpstr>元组的优点</vt:lpstr>
      <vt:lpstr>PowerPoint 演示文稿</vt:lpstr>
      <vt:lpstr>字典</vt:lpstr>
      <vt:lpstr>字典</vt:lpstr>
      <vt:lpstr>PowerPoint 演示文稿</vt:lpstr>
      <vt:lpstr>以键作为下标可以读取字典元素，若键不存在则抛出异常</vt:lpstr>
      <vt:lpstr>字典元素的添加</vt:lpstr>
      <vt:lpstr>PowerPoint 演示文稿</vt:lpstr>
      <vt:lpstr>集合</vt:lpstr>
      <vt:lpstr>集合</vt:lpstr>
      <vt:lpstr>PowerPoint 演示文稿</vt:lpstr>
      <vt:lpstr>PowerPoint 演示文稿</vt:lpstr>
      <vt:lpstr>目录</vt:lpstr>
      <vt:lpstr>2.1 常量</vt:lpstr>
      <vt:lpstr>常量</vt:lpstr>
      <vt:lpstr>2.3 变量</vt:lpstr>
      <vt:lpstr>PowerPoint 演示文稿</vt:lpstr>
      <vt:lpstr>变量</vt:lpstr>
      <vt:lpstr>存储空间	</vt:lpstr>
      <vt:lpstr>&gt;&gt;&gt; x = 3+2 </vt:lpstr>
      <vt:lpstr>&gt;&gt;&gt; x = 3+2 &gt;&gt;&gt; id(x) 2043734000   &gt;&gt;&gt;x=6 &gt;&gt;&gt; id(x) 2043734016  </vt:lpstr>
      <vt:lpstr>PowerPoint 演示文稿</vt:lpstr>
      <vt:lpstr>PowerPoint 演示文稿</vt:lpstr>
      <vt:lpstr>PowerPoint 演示文稿</vt:lpstr>
      <vt:lpstr>总结：不可变数据类型</vt:lpstr>
      <vt:lpstr>数据类型</vt:lpstr>
      <vt:lpstr>改变列表元素值的两种操作</vt:lpstr>
      <vt:lpstr>PowerPoint 演示文稿</vt:lpstr>
      <vt:lpstr>PowerPoint 演示文稿</vt:lpstr>
      <vt:lpstr>总结：可变数据类型</vt:lpstr>
      <vt:lpstr>id函数</vt:lpstr>
      <vt:lpstr>PowerPoint 演示文稿</vt:lpstr>
      <vt:lpstr>谢   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18662582800</cp:lastModifiedBy>
  <cp:revision>151</cp:revision>
  <dcterms:created xsi:type="dcterms:W3CDTF">2018-10-09T06:59:00Z</dcterms:created>
  <dcterms:modified xsi:type="dcterms:W3CDTF">2020-02-23T06:35:12Z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