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27"/>
  </p:notesMasterIdLst>
  <p:sldIdLst>
    <p:sldId id="307" r:id="rId3"/>
    <p:sldId id="309" r:id="rId4"/>
    <p:sldId id="375" r:id="rId5"/>
    <p:sldId id="310" r:id="rId6"/>
    <p:sldId id="376" r:id="rId7"/>
    <p:sldId id="447" r:id="rId8"/>
    <p:sldId id="463" r:id="rId9"/>
    <p:sldId id="444" r:id="rId10"/>
    <p:sldId id="448" r:id="rId11"/>
    <p:sldId id="312" r:id="rId12"/>
    <p:sldId id="314" r:id="rId13"/>
    <p:sldId id="480" r:id="rId14"/>
    <p:sldId id="365" r:id="rId15"/>
    <p:sldId id="354" r:id="rId16"/>
    <p:sldId id="449" r:id="rId17"/>
    <p:sldId id="356" r:id="rId18"/>
    <p:sldId id="357" r:id="rId19"/>
    <p:sldId id="358" r:id="rId20"/>
    <p:sldId id="360" r:id="rId21"/>
    <p:sldId id="361" r:id="rId22"/>
    <p:sldId id="362" r:id="rId23"/>
    <p:sldId id="363" r:id="rId24"/>
    <p:sldId id="364" r:id="rId25"/>
    <p:sldId id="493" r:id="rId26"/>
  </p:sldIdLst>
  <p:sldSz cx="9144000" cy="6858000" type="screen4x3"/>
  <p:notesSz cx="6813550" cy="9825038"/>
  <p:defaultTextStyle>
    <a:defPPr>
      <a:defRPr lang="zh-CN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FFCC"/>
    <a:srgbClr val="FFCCFF"/>
    <a:srgbClr val="FFFFAB"/>
    <a:srgbClr val="F95D5D"/>
    <a:srgbClr val="DDDDDD"/>
    <a:srgbClr val="99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38"/>
    <p:restoredTop sz="94568"/>
  </p:normalViewPr>
  <p:slideViewPr>
    <p:cSldViewPr snapToObjects="1" showGuides="1">
      <p:cViewPr varScale="1">
        <p:scale>
          <a:sx n="73" d="100"/>
          <a:sy n="73" d="100"/>
        </p:scale>
        <p:origin x="570" y="78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9213" y="0"/>
            <a:ext cx="2952750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5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0913" y="736600"/>
            <a:ext cx="4913312" cy="36845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1325"/>
            <a:ext cx="295275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9213" y="9331325"/>
            <a:ext cx="2952750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‹#›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8" name="日期占位符 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日期占位符 6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1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014413" y="0"/>
            <a:ext cx="81295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日期占位符 1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2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5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marL="0" marR="0" lvl="0" indent="-283210" algn="l" defTabSz="914400" rtl="0" eaLnBrk="1" fontAlgn="base" latinLnBrk="0" hangingPunct="1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流程图: 过程 13"/>
          <p:cNvSpPr/>
          <p:nvPr/>
        </p:nvSpPr>
        <p:spPr>
          <a:xfrm rot="19468671">
            <a:off x="396875" y="954088"/>
            <a:ext cx="685800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流程图: 过程 15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vert="horz" wrap="square" lIns="91440" tIns="274320" rIns="91440" bIns="45720" numCol="1" anchor="t" anchorCtr="0" compatLnSpc="1">
            <a:normAutofit/>
          </a:bodyPr>
          <a:lstStyle>
            <a:lvl1pPr indent="0">
              <a:buNone/>
              <a:defRPr sz="3200"/>
            </a:lvl1pPr>
          </a:lstStyle>
          <a:p>
            <a:pPr marL="365125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7" name="日期占位符 4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页脚占位符 5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8" name="日期占位符 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日期占位符 6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1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014413" y="0"/>
            <a:ext cx="81295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日期占位符 1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2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5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marL="0" marR="0" lvl="0" indent="-283210" algn="l" defTabSz="914400" rtl="0" eaLnBrk="1" fontAlgn="base" latinLnBrk="0" hangingPunct="1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流程图: 过程 13"/>
          <p:cNvSpPr/>
          <p:nvPr/>
        </p:nvSpPr>
        <p:spPr>
          <a:xfrm rot="19468671">
            <a:off x="396875" y="954088"/>
            <a:ext cx="685800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流程图: 过程 15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vert="horz" wrap="square" lIns="91440" tIns="274320" rIns="91440" bIns="45720" numCol="1" anchor="t" anchorCtr="0" compatLnSpc="1">
            <a:normAutofit/>
          </a:bodyPr>
          <a:lstStyle>
            <a:lvl1pPr indent="0">
              <a:buNone/>
              <a:defRPr sz="3200"/>
            </a:lvl1pPr>
          </a:lstStyle>
          <a:p>
            <a:pPr marL="365125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7" name="日期占位符 4"/>
          <p:cNvSpPr>
            <a:spLocks noGrp="1"/>
          </p:cNvSpPr>
          <p:nvPr>
            <p:ph type="dt" sz="half" idx="1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页脚占位符 5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8275" y="20638"/>
            <a:ext cx="1703388" cy="1703388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33" name="文本占位符 8"/>
          <p:cNvSpPr>
            <a:spLocks noGrp="1"/>
          </p:cNvSpPr>
          <p:nvPr>
            <p:ph type="body" idx="1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rgbClr val="B5A788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push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9pPr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6855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355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7305" indent="-182880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68275" y="20638"/>
            <a:ext cx="1703388" cy="1703388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33" name="文本占位符 8"/>
          <p:cNvSpPr>
            <a:spLocks noGrp="1"/>
          </p:cNvSpPr>
          <p:nvPr>
            <p:ph type="body" idx="1"/>
          </p:nvPr>
        </p:nvSpPr>
        <p:spPr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rgbClr val="B5A788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ransition>
    <p:push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  <a:ea typeface="华文中宋" panose="02010600040101010101" pitchFamily="2" charset="-122"/>
        </a:defRPr>
      </a:lvl9pPr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6855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355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7305" indent="-182880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python</a:t>
            </a:r>
            <a:r>
              <a:rPr kumimoji="0" lang="zh-CN" altLang="en-US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程序设计</a:t>
            </a:r>
            <a:r>
              <a:rPr kumimoji="0" lang="en-US" altLang="zh-CN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----</a:t>
            </a:r>
            <a:r>
              <a:rPr kumimoji="0" lang="zh-CN" altLang="en-US" sz="4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引入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7934325" cy="48006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关于本课程的有关要求</a:t>
            </a: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课程主要内容</a:t>
            </a: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补充内容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数据结构和算法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/>
          </a:p>
          <a:p>
            <a:pPr eaLnBrk="1" hangingPunct="1"/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5" y="1285875"/>
            <a:ext cx="6461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i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√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B5A788"/>
                </a:solidFill>
              </a:rPr>
              <a:t>1</a:t>
            </a:fld>
            <a:endParaRPr lang="zh-CN" altLang="en-US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关于本课程的有关要求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7934325" cy="5410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en-US" altLang="zh-CN" dirty="0"/>
              <a:t>1</a:t>
            </a:r>
            <a:r>
              <a:rPr lang="zh-CN" altLang="en-US" dirty="0"/>
              <a:t>、本课程的目的和要求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zh-CN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       学校考试</a:t>
            </a:r>
            <a:r>
              <a:rPr lang="en-US" altLang="zh-CN" dirty="0"/>
              <a:t>+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等级考试二级</a:t>
            </a:r>
            <a:r>
              <a:rPr lang="zh-CN" altLang="en-US" dirty="0"/>
              <a:t>（自选）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zh-CN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       学校考试模式：笔试</a:t>
            </a:r>
            <a:r>
              <a:rPr lang="en-US" altLang="zh-CN" dirty="0"/>
              <a:t>+</a:t>
            </a:r>
            <a:r>
              <a:rPr lang="zh-CN" altLang="en-US" dirty="0"/>
              <a:t>机考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zh-CN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       学校考试形式：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              客观题</a:t>
            </a:r>
            <a:r>
              <a:rPr lang="en-US" altLang="zh-CN" dirty="0"/>
              <a:t>(</a:t>
            </a:r>
            <a:r>
              <a:rPr lang="zh-CN" altLang="en-US" dirty="0"/>
              <a:t>选择填空判断）</a:t>
            </a:r>
            <a:r>
              <a:rPr lang="en-US" altLang="zh-CN" dirty="0"/>
              <a:t>+</a:t>
            </a:r>
            <a:r>
              <a:rPr lang="zh-CN" altLang="en-US" dirty="0"/>
              <a:t>编程题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en-US" altLang="zh-CN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B5A788"/>
                </a:solidFill>
              </a:rPr>
              <a:t>2</a:t>
            </a:fld>
            <a:endParaRPr lang="zh-CN" altLang="en-US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关于本课程的有关要求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7934325" cy="48006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学期总成绩</a:t>
            </a:r>
            <a:r>
              <a:rPr lang="en-US" altLang="zh-CN" dirty="0"/>
              <a:t>=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平时成绩*</a:t>
            </a:r>
            <a:r>
              <a:rPr lang="en-US" altLang="zh-CN" dirty="0"/>
              <a:t>10%+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期中上机考试成绩*</a:t>
            </a:r>
            <a:r>
              <a:rPr lang="en-US" altLang="zh-CN" dirty="0"/>
              <a:t>20%+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期末上机考试成绩*</a:t>
            </a:r>
            <a:r>
              <a:rPr lang="en-US" altLang="zh-CN" dirty="0"/>
              <a:t>21%+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期末理论考试成绩*</a:t>
            </a:r>
            <a:r>
              <a:rPr lang="en-US" altLang="zh-CN" dirty="0"/>
              <a:t>49%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期中期末考试无重点，无范围！！！</a:t>
            </a:r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2023</a:t>
            </a:r>
            <a:r>
              <a:rPr lang="zh-CN" altLang="en-US" dirty="0" smtClean="0"/>
              <a:t>年</a:t>
            </a:r>
            <a:r>
              <a:rPr lang="zh-CN" altLang="en-US" dirty="0"/>
              <a:t>春，具体情况听通知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B5A788"/>
                </a:solidFill>
              </a:rPr>
              <a:t>3</a:t>
            </a:fld>
            <a:endParaRPr lang="zh-CN" altLang="en-US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关于本课程的有关要求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7934325" cy="48006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期中考试：约在十二周附近考试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期末考试：约在二十周附近考试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平时成绩：由考勤和上机实验情况决定。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B5A788"/>
                </a:solidFill>
              </a:rPr>
              <a:t>4</a:t>
            </a:fld>
            <a:endParaRPr lang="zh-CN" altLang="en-US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关于本课程的有关要求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7934325" cy="48006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上机使用的教学平台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http://sit.suda.edu.cn</a:t>
            </a:r>
          </a:p>
          <a:p>
            <a:pPr eaLnBrk="1" hangingPunct="1"/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B5A788"/>
                </a:solidFill>
              </a:rPr>
              <a:t>5</a:t>
            </a:fld>
            <a:endParaRPr lang="zh-CN" altLang="en-US" sz="1200" dirty="0">
              <a:solidFill>
                <a:srgbClr val="B5A788"/>
              </a:solidFill>
            </a:endParaRPr>
          </a:p>
        </p:txBody>
      </p:sp>
      <p:pic>
        <p:nvPicPr>
          <p:cNvPr id="11269" name="Picture 6"/>
          <p:cNvPicPr>
            <a:picLocks noChangeAspect="1"/>
          </p:cNvPicPr>
          <p:nvPr/>
        </p:nvPicPr>
        <p:blipFill>
          <a:blip r:embed="rId2"/>
          <a:srcRect l="20703" t="16251" r="18359" b="20000"/>
          <a:stretch>
            <a:fillRect/>
          </a:stretch>
        </p:blipFill>
        <p:spPr>
          <a:xfrm>
            <a:off x="3857625" y="3402013"/>
            <a:ext cx="5286375" cy="34559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关于本课程的有关要求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869950" y="1447800"/>
            <a:ext cx="8201025" cy="52546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charset="0"/>
              <a:buChar char="p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2023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，每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周二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发送一次录屏课程。</a:t>
            </a:r>
          </a:p>
          <a:p>
            <a:pPr eaLnBrk="1" hangingPunct="1">
              <a:buFont typeface="Wingdings" panose="05000000000000000000" charset="0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录屏课程，下载后，观看时间不限。</a:t>
            </a:r>
          </a:p>
          <a:p>
            <a:pPr eaLnBrk="1" hangingPunct="1">
              <a:buFont typeface="Wingdings" panose="05000000000000000000" charset="0"/>
              <a:buChar char="p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hangingPunct="1">
              <a:buFont typeface="Wingdings" panose="05000000000000000000" charset="0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每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周二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课后布置一次作业。</a:t>
            </a:r>
          </a:p>
          <a:p>
            <a:pPr eaLnBrk="1" hangingPunct="1">
              <a:buFont typeface="Wingdings" panose="05000000000000000000" charset="0"/>
              <a:buChar char="p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hangingPunct="1">
              <a:buFont typeface="Wingdings" panose="05000000000000000000" charset="0"/>
              <a:buChar char="p"/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下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周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二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收取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检查作业。</a:t>
            </a:r>
          </a:p>
          <a:p>
            <a:pPr eaLnBrk="1" hangingPunct="1">
              <a:buFont typeface="Wingdings" panose="05000000000000000000" charset="0"/>
              <a:buChar char="p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hangingPunct="1">
              <a:buFont typeface="Wingdings" panose="05000000000000000000" charset="0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课后作业会录屏，解答。</a:t>
            </a:r>
          </a:p>
          <a:p>
            <a:pPr eaLnBrk="1" hangingPunct="1">
              <a:buFont typeface="Wingdings" panose="05000000000000000000" charset="0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还有问题，可以抛到群中，提问。</a:t>
            </a:r>
          </a:p>
          <a:p>
            <a:pPr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B5A788"/>
                </a:solidFill>
              </a:rPr>
              <a:t>6</a:t>
            </a:fld>
            <a:endParaRPr lang="zh-CN" altLang="en-US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关于本课程的有关要求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7934325" cy="48006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作业是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形式，</a:t>
            </a:r>
          </a:p>
          <a:p>
            <a:pPr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同学们客观题直接写答案。</a:t>
            </a:r>
          </a:p>
          <a:p>
            <a:pPr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编程题，直接编程截屏，贴到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中题目对应的地方。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B5A788"/>
                </a:solidFill>
              </a:rPr>
              <a:t>7</a:t>
            </a:fld>
            <a:endParaRPr lang="zh-CN" altLang="en-US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关于本课程的有关要求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8143875" cy="5410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作业命名方式为：</a:t>
            </a:r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学号姓名作业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1.doc</a:t>
            </a:r>
          </a:p>
          <a:p>
            <a:pPr lvl="1" eaLnBrk="1" hangingPunct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20190001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张三作业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lvl="1" eaLnBrk="1" hangingPunct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部分没有电脑的同学，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下载微软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把答案写在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中，重名名后再上交。</a:t>
            </a: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B5A788"/>
                </a:solidFill>
              </a:rPr>
              <a:t>8</a:t>
            </a:fld>
            <a:endParaRPr lang="zh-CN" altLang="en-US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关于本课程的有关要求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8143875" cy="54102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有电脑的同学，作业上交到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sit.suda.edu.cn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网站。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没有电脑的同学，命名后，上交到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群文件夹。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作业按次交，不按周交。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交到第一次作业上。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B5A788"/>
                </a:solidFill>
              </a:rPr>
              <a:t>9</a:t>
            </a:fld>
            <a:endParaRPr lang="zh-CN" altLang="en-US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关于本课程的有关要求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1209675" y="1428750"/>
            <a:ext cx="7934325" cy="48006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pitchFamily="2" charset="2"/>
              <a:buChar char="p"/>
            </a:pPr>
            <a:r>
              <a:rPr lang="en-CA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、全国计算机等级考试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Computer Rank Examination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，简称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2000" dirty="0">
                <a:solidFill>
                  <a:srgbClr val="B5A788"/>
                </a:solidFill>
              </a:rPr>
              <a:t>10</a:t>
            </a:fld>
            <a:endParaRPr lang="zh-CN" altLang="en-US" sz="2000" dirty="0">
              <a:solidFill>
                <a:srgbClr val="B5A788"/>
              </a:solidFill>
            </a:endParaRPr>
          </a:p>
        </p:txBody>
      </p:sp>
      <p:pic>
        <p:nvPicPr>
          <p:cNvPr id="3" name="图片 2" descr="201811231728297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534285"/>
            <a:ext cx="6341745" cy="4323715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关于本课程的有关要求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1000125" y="1428750"/>
            <a:ext cx="8077200" cy="52863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全国计算机等级二级</a:t>
            </a:r>
            <a:r>
              <a:rPr lang="zh-CN" altLang="en-US" dirty="0"/>
              <a:t>考试时间：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dirty="0"/>
              <a:t> 每年开考两次</a:t>
            </a:r>
            <a:r>
              <a:rPr lang="en-US" altLang="zh-CN" dirty="0"/>
              <a:t>:</a:t>
            </a:r>
            <a:r>
              <a:rPr lang="zh-CN" altLang="en-US" dirty="0"/>
              <a:t>上半年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\</a:t>
            </a:r>
            <a:r>
              <a:rPr lang="zh-CN" altLang="en-US" dirty="0"/>
              <a:t>下半年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dirty="0"/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报名时间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上半年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月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月；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下半年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月。</a:t>
            </a: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dirty="0">
                <a:sym typeface="+mn-ea"/>
              </a:rPr>
              <a:t>考试费用：一般在</a:t>
            </a:r>
            <a:r>
              <a:rPr lang="en-US" altLang="zh-CN" dirty="0">
                <a:sym typeface="+mn-ea"/>
              </a:rPr>
              <a:t>100</a:t>
            </a:r>
            <a:r>
              <a:rPr lang="zh-CN" altLang="en-US" dirty="0">
                <a:sym typeface="+mn-ea"/>
              </a:rPr>
              <a:t>元左右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dirty="0"/>
          </a:p>
          <a:p>
            <a:pPr eaLnBrk="1" hangingPunct="1">
              <a:buChar char=""/>
            </a:pPr>
            <a:endParaRPr lang="en-US" altLang="zh-CN" dirty="0"/>
          </a:p>
          <a:p>
            <a:pPr eaLnBrk="1" hangingPunct="1">
              <a:buChar char=""/>
            </a:pPr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2000" dirty="0">
                <a:solidFill>
                  <a:srgbClr val="B5A788"/>
                </a:solidFill>
              </a:rPr>
              <a:t>11</a:t>
            </a:fld>
            <a:endParaRPr lang="zh-CN" altLang="en-US" sz="20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3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关于本课程的有关要求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1209675" y="1428750"/>
            <a:ext cx="7934325" cy="48006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pitchFamily="2" charset="2"/>
              <a:buChar char="p"/>
            </a:pPr>
            <a:r>
              <a:rPr lang="en-CA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、全国计算机等级考试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Computer Rank Examination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，简称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NCRE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2000" dirty="0">
                <a:solidFill>
                  <a:srgbClr val="B5A788"/>
                </a:solidFill>
              </a:rPr>
              <a:t>12</a:t>
            </a:fld>
            <a:endParaRPr lang="zh-CN" altLang="en-US" sz="2000" dirty="0">
              <a:solidFill>
                <a:srgbClr val="B5A788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93340" y="0"/>
            <a:ext cx="14630400" cy="7155180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python</a:t>
            </a:r>
            <a:r>
              <a:rPr lang="zh-CN" altLang="en-US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程序设计</a:t>
            </a:r>
            <a:r>
              <a:rPr lang="en-US" altLang="zh-CN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----</a:t>
            </a:r>
            <a:r>
              <a:rPr lang="zh-CN" altLang="en-US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引入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7934325" cy="48006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关于本课程的有关要求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课程主要内容</a:t>
            </a: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补充内容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---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数据结构和算法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/>
          </a:p>
          <a:p>
            <a:pPr eaLnBrk="1" hangingPunct="1"/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5" y="3105468"/>
            <a:ext cx="646113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i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√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B5A788"/>
                </a:solidFill>
              </a:rPr>
              <a:t>13</a:t>
            </a:fld>
            <a:endParaRPr lang="zh-CN" altLang="en-US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898525" y="104775"/>
            <a:ext cx="8077200" cy="6647815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第一章 概述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第二章 语言基础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第三章顺序结构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第四章 选择结构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第五章 循环结构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282575" algn="l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3000" dirty="0">
                <a:solidFill>
                  <a:srgbClr val="000000"/>
                </a:solidFill>
                <a:ea typeface="华文中宋" panose="02010600040101010101" pitchFamily="2" charset="-122"/>
                <a:sym typeface="+mn-ea"/>
              </a:rPr>
              <a:t>第六章 列表、元组</a:t>
            </a:r>
            <a:endParaRPr lang="zh-CN" altLang="en-US" sz="3000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65125" indent="-282575" algn="l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3000" dirty="0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第七章 字典、集合</a:t>
            </a:r>
            <a:endParaRPr lang="en-US" altLang="zh-CN" sz="300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65125" indent="-282575" algn="l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3000" dirty="0">
                <a:solidFill>
                  <a:srgbClr val="000000"/>
                </a:solidFill>
                <a:ea typeface="华文中宋" panose="02010600040101010101" pitchFamily="2" charset="-122"/>
                <a:sym typeface="+mn-ea"/>
              </a:rPr>
              <a:t>第八章 字符串、正则</a:t>
            </a:r>
            <a:endParaRPr lang="zh-CN" altLang="en-US" sz="3000"/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dirty="0"/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dirty="0"/>
              <a:t>第九章 函数、模块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2000" dirty="0">
                <a:solidFill>
                  <a:srgbClr val="B5A788"/>
                </a:solidFill>
              </a:rPr>
              <a:t>14</a:t>
            </a:fld>
            <a:endParaRPr lang="zh-CN" altLang="en-US" sz="2000" dirty="0">
              <a:solidFill>
                <a:srgbClr val="B5A788"/>
              </a:solidFill>
            </a:endParaRPr>
          </a:p>
        </p:txBody>
      </p:sp>
      <p:sp>
        <p:nvSpPr>
          <p:cNvPr id="16389" name="矩形 4"/>
          <p:cNvSpPr/>
          <p:nvPr/>
        </p:nvSpPr>
        <p:spPr>
          <a:xfrm>
            <a:off x="4546600" y="1435100"/>
            <a:ext cx="4778375" cy="4569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65125" indent="-282575" algn="l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第十章文件、目录</a:t>
            </a:r>
            <a:endParaRPr lang="en-US" altLang="zh-CN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65125" indent="-282575" algn="l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第十一章面向对象</a:t>
            </a:r>
          </a:p>
          <a:p>
            <a:pPr marL="365125" indent="-282575" algn="l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第十二章错误、异常</a:t>
            </a:r>
          </a:p>
          <a:p>
            <a:pPr marL="365125" indent="-282575" algn="l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p"/>
            </a:pP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65125" indent="-282575" algn="l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第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13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14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15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自行阅读</a:t>
            </a:r>
          </a:p>
          <a:p>
            <a:pPr marL="365125" indent="-282575" algn="l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p"/>
            </a:pP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65125" indent="-282575" algn="l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p"/>
            </a:pP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65125" indent="-282575" algn="l">
              <a:spcBef>
                <a:spcPts val="600"/>
              </a:spcBef>
              <a:buClr>
                <a:srgbClr val="3891A7"/>
              </a:buClr>
              <a:buSzPct val="80000"/>
              <a:buFont typeface="Wingdings" panose="05000000000000000000" pitchFamily="2" charset="2"/>
              <a:buChar char="p"/>
            </a:pP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python</a:t>
            </a:r>
            <a:r>
              <a:rPr lang="zh-CN" altLang="en-US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程序设计</a:t>
            </a:r>
            <a:r>
              <a:rPr lang="en-US" altLang="zh-CN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----</a:t>
            </a:r>
            <a:r>
              <a:rPr lang="zh-CN" altLang="en-US" noProof="0" dirty="0" smtClean="0">
                <a:ln>
                  <a:noFill/>
                </a:ln>
                <a:solidFill>
                  <a:schemeClr val="tx2">
                    <a:satMod val="130000"/>
                  </a:schemeClr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引入</a:t>
            </a:r>
            <a:endParaRPr kumimoji="0" lang="zh-CN" altLang="en-US" sz="4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7934325" cy="48006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关于本课程的有关要求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课程主要内容</a:t>
            </a: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补充内容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---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数据结构和算法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/>
          </a:p>
          <a:p>
            <a:pPr eaLnBrk="1" hangingPunct="1"/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5" y="4761548"/>
            <a:ext cx="646113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600" b="1" i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√</a:t>
            </a:r>
          </a:p>
        </p:txBody>
      </p:sp>
      <p:sp>
        <p:nvSpPr>
          <p:cNvPr id="5" name="灯片编号占位符 4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B5A788"/>
                </a:solidFill>
              </a:rPr>
              <a:t>15</a:t>
            </a:fld>
            <a:endParaRPr lang="zh-CN" altLang="en-US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补充：程序的灵魂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--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算法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8143875" cy="5410200"/>
          </a:xfrm>
        </p:spPr>
        <p:txBody>
          <a:bodyPr vert="horz" wrap="square" lIns="91440" tIns="45720" rIns="91440" bIns="45720" anchor="t"/>
          <a:lstStyle/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一个程序应包含以下两方面：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（</a:t>
            </a:r>
            <a:r>
              <a:rPr lang="en-US" altLang="zh-CN" sz="3200" dirty="0"/>
              <a:t>1</a:t>
            </a:r>
            <a:r>
              <a:rPr lang="zh-CN" altLang="en-US" sz="3200" dirty="0"/>
              <a:t>）对操作对象（</a:t>
            </a:r>
            <a:r>
              <a:rPr lang="en-US" altLang="zh-CN" sz="3200" dirty="0"/>
              <a:t>--</a:t>
            </a:r>
            <a:r>
              <a:rPr lang="zh-CN" altLang="en-US" sz="3200" dirty="0"/>
              <a:t>数据）的描述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在程序中指定数据的类型和数据的组织形式。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（</a:t>
            </a:r>
            <a:r>
              <a:rPr lang="en-US" altLang="zh-CN" sz="3200" dirty="0"/>
              <a:t>2</a:t>
            </a:r>
            <a:r>
              <a:rPr lang="zh-CN" altLang="en-US" sz="3200" dirty="0"/>
              <a:t>）对操作的描述。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即，操作步骤，也就是算法。</a:t>
            </a:r>
            <a:endParaRPr lang="en-US" altLang="zh-CN" sz="3200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B5A788"/>
                </a:solidFill>
              </a:rPr>
              <a:t>16</a:t>
            </a:fld>
            <a:endParaRPr lang="en-US" altLang="zh-CN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补充：程序的灵魂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--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算法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8143875" cy="5410200"/>
          </a:xfrm>
        </p:spPr>
        <p:txBody>
          <a:bodyPr vert="horz" wrap="square" lIns="91440" tIns="45720" rIns="91440" bIns="45720" anchor="t"/>
          <a:lstStyle/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一个程序应包含以下两方面：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（</a:t>
            </a:r>
            <a:r>
              <a:rPr lang="en-US" altLang="zh-CN" sz="3200" dirty="0"/>
              <a:t>1</a:t>
            </a:r>
            <a:r>
              <a:rPr lang="zh-CN" altLang="en-US" sz="3200" dirty="0"/>
              <a:t>）对操作对象（</a:t>
            </a:r>
            <a:r>
              <a:rPr lang="en-US" altLang="zh-CN" sz="3200" dirty="0"/>
              <a:t>--</a:t>
            </a:r>
            <a:r>
              <a:rPr lang="zh-CN" altLang="en-US" sz="3200" dirty="0"/>
              <a:t>数据）的描述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炒菜的配料处理，切丝、切丁还是切块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（</a:t>
            </a:r>
            <a:r>
              <a:rPr lang="en-US" altLang="zh-CN" sz="3200" dirty="0"/>
              <a:t>2</a:t>
            </a:r>
            <a:r>
              <a:rPr lang="zh-CN" altLang="en-US" sz="3200" dirty="0"/>
              <a:t>）对操作的描述。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炒菜的方法和步骤，煎、烤、焖、炸等</a:t>
            </a:r>
            <a:endParaRPr lang="en-US" altLang="zh-CN" sz="3200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B5A788"/>
                </a:solidFill>
              </a:rPr>
              <a:t>17</a:t>
            </a:fld>
            <a:endParaRPr lang="en-US" altLang="zh-CN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补充：程序的灵魂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--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算法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8143875" cy="5410200"/>
          </a:xfrm>
        </p:spPr>
        <p:txBody>
          <a:bodyPr vert="horz" wrap="square" lIns="91440" tIns="45720" rIns="91440" bIns="45720" anchor="t"/>
          <a:lstStyle/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著名计算机科学家沃斯提出一个公式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程序   </a:t>
            </a:r>
            <a:r>
              <a:rPr lang="en-US" altLang="zh-CN" sz="3200" dirty="0"/>
              <a:t>=     </a:t>
            </a:r>
            <a:r>
              <a:rPr lang="zh-CN" altLang="en-US" sz="3200" dirty="0"/>
              <a:t>数据结构  </a:t>
            </a:r>
            <a:r>
              <a:rPr lang="en-US" altLang="zh-CN" sz="3200" dirty="0"/>
              <a:t>+   </a:t>
            </a:r>
            <a:r>
              <a:rPr lang="zh-CN" altLang="en-US" sz="3200" dirty="0"/>
              <a:t>算法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算法是解决“做什么”和“怎么做”的问题。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程序中操作语句，实际上就是算法的体现。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B5A788"/>
                </a:solidFill>
              </a:rPr>
              <a:t>18</a:t>
            </a:fld>
            <a:endParaRPr lang="en-US" altLang="zh-CN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补充：程序的灵魂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--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算法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8143875" cy="5410200"/>
          </a:xfrm>
        </p:spPr>
        <p:txBody>
          <a:bodyPr vert="horz" wrap="square" lIns="91440" tIns="45720" rIns="91440" bIns="45720" anchor="t"/>
          <a:lstStyle/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一个算法应该具有以下特点：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en-US" altLang="zh-CN" sz="3200" dirty="0"/>
              <a:t>1</a:t>
            </a:r>
            <a:r>
              <a:rPr lang="zh-CN" altLang="en-US" sz="3200" dirty="0"/>
              <a:t>、有穷性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一个算法应该包含有限的操作步骤，而不能是无限的。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en-US" altLang="zh-CN" sz="3200" dirty="0"/>
              <a:t>2</a:t>
            </a:r>
            <a:r>
              <a:rPr lang="zh-CN" altLang="en-US" sz="3200" dirty="0"/>
              <a:t>、确定性：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算法中的每个步骤都应当是确定，而不应当含糊的、模棱两可的。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B5A788"/>
                </a:solidFill>
              </a:rPr>
              <a:t>19</a:t>
            </a:fld>
            <a:endParaRPr lang="en-US" altLang="zh-CN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补充：程序的灵魂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--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算法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8143875" cy="5410200"/>
          </a:xfrm>
        </p:spPr>
        <p:txBody>
          <a:bodyPr vert="horz" wrap="square" lIns="91440" tIns="45720" rIns="91440" bIns="45720" anchor="t"/>
          <a:lstStyle/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一个算法应该具有以下特点：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en-US" altLang="zh-CN" sz="3200" dirty="0"/>
              <a:t>3</a:t>
            </a:r>
            <a:r>
              <a:rPr lang="zh-CN" altLang="en-US" sz="3200" dirty="0"/>
              <a:t>、有零个或者多个输入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所谓输入是指在执行算法时需要从外界取得必要的信息。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en-US" altLang="zh-CN" sz="3200" dirty="0"/>
              <a:t>4</a:t>
            </a:r>
            <a:r>
              <a:rPr lang="zh-CN" altLang="en-US" sz="3200" dirty="0"/>
              <a:t>、有一个或者多个输出。</a:t>
            </a:r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算法的目的是为了求解，“解”就是输出。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没有输出的算法是没有意义的。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B5A788"/>
                </a:solidFill>
              </a:rPr>
              <a:t>20</a:t>
            </a:fld>
            <a:endParaRPr lang="en-US" altLang="zh-CN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补充：程序的灵魂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--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算法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8143875" cy="5410200"/>
          </a:xfrm>
        </p:spPr>
        <p:txBody>
          <a:bodyPr vert="horz" wrap="square" lIns="91440" tIns="45720" rIns="91440" bIns="45720" anchor="t"/>
          <a:lstStyle/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一个算法应该具有以下特点：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en-US" altLang="zh-CN" sz="3200" dirty="0"/>
              <a:t>5</a:t>
            </a:r>
            <a:r>
              <a:rPr lang="zh-CN" altLang="en-US" sz="3200" dirty="0"/>
              <a:t>、有效性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算法中的每一个步骤都应当能有效地执行，并得到确定的结果。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B5A788"/>
                </a:solidFill>
              </a:rPr>
              <a:t>21</a:t>
            </a:fld>
            <a:endParaRPr lang="en-US" altLang="zh-CN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补充：程序的灵魂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--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算法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8143875" cy="5410200"/>
          </a:xfrm>
        </p:spPr>
        <p:txBody>
          <a:bodyPr vert="horz" wrap="square" lIns="91440" tIns="45720" rIns="91440" bIns="45720" anchor="t"/>
          <a:lstStyle/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怎么表示一个算法？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常用的有自然语言描述、传统流程图、结构化流程图、伪代码等等。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用自然语言描述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文字冗长，容易出现“歧义性”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endParaRPr lang="en-US" altLang="zh-CN" sz="3200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B5A788"/>
                </a:solidFill>
              </a:rPr>
              <a:t>22</a:t>
            </a:fld>
            <a:endParaRPr lang="en-US" altLang="zh-CN" sz="1200" dirty="0">
              <a:solidFill>
                <a:srgbClr val="B5A788"/>
              </a:solidFill>
            </a:endParaRPr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0125" y="274638"/>
            <a:ext cx="7934325" cy="1143000"/>
          </a:xfrm>
        </p:spPr>
        <p:txBody>
          <a:bodyPr anchor="ctr">
            <a:normAutofit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补充：程序的灵魂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--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算法</a:t>
            </a:r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>
          <a:xfrm>
            <a:off x="1000125" y="1447800"/>
            <a:ext cx="8143875" cy="5410200"/>
          </a:xfrm>
        </p:spPr>
        <p:txBody>
          <a:bodyPr vert="horz" wrap="square" lIns="91440" tIns="45720" rIns="91440" bIns="45720" anchor="t"/>
          <a:lstStyle/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用流程图表示算法（包括传统、结构化流程图）</a:t>
            </a:r>
            <a:endParaRPr lang="en-US" altLang="zh-CN" sz="3200" dirty="0"/>
          </a:p>
          <a:p>
            <a:pPr marL="365125" lvl="1" indent="-282575" eaLnBrk="1" hangingPunct="1">
              <a:lnSpc>
                <a:spcPct val="9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3200" dirty="0"/>
              <a:t>已为各个国家程序工作者普遍使用</a:t>
            </a:r>
            <a:endParaRPr lang="en-US" altLang="zh-CN" sz="3200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B5A788"/>
                </a:solidFill>
              </a:rPr>
              <a:t>23</a:t>
            </a:fld>
            <a:endParaRPr lang="en-US" altLang="zh-CN" sz="1200" dirty="0">
              <a:solidFill>
                <a:srgbClr val="B5A788"/>
              </a:solidFill>
            </a:endParaRPr>
          </a:p>
        </p:txBody>
      </p:sp>
      <p:pic>
        <p:nvPicPr>
          <p:cNvPr id="7782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838" y="2852738"/>
            <a:ext cx="4608512" cy="390207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anchor="b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B5A788"/>
                </a:solidFill>
              </a:rPr>
              <a:t>24</a:t>
            </a:fld>
            <a:endParaRPr lang="en-US" altLang="zh-CN" sz="1200" dirty="0">
              <a:solidFill>
                <a:srgbClr val="B5A788"/>
              </a:solidFill>
            </a:endParaRPr>
          </a:p>
        </p:txBody>
      </p:sp>
      <p:pic>
        <p:nvPicPr>
          <p:cNvPr id="3" name="图片 2" descr="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275" y="850900"/>
            <a:ext cx="9061450" cy="5382895"/>
          </a:xfrm>
          <a:prstGeom prst="rect">
            <a:avLst/>
          </a:prstGeom>
        </p:spPr>
      </p:pic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404884052"/>
  <p:tag name="KSO_WM_UNIT_PLACING_PICTURE_USER_VIEWPORT" val="{&quot;height&quot;:9409,&quot;width&quot;:15840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</TotalTime>
  <Words>962</Words>
  <Application>Microsoft Office PowerPoint</Application>
  <PresentationFormat>全屏显示(4:3)</PresentationFormat>
  <Paragraphs>209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黑体</vt:lpstr>
      <vt:lpstr>华文中宋</vt:lpstr>
      <vt:lpstr>宋体</vt:lpstr>
      <vt:lpstr>Arial</vt:lpstr>
      <vt:lpstr>Gill Sans MT</vt:lpstr>
      <vt:lpstr>Times New Roman</vt:lpstr>
      <vt:lpstr>Verdana</vt:lpstr>
      <vt:lpstr>Wingdings</vt:lpstr>
      <vt:lpstr>Wingdings 2</vt:lpstr>
      <vt:lpstr>夏至</vt:lpstr>
      <vt:lpstr>1_夏至</vt:lpstr>
      <vt:lpstr>python程序设计----引入</vt:lpstr>
      <vt:lpstr>关于本课程的有关要求</vt:lpstr>
      <vt:lpstr>关于本课程的有关要求</vt:lpstr>
      <vt:lpstr>关于本课程的有关要求</vt:lpstr>
      <vt:lpstr>关于本课程的有关要求</vt:lpstr>
      <vt:lpstr>关于本课程的有关要求</vt:lpstr>
      <vt:lpstr>关于本课程的有关要求</vt:lpstr>
      <vt:lpstr>关于本课程的有关要求</vt:lpstr>
      <vt:lpstr>关于本课程的有关要求</vt:lpstr>
      <vt:lpstr>关于本课程的有关要求</vt:lpstr>
      <vt:lpstr>关于本课程的有关要求</vt:lpstr>
      <vt:lpstr>关于本课程的有关要求</vt:lpstr>
      <vt:lpstr>python程序设计----引入</vt:lpstr>
      <vt:lpstr>PowerPoint 演示文稿</vt:lpstr>
      <vt:lpstr>python程序设计----引入</vt:lpstr>
      <vt:lpstr>补充：程序的灵魂--算法</vt:lpstr>
      <vt:lpstr>补充：程序的灵魂--算法</vt:lpstr>
      <vt:lpstr>补充：程序的灵魂--算法</vt:lpstr>
      <vt:lpstr>补充：程序的灵魂--算法</vt:lpstr>
      <vt:lpstr>补充：程序的灵魂--算法</vt:lpstr>
      <vt:lpstr>补充：程序的灵魂--算法</vt:lpstr>
      <vt:lpstr>补充：程序的灵魂--算法</vt:lpstr>
      <vt:lpstr>补充：程序的灵魂--算法</vt:lpstr>
      <vt:lpstr>PowerPoint 演示文稿</vt:lpstr>
    </vt:vector>
  </TitlesOfParts>
  <Company>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sunmeijue</dc:creator>
  <cp:lastModifiedBy>HP</cp:lastModifiedBy>
  <cp:revision>147</cp:revision>
  <dcterms:created xsi:type="dcterms:W3CDTF">2006-03-29T13:00:00Z</dcterms:created>
  <dcterms:modified xsi:type="dcterms:W3CDTF">2023-02-21T06:27:35Z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2052-11.1.0.9501</vt:lpwstr>
  </property>
</Properties>
</file>