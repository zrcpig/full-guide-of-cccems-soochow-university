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484" r:id="rId3"/>
    <p:sldId id="502" r:id="rId4"/>
    <p:sldId id="485" r:id="rId5"/>
    <p:sldId id="483" r:id="rId6"/>
    <p:sldId id="498" r:id="rId8"/>
    <p:sldId id="541" r:id="rId9"/>
    <p:sldId id="503" r:id="rId10"/>
    <p:sldId id="646" r:id="rId11"/>
    <p:sldId id="504" r:id="rId12"/>
    <p:sldId id="505" r:id="rId13"/>
    <p:sldId id="605" r:id="rId14"/>
    <p:sldId id="542" r:id="rId15"/>
    <p:sldId id="507" r:id="rId16"/>
    <p:sldId id="508" r:id="rId17"/>
    <p:sldId id="604" r:id="rId18"/>
    <p:sldId id="690" r:id="rId19"/>
    <p:sldId id="606" r:id="rId20"/>
    <p:sldId id="509" r:id="rId21"/>
    <p:sldId id="689" r:id="rId22"/>
    <p:sldId id="543" r:id="rId23"/>
    <p:sldId id="510" r:id="rId24"/>
    <p:sldId id="511" r:id="rId25"/>
    <p:sldId id="512" r:id="rId26"/>
    <p:sldId id="513" r:id="rId27"/>
    <p:sldId id="514" r:id="rId28"/>
    <p:sldId id="515" r:id="rId29"/>
    <p:sldId id="516" r:id="rId30"/>
    <p:sldId id="579" r:id="rId31"/>
    <p:sldId id="603" r:id="rId32"/>
    <p:sldId id="488" r:id="rId33"/>
    <p:sldId id="517" r:id="rId34"/>
    <p:sldId id="602" r:id="rId35"/>
    <p:sldId id="489" r:id="rId36"/>
    <p:sldId id="499" r:id="rId37"/>
    <p:sldId id="518" r:id="rId38"/>
    <p:sldId id="500" r:id="rId39"/>
    <p:sldId id="520" r:id="rId40"/>
    <p:sldId id="522" r:id="rId41"/>
    <p:sldId id="519" r:id="rId42"/>
    <p:sldId id="521" r:id="rId43"/>
    <p:sldId id="523" r:id="rId44"/>
    <p:sldId id="524" r:id="rId45"/>
    <p:sldId id="525" r:id="rId46"/>
    <p:sldId id="526" r:id="rId47"/>
    <p:sldId id="527" r:id="rId48"/>
    <p:sldId id="528" r:id="rId49"/>
    <p:sldId id="490" r:id="rId50"/>
    <p:sldId id="501" r:id="rId51"/>
    <p:sldId id="530" r:id="rId52"/>
    <p:sldId id="531" r:id="rId53"/>
    <p:sldId id="532" r:id="rId54"/>
    <p:sldId id="692" r:id="rId55"/>
    <p:sldId id="691" r:id="rId56"/>
    <p:sldId id="497" r:id="rId57"/>
  </p:sldIdLst>
  <p:sldSz cx="12192000" cy="6858000"/>
  <p:notesSz cx="6858000" cy="9144000"/>
  <p:custDataLst>
    <p:tags r:id="rId62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  <a:srgbClr val="DDDDDD"/>
    <a:srgbClr val="003300"/>
    <a:srgbClr val="800080"/>
    <a:srgbClr val="660066"/>
    <a:srgbClr val="990000"/>
    <a:srgbClr val="66FF66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68" d="100"/>
          <a:sy n="68" d="100"/>
        </p:scale>
        <p:origin x="792" y="48"/>
      </p:cViewPr>
      <p:guideLst>
        <p:guide orient="horz" pos="2169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2" Type="http://schemas.openxmlformats.org/officeDocument/2006/relationships/tags" Target="tags/tag165.xml"/><Relationship Id="rId61" Type="http://schemas.openxmlformats.org/officeDocument/2006/relationships/commentAuthors" Target="commentAuthors.xml"/><Relationship Id="rId60" Type="http://schemas.openxmlformats.org/officeDocument/2006/relationships/tableStyles" Target="tableStyles.xml"/><Relationship Id="rId6" Type="http://schemas.openxmlformats.org/officeDocument/2006/relationships/slide" Target="slides/slide4.xml"/><Relationship Id="rId59" Type="http://schemas.openxmlformats.org/officeDocument/2006/relationships/viewProps" Target="viewProps.xml"/><Relationship Id="rId58" Type="http://schemas.openxmlformats.org/officeDocument/2006/relationships/presProps" Target="presProps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220" name="Rectangle 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4101" name="Rectangle 5"/>
          <p:cNvSpPr>
            <a:spLocks noGrp="1" noRot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200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0249CFA-C427-4C77-960D-70A82ADC9BFA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26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/>
          <a:lstStyle/>
          <a:p>
            <a:pPr lvl="0" eaLnBrk="1" hangingPunct="1"/>
            <a:endParaRPr lang="zh-CN" altLang="en-US" dirty="0"/>
          </a:p>
        </p:txBody>
      </p:sp>
      <p:sp>
        <p:nvSpPr>
          <p:cNvPr id="1126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26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/>
          <a:lstStyle/>
          <a:p>
            <a:pPr lvl="0" eaLnBrk="1" hangingPunct="1"/>
            <a:endParaRPr lang="zh-CN" altLang="en-US" dirty="0"/>
          </a:p>
        </p:txBody>
      </p:sp>
      <p:sp>
        <p:nvSpPr>
          <p:cNvPr id="1126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26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/>
          <a:lstStyle/>
          <a:p>
            <a:pPr lvl="0" eaLnBrk="1" hangingPunct="1"/>
            <a:endParaRPr lang="zh-CN" altLang="en-US" dirty="0"/>
          </a:p>
        </p:txBody>
      </p:sp>
      <p:sp>
        <p:nvSpPr>
          <p:cNvPr id="1126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26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/>
          <a:lstStyle/>
          <a:p>
            <a:pPr lvl="0" eaLnBrk="1" hangingPunct="1"/>
            <a:endParaRPr lang="zh-CN" altLang="en-US" dirty="0"/>
          </a:p>
        </p:txBody>
      </p:sp>
      <p:sp>
        <p:nvSpPr>
          <p:cNvPr id="1126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png"/><Relationship Id="rId8" Type="http://schemas.openxmlformats.org/officeDocument/2006/relationships/tags" Target="../tags/tag5.xml"/><Relationship Id="rId7" Type="http://schemas.openxmlformats.org/officeDocument/2006/relationships/image" Target="../media/image2.png"/><Relationship Id="rId6" Type="http://schemas.openxmlformats.org/officeDocument/2006/relationships/tags" Target="../tags/tag4.xml"/><Relationship Id="rId5" Type="http://schemas.openxmlformats.org/officeDocument/2006/relationships/image" Target="../media/image1.png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6" Type="http://schemas.openxmlformats.org/officeDocument/2006/relationships/tags" Target="../tags/tag12.xml"/><Relationship Id="rId15" Type="http://schemas.openxmlformats.org/officeDocument/2006/relationships/tags" Target="../tags/tag11.xml"/><Relationship Id="rId14" Type="http://schemas.openxmlformats.org/officeDocument/2006/relationships/tags" Target="../tags/tag10.xml"/><Relationship Id="rId13" Type="http://schemas.openxmlformats.org/officeDocument/2006/relationships/tags" Target="../tags/tag9.xml"/><Relationship Id="rId12" Type="http://schemas.openxmlformats.org/officeDocument/2006/relationships/tags" Target="../tags/tag8.xml"/><Relationship Id="rId11" Type="http://schemas.openxmlformats.org/officeDocument/2006/relationships/tags" Target="../tags/tag7.xml"/><Relationship Id="rId10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7" Type="http://schemas.openxmlformats.org/officeDocument/2006/relationships/tags" Target="../tags/tag18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tags" Target="../tags/tag24.xml"/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image" Target="../media/image1.png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tags" Target="../tags/tag31.xml"/><Relationship Id="rId7" Type="http://schemas.openxmlformats.org/officeDocument/2006/relationships/tags" Target="../tags/tag30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1" Type="http://schemas.openxmlformats.org/officeDocument/2006/relationships/image" Target="../media/image6.png"/><Relationship Id="rId10" Type="http://schemas.openxmlformats.org/officeDocument/2006/relationships/tags" Target="../tags/tag32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tags" Target="../tags/tag39.xml"/><Relationship Id="rId7" Type="http://schemas.openxmlformats.org/officeDocument/2006/relationships/tags" Target="../tags/tag38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1" Type="http://schemas.openxmlformats.org/officeDocument/2006/relationships/image" Target="../media/image6.png"/><Relationship Id="rId10" Type="http://schemas.openxmlformats.org/officeDocument/2006/relationships/tags" Target="../tags/tag40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48.xml"/><Relationship Id="rId8" Type="http://schemas.openxmlformats.org/officeDocument/2006/relationships/tags" Target="../tags/tag47.xml"/><Relationship Id="rId7" Type="http://schemas.openxmlformats.org/officeDocument/2006/relationships/tags" Target="../tags/tag46.xml"/><Relationship Id="rId6" Type="http://schemas.openxmlformats.org/officeDocument/2006/relationships/tags" Target="../tags/tag45.xml"/><Relationship Id="rId5" Type="http://schemas.openxmlformats.org/officeDocument/2006/relationships/tags" Target="../tags/tag44.xml"/><Relationship Id="rId4" Type="http://schemas.openxmlformats.org/officeDocument/2006/relationships/tags" Target="../tags/tag43.xml"/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3" Type="http://schemas.openxmlformats.org/officeDocument/2006/relationships/image" Target="../media/image5.png"/><Relationship Id="rId12" Type="http://schemas.openxmlformats.org/officeDocument/2006/relationships/tags" Target="../tags/tag50.xml"/><Relationship Id="rId11" Type="http://schemas.openxmlformats.org/officeDocument/2006/relationships/image" Target="../media/image6.png"/><Relationship Id="rId10" Type="http://schemas.openxmlformats.org/officeDocument/2006/relationships/tags" Target="../tags/tag49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9" Type="http://schemas.openxmlformats.org/officeDocument/2006/relationships/tags" Target="../tags/tag56.xml"/><Relationship Id="rId8" Type="http://schemas.openxmlformats.org/officeDocument/2006/relationships/tags" Target="../tags/tag55.xml"/><Relationship Id="rId7" Type="http://schemas.openxmlformats.org/officeDocument/2006/relationships/tags" Target="../tags/tag54.xml"/><Relationship Id="rId6" Type="http://schemas.openxmlformats.org/officeDocument/2006/relationships/image" Target="../media/image8.png"/><Relationship Id="rId5" Type="http://schemas.openxmlformats.org/officeDocument/2006/relationships/tags" Target="../tags/tag53.xml"/><Relationship Id="rId4" Type="http://schemas.openxmlformats.org/officeDocument/2006/relationships/image" Target="../media/image7.png"/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4" Type="http://schemas.openxmlformats.org/officeDocument/2006/relationships/tags" Target="../tags/tag61.xml"/><Relationship Id="rId13" Type="http://schemas.openxmlformats.org/officeDocument/2006/relationships/tags" Target="../tags/tag60.xml"/><Relationship Id="rId12" Type="http://schemas.openxmlformats.org/officeDocument/2006/relationships/tags" Target="../tags/tag59.xml"/><Relationship Id="rId11" Type="http://schemas.openxmlformats.org/officeDocument/2006/relationships/tags" Target="../tags/tag58.xml"/><Relationship Id="rId10" Type="http://schemas.openxmlformats.org/officeDocument/2006/relationships/tags" Target="../tags/tag57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64.xml"/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tags" Target="../tags/tag71.xml"/><Relationship Id="rId7" Type="http://schemas.openxmlformats.org/officeDocument/2006/relationships/tags" Target="../tags/tag70.xml"/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9" Type="http://schemas.openxmlformats.org/officeDocument/2006/relationships/tags" Target="../tags/tag78.xml"/><Relationship Id="rId8" Type="http://schemas.openxmlformats.org/officeDocument/2006/relationships/tags" Target="../tags/tag77.xml"/><Relationship Id="rId7" Type="http://schemas.openxmlformats.org/officeDocument/2006/relationships/tags" Target="../tags/tag76.xml"/><Relationship Id="rId6" Type="http://schemas.openxmlformats.org/officeDocument/2006/relationships/tags" Target="../tags/tag75.xml"/><Relationship Id="rId5" Type="http://schemas.openxmlformats.org/officeDocument/2006/relationships/tags" Target="../tags/tag74.xml"/><Relationship Id="rId4" Type="http://schemas.openxmlformats.org/officeDocument/2006/relationships/tags" Target="../tags/tag73.xml"/><Relationship Id="rId3" Type="http://schemas.openxmlformats.org/officeDocument/2006/relationships/image" Target="../media/image10.png"/><Relationship Id="rId2" Type="http://schemas.openxmlformats.org/officeDocument/2006/relationships/tags" Target="../tags/tag72.xml"/><Relationship Id="rId10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7" Type="http://schemas.openxmlformats.org/officeDocument/2006/relationships/tags" Target="../tags/tag83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image" Target="../media/image1.png"/><Relationship Id="rId2" Type="http://schemas.openxmlformats.org/officeDocument/2006/relationships/tags" Target="../tags/tag79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89.xml"/><Relationship Id="rId8" Type="http://schemas.openxmlformats.org/officeDocument/2006/relationships/tags" Target="../tags/tag88.xml"/><Relationship Id="rId7" Type="http://schemas.openxmlformats.org/officeDocument/2006/relationships/tags" Target="../tags/tag87.xml"/><Relationship Id="rId6" Type="http://schemas.openxmlformats.org/officeDocument/2006/relationships/tags" Target="../tags/tag86.xml"/><Relationship Id="rId5" Type="http://schemas.openxmlformats.org/officeDocument/2006/relationships/image" Target="../media/image1.png"/><Relationship Id="rId4" Type="http://schemas.openxmlformats.org/officeDocument/2006/relationships/tags" Target="../tags/tag85.xml"/><Relationship Id="rId3" Type="http://schemas.openxmlformats.org/officeDocument/2006/relationships/image" Target="../media/image11.png"/><Relationship Id="rId2" Type="http://schemas.openxmlformats.org/officeDocument/2006/relationships/tags" Target="../tags/tag84.xml"/><Relationship Id="rId13" Type="http://schemas.openxmlformats.org/officeDocument/2006/relationships/tags" Target="../tags/tag92.xml"/><Relationship Id="rId12" Type="http://schemas.openxmlformats.org/officeDocument/2006/relationships/tags" Target="../tags/tag91.xml"/><Relationship Id="rId11" Type="http://schemas.openxmlformats.org/officeDocument/2006/relationships/image" Target="../media/image2.png"/><Relationship Id="rId10" Type="http://schemas.openxmlformats.org/officeDocument/2006/relationships/tags" Target="../tags/tag90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7" Type="http://schemas.openxmlformats.org/officeDocument/2006/relationships/image" Target="../media/image12.png"/><Relationship Id="rId6" Type="http://schemas.openxmlformats.org/officeDocument/2006/relationships/tags" Target="../tags/tag97.xml"/><Relationship Id="rId5" Type="http://schemas.openxmlformats.org/officeDocument/2006/relationships/tags" Target="../tags/tag96.xml"/><Relationship Id="rId4" Type="http://schemas.openxmlformats.org/officeDocument/2006/relationships/tags" Target="../tags/tag95.xml"/><Relationship Id="rId3" Type="http://schemas.openxmlformats.org/officeDocument/2006/relationships/tags" Target="../tags/tag94.xml"/><Relationship Id="rId2" Type="http://schemas.openxmlformats.org/officeDocument/2006/relationships/tags" Target="../tags/tag93.xm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tags" Target="../tags/tag104.xml"/><Relationship Id="rId7" Type="http://schemas.openxmlformats.org/officeDocument/2006/relationships/tags" Target="../tags/tag103.xml"/><Relationship Id="rId6" Type="http://schemas.openxmlformats.org/officeDocument/2006/relationships/tags" Target="../tags/tag102.xml"/><Relationship Id="rId5" Type="http://schemas.openxmlformats.org/officeDocument/2006/relationships/tags" Target="../tags/tag101.xml"/><Relationship Id="rId4" Type="http://schemas.openxmlformats.org/officeDocument/2006/relationships/tags" Target="../tags/tag100.xml"/><Relationship Id="rId3" Type="http://schemas.openxmlformats.org/officeDocument/2006/relationships/tags" Target="../tags/tag99.xml"/><Relationship Id="rId2" Type="http://schemas.openxmlformats.org/officeDocument/2006/relationships/tags" Target="../tags/tag98.xm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112.xml"/><Relationship Id="rId8" Type="http://schemas.openxmlformats.org/officeDocument/2006/relationships/tags" Target="../tags/tag111.xml"/><Relationship Id="rId7" Type="http://schemas.openxmlformats.org/officeDocument/2006/relationships/tags" Target="../tags/tag110.xml"/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0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120.xml"/><Relationship Id="rId8" Type="http://schemas.openxmlformats.org/officeDocument/2006/relationships/tags" Target="../tags/tag119.xml"/><Relationship Id="rId7" Type="http://schemas.openxmlformats.org/officeDocument/2006/relationships/tags" Target="../tags/tag118.xml"/><Relationship Id="rId6" Type="http://schemas.openxmlformats.org/officeDocument/2006/relationships/tags" Target="../tags/tag117.xml"/><Relationship Id="rId5" Type="http://schemas.openxmlformats.org/officeDocument/2006/relationships/tags" Target="../tags/tag116.xml"/><Relationship Id="rId4" Type="http://schemas.openxmlformats.org/officeDocument/2006/relationships/tags" Target="../tags/tag115.xml"/><Relationship Id="rId3" Type="http://schemas.openxmlformats.org/officeDocument/2006/relationships/tags" Target="../tags/tag114.xml"/><Relationship Id="rId2" Type="http://schemas.openxmlformats.org/officeDocument/2006/relationships/tags" Target="../tags/tag113.xml"/><Relationship Id="rId10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127.xml"/><Relationship Id="rId8" Type="http://schemas.openxmlformats.org/officeDocument/2006/relationships/tags" Target="../tags/tag126.xml"/><Relationship Id="rId7" Type="http://schemas.openxmlformats.org/officeDocument/2006/relationships/tags" Target="../tags/tag125.xml"/><Relationship Id="rId6" Type="http://schemas.openxmlformats.org/officeDocument/2006/relationships/tags" Target="../tags/tag124.xml"/><Relationship Id="rId5" Type="http://schemas.openxmlformats.org/officeDocument/2006/relationships/tags" Target="../tags/tag123.xml"/><Relationship Id="rId4" Type="http://schemas.openxmlformats.org/officeDocument/2006/relationships/tags" Target="../tags/tag122.xml"/><Relationship Id="rId3" Type="http://schemas.openxmlformats.org/officeDocument/2006/relationships/image" Target="../media/image14.png"/><Relationship Id="rId2" Type="http://schemas.openxmlformats.org/officeDocument/2006/relationships/tags" Target="../tags/tag121.xml"/><Relationship Id="rId10" Type="http://schemas.openxmlformats.org/officeDocument/2006/relationships/tags" Target="../tags/tag128.xm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135.xml"/><Relationship Id="rId8" Type="http://schemas.openxmlformats.org/officeDocument/2006/relationships/tags" Target="../tags/tag134.xml"/><Relationship Id="rId7" Type="http://schemas.openxmlformats.org/officeDocument/2006/relationships/tags" Target="../tags/tag133.xml"/><Relationship Id="rId6" Type="http://schemas.openxmlformats.org/officeDocument/2006/relationships/tags" Target="../tags/tag132.xml"/><Relationship Id="rId5" Type="http://schemas.openxmlformats.org/officeDocument/2006/relationships/tags" Target="../tags/tag131.xml"/><Relationship Id="rId4" Type="http://schemas.openxmlformats.org/officeDocument/2006/relationships/tags" Target="../tags/tag130.xml"/><Relationship Id="rId3" Type="http://schemas.openxmlformats.org/officeDocument/2006/relationships/image" Target="../media/image15.png"/><Relationship Id="rId2" Type="http://schemas.openxmlformats.org/officeDocument/2006/relationships/tags" Target="../tags/tag129.xml"/><Relationship Id="rId12" Type="http://schemas.openxmlformats.org/officeDocument/2006/relationships/tags" Target="../tags/tag138.xml"/><Relationship Id="rId11" Type="http://schemas.openxmlformats.org/officeDocument/2006/relationships/tags" Target="../tags/tag137.xml"/><Relationship Id="rId10" Type="http://schemas.openxmlformats.org/officeDocument/2006/relationships/tags" Target="../tags/tag136.xml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.png"/><Relationship Id="rId8" Type="http://schemas.openxmlformats.org/officeDocument/2006/relationships/tags" Target="../tags/tag144.xml"/><Relationship Id="rId7" Type="http://schemas.openxmlformats.org/officeDocument/2006/relationships/image" Target="../media/image16.png"/><Relationship Id="rId6" Type="http://schemas.openxmlformats.org/officeDocument/2006/relationships/tags" Target="../tags/tag143.xml"/><Relationship Id="rId5" Type="http://schemas.openxmlformats.org/officeDocument/2006/relationships/tags" Target="../tags/tag142.xml"/><Relationship Id="rId4" Type="http://schemas.openxmlformats.org/officeDocument/2006/relationships/tags" Target="../tags/tag141.xml"/><Relationship Id="rId3" Type="http://schemas.openxmlformats.org/officeDocument/2006/relationships/tags" Target="../tags/tag140.xml"/><Relationship Id="rId2" Type="http://schemas.openxmlformats.org/officeDocument/2006/relationships/tags" Target="../tags/tag139.xml"/><Relationship Id="rId11" Type="http://schemas.openxmlformats.org/officeDocument/2006/relationships/tags" Target="../tags/tag146.xml"/><Relationship Id="rId10" Type="http://schemas.openxmlformats.org/officeDocument/2006/relationships/tags" Target="../tags/tag145.xml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7454900"/>
            <a:chOff x="0" y="0"/>
            <a:chExt cx="19200" cy="11740"/>
          </a:xfrm>
        </p:grpSpPr>
        <p:grpSp>
          <p:nvGrpSpPr>
            <p:cNvPr id="6" name="组合 5"/>
            <p:cNvGrpSpPr/>
            <p:nvPr userDrawn="1">
              <p:custDataLst>
                <p:tags r:id="rId3"/>
              </p:custDataLst>
            </p:nvPr>
          </p:nvGrpSpPr>
          <p:grpSpPr>
            <a:xfrm>
              <a:off x="0" y="0"/>
              <a:ext cx="19200" cy="3223"/>
              <a:chOff x="0" y="0"/>
              <a:chExt cx="12192000" cy="2046605"/>
            </a:xfrm>
          </p:grpSpPr>
          <p:pic>
            <p:nvPicPr>
              <p:cNvPr id="7" name="图片 6"/>
              <p:cNvPicPr>
                <a:picLocks noChangeAspect="1"/>
              </p:cNvPicPr>
              <p:nvPr userDrawn="1">
                <p:custDataLst>
                  <p:tags r:id="rId4"/>
                </p:custDataLst>
              </p:nvPr>
            </p:nvPicPr>
            <p:blipFill>
              <a:blip r:embed="rId5"/>
              <a:stretch>
                <a:fillRect/>
              </a:stretch>
            </p:blipFill>
            <p:spPr>
              <a:xfrm>
                <a:off x="0" y="0"/>
                <a:ext cx="12192000" cy="2046605"/>
              </a:xfrm>
              <a:prstGeom prst="rect">
                <a:avLst/>
              </a:prstGeom>
            </p:spPr>
          </p:pic>
          <p:pic>
            <p:nvPicPr>
              <p:cNvPr id="9" name="图片 8"/>
              <p:cNvPicPr>
                <a:picLocks noChangeAspect="1"/>
              </p:cNvPicPr>
              <p:nvPr userDrawn="1">
                <p:custDataLst>
                  <p:tags r:id="rId6"/>
                </p:custDataLst>
              </p:nvPr>
            </p:nvPicPr>
            <p:blipFill rotWithShape="1">
              <a:blip r:embed="rId7"/>
              <a:srcRect/>
              <a:stretch>
                <a:fillRect/>
              </a:stretch>
            </p:blipFill>
            <p:spPr>
              <a:xfrm>
                <a:off x="0" y="10686"/>
                <a:ext cx="12192000" cy="1704978"/>
              </a:xfrm>
              <a:prstGeom prst="rect">
                <a:avLst/>
              </a:prstGeom>
            </p:spPr>
          </p:pic>
        </p:grpSp>
        <p:pic>
          <p:nvPicPr>
            <p:cNvPr id="8" name="图片 7"/>
            <p:cNvPicPr>
              <a:picLocks noChangeAspect="1"/>
            </p:cNvPicPr>
            <p:nvPr userDrawn="1"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0" y="9728"/>
              <a:ext cx="19200" cy="2012"/>
            </a:xfrm>
            <a:prstGeom prst="rect">
              <a:avLst/>
            </a:prstGeom>
          </p:spPr>
        </p:pic>
      </p:grp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3"/>
            </p:custDataLst>
          </p:nvPr>
        </p:nvSpPr>
        <p:spPr>
          <a:xfrm>
            <a:off x="2216785" y="3503930"/>
            <a:ext cx="7759065" cy="49149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000" u="none" strike="noStrike" kern="1200" cap="none" spc="0" normalizeH="0" baseline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4"/>
            </p:custDataLst>
          </p:nvPr>
        </p:nvSpPr>
        <p:spPr>
          <a:xfrm>
            <a:off x="2216468" y="2292046"/>
            <a:ext cx="7759065" cy="1150960"/>
          </a:xfrm>
        </p:spPr>
        <p:txBody>
          <a:bodyPr lIns="90000" tIns="46800" rIns="90000" bIns="46800" anchor="b" anchorCtr="0">
            <a:noAutofit/>
          </a:bodyPr>
          <a:lstStyle>
            <a:lvl1pPr algn="ctr">
              <a:defRPr sz="6000" spc="600" baseline="0">
                <a:solidFill>
                  <a:schemeClr val="accent1"/>
                </a:solidFill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 hasCustomPrompt="1"/>
            <p:custDataLst>
              <p:tags r:id="rId15"/>
            </p:custDataLst>
          </p:nvPr>
        </p:nvSpPr>
        <p:spPr>
          <a:xfrm>
            <a:off x="4511039" y="4490846"/>
            <a:ext cx="1383093" cy="474726"/>
          </a:xfrm>
          <a:solidFill>
            <a:schemeClr val="accent1"/>
          </a:solidFill>
        </p:spPr>
        <p:txBody>
          <a:bodyPr lIns="90000" tIns="46800" rIns="90000" bIns="46800" anchor="ctr">
            <a:normAutofit/>
          </a:bodyPr>
          <a:lstStyle>
            <a:lvl1pPr marL="0" indent="0" algn="ctr">
              <a:buNone/>
              <a:defRPr u="none" strike="noStrike" kern="1200" cap="none" spc="0" normalizeH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4" hasCustomPrompt="1"/>
            <p:custDataLst>
              <p:tags r:id="rId16"/>
            </p:custDataLst>
          </p:nvPr>
        </p:nvSpPr>
        <p:spPr>
          <a:xfrm>
            <a:off x="6096000" y="4490846"/>
            <a:ext cx="1383092" cy="474726"/>
          </a:xfrm>
          <a:ln>
            <a:solidFill>
              <a:schemeClr val="accent1"/>
            </a:solidFill>
          </a:ln>
        </p:spPr>
        <p:txBody>
          <a:bodyPr lIns="90000" tIns="46800" rIns="90000" bIns="46800" anchor="ctr">
            <a:normAutofit/>
          </a:bodyPr>
          <a:lstStyle>
            <a:lvl1pPr marL="0" indent="0" algn="ctr">
              <a:buNone/>
              <a:defRPr u="none" strike="noStrike" kern="1200" cap="none" spc="0" normalizeH="0">
                <a:ln>
                  <a:noFill/>
                </a:ln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25" y="443230"/>
            <a:ext cx="10852150" cy="716915"/>
          </a:xfrm>
        </p:spPr>
        <p:txBody>
          <a:bodyPr vert="horz" lIns="90000" tIns="46800" rIns="90000" bIns="46800" rtlCol="0" anchor="t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69925" y="1160145"/>
            <a:ext cx="10852150" cy="5180965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0" y="6177281"/>
            <a:ext cx="12192000" cy="132453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35560"/>
            <a:ext cx="12192000" cy="2046605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5251487" y="2681555"/>
            <a:ext cx="3577049" cy="716508"/>
          </a:xfrm>
        </p:spPr>
        <p:txBody>
          <a:bodyPr lIns="90000" tIns="46800" rIns="90000" bIns="0" anchor="ctr" anchorCtr="0">
            <a:normAutofit/>
          </a:bodyPr>
          <a:lstStyle>
            <a:lvl1pPr algn="dist">
              <a:defRPr sz="4400" u="none" strike="noStrike" kern="1200" cap="none" spc="300" normalizeH="0" baseline="0">
                <a:solidFill>
                  <a:schemeClr val="accent1"/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8"/>
            </p:custDataLst>
          </p:nvPr>
        </p:nvSpPr>
        <p:spPr>
          <a:xfrm>
            <a:off x="5251487" y="3459937"/>
            <a:ext cx="3577050" cy="544296"/>
          </a:xfrm>
        </p:spPr>
        <p:txBody>
          <a:bodyPr lIns="90000" tIns="0" rIns="90000" bIns="46800">
            <a:normAutofit/>
          </a:bodyPr>
          <a:lstStyle>
            <a:lvl1pPr marL="0" indent="0" eaLnBrk="1" fontAlgn="auto" latinLnBrk="0" hangingPunct="1">
              <a:buNone/>
              <a:defRPr kumimoji="0" lang="zh-CN" altLang="en-US" sz="24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673348"/>
          </a:xfrm>
        </p:spPr>
        <p:txBody>
          <a:bodyPr vert="horz" lIns="90000" tIns="46800" rIns="90000" bIns="468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69930" y="1329539"/>
            <a:ext cx="5283242" cy="5011877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7" y="1329539"/>
            <a:ext cx="5283242" cy="5011876"/>
          </a:xfrm>
        </p:spPr>
        <p:txBody>
          <a:bodyPr lIns="90000" tIns="46800" rIns="90000" bIns="46800">
            <a:normAutofit/>
          </a:bodyPr>
          <a:lstStyle>
            <a:lvl1pPr>
              <a:defRPr sz="2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2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2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2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10" name="图片 9" descr="C:\Users\kingsoft\Desktop\图片7副本.png图片7副本"/>
          <p:cNvPicPr>
            <a:picLocks noChangeAspect="1"/>
          </p:cNvPicPr>
          <p:nvPr>
            <p:custDataLst>
              <p:tags r:id="rId8"/>
            </p:custDataLst>
          </p:nvPr>
        </p:nvPicPr>
        <p:blipFill rotWithShape="1">
          <a:blip r:embed="rId9"/>
          <a:srcRect/>
          <a:stretch>
            <a:fillRect/>
          </a:stretch>
        </p:blipFill>
        <p:spPr>
          <a:xfrm>
            <a:off x="-16510" y="5971592"/>
            <a:ext cx="3478627" cy="907998"/>
          </a:xfrm>
          <a:prstGeom prst="rect">
            <a:avLst/>
          </a:prstGeom>
        </p:spPr>
      </p:pic>
      <p:pic>
        <p:nvPicPr>
          <p:cNvPr id="11" name="图片 10" descr="C:\Users\kingsoft\Desktop\图片7副本.png图片7副本"/>
          <p:cNvPicPr>
            <a:picLocks noChangeAspect="1"/>
          </p:cNvPicPr>
          <p:nvPr>
            <p:custDataLst>
              <p:tags r:id="rId10"/>
            </p:custDataLst>
          </p:nvPr>
        </p:nvPicPr>
        <p:blipFill rotWithShape="1">
          <a:blip r:embed="rId11"/>
          <a:srcRect/>
          <a:stretch>
            <a:fillRect/>
          </a:stretch>
        </p:blipFill>
        <p:spPr>
          <a:xfrm flipH="1">
            <a:off x="8716609" y="5905492"/>
            <a:ext cx="3481106" cy="97409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两栏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673348"/>
          </a:xfrm>
        </p:spPr>
        <p:txBody>
          <a:bodyPr vert="horz" lIns="90000" tIns="46800" rIns="90000" bIns="468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69930" y="2204864"/>
            <a:ext cx="5283242" cy="4136552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7" y="2204864"/>
            <a:ext cx="5283242" cy="4136550"/>
          </a:xfrm>
        </p:spPr>
        <p:txBody>
          <a:bodyPr lIns="90000" tIns="46800" rIns="90000" bIns="46800">
            <a:normAutofit/>
          </a:bodyPr>
          <a:lstStyle>
            <a:lvl1pPr>
              <a:defRPr sz="2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2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2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2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10" name="图片 9" descr="C:\Users\kingsoft\Desktop\图片7副本.png图片7副本"/>
          <p:cNvPicPr>
            <a:picLocks noChangeAspect="1"/>
          </p:cNvPicPr>
          <p:nvPr>
            <p:custDataLst>
              <p:tags r:id="rId8"/>
            </p:custDataLst>
          </p:nvPr>
        </p:nvPicPr>
        <p:blipFill rotWithShape="1">
          <a:blip r:embed="rId9"/>
          <a:srcRect/>
          <a:stretch>
            <a:fillRect/>
          </a:stretch>
        </p:blipFill>
        <p:spPr>
          <a:xfrm>
            <a:off x="-16510" y="5971592"/>
            <a:ext cx="3478627" cy="907998"/>
          </a:xfrm>
          <a:prstGeom prst="rect">
            <a:avLst/>
          </a:prstGeom>
        </p:spPr>
      </p:pic>
      <p:pic>
        <p:nvPicPr>
          <p:cNvPr id="11" name="图片 10" descr="C:\Users\kingsoft\Desktop\图片7副本.png图片7副本"/>
          <p:cNvPicPr>
            <a:picLocks noChangeAspect="1"/>
          </p:cNvPicPr>
          <p:nvPr>
            <p:custDataLst>
              <p:tags r:id="rId10"/>
            </p:custDataLst>
          </p:nvPr>
        </p:nvPicPr>
        <p:blipFill rotWithShape="1">
          <a:blip r:embed="rId11"/>
          <a:srcRect/>
          <a:stretch>
            <a:fillRect/>
          </a:stretch>
        </p:blipFill>
        <p:spPr>
          <a:xfrm flipH="1">
            <a:off x="8716609" y="5905492"/>
            <a:ext cx="3481106" cy="974098"/>
          </a:xfrm>
          <a:prstGeom prst="rect">
            <a:avLst/>
          </a:prstGeom>
        </p:spPr>
      </p:pic>
      <p:sp>
        <p:nvSpPr>
          <p:cNvPr id="9" name="文本占位符 8"/>
          <p:cNvSpPr>
            <a:spLocks noGrp="1"/>
          </p:cNvSpPr>
          <p:nvPr>
            <p:ph type="body" sz="quarter" idx="13" hasCustomPrompt="1"/>
          </p:nvPr>
        </p:nvSpPr>
        <p:spPr>
          <a:xfrm>
            <a:off x="669925" y="1268760"/>
            <a:ext cx="10852150" cy="864840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 smtClean="0"/>
              <a:t>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69930" y="952508"/>
            <a:ext cx="5283242" cy="381003"/>
          </a:xfrm>
        </p:spPr>
        <p:txBody>
          <a:bodyPr lIns="90000" tIns="46800" rIns="90000" bIns="468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10" name="图片 9" descr="C:\Users\kingsoft\Desktop\图片7副本.png图片7副本"/>
          <p:cNvPicPr>
            <a:picLocks noChangeAspect="1"/>
          </p:cNvPicPr>
          <p:nvPr>
            <p:custDataLst>
              <p:tags r:id="rId10"/>
            </p:custDataLst>
          </p:nvPr>
        </p:nvPicPr>
        <p:blipFill rotWithShape="1">
          <a:blip r:embed="rId11"/>
          <a:srcRect/>
          <a:stretch>
            <a:fillRect/>
          </a:stretch>
        </p:blipFill>
        <p:spPr>
          <a:xfrm flipH="1">
            <a:off x="8716609" y="5905492"/>
            <a:ext cx="3481106" cy="974098"/>
          </a:xfrm>
          <a:prstGeom prst="rect">
            <a:avLst/>
          </a:prstGeom>
        </p:spPr>
      </p:pic>
      <p:pic>
        <p:nvPicPr>
          <p:cNvPr id="11" name="图片 10" descr="C:\Users\kingsoft\Desktop\图片7副本.png图片7副本"/>
          <p:cNvPicPr>
            <a:picLocks noChangeAspect="1"/>
          </p:cNvPicPr>
          <p:nvPr>
            <p:custDataLst>
              <p:tags r:id="rId12"/>
            </p:custDataLst>
          </p:nvPr>
        </p:nvPicPr>
        <p:blipFill rotWithShape="1">
          <a:blip r:embed="rId13"/>
          <a:srcRect/>
          <a:stretch>
            <a:fillRect/>
          </a:stretch>
        </p:blipFill>
        <p:spPr>
          <a:xfrm>
            <a:off x="-16510" y="5971592"/>
            <a:ext cx="3478627" cy="90799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>
            <p:custDataLst>
              <p:tags r:id="rId2"/>
            </p:custDataLst>
          </p:nvPr>
        </p:nvGrpSpPr>
        <p:grpSpPr>
          <a:xfrm>
            <a:off x="0" y="-15482"/>
            <a:ext cx="3649343" cy="6857999"/>
            <a:chOff x="0" y="-15482"/>
            <a:chExt cx="3649343" cy="6857999"/>
          </a:xfrm>
        </p:grpSpPr>
        <p:pic>
          <p:nvPicPr>
            <p:cNvPr id="9" name="图片 8"/>
            <p:cNvPicPr>
              <a:picLocks noChangeAspect="1"/>
            </p:cNvPicPr>
            <p:nvPr userDrawn="1">
              <p:custDataLst>
                <p:tags r:id="rId3"/>
              </p:custDataLst>
            </p:nvPr>
          </p:nvPicPr>
          <p:blipFill>
            <a:blip r:embed="rId4"/>
            <a:stretch>
              <a:fillRect/>
            </a:stretch>
          </p:blipFill>
          <p:spPr>
            <a:xfrm rot="16200000">
              <a:off x="-1596587" y="1596587"/>
              <a:ext cx="6842517" cy="3649343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 userDrawn="1">
              <p:custDataLst>
                <p:tags r:id="rId5"/>
              </p:custDataLst>
            </p:nvPr>
          </p:nvPicPr>
          <p:blipFill rotWithShape="1">
            <a:blip r:embed="rId6"/>
            <a:srcRect/>
            <a:stretch>
              <a:fillRect/>
            </a:stretch>
          </p:blipFill>
          <p:spPr>
            <a:xfrm rot="5400000">
              <a:off x="-2338959" y="2323477"/>
              <a:ext cx="6857999" cy="2180082"/>
            </a:xfrm>
            <a:prstGeom prst="rect">
              <a:avLst/>
            </a:prstGeom>
          </p:spPr>
        </p:pic>
      </p:grpSp>
      <p:grpSp>
        <p:nvGrpSpPr>
          <p:cNvPr id="11" name="组合 10"/>
          <p:cNvGrpSpPr/>
          <p:nvPr>
            <p:custDataLst>
              <p:tags r:id="rId7"/>
            </p:custDataLst>
          </p:nvPr>
        </p:nvGrpSpPr>
        <p:grpSpPr>
          <a:xfrm rot="10800000">
            <a:off x="8542657" y="15483"/>
            <a:ext cx="3649343" cy="6857999"/>
            <a:chOff x="0" y="-15482"/>
            <a:chExt cx="3649343" cy="6857999"/>
          </a:xfrm>
        </p:grpSpPr>
        <p:pic>
          <p:nvPicPr>
            <p:cNvPr id="12" name="图片 11"/>
            <p:cNvPicPr>
              <a:picLocks noChangeAspect="1"/>
            </p:cNvPicPr>
            <p:nvPr userDrawn="1">
              <p:custDataLst>
                <p:tags r:id="rId8"/>
              </p:custDataLst>
            </p:nvPr>
          </p:nvPicPr>
          <p:blipFill>
            <a:blip r:embed="rId4"/>
            <a:stretch>
              <a:fillRect/>
            </a:stretch>
          </p:blipFill>
          <p:spPr>
            <a:xfrm rot="16200000">
              <a:off x="-1596587" y="1596587"/>
              <a:ext cx="6842517" cy="3649343"/>
            </a:xfrm>
            <a:prstGeom prst="rect">
              <a:avLst/>
            </a:prstGeom>
          </p:spPr>
        </p:pic>
        <p:pic>
          <p:nvPicPr>
            <p:cNvPr id="13" name="图片 12"/>
            <p:cNvPicPr>
              <a:picLocks noChangeAspect="1"/>
            </p:cNvPicPr>
            <p:nvPr userDrawn="1">
              <p:custDataLst>
                <p:tags r:id="rId9"/>
              </p:custDataLst>
            </p:nvPr>
          </p:nvPicPr>
          <p:blipFill rotWithShape="1">
            <a:blip r:embed="rId6"/>
            <a:srcRect/>
            <a:stretch>
              <a:fillRect/>
            </a:stretch>
          </p:blipFill>
          <p:spPr>
            <a:xfrm rot="5400000">
              <a:off x="-2338959" y="2323477"/>
              <a:ext cx="6857999" cy="2180082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/>
        <p:txBody>
          <a:bodyPr vert="horz" lIns="90000" tIns="46800" rIns="90000" bIns="46800" rtlCol="0" anchor="t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4" name="矩形: 圆角 13"/>
          <p:cNvSpPr/>
          <p:nvPr>
            <p:custDataLst>
              <p:tags r:id="rId14"/>
            </p:custDataLst>
          </p:nvPr>
        </p:nvSpPr>
        <p:spPr>
          <a:xfrm>
            <a:off x="5638165" y="1484173"/>
            <a:ext cx="914400" cy="47625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pic>
        <p:nvPicPr>
          <p:cNvPr id="9" name="图片 8" descr="C:\Users\kingsoft\Desktop\图片7副本.png图片7副本"/>
          <p:cNvPicPr>
            <a:picLocks noChangeAspect="1"/>
          </p:cNvPicPr>
          <p:nvPr>
            <p:custDataLst>
              <p:tags r:id="rId8"/>
            </p:custDataLst>
          </p:nvPr>
        </p:nvPicPr>
        <p:blipFill rotWithShape="1">
          <a:blip r:embed="rId9"/>
          <a:srcRect/>
          <a:stretch>
            <a:fillRect/>
          </a:stretch>
        </p:blipFill>
        <p:spPr>
          <a:xfrm flipH="1">
            <a:off x="8231997" y="5327780"/>
            <a:ext cx="3960001" cy="15302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 rot="5400000">
            <a:off x="-3378783" y="2809615"/>
            <a:ext cx="6858002" cy="1238771"/>
          </a:xfrm>
          <a:prstGeom prst="rect">
            <a:avLst/>
          </a:prstGeom>
        </p:spPr>
      </p:pic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4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5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9" name="图片 8" descr="C:\Users\kingsoft\Desktop\图片7副本.png图片7副本"/>
          <p:cNvPicPr>
            <a:picLocks noChangeAspect="1"/>
          </p:cNvPicPr>
          <p:nvPr>
            <p:custDataLst>
              <p:tags r:id="rId9"/>
            </p:custDataLst>
          </p:nvPr>
        </p:nvPicPr>
        <p:blipFill rotWithShape="1">
          <a:blip r:embed="rId10"/>
          <a:srcRect/>
          <a:stretch>
            <a:fillRect/>
          </a:stretch>
        </p:blipFill>
        <p:spPr>
          <a:xfrm flipH="1">
            <a:off x="8231997" y="5327780"/>
            <a:ext cx="3960001" cy="15302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-15240"/>
            <a:ext cx="12192000" cy="2046605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6177281"/>
            <a:ext cx="12192000" cy="1165911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0" y="35560"/>
            <a:ext cx="12192000" cy="204660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3125639" y="2421777"/>
            <a:ext cx="5940722" cy="1336635"/>
          </a:xfrm>
        </p:spPr>
        <p:txBody>
          <a:bodyPr vert="horz" lIns="90000" tIns="46800" rIns="90000" bIns="46800" rtlCol="0" anchor="b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7200" b="1" i="0" u="none" strike="noStrike" kern="1200" cap="none" spc="6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编辑标题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10"/>
            </p:custDataLst>
          </p:nvPr>
        </p:nvPicPr>
        <p:blipFill rotWithShape="1">
          <a:blip r:embed="rId11"/>
          <a:srcRect/>
          <a:stretch>
            <a:fillRect/>
          </a:stretch>
        </p:blipFill>
        <p:spPr>
          <a:xfrm>
            <a:off x="0" y="-3"/>
            <a:ext cx="12192000" cy="1704978"/>
          </a:xfrm>
          <a:prstGeom prst="rect">
            <a:avLst/>
          </a:prstGeom>
        </p:spPr>
      </p:pic>
      <p:sp>
        <p:nvSpPr>
          <p:cNvPr id="13" name="文本占位符 12"/>
          <p:cNvSpPr>
            <a:spLocks noGrp="1"/>
          </p:cNvSpPr>
          <p:nvPr>
            <p:ph type="body" sz="quarter" idx="13" hasCustomPrompt="1"/>
            <p:custDataLst>
              <p:tags r:id="rId12"/>
            </p:custDataLst>
          </p:nvPr>
        </p:nvSpPr>
        <p:spPr>
          <a:xfrm>
            <a:off x="4632702" y="4417887"/>
            <a:ext cx="1302101" cy="485285"/>
          </a:xfrm>
          <a:solidFill>
            <a:schemeClr val="accent1"/>
          </a:solidFill>
        </p:spPr>
        <p:txBody>
          <a:bodyPr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 hasCustomPrompt="1"/>
            <p:custDataLst>
              <p:tags r:id="rId13"/>
            </p:custDataLst>
          </p:nvPr>
        </p:nvSpPr>
        <p:spPr>
          <a:xfrm>
            <a:off x="6257198" y="4417887"/>
            <a:ext cx="1302102" cy="485285"/>
          </a:xfrm>
          <a:ln>
            <a:solidFill>
              <a:schemeClr val="accent1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Autofit/>
          </a:bodyPr>
          <a:lstStyle>
            <a:lvl1pPr>
              <a:defRPr sz="2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 baseline="0">
                <a:latin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latin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 baseline="0">
                <a:latin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18" name="图片 17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0" y="6177281"/>
            <a:ext cx="12192000" cy="131520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286385" y="273050"/>
            <a:ext cx="11616055" cy="63119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baseline="0" dirty="0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10" name="图片 9" descr="C:\Users\kingsoft\Desktop\图片7副本.png图片7副本"/>
          <p:cNvPicPr>
            <a:picLocks noChangeAspect="1"/>
          </p:cNvPicPr>
          <p:nvPr>
            <p:custDataLst>
              <p:tags r:id="rId8"/>
            </p:custDataLst>
          </p:nvPr>
        </p:nvPicPr>
        <p:blipFill rotWithShape="1">
          <a:blip r:embed="rId9"/>
          <a:srcRect/>
          <a:stretch>
            <a:fillRect/>
          </a:stretch>
        </p:blipFill>
        <p:spPr>
          <a:xfrm flipH="1">
            <a:off x="7072603" y="4933186"/>
            <a:ext cx="4829835" cy="16517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>
            <p:custDataLst>
              <p:tags r:id="rId2"/>
            </p:custDataLst>
          </p:nvPr>
        </p:nvSpPr>
        <p:spPr>
          <a:xfrm>
            <a:off x="0" y="0"/>
            <a:ext cx="4823460" cy="685863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olidFill>
                <a:schemeClr val="accent1"/>
              </a:solidFill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/>
          <a:lstStyle>
            <a:lvl1pPr>
              <a:defRPr sz="3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7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pic>
        <p:nvPicPr>
          <p:cNvPr id="10" name="图片 9" descr="C:\Users\kingsoft\Desktop\图片7副本.png图片7副本"/>
          <p:cNvPicPr>
            <a:picLocks noChangeAspect="1"/>
          </p:cNvPicPr>
          <p:nvPr>
            <p:custDataLst>
              <p:tags r:id="rId9"/>
            </p:custDataLst>
          </p:nvPr>
        </p:nvPicPr>
        <p:blipFill rotWithShape="1">
          <a:blip r:embed="rId10"/>
          <a:srcRect/>
          <a:stretch>
            <a:fillRect/>
          </a:stretch>
        </p:blipFill>
        <p:spPr>
          <a:xfrm flipH="1">
            <a:off x="8231997" y="5327780"/>
            <a:ext cx="3960001" cy="15302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7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pic>
        <p:nvPicPr>
          <p:cNvPr id="16" name="图片 15" descr="C:\Users\kingsoft\Desktop\图片7副本.png图片7副本"/>
          <p:cNvPicPr>
            <a:picLocks noChangeAspect="1"/>
          </p:cNvPicPr>
          <p:nvPr>
            <p:custDataLst>
              <p:tags r:id="rId9"/>
            </p:custDataLst>
          </p:nvPr>
        </p:nvPicPr>
        <p:blipFill rotWithShape="1">
          <a:blip r:embed="rId10"/>
          <a:srcRect/>
          <a:stretch>
            <a:fillRect/>
          </a:stretch>
        </p:blipFill>
        <p:spPr>
          <a:xfrm flipH="1">
            <a:off x="8231997" y="5327780"/>
            <a:ext cx="3960001" cy="15302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810" y="0"/>
            <a:ext cx="12192000" cy="1975485"/>
          </a:xfrm>
          <a:prstGeom prst="rect">
            <a:avLst/>
          </a:prstGeom>
        </p:spPr>
      </p:pic>
      <p:sp>
        <p:nvSpPr>
          <p:cNvPr id="13" name="矩形 12"/>
          <p:cNvSpPr/>
          <p:nvPr>
            <p:custDataLst>
              <p:tags r:id="rId4"/>
            </p:custDataLst>
          </p:nvPr>
        </p:nvSpPr>
        <p:spPr>
          <a:xfrm>
            <a:off x="0" y="50419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/>
          <a:lstStyle>
            <a:lvl1pPr algn="ctr">
              <a:defRPr sz="3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9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0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 marL="0" indent="0">
              <a:buNone/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6242387"/>
            <a:ext cx="12192000" cy="1231226"/>
          </a:xfrm>
          <a:prstGeom prst="rect">
            <a:avLst/>
          </a:prstGeom>
        </p:spPr>
      </p:pic>
      <p:sp>
        <p:nvSpPr>
          <p:cNvPr id="15" name="矩形 14"/>
          <p:cNvSpPr/>
          <p:nvPr>
            <p:custDataLst>
              <p:tags r:id="rId4"/>
            </p:custDataLst>
          </p:nvPr>
        </p:nvSpPr>
        <p:spPr>
          <a:xfrm>
            <a:off x="0" y="0"/>
            <a:ext cx="12192000" cy="91440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altLang="zh-CN">
              <a:latin typeface="Viner Hand ITC" panose="03070502030502020203" charset="0"/>
              <a:cs typeface="Viner Hand ITC" panose="03070502030502020203" charset="0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79600" y="237600"/>
            <a:ext cx="11037600" cy="441964"/>
          </a:xfrm>
        </p:spPr>
        <p:txBody>
          <a:bodyPr>
            <a:normAutofit/>
          </a:bodyPr>
          <a:lstStyle>
            <a:lvl1pPr>
              <a:defRPr sz="28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6"/>
            </p:custDataLst>
          </p:nvPr>
        </p:nvSpPr>
        <p:spPr>
          <a:xfrm>
            <a:off x="579600" y="1663200"/>
            <a:ext cx="5342400" cy="2894400"/>
          </a:xfrm>
        </p:spPr>
        <p:txBody>
          <a:bodyPr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6242400" y="1663200"/>
            <a:ext cx="5367600" cy="2894400"/>
          </a:xfrm>
        </p:spPr>
        <p:txBody>
          <a:bodyPr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1"/>
            </p:custDataLst>
          </p:nvPr>
        </p:nvSpPr>
        <p:spPr>
          <a:xfrm>
            <a:off x="572400" y="4816800"/>
            <a:ext cx="5342400" cy="781200"/>
          </a:xfrm>
        </p:spPr>
        <p:txBody>
          <a:bodyPr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2"/>
            </p:custDataLst>
          </p:nvPr>
        </p:nvSpPr>
        <p:spPr>
          <a:xfrm>
            <a:off x="6253200" y="4813200"/>
            <a:ext cx="5367600" cy="781200"/>
          </a:xfrm>
        </p:spPr>
        <p:txBody>
          <a:bodyPr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solidFill>
          <a:srgbClr val="EB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9" name="图片 8" descr="C:\Users\kingsoft\Desktop\图片7副本.png图片7副本"/>
          <p:cNvPicPr>
            <a:picLocks noChangeAspect="1"/>
          </p:cNvPicPr>
          <p:nvPr>
            <p:custDataLst>
              <p:tags r:id="rId6"/>
            </p:custDataLst>
          </p:nvPr>
        </p:nvPicPr>
        <p:blipFill rotWithShape="1">
          <a:blip r:embed="rId7"/>
          <a:srcRect/>
          <a:stretch>
            <a:fillRect/>
          </a:stretch>
        </p:blipFill>
        <p:spPr>
          <a:xfrm flipH="1">
            <a:off x="8429082" y="4917233"/>
            <a:ext cx="3762917" cy="981917"/>
          </a:xfrm>
          <a:prstGeom prst="rect">
            <a:avLst/>
          </a:prstGeom>
        </p:spPr>
      </p:pic>
      <p:pic>
        <p:nvPicPr>
          <p:cNvPr id="10" name="图片 9" descr="C:\Users\kingsoft\Desktop\图片7副本.png图片7副本"/>
          <p:cNvPicPr>
            <a:picLocks noChangeAspect="1"/>
          </p:cNvPicPr>
          <p:nvPr>
            <p:custDataLst>
              <p:tags r:id="rId8"/>
            </p:custDataLst>
          </p:nvPr>
        </p:nvPicPr>
        <p:blipFill rotWithShape="1">
          <a:blip r:embed="rId9"/>
          <a:srcRect/>
          <a:stretch>
            <a:fillRect/>
          </a:stretch>
        </p:blipFill>
        <p:spPr>
          <a:xfrm rot="10800000" flipH="1">
            <a:off x="0" y="398"/>
            <a:ext cx="4713605" cy="122999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0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1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4" Type="http://schemas.openxmlformats.org/officeDocument/2006/relationships/theme" Target="../theme/theme1.xml"/><Relationship Id="rId33" Type="http://schemas.openxmlformats.org/officeDocument/2006/relationships/tags" Target="../tags/tag152.xml"/><Relationship Id="rId32" Type="http://schemas.openxmlformats.org/officeDocument/2006/relationships/tags" Target="../tags/tag151.xml"/><Relationship Id="rId31" Type="http://schemas.openxmlformats.org/officeDocument/2006/relationships/tags" Target="../tags/tag150.xml"/><Relationship Id="rId30" Type="http://schemas.openxmlformats.org/officeDocument/2006/relationships/tags" Target="../tags/tag149.xml"/><Relationship Id="rId3" Type="http://schemas.openxmlformats.org/officeDocument/2006/relationships/slideLayout" Target="../slideLayouts/slideLayout3.xml"/><Relationship Id="rId29" Type="http://schemas.openxmlformats.org/officeDocument/2006/relationships/tags" Target="../tags/tag148.xml"/><Relationship Id="rId28" Type="http://schemas.openxmlformats.org/officeDocument/2006/relationships/tags" Target="../tags/tag147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8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lIns="90000" tIns="46800" rIns="90000" bIns="46800" rtlCol="0" anchor="t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9"/>
            </p:custDataLst>
          </p:nvPr>
        </p:nvSpPr>
        <p:spPr>
          <a:xfrm>
            <a:off x="669882" y="952508"/>
            <a:ext cx="10852237" cy="5388907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30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31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32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33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54.xml"/><Relationship Id="rId4" Type="http://schemas.openxmlformats.org/officeDocument/2006/relationships/slide" Target="slide47.xml"/><Relationship Id="rId3" Type="http://schemas.openxmlformats.org/officeDocument/2006/relationships/slide" Target="slide33.xml"/><Relationship Id="rId2" Type="http://schemas.openxmlformats.org/officeDocument/2006/relationships/slide" Target="slide30.xml"/><Relationship Id="rId1" Type="http://schemas.openxmlformats.org/officeDocument/2006/relationships/slide" Target="slide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1" Type="http://schemas.openxmlformats.org/officeDocument/2006/relationships/tags" Target="../tags/tag15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60.xml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6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5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164.xml"/><Relationship Id="rId2" Type="http://schemas.openxmlformats.org/officeDocument/2006/relationships/tags" Target="../tags/tag163.xml"/><Relationship Id="rId1" Type="http://schemas.openxmlformats.org/officeDocument/2006/relationships/tags" Target="../tags/tag16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72540" y="2292350"/>
            <a:ext cx="9437370" cy="1151255"/>
          </a:xfrm>
        </p:spPr>
        <p:txBody>
          <a:bodyPr/>
          <a:lstStyle/>
          <a:p>
            <a:r>
              <a:rPr lang="zh-CN" altLang="en-US" dirty="0">
                <a:latin typeface="+mj-lt"/>
                <a:ea typeface="+mj-ea"/>
                <a:sym typeface="+mn-ea"/>
              </a:rPr>
              <a:t>第</a:t>
            </a:r>
            <a:r>
              <a:rPr lang="en-US" altLang="zh-CN" dirty="0">
                <a:latin typeface="+mj-lt"/>
                <a:ea typeface="+mj-ea"/>
                <a:sym typeface="+mn-ea"/>
              </a:rPr>
              <a:t>4</a:t>
            </a:r>
            <a:r>
              <a:rPr lang="zh-CN" altLang="en-US" dirty="0">
                <a:latin typeface="+mj-lt"/>
                <a:ea typeface="+mj-ea"/>
                <a:sym typeface="+mn-ea"/>
              </a:rPr>
              <a:t>章 选择结构</a:t>
            </a:r>
            <a:endParaRPr lang="zh-CN" altLang="en-US" dirty="0">
              <a:latin typeface="+mj-lt"/>
              <a:ea typeface="+mj-ea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838315" y="4431665"/>
            <a:ext cx="5161280" cy="95313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r"/>
            <a:r>
              <a:rPr lang="zh-CN" altLang="en-US" sz="2800">
                <a:latin typeface="+mn-ea"/>
                <a:ea typeface="+mn-ea"/>
                <a:sym typeface="+mn-ea"/>
              </a:rPr>
              <a:t>苏州大学计算机学院公共教学部</a:t>
            </a:r>
            <a:endParaRPr lang="zh-CN" altLang="en-US" sz="2800">
              <a:latin typeface="+mn-ea"/>
              <a:ea typeface="+mn-ea"/>
            </a:endParaRPr>
          </a:p>
          <a:p>
            <a:pPr algn="r"/>
            <a:r>
              <a:rPr lang="zh-CN" altLang="en-US" sz="2800">
                <a:latin typeface="+mn-ea"/>
                <a:ea typeface="+mn-ea"/>
                <a:sym typeface="+mn-ea"/>
              </a:rPr>
              <a:t>甄田甜</a:t>
            </a:r>
            <a:endParaRPr lang="zh-CN" altLang="en-US" sz="2800">
              <a:latin typeface="+mn-ea"/>
              <a:ea typeface="+mn-ea"/>
            </a:endParaRPr>
          </a:p>
        </p:txBody>
      </p:sp>
    </p:spTree>
    <p:custDataLst>
      <p:tags r:id="rId1"/>
    </p:custDataLst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同侧圆角矩形 1"/>
          <p:cNvSpPr/>
          <p:nvPr/>
        </p:nvSpPr>
        <p:spPr>
          <a:xfrm rot="5400000" flipH="1">
            <a:off x="8043377" y="2112471"/>
            <a:ext cx="1080000" cy="494473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 w="9525">
            <a:solidFill>
              <a:schemeClr val="accent2">
                <a:lumMod val="40000"/>
                <a:lumOff val="60000"/>
              </a:schemeClr>
            </a:solidFill>
          </a:ln>
          <a:effectLst>
            <a:outerShdw blurRad="88900" dist="635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同侧圆角矩形 2"/>
          <p:cNvSpPr/>
          <p:nvPr/>
        </p:nvSpPr>
        <p:spPr>
          <a:xfrm rot="16200000">
            <a:off x="3179976" y="-350994"/>
            <a:ext cx="1080000" cy="494473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 w="9525">
            <a:solidFill>
              <a:schemeClr val="bg1"/>
            </a:solidFill>
          </a:ln>
          <a:effectLst>
            <a:outerShdw blurRad="88900" dist="635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圆角矩形 20"/>
          <p:cNvSpPr/>
          <p:nvPr/>
        </p:nvSpPr>
        <p:spPr>
          <a:xfrm>
            <a:off x="4293657" y="1556090"/>
            <a:ext cx="3644240" cy="3608259"/>
          </a:xfrm>
          <a:prstGeom prst="ellipse">
            <a:avLst/>
          </a:prstGeom>
          <a:solidFill>
            <a:schemeClr val="bg1"/>
          </a:solidFill>
          <a:ln w="15875">
            <a:solidFill>
              <a:srgbClr val="203864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>
              <a:lnSpc>
                <a:spcPct val="130000"/>
              </a:lnSpc>
            </a:pPr>
            <a:endParaRPr lang="zh-CN" altLang="en-US" sz="4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圆角矩形 20"/>
          <p:cNvSpPr/>
          <p:nvPr/>
        </p:nvSpPr>
        <p:spPr>
          <a:xfrm>
            <a:off x="4439816" y="1700808"/>
            <a:ext cx="3351918" cy="331882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bg1"/>
            </a:solidFill>
          </a:ln>
          <a:effectLst>
            <a:outerShdw blurRad="88900" dist="635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4995265" y="2400566"/>
            <a:ext cx="2241020" cy="1919304"/>
          </a:xfrm>
          <a:prstGeom prst="rect">
            <a:avLst/>
          </a:prstGeom>
        </p:spPr>
        <p:txBody>
          <a:bodyPr wrap="square" lIns="91436" tIns="45718" rIns="91436" bIns="45718" anchor="ctr" anchorCtr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4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选择</a:t>
            </a:r>
            <a:endParaRPr lang="en-US" altLang="zh-CN" sz="48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30000"/>
              </a:lnSpc>
            </a:pPr>
            <a:r>
              <a:rPr lang="zh-CN" altLang="en-US" sz="4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结构</a:t>
            </a:r>
            <a:endParaRPr lang="en-US" altLang="zh-CN" sz="4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610889" y="1726711"/>
            <a:ext cx="2536605" cy="670116"/>
          </a:xfrm>
          <a:prstGeom prst="rect">
            <a:avLst/>
          </a:prstGeom>
        </p:spPr>
        <p:txBody>
          <a:bodyPr wrap="square" lIns="91436" tIns="45718" rIns="91436" bIns="45718" anchor="ctr" anchorCtr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条件</a:t>
            </a:r>
            <a:r>
              <a:rPr lang="zh-CN" altLang="en-US" sz="32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运算符</a:t>
            </a:r>
            <a:endParaRPr lang="zh-CN" altLang="en-US" sz="3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007377" y="4218587"/>
            <a:ext cx="2716593" cy="670116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/>
          <a:p>
            <a:pPr algn="r">
              <a:lnSpc>
                <a:spcPct val="130000"/>
              </a:lnSpc>
            </a:pPr>
            <a:r>
              <a:rPr lang="en-US" altLang="zh-CN" sz="3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if</a:t>
            </a:r>
            <a:r>
              <a:rPr lang="zh-CN" altLang="en-US" sz="3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语句</a:t>
            </a:r>
            <a:endParaRPr lang="zh-CN" altLang="en-US" sz="3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102727" y="2775518"/>
            <a:ext cx="3264007" cy="652482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marL="457200" indent="-457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rgbClr val="203864"/>
                </a:solidFill>
                <a:latin typeface="Segoe UI Semilight" panose="020B0402040204020203" pitchFamily="34" charset="0"/>
                <a:ea typeface="微软雅黑" panose="020B0503020204020204" charset="-122"/>
                <a:cs typeface="Segoe UI Semilight" panose="020B0402040204020203" pitchFamily="34" charset="0"/>
              </a:rPr>
              <a:t>简单的选择结构</a:t>
            </a:r>
            <a:endParaRPr lang="zh-CN" altLang="en-US" sz="2800" dirty="0">
              <a:solidFill>
                <a:srgbClr val="203864"/>
              </a:solidFill>
              <a:latin typeface="Segoe UI Semilight" panose="020B0402040204020203" pitchFamily="34" charset="0"/>
              <a:ea typeface="微软雅黑" panose="020B0503020204020204" charset="-122"/>
              <a:cs typeface="Segoe UI Semilight" panose="020B0402040204020203" pitchFamily="34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8114282" y="3329969"/>
            <a:ext cx="3272385" cy="652482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marL="457200" indent="-457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rgbClr val="203864"/>
                </a:solidFill>
                <a:latin typeface="Segoe UI Semilight" panose="020B0402040204020203" pitchFamily="34" charset="0"/>
                <a:ea typeface="微软雅黑" panose="020B0503020204020204" charset="-122"/>
                <a:cs typeface="Segoe UI Semilight" panose="020B0402040204020203" pitchFamily="34" charset="0"/>
              </a:rPr>
              <a:t>复杂的选择结构</a:t>
            </a:r>
            <a:endParaRPr lang="zh-CN" altLang="en-US" sz="2800" dirty="0">
              <a:solidFill>
                <a:srgbClr val="203864"/>
              </a:solidFill>
              <a:latin typeface="Segoe UI Semilight" panose="020B0402040204020203" pitchFamily="34" charset="0"/>
              <a:ea typeface="微软雅黑" panose="020B0503020204020204" charset="-122"/>
              <a:cs typeface="Segoe UI Semilight" panose="020B0402040204020203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>
            <a:normAutofit/>
          </a:bodyPr>
          <a:lstStyle/>
          <a:p>
            <a:pPr algn="ctr">
              <a:buNone/>
            </a:pPr>
            <a:r>
              <a:rPr lang="zh-CN" altLang="en-US" sz="4000" dirty="0"/>
              <a:t>目录</a:t>
            </a:r>
            <a:endParaRPr lang="zh-CN" altLang="en-US" sz="4000" dirty="0"/>
          </a:p>
        </p:txBody>
      </p:sp>
      <p:sp>
        <p:nvSpPr>
          <p:cNvPr id="13315" name="内容占位符 2"/>
          <p:cNvSpPr>
            <a:spLocks noGrp="1"/>
          </p:cNvSpPr>
          <p:nvPr>
            <p:ph idx="1" hasCustomPrompt="1"/>
          </p:nvPr>
        </p:nvSpPr>
        <p:spPr/>
        <p:txBody>
          <a:bodyPr vert="horz" wrap="square" lIns="91440" tIns="45720" rIns="91440" bIns="45720" anchor="t"/>
          <a:lstStyle/>
          <a:p>
            <a:r>
              <a:rPr lang="en-US" altLang="zh-CN" sz="3200" dirty="0"/>
              <a:t>4.1 </a:t>
            </a:r>
            <a:r>
              <a:rPr sz="3200" dirty="0">
                <a:hlinkClick r:id="rId1" action="ppaction://hlinksldjump"/>
              </a:rPr>
              <a:t>条件表达式</a:t>
            </a:r>
            <a:endParaRPr lang="zh-CN" altLang="en-US" sz="3200" dirty="0"/>
          </a:p>
          <a:p>
            <a:r>
              <a:rPr lang="en-US" altLang="zh-CN" sz="3200" dirty="0"/>
              <a:t>4.2 </a:t>
            </a:r>
            <a:r>
              <a:rPr sz="3200" dirty="0">
                <a:hlinkClick r:id="rId2" action="ppaction://hlinksldjump"/>
              </a:rPr>
              <a:t>条件运算符</a:t>
            </a:r>
            <a:endParaRPr lang="zh-CN" altLang="en-US" sz="3200" dirty="0"/>
          </a:p>
          <a:p>
            <a:r>
              <a:rPr lang="en-US" altLang="zh-CN" sz="3200" dirty="0"/>
              <a:t>4.3 </a:t>
            </a:r>
            <a:r>
              <a:rPr sz="3200" dirty="0">
                <a:hlinkClick r:id="rId3" action="ppaction://hlinksldjump"/>
              </a:rPr>
              <a:t>选择结构的实现</a:t>
            </a:r>
            <a:endParaRPr lang="zh-CN" altLang="en-US" sz="3200" dirty="0"/>
          </a:p>
          <a:p>
            <a:r>
              <a:rPr lang="en-US" altLang="zh-CN" sz="3200" dirty="0"/>
              <a:t>4.4 </a:t>
            </a:r>
            <a:r>
              <a:rPr sz="3200" dirty="0">
                <a:hlinkClick r:id="rId4" action="ppaction://hlinksldjump"/>
              </a:rPr>
              <a:t>选择结构程序举例</a:t>
            </a:r>
            <a:endParaRPr lang="zh-CN" altLang="en-US" sz="3200" dirty="0"/>
          </a:p>
          <a:p>
            <a:endParaRPr lang="en-US" altLang="zh-CN" sz="3200" dirty="0"/>
          </a:p>
        </p:txBody>
      </p:sp>
    </p:spTree>
    <p:custDataLst>
      <p:tags r:id="rId5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WordArt 6"/>
          <p:cNvSpPr>
            <a:spLocks noChangeArrowheads="1" noChangeShapeType="1"/>
          </p:cNvSpPr>
          <p:nvPr/>
        </p:nvSpPr>
        <p:spPr bwMode="auto">
          <a:xfrm>
            <a:off x="1882775" y="1557338"/>
            <a:ext cx="8426450" cy="2011363"/>
          </a:xfrm>
          <a:prstGeom prst="rect">
            <a:avLst/>
          </a:prstGeom>
        </p:spPr>
        <p:txBody>
          <a:bodyPr wrap="none" fromWordArt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8500" b="1" i="0" u="none" strike="noStrike" kern="10" cap="none" spc="0" normalizeH="0" baseline="0" noProof="0" dirty="0">
              <a:ln w="9525">
                <a:noFill/>
                <a:round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ctrTitle"/>
          </p:nvPr>
        </p:nvSpPr>
        <p:spPr>
          <a:xfrm>
            <a:off x="2216785" y="2292350"/>
            <a:ext cx="7759065" cy="1276350"/>
          </a:xfrm>
        </p:spPr>
        <p:txBody>
          <a:bodyPr/>
          <a:lstStyle/>
          <a:p>
            <a:r>
              <a:rPr lang="en-US" dirty="0">
                <a:latin typeface="+mj-lt"/>
                <a:ea typeface="+mj-ea"/>
                <a:sym typeface="+mn-ea"/>
              </a:rPr>
              <a:t>4.1 </a:t>
            </a:r>
            <a:r>
              <a:rPr lang="zh-CN" altLang="en-US" dirty="0">
                <a:latin typeface="+mj-lt"/>
                <a:ea typeface="+mj-ea"/>
                <a:sym typeface="+mn-ea"/>
              </a:rPr>
              <a:t>条件表达式</a:t>
            </a:r>
            <a:endParaRPr lang="zh-CN" altLang="en-US" dirty="0">
              <a:latin typeface="+mj-lt"/>
              <a:ea typeface="+mj-ea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条件表达式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条件</a:t>
            </a:r>
            <a:r>
              <a:rPr lang="zh-CN" altLang="en-US" dirty="0" smtClean="0"/>
              <a:t>表达式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可以</a:t>
            </a:r>
            <a:r>
              <a:rPr lang="zh-CN" altLang="en-US" dirty="0"/>
              <a:t>是单个常量、变量或合法的任意</a:t>
            </a:r>
            <a:r>
              <a:rPr lang="zh-CN" altLang="en-US" dirty="0" smtClean="0"/>
              <a:t>表达式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表达式中可以</a:t>
            </a:r>
            <a:r>
              <a:rPr lang="zh-CN" altLang="en-US" dirty="0"/>
              <a:t>出现前面介绍过的所有</a:t>
            </a:r>
            <a:r>
              <a:rPr lang="zh-CN" altLang="en-US" dirty="0" smtClean="0"/>
              <a:t>运算符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条件表达式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条件表达式的计算</a:t>
            </a:r>
            <a:r>
              <a:rPr lang="zh-CN" altLang="en-US" dirty="0" smtClean="0"/>
              <a:t>结果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True——</a:t>
            </a:r>
            <a:r>
              <a:rPr lang="zh-CN" altLang="en-US" dirty="0" smtClean="0"/>
              <a:t>条件成立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False——</a:t>
            </a:r>
            <a:r>
              <a:rPr lang="zh-CN" altLang="en-US" dirty="0" smtClean="0"/>
              <a:t>条件</a:t>
            </a:r>
            <a:r>
              <a:rPr lang="zh-CN" altLang="en-US" dirty="0"/>
              <a:t>不</a:t>
            </a:r>
            <a:r>
              <a:rPr lang="zh-CN" altLang="en-US" dirty="0" smtClean="0"/>
              <a:t>成立</a:t>
            </a:r>
            <a:endParaRPr lang="en-US" altLang="zh-CN" dirty="0" smtClean="0"/>
          </a:p>
          <a:p>
            <a:pPr lvl="2"/>
            <a:r>
              <a:rPr lang="en-US" altLang="zh-CN" dirty="0"/>
              <a:t>None</a:t>
            </a:r>
            <a:r>
              <a:rPr lang="zh-CN" altLang="en-US" dirty="0"/>
              <a:t>、任何数值类型中的</a:t>
            </a:r>
            <a:r>
              <a:rPr lang="en-US" altLang="zh-CN" dirty="0"/>
              <a:t>0</a:t>
            </a:r>
            <a:r>
              <a:rPr lang="zh-CN" altLang="en-US" dirty="0"/>
              <a:t>（或</a:t>
            </a:r>
            <a:r>
              <a:rPr lang="en-US" altLang="zh-CN" dirty="0"/>
              <a:t>0.0</a:t>
            </a:r>
            <a:r>
              <a:rPr lang="zh-CN" altLang="en-US" dirty="0"/>
              <a:t>、</a:t>
            </a:r>
            <a:r>
              <a:rPr lang="en-US" altLang="zh-CN" dirty="0"/>
              <a:t>0j</a:t>
            </a:r>
            <a:r>
              <a:rPr lang="zh-CN" altLang="en-US" dirty="0"/>
              <a:t>等）、空字符串</a:t>
            </a:r>
            <a:r>
              <a:rPr lang="en-US" altLang="zh-CN" dirty="0"/>
              <a:t>""</a:t>
            </a:r>
            <a:r>
              <a:rPr lang="zh-CN" altLang="en-US" dirty="0"/>
              <a:t>、空元组</a:t>
            </a:r>
            <a:r>
              <a:rPr lang="en-US" altLang="zh-CN" dirty="0"/>
              <a:t>()</a:t>
            </a:r>
            <a:r>
              <a:rPr lang="zh-CN" altLang="en-US" dirty="0"/>
              <a:t>、空列表</a:t>
            </a:r>
            <a:r>
              <a:rPr lang="en-US" altLang="zh-CN" dirty="0"/>
              <a:t>[]</a:t>
            </a:r>
            <a:r>
              <a:rPr lang="zh-CN" altLang="en-US" dirty="0"/>
              <a:t>、空字典</a:t>
            </a:r>
            <a:r>
              <a:rPr lang="en-US" altLang="zh-CN" dirty="0"/>
              <a:t>{}</a:t>
            </a:r>
            <a:r>
              <a:rPr lang="zh-CN" altLang="en-US" dirty="0"/>
              <a:t>、空集合和结果为空的迭代对象等都等价于</a:t>
            </a:r>
            <a:r>
              <a:rPr lang="en-US" altLang="zh-CN" dirty="0"/>
              <a:t>False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4.1.1 </a:t>
            </a:r>
            <a:r>
              <a:rPr lang="zh-CN" altLang="en-US" dirty="0" smtClean="0"/>
              <a:t>关系</a:t>
            </a:r>
            <a:r>
              <a:rPr lang="zh-CN" altLang="en-US" dirty="0"/>
              <a:t>运算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2595181"/>
            <a:ext cx="10852150" cy="3930163"/>
          </a:xfrm>
        </p:spPr>
        <p:txBody>
          <a:bodyPr>
            <a:normAutofit/>
          </a:bodyPr>
          <a:lstStyle/>
          <a:p>
            <a:r>
              <a:rPr lang="zh-CN" altLang="en-US" dirty="0"/>
              <a:t>关系运算符中，被比较的数一般为</a:t>
            </a:r>
            <a:r>
              <a:rPr lang="zh-CN" altLang="en-US" dirty="0">
                <a:solidFill>
                  <a:srgbClr val="C00000"/>
                </a:solidFill>
              </a:rPr>
              <a:t>相同类型的可比较</a:t>
            </a:r>
            <a:r>
              <a:rPr lang="zh-CN" altLang="en-US" dirty="0" smtClean="0">
                <a:solidFill>
                  <a:srgbClr val="C00000"/>
                </a:solidFill>
              </a:rPr>
              <a:t>数据</a:t>
            </a:r>
            <a:endParaRPr lang="en-US" altLang="zh-CN" dirty="0" smtClean="0"/>
          </a:p>
          <a:p>
            <a:r>
              <a:rPr lang="zh-CN" altLang="en-US" dirty="0" smtClean="0"/>
              <a:t>不同</a:t>
            </a:r>
            <a:r>
              <a:rPr lang="zh-CN" altLang="en-US" dirty="0"/>
              <a:t>数据类型间比较会出错，但整型和浮点型之间</a:t>
            </a:r>
            <a:r>
              <a:rPr lang="zh-CN" altLang="en-US" dirty="0" smtClean="0"/>
              <a:t>可进行比较</a:t>
            </a:r>
            <a:endParaRPr lang="en-US" altLang="zh-CN" dirty="0" smtClean="0"/>
          </a:p>
          <a:p>
            <a:pPr marL="0" indent="0">
              <a:buNone/>
            </a:pPr>
            <a:endParaRPr lang="en-US" altLang="zh-CN" sz="2400" dirty="0">
              <a:solidFill>
                <a:srgbClr val="0070C0"/>
              </a:solidFill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1008000" y="1160145"/>
            <a:ext cx="10540800" cy="0"/>
          </a:xfrm>
          <a:prstGeom prst="line">
            <a:avLst/>
          </a:prstGeom>
          <a:ln w="19050">
            <a:solidFill>
              <a:srgbClr val="20386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六边形 4"/>
          <p:cNvSpPr/>
          <p:nvPr/>
        </p:nvSpPr>
        <p:spPr>
          <a:xfrm>
            <a:off x="5015880" y="1298666"/>
            <a:ext cx="1152128" cy="1041554"/>
          </a:xfrm>
          <a:prstGeom prst="hexagon">
            <a:avLst/>
          </a:prstGeom>
          <a:solidFill>
            <a:schemeClr val="accent2"/>
          </a:solidFill>
          <a:ln w="76200">
            <a:solidFill>
              <a:schemeClr val="tx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&lt;</a:t>
            </a:r>
            <a:endParaRPr lang="zh-CN" altLang="en-US" sz="3600" dirty="0"/>
          </a:p>
        </p:txBody>
      </p:sp>
      <p:sp>
        <p:nvSpPr>
          <p:cNvPr id="6" name="六边形 5"/>
          <p:cNvSpPr/>
          <p:nvPr/>
        </p:nvSpPr>
        <p:spPr>
          <a:xfrm>
            <a:off x="6023992" y="777889"/>
            <a:ext cx="1152128" cy="1041554"/>
          </a:xfrm>
          <a:prstGeom prst="hexagon">
            <a:avLst/>
          </a:prstGeom>
          <a:solidFill>
            <a:schemeClr val="accent2"/>
          </a:solidFill>
          <a:ln w="76200">
            <a:solidFill>
              <a:schemeClr val="tx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&lt;=</a:t>
            </a:r>
            <a:endParaRPr lang="zh-CN" altLang="en-US" sz="3600" dirty="0"/>
          </a:p>
        </p:txBody>
      </p:sp>
      <p:sp>
        <p:nvSpPr>
          <p:cNvPr id="7" name="六边形 6"/>
          <p:cNvSpPr/>
          <p:nvPr/>
        </p:nvSpPr>
        <p:spPr>
          <a:xfrm>
            <a:off x="7032104" y="1298666"/>
            <a:ext cx="1152128" cy="1041554"/>
          </a:xfrm>
          <a:prstGeom prst="hexagon">
            <a:avLst/>
          </a:prstGeom>
          <a:solidFill>
            <a:schemeClr val="accent2"/>
          </a:solidFill>
          <a:ln w="76200">
            <a:solidFill>
              <a:schemeClr val="tx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&gt;</a:t>
            </a:r>
            <a:endParaRPr lang="zh-CN" altLang="en-US" sz="3600" dirty="0"/>
          </a:p>
        </p:txBody>
      </p:sp>
      <p:sp>
        <p:nvSpPr>
          <p:cNvPr id="8" name="六边形 7"/>
          <p:cNvSpPr/>
          <p:nvPr/>
        </p:nvSpPr>
        <p:spPr>
          <a:xfrm>
            <a:off x="8040216" y="777889"/>
            <a:ext cx="1152128" cy="1041554"/>
          </a:xfrm>
          <a:prstGeom prst="hexagon">
            <a:avLst/>
          </a:prstGeom>
          <a:solidFill>
            <a:schemeClr val="accent2"/>
          </a:solidFill>
          <a:ln w="76200">
            <a:solidFill>
              <a:schemeClr val="tx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&gt;=</a:t>
            </a:r>
            <a:endParaRPr lang="zh-CN" altLang="en-US" sz="3600" dirty="0"/>
          </a:p>
        </p:txBody>
      </p:sp>
      <p:sp>
        <p:nvSpPr>
          <p:cNvPr id="9" name="六边形 8"/>
          <p:cNvSpPr/>
          <p:nvPr/>
        </p:nvSpPr>
        <p:spPr>
          <a:xfrm>
            <a:off x="9048328" y="1318635"/>
            <a:ext cx="1152128" cy="1041554"/>
          </a:xfrm>
          <a:prstGeom prst="hexagon">
            <a:avLst/>
          </a:prstGeom>
          <a:solidFill>
            <a:schemeClr val="accent2"/>
          </a:solidFill>
          <a:ln w="76200">
            <a:solidFill>
              <a:schemeClr val="tx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==</a:t>
            </a:r>
            <a:endParaRPr lang="zh-CN" altLang="en-US" sz="3600" dirty="0"/>
          </a:p>
        </p:txBody>
      </p:sp>
      <p:sp>
        <p:nvSpPr>
          <p:cNvPr id="10" name="六边形 9"/>
          <p:cNvSpPr/>
          <p:nvPr/>
        </p:nvSpPr>
        <p:spPr>
          <a:xfrm>
            <a:off x="10056440" y="797858"/>
            <a:ext cx="1152128" cy="1041554"/>
          </a:xfrm>
          <a:prstGeom prst="hexagon">
            <a:avLst/>
          </a:prstGeom>
          <a:solidFill>
            <a:schemeClr val="accent2"/>
          </a:solidFill>
          <a:ln w="76200">
            <a:solidFill>
              <a:schemeClr val="tx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!=</a:t>
            </a:r>
            <a:endParaRPr lang="zh-CN" altLang="en-US" sz="3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5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75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25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615315" y="1519039"/>
            <a:ext cx="10538643" cy="230425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4.1.1 </a:t>
            </a:r>
            <a:r>
              <a:rPr lang="zh-CN" altLang="en-US" dirty="0" smtClean="0"/>
              <a:t>关系</a:t>
            </a:r>
            <a:r>
              <a:rPr lang="zh-CN" altLang="en-US" dirty="0"/>
              <a:t>运算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5315" y="1518920"/>
            <a:ext cx="10852150" cy="25203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dirty="0"/>
              <a:t>&gt;&gt;&gt; print('</a:t>
            </a:r>
            <a:r>
              <a:rPr lang="en-US" altLang="zh-CN" sz="2400" dirty="0" err="1"/>
              <a:t>abc</a:t>
            </a:r>
            <a:r>
              <a:rPr lang="en-US" altLang="zh-CN" sz="2400" dirty="0"/>
              <a:t>' == '</a:t>
            </a:r>
            <a:r>
              <a:rPr lang="en-US" altLang="zh-CN" sz="2400" dirty="0" err="1"/>
              <a:t>abcd</a:t>
            </a:r>
            <a:r>
              <a:rPr lang="en-US" altLang="zh-CN" sz="2400" dirty="0"/>
              <a:t>')        #</a:t>
            </a:r>
            <a:r>
              <a:rPr sz="2400" dirty="0"/>
              <a:t>相同类型比较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>
                <a:solidFill>
                  <a:srgbClr val="0070C0"/>
                </a:solidFill>
              </a:rPr>
              <a:t>False</a:t>
            </a:r>
            <a:endParaRPr lang="en-US" altLang="zh-CN" sz="2400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altLang="zh-CN" sz="2400" dirty="0"/>
              <a:t>&gt;&gt;&gt; print(0 &lt; 12.5)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 smtClean="0">
                <a:solidFill>
                  <a:srgbClr val="0070C0"/>
                </a:solidFill>
              </a:rPr>
              <a:t>True</a:t>
            </a:r>
            <a:endParaRPr lang="en-US" altLang="zh-CN" sz="2400" dirty="0">
              <a:solidFill>
                <a:srgbClr val="0070C0"/>
              </a:solidFill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1008000" y="1160145"/>
            <a:ext cx="10540800" cy="0"/>
          </a:xfrm>
          <a:prstGeom prst="line">
            <a:avLst/>
          </a:prstGeom>
          <a:ln w="19050">
            <a:solidFill>
              <a:srgbClr val="20386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620689"/>
            <a:ext cx="10852150" cy="5720422"/>
          </a:xfrm>
          <a:solidFill>
            <a:schemeClr val="bg1">
              <a:lumMod val="85000"/>
            </a:schemeClr>
          </a:solidFill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sz="2400" dirty="0"/>
              <a:t>&gt;&gt;&gt; print(4 &gt; '</a:t>
            </a:r>
            <a:r>
              <a:rPr lang="en-US" altLang="zh-CN" sz="2400" dirty="0" err="1"/>
              <a:t>abc</a:t>
            </a:r>
            <a:r>
              <a:rPr lang="en-US" altLang="zh-CN" sz="2400" dirty="0"/>
              <a:t>')                                  </a:t>
            </a:r>
            <a:r>
              <a:rPr lang="en-US" altLang="zh-CN" sz="2400">
                <a:sym typeface="+mn-ea"/>
              </a:rPr>
              <a:t>#</a:t>
            </a:r>
            <a:r>
              <a:rPr sz="2400">
                <a:sym typeface="+mn-ea"/>
              </a:rPr>
              <a:t>不</a:t>
            </a:r>
            <a:r>
              <a:rPr sz="2400">
                <a:sym typeface="+mn-ea"/>
              </a:rPr>
              <a:t>同类型比较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 err="1">
                <a:solidFill>
                  <a:srgbClr val="FF0000"/>
                </a:solidFill>
              </a:rPr>
              <a:t>Traceback</a:t>
            </a:r>
            <a:r>
              <a:rPr lang="en-US" altLang="zh-CN" sz="2400" dirty="0">
                <a:solidFill>
                  <a:srgbClr val="FF0000"/>
                </a:solidFill>
              </a:rPr>
              <a:t> (most recent call last):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CN" sz="2400" dirty="0">
                <a:solidFill>
                  <a:srgbClr val="FF0000"/>
                </a:solidFill>
              </a:rPr>
              <a:t>  File "&lt;pyshell#0&gt;", line 1, in &lt;module&gt;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CN" sz="2400" dirty="0">
                <a:solidFill>
                  <a:srgbClr val="FF0000"/>
                </a:solidFill>
              </a:rPr>
              <a:t>    4 &gt; '</a:t>
            </a:r>
            <a:r>
              <a:rPr lang="en-US" altLang="zh-CN" sz="2400" dirty="0" err="1">
                <a:solidFill>
                  <a:srgbClr val="FF0000"/>
                </a:solidFill>
              </a:rPr>
              <a:t>abc</a:t>
            </a:r>
            <a:r>
              <a:rPr lang="en-US" altLang="zh-CN" sz="2400" dirty="0">
                <a:solidFill>
                  <a:srgbClr val="FF0000"/>
                </a:solidFill>
              </a:rPr>
              <a:t>'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CN" sz="2400" dirty="0" err="1">
                <a:solidFill>
                  <a:srgbClr val="FF0000"/>
                </a:solidFill>
              </a:rPr>
              <a:t>TypeError</a:t>
            </a:r>
            <a:r>
              <a:rPr lang="en-US" altLang="zh-CN" sz="2400" dirty="0">
                <a:solidFill>
                  <a:srgbClr val="FF0000"/>
                </a:solidFill>
              </a:rPr>
              <a:t>: </a:t>
            </a:r>
            <a:r>
              <a:rPr lang="en-US" altLang="zh-CN" sz="2400" dirty="0" err="1">
                <a:solidFill>
                  <a:srgbClr val="FF0000"/>
                </a:solidFill>
              </a:rPr>
              <a:t>unorderable</a:t>
            </a:r>
            <a:r>
              <a:rPr lang="en-US" altLang="zh-CN" sz="2400" dirty="0">
                <a:solidFill>
                  <a:srgbClr val="FF0000"/>
                </a:solidFill>
              </a:rPr>
              <a:t> types: </a:t>
            </a:r>
            <a:r>
              <a:rPr lang="en-US" altLang="zh-CN" sz="2400" dirty="0" err="1">
                <a:solidFill>
                  <a:srgbClr val="FF0000"/>
                </a:solidFill>
              </a:rPr>
              <a:t>int</a:t>
            </a:r>
            <a:r>
              <a:rPr lang="en-US" altLang="zh-CN" sz="2400" dirty="0">
                <a:solidFill>
                  <a:srgbClr val="FF0000"/>
                </a:solidFill>
              </a:rPr>
              <a:t>() &gt; </a:t>
            </a:r>
            <a:r>
              <a:rPr lang="en-US" altLang="zh-CN" sz="2400" dirty="0" err="1">
                <a:solidFill>
                  <a:srgbClr val="FF0000"/>
                </a:solidFill>
              </a:rPr>
              <a:t>str</a:t>
            </a:r>
            <a:r>
              <a:rPr lang="en-US" altLang="zh-CN" sz="2400" dirty="0">
                <a:solidFill>
                  <a:srgbClr val="FF0000"/>
                </a:solidFill>
              </a:rPr>
              <a:t>()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CN" sz="2400" dirty="0"/>
              <a:t>&gt;&gt;&gt; print(10 &gt; -3+5j)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 err="1">
                <a:solidFill>
                  <a:srgbClr val="FF0000"/>
                </a:solidFill>
              </a:rPr>
              <a:t>Traceback</a:t>
            </a:r>
            <a:r>
              <a:rPr lang="en-US" altLang="zh-CN" sz="2400" dirty="0">
                <a:solidFill>
                  <a:srgbClr val="FF0000"/>
                </a:solidFill>
              </a:rPr>
              <a:t> (most recent call last):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CN" sz="2400" dirty="0">
                <a:solidFill>
                  <a:srgbClr val="FF0000"/>
                </a:solidFill>
              </a:rPr>
              <a:t>  File "&lt;pyshell#3&gt;", line 1, in &lt;module&gt;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CN" sz="2400" dirty="0">
                <a:solidFill>
                  <a:srgbClr val="FF0000"/>
                </a:solidFill>
              </a:rPr>
              <a:t>    10 &gt; -3+5j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CN" sz="2400" dirty="0" err="1">
                <a:solidFill>
                  <a:srgbClr val="FF0000"/>
                </a:solidFill>
              </a:rPr>
              <a:t>TypeError</a:t>
            </a:r>
            <a:r>
              <a:rPr lang="en-US" altLang="zh-CN" sz="2400" dirty="0">
                <a:solidFill>
                  <a:srgbClr val="FF0000"/>
                </a:solidFill>
              </a:rPr>
              <a:t>: </a:t>
            </a:r>
            <a:r>
              <a:rPr lang="en-US" altLang="zh-CN" sz="2400" dirty="0" err="1">
                <a:solidFill>
                  <a:srgbClr val="FF0000"/>
                </a:solidFill>
              </a:rPr>
              <a:t>unorderable</a:t>
            </a:r>
            <a:r>
              <a:rPr lang="en-US" altLang="zh-CN" sz="2400" dirty="0">
                <a:solidFill>
                  <a:srgbClr val="FF0000"/>
                </a:solidFill>
              </a:rPr>
              <a:t> types: </a:t>
            </a:r>
            <a:r>
              <a:rPr lang="en-US" altLang="zh-CN" sz="2400" dirty="0" err="1">
                <a:solidFill>
                  <a:srgbClr val="FF0000"/>
                </a:solidFill>
              </a:rPr>
              <a:t>int</a:t>
            </a:r>
            <a:r>
              <a:rPr lang="en-US" altLang="zh-CN" sz="2400" dirty="0">
                <a:solidFill>
                  <a:srgbClr val="FF0000"/>
                </a:solidFill>
              </a:rPr>
              <a:t>() &gt; complex</a:t>
            </a:r>
            <a:r>
              <a:rPr lang="en-US" altLang="zh-CN" sz="2400" dirty="0" smtClean="0">
                <a:solidFill>
                  <a:srgbClr val="FF0000"/>
                </a:solidFill>
              </a:rPr>
              <a:t>()</a:t>
            </a:r>
            <a:endParaRPr lang="en-US" altLang="zh-CN" sz="2400" dirty="0" smtClean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78815" y="0"/>
            <a:ext cx="11148695" cy="6858000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2400" dirty="0"/>
              <a:t>有序序列的元素，一一对应比较</a:t>
            </a:r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&gt;&gt;&gt; print([1, 2, 3] &gt; [1, 2])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>
                <a:solidFill>
                  <a:srgbClr val="0070C0"/>
                </a:solidFill>
              </a:rPr>
              <a:t>True</a:t>
            </a:r>
            <a:endParaRPr lang="en-US" altLang="zh-CN" sz="2400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altLang="zh-CN">
                <a:sym typeface="+mn-ea"/>
              </a:rPr>
              <a:t>&gt;&gt;&gt; print((1, 2, 3) &lt; (2, 3, 4))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>
                <a:solidFill>
                  <a:srgbClr val="0070C0"/>
                </a:solidFill>
                <a:sym typeface="+mn-ea"/>
              </a:rPr>
              <a:t>True             </a:t>
            </a:r>
            <a:r>
              <a:rPr lang="en-US" altLang="zh-CN">
                <a:solidFill>
                  <a:srgbClr val="C00000"/>
                </a:solidFill>
                <a:sym typeface="+mn-ea"/>
              </a:rPr>
              <a:t>#</a:t>
            </a:r>
            <a:r>
              <a:rPr>
                <a:solidFill>
                  <a:srgbClr val="C00000"/>
                </a:solidFill>
                <a:sym typeface="+mn-ea"/>
              </a:rPr>
              <a:t>列表和元组，进行关系运算时，每个元素一一对应比较大小</a:t>
            </a:r>
            <a:endParaRPr>
              <a:solidFill>
                <a:srgbClr val="C00000"/>
              </a:solidFill>
              <a:sym typeface="+mn-ea"/>
            </a:endParaRPr>
          </a:p>
          <a:p>
            <a:pPr marL="0" indent="0">
              <a:buNone/>
            </a:pP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78815" y="0"/>
            <a:ext cx="11148695" cy="6628765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dirty="0"/>
              <a:t>&gt;&gt;&gt; print({1, 2, 3} &gt;= {2, 3, 4})  </a:t>
            </a:r>
            <a:r>
              <a:rPr lang="en-US" altLang="zh-CN">
                <a:solidFill>
                  <a:srgbClr val="C00000"/>
                </a:solidFill>
                <a:sym typeface="+mn-ea"/>
              </a:rPr>
              <a:t>#</a:t>
            </a:r>
            <a:r>
              <a:rPr>
                <a:solidFill>
                  <a:srgbClr val="C00000"/>
                </a:solidFill>
                <a:sym typeface="+mn-ea"/>
              </a:rPr>
              <a:t>集合</a:t>
            </a:r>
            <a:r>
              <a:rPr lang="en-US" altLang="zh-CN">
                <a:solidFill>
                  <a:srgbClr val="C00000"/>
                </a:solidFill>
                <a:sym typeface="+mn-ea"/>
              </a:rPr>
              <a:t>{2,3,4}</a:t>
            </a:r>
            <a:r>
              <a:rPr>
                <a:solidFill>
                  <a:srgbClr val="C00000"/>
                </a:solidFill>
                <a:sym typeface="+mn-ea"/>
              </a:rPr>
              <a:t>是不是集合</a:t>
            </a:r>
            <a:r>
              <a:rPr lang="en-US" altLang="zh-CN">
                <a:solidFill>
                  <a:srgbClr val="C00000"/>
                </a:solidFill>
                <a:sym typeface="+mn-ea"/>
              </a:rPr>
              <a:t>{1</a:t>
            </a:r>
            <a:r>
              <a:rPr>
                <a:solidFill>
                  <a:srgbClr val="C00000"/>
                </a:solidFill>
                <a:sym typeface="+mn-ea"/>
              </a:rPr>
              <a:t>，</a:t>
            </a:r>
            <a:r>
              <a:rPr lang="en-US" altLang="zh-CN">
                <a:solidFill>
                  <a:srgbClr val="C00000"/>
                </a:solidFill>
                <a:sym typeface="+mn-ea"/>
              </a:rPr>
              <a:t>2</a:t>
            </a:r>
            <a:r>
              <a:rPr>
                <a:solidFill>
                  <a:srgbClr val="C00000"/>
                </a:solidFill>
                <a:sym typeface="+mn-ea"/>
              </a:rPr>
              <a:t>，</a:t>
            </a:r>
            <a:r>
              <a:rPr lang="en-US" altLang="zh-CN">
                <a:solidFill>
                  <a:srgbClr val="C00000"/>
                </a:solidFill>
                <a:sym typeface="+mn-ea"/>
              </a:rPr>
              <a:t>3}</a:t>
            </a:r>
            <a:r>
              <a:rPr>
                <a:solidFill>
                  <a:srgbClr val="C00000"/>
                </a:solidFill>
                <a:sym typeface="+mn-ea"/>
              </a:rPr>
              <a:t>子集</a:t>
            </a:r>
            <a:endParaRPr>
              <a:solidFill>
                <a:srgbClr val="C00000"/>
              </a:solidFill>
              <a:sym typeface="+mn-ea"/>
            </a:endParaRPr>
          </a:p>
          <a:p>
            <a:pPr marL="0" indent="0">
              <a:buNone/>
            </a:pPr>
            <a:r>
              <a:rPr lang="en-US" altLang="zh-CN" sz="2400" dirty="0">
                <a:solidFill>
                  <a:srgbClr val="0070C0"/>
                </a:solidFill>
              </a:rPr>
              <a:t>False                 </a:t>
            </a:r>
            <a:endParaRPr sz="2400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&gt;&gt;&gt; print({1,2,3}&lt;={2,3,4})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400" dirty="0">
                <a:solidFill>
                  <a:srgbClr val="0070C0"/>
                </a:solidFill>
              </a:rPr>
              <a:t>False</a:t>
            </a:r>
            <a:endParaRPr lang="en-US" altLang="zh-CN" sz="2400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altLang="zh-CN" sz="2400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&gt;&gt;&gt; print({1,2}&lt;{1,2,3})   </a:t>
            </a:r>
            <a:r>
              <a:rPr lang="en-US" altLang="zh-CN">
                <a:solidFill>
                  <a:srgbClr val="C00000"/>
                </a:solidFill>
                <a:sym typeface="+mn-ea"/>
              </a:rPr>
              <a:t>#</a:t>
            </a:r>
            <a:r>
              <a:rPr>
                <a:solidFill>
                  <a:srgbClr val="C00000"/>
                </a:solidFill>
                <a:sym typeface="+mn-ea"/>
              </a:rPr>
              <a:t>集合的比较，</a:t>
            </a:r>
            <a:r>
              <a:rPr lang="en-US" altLang="zh-CN">
                <a:solidFill>
                  <a:srgbClr val="C00000"/>
                </a:solidFill>
                <a:sym typeface="+mn-ea"/>
              </a:rPr>
              <a:t>{1,2}</a:t>
            </a:r>
            <a:r>
              <a:rPr>
                <a:solidFill>
                  <a:srgbClr val="C00000"/>
                </a:solidFill>
                <a:sym typeface="+mn-ea"/>
              </a:rPr>
              <a:t>是否是</a:t>
            </a:r>
            <a:r>
              <a:rPr lang="en-US" altLang="zh-CN">
                <a:solidFill>
                  <a:srgbClr val="C00000"/>
                </a:solidFill>
                <a:sym typeface="+mn-ea"/>
              </a:rPr>
              <a:t>{1,2,3}</a:t>
            </a:r>
            <a:r>
              <a:rPr>
                <a:solidFill>
                  <a:srgbClr val="C00000"/>
                </a:solidFill>
                <a:sym typeface="+mn-ea"/>
              </a:rPr>
              <a:t>的子集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400" dirty="0">
                <a:solidFill>
                  <a:srgbClr val="0070C0"/>
                </a:solidFill>
              </a:rPr>
              <a:t>True</a:t>
            </a:r>
            <a:endParaRPr lang="en-US" altLang="zh-CN" sz="2400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&gt;&gt;&gt; print({1,2,3}&gt;{1,2})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400" dirty="0">
                <a:solidFill>
                  <a:srgbClr val="0070C0"/>
                </a:solidFill>
              </a:rPr>
              <a:t>True                   </a:t>
            </a:r>
            <a:endParaRPr lang="en-US" altLang="zh-CN" sz="2400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&gt;&gt;&gt; 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print(</a:t>
            </a:r>
            <a:r>
              <a:rPr lang="en-US" altLang="zh-CN" sz="2400" dirty="0">
                <a:solidFill>
                  <a:schemeClr val="tx1"/>
                </a:solidFill>
              </a:rPr>
              <a:t>{1,2,3}&lt;={1,2,3}</a:t>
            </a:r>
            <a:r>
              <a:rPr sz="2400" dirty="0">
                <a:solidFill>
                  <a:schemeClr val="tx1"/>
                </a:solidFill>
              </a:rPr>
              <a:t>）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400" dirty="0">
                <a:solidFill>
                  <a:srgbClr val="0070C0"/>
                </a:solidFill>
              </a:rPr>
              <a:t>True                  </a:t>
            </a:r>
            <a:r>
              <a:rPr lang="en-US" altLang="zh-CN">
                <a:solidFill>
                  <a:srgbClr val="C00000"/>
                </a:solidFill>
                <a:sym typeface="+mn-ea"/>
              </a:rPr>
              <a:t>#</a:t>
            </a:r>
            <a:r>
              <a:rPr>
                <a:solidFill>
                  <a:srgbClr val="C00000"/>
                </a:solidFill>
                <a:sym typeface="+mn-ea"/>
              </a:rPr>
              <a:t>集合的比较，</a:t>
            </a:r>
            <a:r>
              <a:rPr lang="en-US" altLang="zh-CN">
                <a:solidFill>
                  <a:srgbClr val="C00000"/>
                </a:solidFill>
                <a:sym typeface="+mn-ea"/>
              </a:rPr>
              <a:t>{1,2,3}</a:t>
            </a:r>
            <a:r>
              <a:rPr>
                <a:solidFill>
                  <a:srgbClr val="C00000"/>
                </a:solidFill>
                <a:sym typeface="+mn-ea"/>
              </a:rPr>
              <a:t>是否是</a:t>
            </a:r>
            <a:r>
              <a:rPr lang="en-US" altLang="zh-CN">
                <a:solidFill>
                  <a:srgbClr val="C00000"/>
                </a:solidFill>
                <a:sym typeface="+mn-ea"/>
              </a:rPr>
              <a:t>{1,2,3}</a:t>
            </a:r>
            <a:r>
              <a:rPr>
                <a:solidFill>
                  <a:srgbClr val="C00000"/>
                </a:solidFill>
                <a:sym typeface="+mn-ea"/>
              </a:rPr>
              <a:t>的真</a:t>
            </a:r>
            <a:r>
              <a:rPr>
                <a:solidFill>
                  <a:srgbClr val="C00000"/>
                </a:solidFill>
                <a:sym typeface="+mn-ea"/>
              </a:rPr>
              <a:t>子集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020445" y="187960"/>
            <a:ext cx="10501630" cy="6409690"/>
          </a:xfrm>
          <a:solidFill>
            <a:schemeClr val="bg1">
              <a:lumMod val="85000"/>
            </a:schemeClr>
          </a:solidFill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zh-CN" altLang="en-US" sz="2800" dirty="0"/>
              <a:t>连续的关系运算符</a:t>
            </a:r>
            <a:endParaRPr lang="en-US" altLang="zh-CN" sz="2800" dirty="0"/>
          </a:p>
          <a:p>
            <a:pPr marL="0" indent="0">
              <a:buNone/>
            </a:pPr>
            <a:r>
              <a:rPr lang="en-US" altLang="zh-CN" sz="2800" dirty="0"/>
              <a:t>&gt;&gt;&gt; a, b, c = 1, 2, </a:t>
            </a:r>
            <a:r>
              <a:rPr lang="en-US" altLang="zh-CN" sz="2800" dirty="0" smtClean="0"/>
              <a:t>3</a:t>
            </a:r>
            <a:endParaRPr lang="en-US" altLang="zh-CN" sz="2800" dirty="0" smtClean="0"/>
          </a:p>
          <a:p>
            <a:pPr marL="0" indent="0">
              <a:buNone/>
            </a:pPr>
            <a:endParaRPr lang="en-US" altLang="zh-CN" sz="2800" dirty="0" smtClean="0"/>
          </a:p>
          <a:p>
            <a:pPr marL="0" indent="0">
              <a:buNone/>
            </a:pPr>
            <a:r>
              <a:rPr lang="en-US" altLang="zh-CN" sz="2800" dirty="0"/>
              <a:t>&gt;&gt;&gt; print(a&lt;b&gt;c)		  </a:t>
            </a:r>
            <a:r>
              <a:rPr lang="en-US" altLang="zh-CN" sz="2800" dirty="0" smtClean="0">
                <a:solidFill>
                  <a:srgbClr val="FF0000"/>
                </a:solidFill>
                <a:sym typeface="+mn-ea"/>
              </a:rPr>
              <a:t># </a:t>
            </a:r>
            <a:r>
              <a:rPr lang="zh-CN" altLang="en-US" sz="2800" dirty="0">
                <a:solidFill>
                  <a:srgbClr val="FF0000"/>
                </a:solidFill>
                <a:sym typeface="+mn-ea"/>
              </a:rPr>
              <a:t>判断是否</a:t>
            </a:r>
            <a:r>
              <a:rPr lang="en-US" altLang="zh-CN" sz="2800" dirty="0">
                <a:solidFill>
                  <a:srgbClr val="FF0000"/>
                </a:solidFill>
                <a:sym typeface="+mn-ea"/>
              </a:rPr>
              <a:t>a&lt;b</a:t>
            </a:r>
            <a:r>
              <a:rPr lang="zh-CN" altLang="en-US" sz="2800" dirty="0">
                <a:solidFill>
                  <a:srgbClr val="FF0000"/>
                </a:solidFill>
                <a:sym typeface="+mn-ea"/>
              </a:rPr>
              <a:t>并且</a:t>
            </a:r>
            <a:r>
              <a:rPr lang="en-US" altLang="zh-CN" sz="2800" dirty="0">
                <a:solidFill>
                  <a:srgbClr val="FF0000"/>
                </a:solidFill>
                <a:sym typeface="+mn-ea"/>
              </a:rPr>
              <a:t>b&gt;c</a:t>
            </a:r>
            <a:endParaRPr lang="en-US" altLang="zh-CN" sz="2800" dirty="0"/>
          </a:p>
          <a:p>
            <a:pPr marL="0" indent="0">
              <a:buNone/>
            </a:pPr>
            <a:r>
              <a:rPr lang="en-US" altLang="zh-CN" sz="2800" dirty="0" smtClean="0">
                <a:solidFill>
                  <a:srgbClr val="0070C0"/>
                </a:solidFill>
              </a:rPr>
              <a:t>False                                </a:t>
            </a:r>
            <a:r>
              <a:rPr lang="en-US" altLang="zh-CN" sz="2800" dirty="0" smtClean="0">
                <a:solidFill>
                  <a:srgbClr val="FF0000"/>
                </a:solidFill>
                <a:sym typeface="+mn-ea"/>
              </a:rPr>
              <a:t># </a:t>
            </a:r>
            <a:r>
              <a:rPr lang="zh-CN" altLang="en-US" sz="2800" dirty="0">
                <a:solidFill>
                  <a:srgbClr val="FF0000"/>
                </a:solidFill>
                <a:sym typeface="+mn-ea"/>
              </a:rPr>
              <a:t>等同于</a:t>
            </a:r>
            <a:r>
              <a:rPr lang="en-US" altLang="zh-CN" sz="2800" dirty="0">
                <a:solidFill>
                  <a:srgbClr val="FF0000"/>
                </a:solidFill>
                <a:sym typeface="+mn-ea"/>
              </a:rPr>
              <a:t>a&lt;b</a:t>
            </a:r>
            <a:r>
              <a:rPr lang="zh-CN" altLang="en-US" sz="2800" dirty="0">
                <a:solidFill>
                  <a:srgbClr val="FF0000"/>
                </a:solidFill>
                <a:sym typeface="+mn-ea"/>
              </a:rPr>
              <a:t>  </a:t>
            </a:r>
            <a:r>
              <a:rPr lang="en-US" altLang="zh-CN" sz="2800" dirty="0">
                <a:solidFill>
                  <a:srgbClr val="FF0000"/>
                </a:solidFill>
                <a:sym typeface="+mn-ea"/>
              </a:rPr>
              <a:t>and  </a:t>
            </a:r>
            <a:r>
              <a:rPr lang="en-US" altLang="zh-CN" sz="2800" dirty="0">
                <a:solidFill>
                  <a:srgbClr val="FF0000"/>
                </a:solidFill>
                <a:sym typeface="+mn-ea"/>
              </a:rPr>
              <a:t>b&gt;c</a:t>
            </a:r>
            <a:endParaRPr lang="en-US" altLang="zh-CN" sz="2800" dirty="0" smtClean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altLang="zh-CN" sz="2800" dirty="0" smtClean="0"/>
              <a:t>&gt;&gt;&gt; print(a&lt;c&gt;b)</a:t>
            </a:r>
            <a:endParaRPr lang="en-US" altLang="zh-CN" sz="2800" dirty="0" smtClean="0"/>
          </a:p>
          <a:p>
            <a:pPr marL="0" indent="0">
              <a:buNone/>
            </a:pPr>
            <a:r>
              <a:rPr lang="en-US" altLang="zh-CN" sz="2800" dirty="0" smtClean="0">
                <a:solidFill>
                  <a:srgbClr val="0070C0"/>
                </a:solidFill>
              </a:rPr>
              <a:t>True</a:t>
            </a:r>
            <a:endParaRPr lang="en-US" altLang="zh-CN" sz="2800" dirty="0" smtClean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altLang="zh-CN" sz="2800" dirty="0" smtClean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altLang="zh-CN" sz="2800" dirty="0"/>
              <a:t>&gt;&gt;&gt; print(a&lt;b&lt;c)		</a:t>
            </a:r>
            <a:r>
              <a:rPr lang="en-US" altLang="zh-CN" sz="2800" dirty="0" smtClean="0">
                <a:solidFill>
                  <a:srgbClr val="FF0000"/>
                </a:solidFill>
                <a:sym typeface="+mn-ea"/>
              </a:rPr>
              <a:t># </a:t>
            </a:r>
            <a:r>
              <a:rPr lang="zh-CN" altLang="en-US" sz="2800" dirty="0">
                <a:solidFill>
                  <a:srgbClr val="FF0000"/>
                </a:solidFill>
                <a:sym typeface="+mn-ea"/>
              </a:rPr>
              <a:t>判断是否</a:t>
            </a:r>
            <a:r>
              <a:rPr lang="en-US" altLang="zh-CN" sz="2800" dirty="0">
                <a:solidFill>
                  <a:srgbClr val="FF0000"/>
                </a:solidFill>
                <a:sym typeface="+mn-ea"/>
              </a:rPr>
              <a:t>a&lt;b</a:t>
            </a:r>
            <a:r>
              <a:rPr lang="zh-CN" altLang="en-US" sz="2800" dirty="0">
                <a:solidFill>
                  <a:srgbClr val="FF0000"/>
                </a:solidFill>
                <a:sym typeface="+mn-ea"/>
              </a:rPr>
              <a:t>并且</a:t>
            </a:r>
            <a:r>
              <a:rPr lang="en-US" altLang="zh-CN" sz="2800" dirty="0" smtClean="0">
                <a:solidFill>
                  <a:srgbClr val="FF0000"/>
                </a:solidFill>
                <a:sym typeface="+mn-ea"/>
              </a:rPr>
              <a:t>b&lt;c</a:t>
            </a:r>
            <a:endParaRPr lang="en-US" altLang="zh-CN" sz="2800" dirty="0" smtClean="0"/>
          </a:p>
          <a:p>
            <a:pPr marL="0" indent="0">
              <a:buNone/>
            </a:pPr>
            <a:r>
              <a:rPr lang="en-US" altLang="zh-CN" sz="2800" dirty="0" smtClean="0">
                <a:solidFill>
                  <a:srgbClr val="0070C0"/>
                </a:solidFill>
              </a:rPr>
              <a:t>True</a:t>
            </a:r>
            <a:endParaRPr lang="zh-CN" altLang="en-US" sz="28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4.1.2 </a:t>
            </a:r>
            <a:r>
              <a:rPr lang="zh-CN" altLang="en-US" dirty="0" smtClean="0"/>
              <a:t>逻辑运算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2091125"/>
            <a:ext cx="7370291" cy="4249985"/>
          </a:xfrm>
        </p:spPr>
        <p:txBody>
          <a:bodyPr/>
          <a:lstStyle/>
          <a:p>
            <a:r>
              <a:rPr lang="zh-CN" altLang="en-US" dirty="0" smtClean="0"/>
              <a:t>参与逻辑运算</a:t>
            </a:r>
            <a:r>
              <a:rPr lang="zh-CN" altLang="en-US" dirty="0"/>
              <a:t>的</a:t>
            </a:r>
            <a:r>
              <a:rPr lang="zh-CN" altLang="en-US" dirty="0" smtClean="0"/>
              <a:t>操作数和结果都可以</a:t>
            </a:r>
            <a:r>
              <a:rPr lang="zh-CN" altLang="en-US" dirty="0"/>
              <a:t>为非布尔型（</a:t>
            </a:r>
            <a:r>
              <a:rPr lang="en-US" altLang="zh-CN" dirty="0"/>
              <a:t>bool</a:t>
            </a:r>
            <a:r>
              <a:rPr lang="zh-CN" altLang="en-US" dirty="0"/>
              <a:t>）</a:t>
            </a:r>
            <a:r>
              <a:rPr lang="zh-CN" altLang="en-US" dirty="0" smtClean="0"/>
              <a:t>数据</a:t>
            </a:r>
            <a:endParaRPr lang="en-US" altLang="zh-CN" dirty="0" smtClean="0"/>
          </a:p>
          <a:p>
            <a:r>
              <a:rPr lang="zh-CN" altLang="en-US" dirty="0" smtClean="0"/>
              <a:t>取</a:t>
            </a:r>
            <a:r>
              <a:rPr lang="zh-CN" altLang="en-US" dirty="0"/>
              <a:t>反运算</a:t>
            </a:r>
            <a:r>
              <a:rPr lang="en-US" altLang="zh-CN" dirty="0" smtClean="0"/>
              <a:t>not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将</a:t>
            </a:r>
            <a:r>
              <a:rPr lang="en-US" altLang="zh-CN" dirty="0"/>
              <a:t>True</a:t>
            </a:r>
            <a:r>
              <a:rPr lang="zh-CN" altLang="en-US" dirty="0"/>
              <a:t>或与</a:t>
            </a:r>
            <a:r>
              <a:rPr lang="en-US" altLang="zh-CN" dirty="0"/>
              <a:t>True</a:t>
            </a:r>
            <a:r>
              <a:rPr lang="zh-CN" altLang="en-US" dirty="0"/>
              <a:t>等价的数据变为</a:t>
            </a:r>
            <a:r>
              <a:rPr lang="en-US" altLang="zh-CN" dirty="0" smtClean="0"/>
              <a:t>False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False</a:t>
            </a:r>
            <a:r>
              <a:rPr lang="zh-CN" altLang="en-US" dirty="0"/>
              <a:t>或与</a:t>
            </a:r>
            <a:r>
              <a:rPr lang="en-US" altLang="zh-CN" dirty="0"/>
              <a:t>False</a:t>
            </a:r>
            <a:r>
              <a:rPr lang="zh-CN" altLang="en-US" dirty="0"/>
              <a:t>等价的数据则变为</a:t>
            </a:r>
            <a:r>
              <a:rPr lang="en-US" altLang="zh-CN" dirty="0" smtClean="0"/>
              <a:t>True</a:t>
            </a:r>
            <a:endParaRPr lang="zh-CN" altLang="en-US" dirty="0"/>
          </a:p>
        </p:txBody>
      </p:sp>
      <p:cxnSp>
        <p:nvCxnSpPr>
          <p:cNvPr id="4" name="直接连接符 3"/>
          <p:cNvCxnSpPr/>
          <p:nvPr/>
        </p:nvCxnSpPr>
        <p:spPr>
          <a:xfrm>
            <a:off x="1008000" y="1160145"/>
            <a:ext cx="10540800" cy="0"/>
          </a:xfrm>
          <a:prstGeom prst="line">
            <a:avLst/>
          </a:prstGeom>
          <a:ln w="19050">
            <a:solidFill>
              <a:srgbClr val="20386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六边形 4"/>
          <p:cNvSpPr/>
          <p:nvPr/>
        </p:nvSpPr>
        <p:spPr>
          <a:xfrm>
            <a:off x="4871864" y="332656"/>
            <a:ext cx="1152128" cy="1041554"/>
          </a:xfrm>
          <a:prstGeom prst="hexagon">
            <a:avLst/>
          </a:prstGeom>
          <a:solidFill>
            <a:schemeClr val="accent2"/>
          </a:solidFill>
          <a:ln w="76200">
            <a:solidFill>
              <a:schemeClr val="tx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 smtClean="0"/>
              <a:t>not</a:t>
            </a:r>
            <a:endParaRPr lang="zh-CN" altLang="en-US" sz="3200" dirty="0"/>
          </a:p>
        </p:txBody>
      </p:sp>
      <p:sp>
        <p:nvSpPr>
          <p:cNvPr id="6" name="六边形 5"/>
          <p:cNvSpPr/>
          <p:nvPr/>
        </p:nvSpPr>
        <p:spPr>
          <a:xfrm>
            <a:off x="5879976" y="873402"/>
            <a:ext cx="1152128" cy="1041554"/>
          </a:xfrm>
          <a:prstGeom prst="hexagon">
            <a:avLst/>
          </a:prstGeom>
          <a:solidFill>
            <a:schemeClr val="accent2"/>
          </a:solidFill>
          <a:ln w="76200">
            <a:solidFill>
              <a:schemeClr val="tx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3200" dirty="0" smtClean="0"/>
              <a:t>and</a:t>
            </a:r>
            <a:endParaRPr lang="en-US" altLang="zh-CN" sz="3200" dirty="0" smtClean="0"/>
          </a:p>
        </p:txBody>
      </p:sp>
      <p:sp>
        <p:nvSpPr>
          <p:cNvPr id="7" name="六边形 6"/>
          <p:cNvSpPr/>
          <p:nvPr/>
        </p:nvSpPr>
        <p:spPr>
          <a:xfrm>
            <a:off x="6888088" y="352625"/>
            <a:ext cx="1152128" cy="1041554"/>
          </a:xfrm>
          <a:prstGeom prst="hexagon">
            <a:avLst/>
          </a:prstGeom>
          <a:solidFill>
            <a:schemeClr val="accent2"/>
          </a:solidFill>
          <a:ln w="76200">
            <a:solidFill>
              <a:schemeClr val="tx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 smtClean="0"/>
              <a:t>or</a:t>
            </a:r>
            <a:endParaRPr lang="zh-CN" altLang="en-US" sz="3200" dirty="0"/>
          </a:p>
        </p:txBody>
      </p:sp>
      <p:sp>
        <p:nvSpPr>
          <p:cNvPr id="8" name="内容占位符 2"/>
          <p:cNvSpPr txBox="1"/>
          <p:nvPr/>
        </p:nvSpPr>
        <p:spPr>
          <a:xfrm>
            <a:off x="8184232" y="1938130"/>
            <a:ext cx="3717680" cy="424998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 dirty="0"/>
              <a:t>&gt;&gt;&gt; a = True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&gt;&gt;&gt; not a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>
                <a:solidFill>
                  <a:srgbClr val="0070C0"/>
                </a:solidFill>
              </a:rPr>
              <a:t>False</a:t>
            </a:r>
            <a:endParaRPr lang="en-US" altLang="zh-CN" sz="2400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altLang="zh-CN" sz="2400" dirty="0"/>
              <a:t>&gt;&gt;&gt; print(not (9%3</a:t>
            </a:r>
            <a:r>
              <a:rPr lang="en-US" altLang="zh-CN" sz="2400" dirty="0" smtClean="0"/>
              <a:t>))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 smtClean="0">
                <a:solidFill>
                  <a:srgbClr val="0070C0"/>
                </a:solidFill>
              </a:rPr>
              <a:t>True</a:t>
            </a:r>
            <a:endParaRPr lang="en-US" altLang="zh-CN" sz="2400" dirty="0" smtClean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altLang="zh-CN" sz="2400" dirty="0"/>
              <a:t>&gt;&gt;&gt; print(not (</a:t>
            </a:r>
            <a:r>
              <a:rPr lang="en-US" altLang="zh-CN" sz="2400" dirty="0" smtClean="0"/>
              <a:t>9//3</a:t>
            </a:r>
            <a:r>
              <a:rPr lang="en-US" altLang="zh-CN" sz="2400" dirty="0"/>
              <a:t>))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 smtClean="0">
                <a:solidFill>
                  <a:srgbClr val="0070C0"/>
                </a:solidFill>
              </a:rPr>
              <a:t>False</a:t>
            </a:r>
            <a:endParaRPr lang="en-US" altLang="zh-CN" sz="24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5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与运算</a:t>
            </a:r>
            <a:r>
              <a:rPr lang="en-US" altLang="zh-CN" dirty="0"/>
              <a:t>and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484784"/>
            <a:ext cx="10852150" cy="4856326"/>
          </a:xfrm>
        </p:spPr>
        <p:txBody>
          <a:bodyPr>
            <a:normAutofit lnSpcReduction="10000"/>
          </a:bodyPr>
          <a:lstStyle/>
          <a:p>
            <a:pPr>
              <a:lnSpc>
                <a:spcPct val="140000"/>
              </a:lnSpc>
            </a:pPr>
            <a:r>
              <a:rPr lang="zh-CN" altLang="en-US" dirty="0"/>
              <a:t>仅当两个操作数的值都等价于</a:t>
            </a:r>
            <a:r>
              <a:rPr lang="en-US" altLang="zh-CN" dirty="0"/>
              <a:t>True</a:t>
            </a:r>
            <a:r>
              <a:rPr lang="zh-CN" altLang="en-US" dirty="0"/>
              <a:t>时，运算结果为第二个操作数的</a:t>
            </a:r>
            <a:r>
              <a:rPr lang="zh-CN" altLang="en-US" dirty="0" smtClean="0"/>
              <a:t>值</a:t>
            </a:r>
            <a:endParaRPr lang="en-US" altLang="zh-CN" dirty="0" smtClean="0"/>
          </a:p>
          <a:p>
            <a:pPr>
              <a:lnSpc>
                <a:spcPct val="140000"/>
              </a:lnSpc>
            </a:pPr>
            <a:r>
              <a:rPr lang="zh-CN" altLang="en-US" dirty="0"/>
              <a:t>有至少一个操作数等价于</a:t>
            </a:r>
            <a:r>
              <a:rPr lang="en-US" altLang="zh-CN" dirty="0"/>
              <a:t>False</a:t>
            </a:r>
            <a:r>
              <a:rPr lang="zh-CN" altLang="en-US" dirty="0"/>
              <a:t>，运算结果就是第一个等价于</a:t>
            </a:r>
            <a:r>
              <a:rPr lang="en-US" altLang="zh-CN" dirty="0"/>
              <a:t>False</a:t>
            </a:r>
            <a:r>
              <a:rPr lang="zh-CN" altLang="en-US" dirty="0"/>
              <a:t>的操作数的</a:t>
            </a:r>
            <a:r>
              <a:rPr lang="zh-CN" altLang="en-US" dirty="0" smtClean="0"/>
              <a:t>值</a:t>
            </a:r>
            <a:endParaRPr lang="en-US" altLang="zh-CN" dirty="0" smtClean="0"/>
          </a:p>
          <a:p>
            <a:pPr marL="0" indent="0">
              <a:lnSpc>
                <a:spcPct val="120000"/>
              </a:lnSpc>
              <a:buNone/>
            </a:pPr>
            <a:endParaRPr lang="en-US" altLang="zh-CN" dirty="0">
              <a:solidFill>
                <a:srgbClr val="0070C0"/>
              </a:solidFill>
            </a:endParaRPr>
          </a:p>
        </p:txBody>
      </p:sp>
      <p:sp>
        <p:nvSpPr>
          <p:cNvPr id="4" name="六边形 3"/>
          <p:cNvSpPr/>
          <p:nvPr/>
        </p:nvSpPr>
        <p:spPr>
          <a:xfrm>
            <a:off x="10200456" y="280910"/>
            <a:ext cx="1152128" cy="1041554"/>
          </a:xfrm>
          <a:prstGeom prst="hexagon">
            <a:avLst/>
          </a:prstGeom>
          <a:solidFill>
            <a:schemeClr val="accent2"/>
          </a:solidFill>
          <a:ln w="76200">
            <a:solidFill>
              <a:schemeClr val="tx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3200" dirty="0" smtClean="0"/>
              <a:t>and</a:t>
            </a:r>
            <a:endParaRPr lang="en-US" altLang="zh-CN" sz="32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535305" y="1484630"/>
            <a:ext cx="10817225" cy="474154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与运算</a:t>
            </a:r>
            <a:r>
              <a:rPr lang="en-US" altLang="zh-CN" dirty="0"/>
              <a:t>and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484784"/>
            <a:ext cx="10852150" cy="4856326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dirty="0"/>
              <a:t>&gt;&gt;&gt; 3 &lt; 4 and 3 + 6	</a:t>
            </a:r>
            <a:r>
              <a:rPr lang="en-US" altLang="zh-CN" dirty="0" smtClean="0">
                <a:solidFill>
                  <a:srgbClr val="FF0000"/>
                </a:solidFill>
              </a:rPr>
              <a:t># </a:t>
            </a:r>
            <a:r>
              <a:rPr lang="zh-CN" altLang="en-US" dirty="0">
                <a:solidFill>
                  <a:srgbClr val="FF0000"/>
                </a:solidFill>
              </a:rPr>
              <a:t>两个操作数都等价于</a:t>
            </a:r>
            <a:r>
              <a:rPr lang="en-US" altLang="zh-CN" dirty="0">
                <a:solidFill>
                  <a:srgbClr val="FF0000"/>
                </a:solidFill>
              </a:rPr>
              <a:t>True</a:t>
            </a:r>
            <a:endParaRPr lang="en-US" altLang="zh-CN" dirty="0">
              <a:solidFill>
                <a:srgbClr val="FF0000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>
                <a:solidFill>
                  <a:srgbClr val="0070C0"/>
                </a:solidFill>
              </a:rPr>
              <a:t>9</a:t>
            </a:r>
            <a:endParaRPr lang="en-US" altLang="zh-CN" dirty="0">
              <a:solidFill>
                <a:srgbClr val="0070C0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/>
              <a:t>&gt;&gt;&gt; 3 + 2 and list()	</a:t>
            </a:r>
            <a:r>
              <a:rPr lang="en-US" altLang="zh-CN" dirty="0" smtClean="0">
                <a:solidFill>
                  <a:srgbClr val="FF0000"/>
                </a:solidFill>
              </a:rPr>
              <a:t># </a:t>
            </a:r>
            <a:r>
              <a:rPr lang="zh-CN" altLang="en-US" dirty="0">
                <a:solidFill>
                  <a:srgbClr val="FF0000"/>
                </a:solidFill>
              </a:rPr>
              <a:t>无</a:t>
            </a:r>
            <a:r>
              <a:rPr lang="zh-CN" altLang="en-US" dirty="0" smtClean="0">
                <a:solidFill>
                  <a:srgbClr val="FF0000"/>
                </a:solidFill>
              </a:rPr>
              <a:t>参</a:t>
            </a:r>
            <a:r>
              <a:rPr lang="en-US" altLang="zh-CN" dirty="0" smtClean="0">
                <a:solidFill>
                  <a:srgbClr val="FF0000"/>
                </a:solidFill>
              </a:rPr>
              <a:t>list</a:t>
            </a:r>
            <a:r>
              <a:rPr lang="en-US" altLang="zh-CN" dirty="0">
                <a:solidFill>
                  <a:srgbClr val="FF0000"/>
                </a:solidFill>
              </a:rPr>
              <a:t>()</a:t>
            </a:r>
            <a:r>
              <a:rPr lang="zh-CN" altLang="en-US" dirty="0">
                <a:solidFill>
                  <a:srgbClr val="FF0000"/>
                </a:solidFill>
              </a:rPr>
              <a:t>函数</a:t>
            </a:r>
            <a:r>
              <a:rPr lang="zh-CN" altLang="en-US" dirty="0" smtClean="0">
                <a:solidFill>
                  <a:srgbClr val="FF0000"/>
                </a:solidFill>
              </a:rPr>
              <a:t>返回空</a:t>
            </a:r>
            <a:r>
              <a:rPr lang="zh-CN" altLang="en-US" dirty="0">
                <a:solidFill>
                  <a:srgbClr val="FF0000"/>
                </a:solidFill>
              </a:rPr>
              <a:t>列表，等价于</a:t>
            </a:r>
            <a:r>
              <a:rPr lang="en-US" altLang="zh-CN" dirty="0">
                <a:solidFill>
                  <a:srgbClr val="FF0000"/>
                </a:solidFill>
              </a:rPr>
              <a:t>False</a:t>
            </a:r>
            <a:endParaRPr lang="en-US" altLang="zh-CN" dirty="0">
              <a:solidFill>
                <a:srgbClr val="FF0000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 smtClean="0">
                <a:solidFill>
                  <a:srgbClr val="0070C0"/>
                </a:solidFill>
              </a:rPr>
              <a:t>[]</a:t>
            </a:r>
            <a:endParaRPr lang="en-US" altLang="zh-CN" dirty="0">
              <a:solidFill>
                <a:srgbClr val="0070C0"/>
              </a:solidFill>
            </a:endParaRPr>
          </a:p>
        </p:txBody>
      </p:sp>
      <p:sp>
        <p:nvSpPr>
          <p:cNvPr id="4" name="六边形 3"/>
          <p:cNvSpPr/>
          <p:nvPr/>
        </p:nvSpPr>
        <p:spPr>
          <a:xfrm>
            <a:off x="10200456" y="280910"/>
            <a:ext cx="1152128" cy="1041554"/>
          </a:xfrm>
          <a:prstGeom prst="hexagon">
            <a:avLst/>
          </a:prstGeom>
          <a:solidFill>
            <a:schemeClr val="accent2"/>
          </a:solidFill>
          <a:ln w="76200">
            <a:solidFill>
              <a:schemeClr val="tx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3200" dirty="0" smtClean="0"/>
              <a:t>and</a:t>
            </a:r>
            <a:endParaRPr lang="en-US" altLang="zh-CN" sz="32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and</a:t>
            </a:r>
            <a:r>
              <a:rPr lang="en-US" altLang="zh-CN"/>
              <a:t> </a:t>
            </a:r>
            <a:r>
              <a:rPr lang="zh-CN" altLang="en-US"/>
              <a:t>汇总</a:t>
            </a:r>
            <a:endParaRPr lang="zh-CN" altLang="en-US"/>
          </a:p>
        </p:txBody>
      </p:sp>
      <p:graphicFrame>
        <p:nvGraphicFramePr>
          <p:cNvPr id="4" name="内容占位符 3"/>
          <p:cNvGraphicFramePr/>
          <p:nvPr>
            <p:ph idx="1"/>
            <p:custDataLst>
              <p:tags r:id="rId1"/>
            </p:custDataLst>
          </p:nvPr>
        </p:nvGraphicFramePr>
        <p:xfrm>
          <a:off x="669925" y="1160145"/>
          <a:ext cx="11052810" cy="4117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4270"/>
                <a:gridCol w="3684270"/>
                <a:gridCol w="3684270"/>
              </a:tblGrid>
              <a:tr h="82359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/>
                        <a:t>a</a:t>
                      </a:r>
                      <a:endParaRPr lang="en-US" altLang="zh-CN" sz="40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/>
                        <a:t>b</a:t>
                      </a:r>
                      <a:endParaRPr lang="en-US" altLang="zh-CN" sz="40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/>
                        <a:t>a and b</a:t>
                      </a:r>
                      <a:endParaRPr lang="en-US" altLang="zh-CN" sz="4000"/>
                    </a:p>
                  </a:txBody>
                  <a:tcPr/>
                </a:tc>
              </a:tr>
              <a:tr h="82359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3200"/>
                        <a:t>False 1 </a:t>
                      </a:r>
                      <a:r>
                        <a:rPr lang="zh-CN" altLang="en-US" sz="3200"/>
                        <a:t>值（</a:t>
                      </a:r>
                      <a:r>
                        <a:rPr lang="en-US" altLang="zh-CN" sz="3200"/>
                        <a:t>0</a:t>
                      </a:r>
                      <a:r>
                        <a:rPr lang="zh-CN" altLang="en-US" sz="3200"/>
                        <a:t>）</a:t>
                      </a:r>
                      <a:endParaRPr lang="zh-CN" altLang="en-US" sz="3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3200">
                          <a:sym typeface="+mn-ea"/>
                        </a:rPr>
                        <a:t>False 2 </a:t>
                      </a:r>
                      <a:r>
                        <a:rPr lang="zh-CN" altLang="en-US" sz="3200">
                          <a:sym typeface="+mn-ea"/>
                        </a:rPr>
                        <a:t>值（</a:t>
                      </a:r>
                      <a:r>
                        <a:rPr lang="en-US" altLang="zh-CN" sz="3200">
                          <a:sym typeface="+mn-ea"/>
                        </a:rPr>
                        <a:t>0</a:t>
                      </a:r>
                      <a:r>
                        <a:rPr lang="zh-CN" altLang="en-US" sz="3200">
                          <a:sym typeface="+mn-ea"/>
                        </a:rPr>
                        <a:t>）</a:t>
                      </a:r>
                      <a:endParaRPr lang="zh-CN" altLang="en-US" sz="3200">
                        <a:sym typeface="+mn-ea"/>
                      </a:endParaRPr>
                    </a:p>
                    <a:p>
                      <a:pPr>
                        <a:buNone/>
                      </a:pPr>
                      <a:endParaRPr lang="zh-CN" altLang="en-US" sz="3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3200">
                          <a:sym typeface="+mn-ea"/>
                        </a:rPr>
                        <a:t>False 1 </a:t>
                      </a:r>
                      <a:r>
                        <a:rPr lang="zh-CN" altLang="en-US" sz="3200">
                          <a:sym typeface="+mn-ea"/>
                        </a:rPr>
                        <a:t>值（</a:t>
                      </a:r>
                      <a:r>
                        <a:rPr lang="en-US" altLang="zh-CN" sz="3200">
                          <a:sym typeface="+mn-ea"/>
                        </a:rPr>
                        <a:t>0</a:t>
                      </a:r>
                      <a:r>
                        <a:rPr lang="zh-CN" altLang="en-US" sz="3200">
                          <a:sym typeface="+mn-ea"/>
                        </a:rPr>
                        <a:t>）</a:t>
                      </a:r>
                      <a:endParaRPr lang="zh-CN" altLang="en-US" sz="3200">
                        <a:sym typeface="+mn-ea"/>
                      </a:endParaRPr>
                    </a:p>
                    <a:p>
                      <a:pPr>
                        <a:buNone/>
                      </a:pPr>
                      <a:endParaRPr lang="zh-CN" altLang="en-US" sz="3200"/>
                    </a:p>
                  </a:txBody>
                  <a:tcPr/>
                </a:tc>
              </a:tr>
              <a:tr h="82359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3200">
                          <a:sym typeface="+mn-ea"/>
                        </a:rPr>
                        <a:t>False 1 </a:t>
                      </a:r>
                      <a:r>
                        <a:rPr lang="zh-CN" altLang="en-US" sz="3200">
                          <a:sym typeface="+mn-ea"/>
                        </a:rPr>
                        <a:t>值（</a:t>
                      </a:r>
                      <a:r>
                        <a:rPr lang="en-US" altLang="zh-CN" sz="3200">
                          <a:sym typeface="+mn-ea"/>
                        </a:rPr>
                        <a:t>0</a:t>
                      </a:r>
                      <a:r>
                        <a:rPr lang="zh-CN" altLang="en-US" sz="3200">
                          <a:sym typeface="+mn-ea"/>
                        </a:rPr>
                        <a:t>）</a:t>
                      </a:r>
                      <a:endParaRPr lang="zh-CN" altLang="en-US" sz="3200">
                        <a:sym typeface="+mn-ea"/>
                      </a:endParaRPr>
                    </a:p>
                    <a:p>
                      <a:pPr>
                        <a:buNone/>
                      </a:pPr>
                      <a:endParaRPr lang="zh-CN" altLang="en-US" sz="3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3200"/>
                        <a:t>True  2 </a:t>
                      </a:r>
                      <a:r>
                        <a:rPr lang="zh-CN" altLang="en-US" sz="3200"/>
                        <a:t>值</a:t>
                      </a:r>
                      <a:r>
                        <a:rPr lang="zh-CN" altLang="en-US" sz="3200">
                          <a:sym typeface="+mn-ea"/>
                        </a:rPr>
                        <a:t>（</a:t>
                      </a:r>
                      <a:r>
                        <a:rPr lang="en-US" altLang="zh-CN" sz="3200">
                          <a:sym typeface="+mn-ea"/>
                        </a:rPr>
                        <a:t>1</a:t>
                      </a:r>
                      <a:r>
                        <a:rPr lang="zh-CN" altLang="en-US" sz="3200">
                          <a:sym typeface="+mn-ea"/>
                        </a:rPr>
                        <a:t>）</a:t>
                      </a:r>
                      <a:endParaRPr lang="zh-CN" altLang="en-US" sz="3200">
                        <a:sym typeface="+mn-ea"/>
                      </a:endParaRPr>
                    </a:p>
                    <a:p>
                      <a:pPr>
                        <a:buNone/>
                      </a:pPr>
                      <a:endParaRPr lang="zh-CN" altLang="en-US" sz="3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3200">
                          <a:sym typeface="+mn-ea"/>
                        </a:rPr>
                        <a:t>False 1</a:t>
                      </a:r>
                      <a:r>
                        <a:rPr lang="en-US" altLang="zh-CN" sz="3200">
                          <a:sym typeface="+mn-ea"/>
                        </a:rPr>
                        <a:t> </a:t>
                      </a:r>
                      <a:r>
                        <a:rPr lang="zh-CN" altLang="en-US" sz="3200">
                          <a:sym typeface="+mn-ea"/>
                        </a:rPr>
                        <a:t>值（</a:t>
                      </a:r>
                      <a:r>
                        <a:rPr lang="en-US" altLang="zh-CN" sz="3200">
                          <a:sym typeface="+mn-ea"/>
                        </a:rPr>
                        <a:t>0</a:t>
                      </a:r>
                      <a:r>
                        <a:rPr lang="zh-CN" altLang="en-US" sz="3200">
                          <a:sym typeface="+mn-ea"/>
                        </a:rPr>
                        <a:t>）</a:t>
                      </a:r>
                      <a:endParaRPr lang="zh-CN" altLang="en-US" sz="3200">
                        <a:sym typeface="+mn-ea"/>
                      </a:endParaRPr>
                    </a:p>
                    <a:p>
                      <a:pPr>
                        <a:buNone/>
                      </a:pPr>
                      <a:endParaRPr lang="zh-CN" altLang="en-US" sz="3200"/>
                    </a:p>
                  </a:txBody>
                  <a:tcPr/>
                </a:tc>
              </a:tr>
              <a:tr h="82359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3200">
                          <a:sym typeface="+mn-ea"/>
                        </a:rPr>
                        <a:t>True</a:t>
                      </a:r>
                      <a:r>
                        <a:rPr lang="en-US" altLang="zh-CN" sz="3200">
                          <a:sym typeface="+mn-ea"/>
                        </a:rPr>
                        <a:t> 1 </a:t>
                      </a:r>
                      <a:r>
                        <a:rPr lang="zh-CN" altLang="en-US" sz="3200">
                          <a:sym typeface="+mn-ea"/>
                        </a:rPr>
                        <a:t>值</a:t>
                      </a:r>
                      <a:r>
                        <a:rPr lang="zh-CN" altLang="en-US" sz="3200">
                          <a:sym typeface="+mn-ea"/>
                        </a:rPr>
                        <a:t>（</a:t>
                      </a:r>
                      <a:r>
                        <a:rPr lang="en-US" altLang="zh-CN" sz="3200">
                          <a:sym typeface="+mn-ea"/>
                        </a:rPr>
                        <a:t>1</a:t>
                      </a:r>
                      <a:r>
                        <a:rPr lang="zh-CN" altLang="en-US" sz="3200">
                          <a:sym typeface="+mn-ea"/>
                        </a:rPr>
                        <a:t>）</a:t>
                      </a:r>
                      <a:endParaRPr lang="zh-CN" altLang="en-US" sz="3200">
                        <a:sym typeface="+mn-ea"/>
                      </a:endParaRPr>
                    </a:p>
                    <a:p>
                      <a:pPr>
                        <a:buNone/>
                      </a:pPr>
                      <a:endParaRPr lang="zh-CN" altLang="en-US" sz="3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3200"/>
                        <a:t>False 2 </a:t>
                      </a:r>
                      <a:r>
                        <a:rPr lang="zh-CN" altLang="en-US" sz="3200"/>
                        <a:t>值</a:t>
                      </a:r>
                      <a:r>
                        <a:rPr lang="zh-CN" altLang="en-US" sz="3200">
                          <a:sym typeface="+mn-ea"/>
                        </a:rPr>
                        <a:t>（</a:t>
                      </a:r>
                      <a:r>
                        <a:rPr lang="en-US" altLang="zh-CN" sz="3200">
                          <a:sym typeface="+mn-ea"/>
                        </a:rPr>
                        <a:t>0</a:t>
                      </a:r>
                      <a:r>
                        <a:rPr lang="zh-CN" altLang="en-US" sz="3200">
                          <a:sym typeface="+mn-ea"/>
                        </a:rPr>
                        <a:t>）</a:t>
                      </a:r>
                      <a:endParaRPr lang="zh-CN" altLang="en-US" sz="3200">
                        <a:sym typeface="+mn-ea"/>
                      </a:endParaRPr>
                    </a:p>
                    <a:p>
                      <a:pPr>
                        <a:buNone/>
                      </a:pPr>
                      <a:endParaRPr lang="zh-CN" altLang="en-US" sz="3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3200">
                          <a:sym typeface="+mn-ea"/>
                        </a:rPr>
                        <a:t>False 2</a:t>
                      </a:r>
                      <a:r>
                        <a:rPr lang="en-US" altLang="zh-CN" sz="3200">
                          <a:sym typeface="+mn-ea"/>
                        </a:rPr>
                        <a:t> </a:t>
                      </a:r>
                      <a:r>
                        <a:rPr lang="zh-CN" altLang="en-US" sz="3200">
                          <a:sym typeface="+mn-ea"/>
                        </a:rPr>
                        <a:t>值</a:t>
                      </a:r>
                      <a:r>
                        <a:rPr lang="zh-CN" altLang="en-US" sz="3200">
                          <a:sym typeface="+mn-ea"/>
                        </a:rPr>
                        <a:t>（</a:t>
                      </a:r>
                      <a:r>
                        <a:rPr lang="en-US" altLang="zh-CN" sz="3200">
                          <a:sym typeface="+mn-ea"/>
                        </a:rPr>
                        <a:t>0</a:t>
                      </a:r>
                      <a:r>
                        <a:rPr lang="zh-CN" altLang="en-US" sz="3200">
                          <a:sym typeface="+mn-ea"/>
                        </a:rPr>
                        <a:t>）</a:t>
                      </a:r>
                      <a:endParaRPr lang="zh-CN" altLang="en-US" sz="3200">
                        <a:sym typeface="+mn-ea"/>
                      </a:endParaRPr>
                    </a:p>
                    <a:p>
                      <a:pPr>
                        <a:buNone/>
                      </a:pPr>
                      <a:endParaRPr lang="zh-CN" altLang="en-US" sz="3200"/>
                    </a:p>
                  </a:txBody>
                  <a:tcPr/>
                </a:tc>
              </a:tr>
              <a:tr h="82359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3200">
                          <a:sym typeface="+mn-ea"/>
                        </a:rPr>
                        <a:t>True 1 </a:t>
                      </a:r>
                      <a:r>
                        <a:rPr lang="zh-CN" altLang="en-US" sz="3200">
                          <a:sym typeface="+mn-ea"/>
                        </a:rPr>
                        <a:t>值</a:t>
                      </a:r>
                      <a:r>
                        <a:rPr lang="zh-CN" altLang="en-US" sz="3200">
                          <a:sym typeface="+mn-ea"/>
                        </a:rPr>
                        <a:t>（</a:t>
                      </a:r>
                      <a:r>
                        <a:rPr lang="en-US" altLang="zh-CN" sz="3200">
                          <a:sym typeface="+mn-ea"/>
                        </a:rPr>
                        <a:t>1</a:t>
                      </a:r>
                      <a:r>
                        <a:rPr lang="zh-CN" altLang="en-US" sz="3200">
                          <a:sym typeface="+mn-ea"/>
                        </a:rPr>
                        <a:t>）</a:t>
                      </a:r>
                      <a:endParaRPr lang="zh-CN" altLang="en-US" sz="3200">
                        <a:sym typeface="+mn-ea"/>
                      </a:endParaRPr>
                    </a:p>
                    <a:p>
                      <a:pPr>
                        <a:buNone/>
                      </a:pPr>
                      <a:endParaRPr lang="zh-CN" altLang="en-US" sz="3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3200">
                          <a:sym typeface="+mn-ea"/>
                        </a:rPr>
                        <a:t>True 2 </a:t>
                      </a:r>
                      <a:r>
                        <a:rPr lang="zh-CN" altLang="en-US" sz="3200">
                          <a:sym typeface="+mn-ea"/>
                        </a:rPr>
                        <a:t>值</a:t>
                      </a:r>
                      <a:r>
                        <a:rPr lang="zh-CN" altLang="en-US" sz="3200">
                          <a:sym typeface="+mn-ea"/>
                        </a:rPr>
                        <a:t>（</a:t>
                      </a:r>
                      <a:r>
                        <a:rPr lang="en-US" altLang="zh-CN" sz="3200">
                          <a:sym typeface="+mn-ea"/>
                        </a:rPr>
                        <a:t>1</a:t>
                      </a:r>
                      <a:r>
                        <a:rPr lang="zh-CN" altLang="en-US" sz="3200">
                          <a:sym typeface="+mn-ea"/>
                        </a:rPr>
                        <a:t>）</a:t>
                      </a:r>
                      <a:endParaRPr lang="zh-CN" altLang="en-US" sz="3200">
                        <a:sym typeface="+mn-ea"/>
                      </a:endParaRPr>
                    </a:p>
                    <a:p>
                      <a:pPr>
                        <a:buNone/>
                      </a:pPr>
                      <a:endParaRPr lang="zh-CN" altLang="en-US" sz="3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3200">
                          <a:sym typeface="+mn-ea"/>
                        </a:rPr>
                        <a:t>True 2 </a:t>
                      </a:r>
                      <a:r>
                        <a:rPr lang="zh-CN" altLang="en-US" sz="3200">
                          <a:sym typeface="+mn-ea"/>
                        </a:rPr>
                        <a:t>值</a:t>
                      </a:r>
                      <a:r>
                        <a:rPr lang="zh-CN" altLang="en-US" sz="3200">
                          <a:sym typeface="+mn-ea"/>
                        </a:rPr>
                        <a:t>（</a:t>
                      </a:r>
                      <a:r>
                        <a:rPr lang="en-US" altLang="zh-CN" sz="3200">
                          <a:sym typeface="+mn-ea"/>
                        </a:rPr>
                        <a:t>1</a:t>
                      </a:r>
                      <a:r>
                        <a:rPr lang="zh-CN" altLang="en-US" sz="3200">
                          <a:sym typeface="+mn-ea"/>
                        </a:rPr>
                        <a:t>）</a:t>
                      </a:r>
                      <a:endParaRPr lang="zh-CN" altLang="en-US" sz="32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3200"/>
              <a:t>&gt;&gt;&gt; if 3 and 6 :</a:t>
            </a:r>
            <a:endParaRPr lang="zh-CN" altLang="en-US" sz="3200"/>
          </a:p>
          <a:p>
            <a:r>
              <a:rPr lang="zh-CN" altLang="en-US" sz="3200"/>
              <a:t>    print("ok")</a:t>
            </a:r>
            <a:endParaRPr lang="zh-CN" altLang="en-US" sz="3200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系统默认一个</a:t>
            </a:r>
            <a:r>
              <a:rPr lang="en-US" altLang="zh-CN"/>
              <a:t>bool(3 and 6)</a:t>
            </a:r>
            <a:r>
              <a:t>或者</a:t>
            </a:r>
            <a:r>
              <a:rPr lang="en-US" altLang="zh-CN"/>
              <a:t>bool(</a:t>
            </a:r>
            <a:r>
              <a:rPr>
                <a:sym typeface="+mn-ea"/>
              </a:rPr>
              <a:t>3 and list()</a:t>
            </a:r>
            <a:r>
              <a:rPr lang="en-US" altLang="zh-CN"/>
              <a:t>)</a:t>
            </a:r>
            <a:r>
              <a:t>的操作。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7254875" y="1160145"/>
            <a:ext cx="4692650" cy="20612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/>
              <a:t>&gt;&gt;&gt; if 3 and list():</a:t>
            </a:r>
            <a:endParaRPr lang="zh-CN" altLang="en-US" sz="3200"/>
          </a:p>
          <a:p>
            <a:r>
              <a:rPr lang="zh-CN" altLang="en-US" sz="3200"/>
              <a:t>    print("ok")</a:t>
            </a:r>
            <a:endParaRPr lang="zh-CN" altLang="en-US" sz="3200"/>
          </a:p>
          <a:p>
            <a:r>
              <a:rPr lang="zh-CN" altLang="en-US" sz="3200"/>
              <a:t>else:</a:t>
            </a:r>
            <a:endParaRPr lang="zh-CN" altLang="en-US" sz="3200"/>
          </a:p>
          <a:p>
            <a:r>
              <a:rPr lang="zh-CN" altLang="en-US" sz="3200"/>
              <a:t>    print("no")</a:t>
            </a:r>
            <a:endParaRPr lang="zh-CN" altLang="en-US" sz="32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669925" y="3923595"/>
            <a:ext cx="10817191" cy="241751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或运算</a:t>
            </a:r>
            <a:r>
              <a:rPr lang="en-US" altLang="zh-CN" dirty="0" smtClean="0"/>
              <a:t>or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484784"/>
            <a:ext cx="10852150" cy="4856326"/>
          </a:xfrm>
        </p:spPr>
        <p:txBody>
          <a:bodyPr>
            <a:normAutofit lnSpcReduction="10000"/>
          </a:bodyPr>
          <a:lstStyle/>
          <a:p>
            <a:pPr>
              <a:lnSpc>
                <a:spcPct val="140000"/>
              </a:lnSpc>
            </a:pPr>
            <a:r>
              <a:rPr lang="zh-CN" altLang="en-US" dirty="0"/>
              <a:t>有一个或两个的操作数的值等价于</a:t>
            </a:r>
            <a:r>
              <a:rPr lang="en-US" altLang="zh-CN" dirty="0"/>
              <a:t>True</a:t>
            </a:r>
            <a:r>
              <a:rPr lang="zh-CN" altLang="en-US" dirty="0"/>
              <a:t>，运算结果就为第一个等价于</a:t>
            </a:r>
            <a:r>
              <a:rPr lang="en-US" altLang="zh-CN" dirty="0"/>
              <a:t>True</a:t>
            </a:r>
            <a:r>
              <a:rPr lang="zh-CN" altLang="en-US" dirty="0"/>
              <a:t>的操作数的值</a:t>
            </a:r>
            <a:endParaRPr lang="en-US" altLang="zh-CN" dirty="0" smtClean="0"/>
          </a:p>
          <a:p>
            <a:pPr>
              <a:lnSpc>
                <a:spcPct val="140000"/>
              </a:lnSpc>
            </a:pPr>
            <a:r>
              <a:rPr lang="zh-CN" altLang="zh-CN" dirty="0"/>
              <a:t>两个操作数都等价于</a:t>
            </a:r>
            <a:r>
              <a:rPr lang="en-US" altLang="zh-CN" dirty="0"/>
              <a:t>False</a:t>
            </a:r>
            <a:r>
              <a:rPr lang="zh-CN" altLang="zh-CN" dirty="0"/>
              <a:t>，运算结果为第二个等价于</a:t>
            </a:r>
            <a:r>
              <a:rPr lang="en-US" altLang="zh-CN" dirty="0"/>
              <a:t>False</a:t>
            </a:r>
            <a:r>
              <a:rPr lang="zh-CN" altLang="zh-CN" dirty="0"/>
              <a:t>的操作数的值</a:t>
            </a:r>
            <a:endParaRPr lang="en-US" altLang="zh-CN" dirty="0" smtClean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/>
              <a:t>&gt;&gt;&gt; '' or 6 / 7</a:t>
            </a:r>
            <a:endParaRPr lang="en-US" altLang="zh-CN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>
                <a:solidFill>
                  <a:srgbClr val="0070C0"/>
                </a:solidFill>
              </a:rPr>
              <a:t>0.8571428571428571</a:t>
            </a:r>
            <a:endParaRPr lang="en-US" altLang="zh-CN" dirty="0">
              <a:solidFill>
                <a:srgbClr val="0070C0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/>
              <a:t>&gt;&gt;&gt; print(9%3 or None)</a:t>
            </a:r>
            <a:endParaRPr lang="en-US" altLang="zh-CN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>
                <a:solidFill>
                  <a:srgbClr val="0070C0"/>
                </a:solidFill>
              </a:rPr>
              <a:t>None</a:t>
            </a:r>
            <a:endParaRPr lang="en-US" altLang="zh-CN" dirty="0">
              <a:solidFill>
                <a:srgbClr val="0070C0"/>
              </a:solidFill>
            </a:endParaRPr>
          </a:p>
        </p:txBody>
      </p:sp>
      <p:sp>
        <p:nvSpPr>
          <p:cNvPr id="4" name="六边形 3"/>
          <p:cNvSpPr/>
          <p:nvPr/>
        </p:nvSpPr>
        <p:spPr>
          <a:xfrm>
            <a:off x="10200456" y="280910"/>
            <a:ext cx="1152128" cy="1041554"/>
          </a:xfrm>
          <a:prstGeom prst="hexagon">
            <a:avLst/>
          </a:prstGeom>
          <a:solidFill>
            <a:schemeClr val="accent2"/>
          </a:solidFill>
          <a:ln w="76200">
            <a:solidFill>
              <a:schemeClr val="tx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3200" dirty="0" smtClean="0"/>
              <a:t>or</a:t>
            </a:r>
            <a:endParaRPr lang="en-US" altLang="zh-CN" sz="32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or  </a:t>
            </a:r>
            <a:r>
              <a:rPr lang="zh-CN" altLang="en-US"/>
              <a:t>汇总</a:t>
            </a:r>
            <a:endParaRPr lang="zh-CN" altLang="en-US"/>
          </a:p>
        </p:txBody>
      </p:sp>
      <p:graphicFrame>
        <p:nvGraphicFramePr>
          <p:cNvPr id="4" name="内容占位符 3"/>
          <p:cNvGraphicFramePr/>
          <p:nvPr>
            <p:ph idx="1"/>
            <p:custDataLst>
              <p:tags r:id="rId1"/>
            </p:custDataLst>
          </p:nvPr>
        </p:nvGraphicFramePr>
        <p:xfrm>
          <a:off x="669925" y="1160145"/>
          <a:ext cx="11052810" cy="4117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4270"/>
                <a:gridCol w="3684270"/>
                <a:gridCol w="3684270"/>
              </a:tblGrid>
              <a:tr h="82359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/>
                        <a:t>a</a:t>
                      </a:r>
                      <a:endParaRPr lang="en-US" altLang="zh-CN" sz="40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/>
                        <a:t>b</a:t>
                      </a:r>
                      <a:endParaRPr lang="en-US" altLang="zh-CN" sz="40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/>
                        <a:t>a  or  b</a:t>
                      </a:r>
                      <a:endParaRPr lang="en-US" altLang="zh-CN" sz="4000"/>
                    </a:p>
                  </a:txBody>
                  <a:tcPr/>
                </a:tc>
              </a:tr>
              <a:tr h="82359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3200"/>
                        <a:t>False 1 </a:t>
                      </a:r>
                      <a:r>
                        <a:rPr lang="zh-CN" altLang="en-US" sz="3200"/>
                        <a:t>值（</a:t>
                      </a:r>
                      <a:r>
                        <a:rPr lang="en-US" altLang="zh-CN" sz="3200"/>
                        <a:t>0</a:t>
                      </a:r>
                      <a:r>
                        <a:rPr lang="zh-CN" altLang="en-US" sz="3200"/>
                        <a:t>）</a:t>
                      </a:r>
                      <a:endParaRPr lang="zh-CN" altLang="en-US" sz="3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3200">
                          <a:sym typeface="+mn-ea"/>
                        </a:rPr>
                        <a:t>False 2 </a:t>
                      </a:r>
                      <a:r>
                        <a:rPr lang="zh-CN" altLang="en-US" sz="3200">
                          <a:sym typeface="+mn-ea"/>
                        </a:rPr>
                        <a:t>值（</a:t>
                      </a:r>
                      <a:r>
                        <a:rPr lang="en-US" altLang="zh-CN" sz="3200">
                          <a:sym typeface="+mn-ea"/>
                        </a:rPr>
                        <a:t>0</a:t>
                      </a:r>
                      <a:r>
                        <a:rPr lang="zh-CN" altLang="en-US" sz="3200">
                          <a:sym typeface="+mn-ea"/>
                        </a:rPr>
                        <a:t>）</a:t>
                      </a:r>
                      <a:endParaRPr lang="zh-CN" altLang="en-US" sz="3200">
                        <a:sym typeface="+mn-ea"/>
                      </a:endParaRPr>
                    </a:p>
                    <a:p>
                      <a:pPr>
                        <a:buNone/>
                      </a:pPr>
                      <a:endParaRPr lang="zh-CN" altLang="en-US" sz="3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3200">
                          <a:sym typeface="+mn-ea"/>
                        </a:rPr>
                        <a:t>False 2 </a:t>
                      </a:r>
                      <a:r>
                        <a:rPr lang="zh-CN" altLang="en-US" sz="3200">
                          <a:sym typeface="+mn-ea"/>
                        </a:rPr>
                        <a:t>值（</a:t>
                      </a:r>
                      <a:r>
                        <a:rPr lang="en-US" altLang="zh-CN" sz="3200">
                          <a:sym typeface="+mn-ea"/>
                        </a:rPr>
                        <a:t>0</a:t>
                      </a:r>
                      <a:r>
                        <a:rPr lang="zh-CN" altLang="en-US" sz="3200">
                          <a:sym typeface="+mn-ea"/>
                        </a:rPr>
                        <a:t>）</a:t>
                      </a:r>
                      <a:endParaRPr lang="zh-CN" altLang="en-US" sz="3200">
                        <a:sym typeface="+mn-ea"/>
                      </a:endParaRPr>
                    </a:p>
                    <a:p>
                      <a:pPr>
                        <a:buNone/>
                      </a:pPr>
                      <a:endParaRPr lang="zh-CN" altLang="en-US" sz="3200"/>
                    </a:p>
                  </a:txBody>
                  <a:tcPr/>
                </a:tc>
              </a:tr>
              <a:tr h="82359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3200">
                          <a:sym typeface="+mn-ea"/>
                        </a:rPr>
                        <a:t>False 1 </a:t>
                      </a:r>
                      <a:r>
                        <a:rPr lang="zh-CN" altLang="en-US" sz="3200">
                          <a:sym typeface="+mn-ea"/>
                        </a:rPr>
                        <a:t>值（</a:t>
                      </a:r>
                      <a:r>
                        <a:rPr lang="en-US" altLang="zh-CN" sz="3200">
                          <a:sym typeface="+mn-ea"/>
                        </a:rPr>
                        <a:t>0</a:t>
                      </a:r>
                      <a:r>
                        <a:rPr lang="zh-CN" altLang="en-US" sz="3200">
                          <a:sym typeface="+mn-ea"/>
                        </a:rPr>
                        <a:t>）</a:t>
                      </a:r>
                      <a:endParaRPr lang="zh-CN" altLang="en-US" sz="3200">
                        <a:sym typeface="+mn-ea"/>
                      </a:endParaRPr>
                    </a:p>
                    <a:p>
                      <a:pPr>
                        <a:buNone/>
                      </a:pPr>
                      <a:endParaRPr lang="zh-CN" altLang="en-US" sz="3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3200"/>
                        <a:t>True  2 </a:t>
                      </a:r>
                      <a:r>
                        <a:rPr lang="zh-CN" altLang="en-US" sz="3200"/>
                        <a:t>值</a:t>
                      </a:r>
                      <a:r>
                        <a:rPr lang="zh-CN" altLang="en-US" sz="3200">
                          <a:sym typeface="+mn-ea"/>
                        </a:rPr>
                        <a:t>（</a:t>
                      </a:r>
                      <a:r>
                        <a:rPr lang="en-US" altLang="zh-CN" sz="3200">
                          <a:sym typeface="+mn-ea"/>
                        </a:rPr>
                        <a:t>1</a:t>
                      </a:r>
                      <a:r>
                        <a:rPr lang="zh-CN" altLang="en-US" sz="3200">
                          <a:sym typeface="+mn-ea"/>
                        </a:rPr>
                        <a:t>）</a:t>
                      </a:r>
                      <a:endParaRPr lang="zh-CN" altLang="en-US" sz="3200">
                        <a:sym typeface="+mn-ea"/>
                      </a:endParaRPr>
                    </a:p>
                    <a:p>
                      <a:pPr>
                        <a:buNone/>
                      </a:pPr>
                      <a:endParaRPr lang="zh-CN" altLang="en-US" sz="3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3200">
                          <a:sym typeface="+mn-ea"/>
                        </a:rPr>
                        <a:t>True  2 </a:t>
                      </a:r>
                      <a:r>
                        <a:rPr lang="zh-CN" altLang="en-US" sz="3200">
                          <a:sym typeface="+mn-ea"/>
                        </a:rPr>
                        <a:t>值（</a:t>
                      </a:r>
                      <a:r>
                        <a:rPr lang="en-US" altLang="zh-CN" sz="3200">
                          <a:sym typeface="+mn-ea"/>
                        </a:rPr>
                        <a:t>1</a:t>
                      </a:r>
                      <a:r>
                        <a:rPr lang="zh-CN" altLang="en-US" sz="3200">
                          <a:sym typeface="+mn-ea"/>
                        </a:rPr>
                        <a:t>）</a:t>
                      </a:r>
                      <a:endParaRPr lang="zh-CN" altLang="en-US" sz="3200">
                        <a:sym typeface="+mn-ea"/>
                      </a:endParaRPr>
                    </a:p>
                    <a:p>
                      <a:pPr>
                        <a:buNone/>
                      </a:pPr>
                      <a:endParaRPr lang="zh-CN" altLang="en-US" sz="3200"/>
                    </a:p>
                  </a:txBody>
                  <a:tcPr/>
                </a:tc>
              </a:tr>
              <a:tr h="82359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3200">
                          <a:sym typeface="+mn-ea"/>
                        </a:rPr>
                        <a:t>True</a:t>
                      </a:r>
                      <a:r>
                        <a:rPr lang="en-US" altLang="zh-CN" sz="3200">
                          <a:sym typeface="+mn-ea"/>
                        </a:rPr>
                        <a:t> 1 </a:t>
                      </a:r>
                      <a:r>
                        <a:rPr lang="zh-CN" altLang="en-US" sz="3200">
                          <a:sym typeface="+mn-ea"/>
                        </a:rPr>
                        <a:t>值</a:t>
                      </a:r>
                      <a:r>
                        <a:rPr lang="zh-CN" altLang="en-US" sz="3200">
                          <a:sym typeface="+mn-ea"/>
                        </a:rPr>
                        <a:t>（</a:t>
                      </a:r>
                      <a:r>
                        <a:rPr lang="en-US" altLang="zh-CN" sz="3200">
                          <a:sym typeface="+mn-ea"/>
                        </a:rPr>
                        <a:t>1</a:t>
                      </a:r>
                      <a:r>
                        <a:rPr lang="zh-CN" altLang="en-US" sz="3200">
                          <a:sym typeface="+mn-ea"/>
                        </a:rPr>
                        <a:t>）</a:t>
                      </a:r>
                      <a:endParaRPr lang="zh-CN" altLang="en-US" sz="3200">
                        <a:sym typeface="+mn-ea"/>
                      </a:endParaRPr>
                    </a:p>
                    <a:p>
                      <a:pPr>
                        <a:buNone/>
                      </a:pPr>
                      <a:endParaRPr lang="zh-CN" altLang="en-US" sz="3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3200"/>
                        <a:t>False 2 </a:t>
                      </a:r>
                      <a:r>
                        <a:rPr lang="zh-CN" altLang="en-US" sz="3200"/>
                        <a:t>值</a:t>
                      </a:r>
                      <a:r>
                        <a:rPr lang="zh-CN" altLang="en-US" sz="3200">
                          <a:sym typeface="+mn-ea"/>
                        </a:rPr>
                        <a:t>（</a:t>
                      </a:r>
                      <a:r>
                        <a:rPr lang="en-US" altLang="zh-CN" sz="3200">
                          <a:sym typeface="+mn-ea"/>
                        </a:rPr>
                        <a:t>0</a:t>
                      </a:r>
                      <a:r>
                        <a:rPr lang="zh-CN" altLang="en-US" sz="3200">
                          <a:sym typeface="+mn-ea"/>
                        </a:rPr>
                        <a:t>）</a:t>
                      </a:r>
                      <a:endParaRPr lang="zh-CN" altLang="en-US" sz="3200">
                        <a:sym typeface="+mn-ea"/>
                      </a:endParaRPr>
                    </a:p>
                    <a:p>
                      <a:pPr>
                        <a:buNone/>
                      </a:pPr>
                      <a:endParaRPr lang="zh-CN" altLang="en-US" sz="3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3200">
                          <a:sym typeface="+mn-ea"/>
                        </a:rPr>
                        <a:t>True 1 </a:t>
                      </a:r>
                      <a:r>
                        <a:rPr lang="zh-CN" altLang="en-US" sz="3200">
                          <a:sym typeface="+mn-ea"/>
                        </a:rPr>
                        <a:t>值</a:t>
                      </a:r>
                      <a:r>
                        <a:rPr lang="zh-CN" altLang="en-US" sz="3200">
                          <a:sym typeface="+mn-ea"/>
                        </a:rPr>
                        <a:t>（</a:t>
                      </a:r>
                      <a:r>
                        <a:rPr lang="en-US" altLang="zh-CN" sz="3200">
                          <a:sym typeface="+mn-ea"/>
                        </a:rPr>
                        <a:t>1</a:t>
                      </a:r>
                      <a:r>
                        <a:rPr lang="zh-CN" altLang="en-US" sz="3200">
                          <a:sym typeface="+mn-ea"/>
                        </a:rPr>
                        <a:t>）</a:t>
                      </a:r>
                      <a:endParaRPr lang="zh-CN" altLang="en-US" sz="3200">
                        <a:sym typeface="+mn-ea"/>
                      </a:endParaRPr>
                    </a:p>
                    <a:p>
                      <a:pPr>
                        <a:buNone/>
                      </a:pPr>
                      <a:endParaRPr lang="zh-CN" altLang="en-US" sz="3200"/>
                    </a:p>
                  </a:txBody>
                  <a:tcPr/>
                </a:tc>
              </a:tr>
              <a:tr h="82359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3200">
                          <a:sym typeface="+mn-ea"/>
                        </a:rPr>
                        <a:t>True 1 </a:t>
                      </a:r>
                      <a:r>
                        <a:rPr lang="zh-CN" altLang="en-US" sz="3200">
                          <a:sym typeface="+mn-ea"/>
                        </a:rPr>
                        <a:t>值</a:t>
                      </a:r>
                      <a:r>
                        <a:rPr lang="zh-CN" altLang="en-US" sz="3200">
                          <a:sym typeface="+mn-ea"/>
                        </a:rPr>
                        <a:t>（</a:t>
                      </a:r>
                      <a:r>
                        <a:rPr lang="en-US" altLang="zh-CN" sz="3200">
                          <a:sym typeface="+mn-ea"/>
                        </a:rPr>
                        <a:t>1</a:t>
                      </a:r>
                      <a:r>
                        <a:rPr lang="zh-CN" altLang="en-US" sz="3200">
                          <a:sym typeface="+mn-ea"/>
                        </a:rPr>
                        <a:t>）</a:t>
                      </a:r>
                      <a:endParaRPr lang="zh-CN" altLang="en-US" sz="3200">
                        <a:sym typeface="+mn-ea"/>
                      </a:endParaRPr>
                    </a:p>
                    <a:p>
                      <a:pPr>
                        <a:buNone/>
                      </a:pPr>
                      <a:endParaRPr lang="zh-CN" altLang="en-US" sz="3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3200">
                          <a:sym typeface="+mn-ea"/>
                        </a:rPr>
                        <a:t>True 2 </a:t>
                      </a:r>
                      <a:r>
                        <a:rPr lang="zh-CN" altLang="en-US" sz="3200">
                          <a:sym typeface="+mn-ea"/>
                        </a:rPr>
                        <a:t>值</a:t>
                      </a:r>
                      <a:r>
                        <a:rPr lang="zh-CN" altLang="en-US" sz="3200">
                          <a:sym typeface="+mn-ea"/>
                        </a:rPr>
                        <a:t>（</a:t>
                      </a:r>
                      <a:r>
                        <a:rPr lang="en-US" altLang="zh-CN" sz="3200">
                          <a:sym typeface="+mn-ea"/>
                        </a:rPr>
                        <a:t>1</a:t>
                      </a:r>
                      <a:r>
                        <a:rPr lang="zh-CN" altLang="en-US" sz="3200">
                          <a:sym typeface="+mn-ea"/>
                        </a:rPr>
                        <a:t>）</a:t>
                      </a:r>
                      <a:endParaRPr lang="zh-CN" altLang="en-US" sz="3200">
                        <a:sym typeface="+mn-ea"/>
                      </a:endParaRPr>
                    </a:p>
                    <a:p>
                      <a:pPr>
                        <a:buNone/>
                      </a:pPr>
                      <a:endParaRPr lang="zh-CN" altLang="en-US" sz="3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3200">
                          <a:sym typeface="+mn-ea"/>
                        </a:rPr>
                        <a:t>True 1 </a:t>
                      </a:r>
                      <a:r>
                        <a:rPr lang="zh-CN" altLang="en-US" sz="3200">
                          <a:sym typeface="+mn-ea"/>
                        </a:rPr>
                        <a:t>值</a:t>
                      </a:r>
                      <a:r>
                        <a:rPr lang="zh-CN" altLang="en-US" sz="3200">
                          <a:sym typeface="+mn-ea"/>
                        </a:rPr>
                        <a:t>（</a:t>
                      </a:r>
                      <a:r>
                        <a:rPr lang="en-US" altLang="zh-CN" sz="3200">
                          <a:sym typeface="+mn-ea"/>
                        </a:rPr>
                        <a:t>1</a:t>
                      </a:r>
                      <a:r>
                        <a:rPr lang="zh-CN" altLang="en-US" sz="3200">
                          <a:sym typeface="+mn-ea"/>
                        </a:rPr>
                        <a:t>）</a:t>
                      </a:r>
                      <a:endParaRPr lang="zh-CN" altLang="en-US" sz="32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89" name="Content Placeholder 2"/>
          <p:cNvSpPr>
            <a:spLocks noGrp="1"/>
          </p:cNvSpPr>
          <p:nvPr/>
        </p:nvSpPr>
        <p:spPr>
          <a:xfrm>
            <a:off x="457200" y="925830"/>
            <a:ext cx="10807065" cy="520065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200" kern="1200">
                <a:latin typeface="+mn-lt"/>
                <a:ea typeface="+mn-ea"/>
                <a:cs typeface="+mn-cs"/>
              </a:rPr>
              <a:t>逻辑运算符</a:t>
            </a:r>
            <a:r>
              <a:rPr lang="en-US" altLang="zh-CN" sz="3200" kern="1200">
                <a:latin typeface="+mn-lt"/>
                <a:ea typeface="+mn-ea"/>
                <a:cs typeface="+mn-cs"/>
              </a:rPr>
              <a:t>and</a:t>
            </a:r>
            <a:r>
              <a:rPr lang="zh-CN" altLang="en-US" sz="3200" kern="1200">
                <a:latin typeface="+mn-lt"/>
                <a:ea typeface="+mn-ea"/>
                <a:cs typeface="+mn-cs"/>
              </a:rPr>
              <a:t>和</a:t>
            </a:r>
            <a:r>
              <a:rPr lang="en-US" altLang="zh-CN" sz="3200" kern="1200">
                <a:latin typeface="+mn-lt"/>
                <a:ea typeface="+mn-ea"/>
                <a:cs typeface="+mn-cs"/>
              </a:rPr>
              <a:t>or</a:t>
            </a:r>
            <a:r>
              <a:rPr lang="zh-CN" altLang="en-US" sz="3200" kern="1200">
                <a:latin typeface="+mn-lt"/>
                <a:ea typeface="+mn-ea"/>
                <a:cs typeface="+mn-cs"/>
              </a:rPr>
              <a:t>以及关系运算符具有惰性求值特点</a:t>
            </a:r>
            <a:endParaRPr lang="zh-CN" altLang="en-US" sz="3200" kern="1200">
              <a:latin typeface="+mn-lt"/>
              <a:ea typeface="+mn-ea"/>
              <a:cs typeface="+mn-cs"/>
            </a:endParaRPr>
          </a:p>
        </p:txBody>
      </p:sp>
      <p:grpSp>
        <p:nvGrpSpPr>
          <p:cNvPr id="37890" name="画布 207"/>
          <p:cNvGrpSpPr/>
          <p:nvPr/>
        </p:nvGrpSpPr>
        <p:grpSpPr>
          <a:xfrm>
            <a:off x="1350645" y="2373630"/>
            <a:ext cx="7899400" cy="2498725"/>
            <a:chOff x="0" y="0"/>
            <a:chExt cx="7430" cy="3007"/>
          </a:xfrm>
        </p:grpSpPr>
        <p:sp>
          <p:nvSpPr>
            <p:cNvPr id="37891" name="Rectangle 1073743895"/>
            <p:cNvSpPr/>
            <p:nvPr/>
          </p:nvSpPr>
          <p:spPr>
            <a:xfrm>
              <a:off x="0" y="0"/>
              <a:ext cx="7430" cy="300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/>
            <a:p>
              <a:endParaRPr lang="en-US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7892" name="直接连接符 208"/>
            <p:cNvSpPr/>
            <p:nvPr/>
          </p:nvSpPr>
          <p:spPr>
            <a:xfrm>
              <a:off x="103" y="1625"/>
              <a:ext cx="420" cy="0"/>
            </a:xfrm>
            <a:prstGeom prst="line">
              <a:avLst/>
            </a:prstGeom>
            <a:ln w="28575" cap="flat" cmpd="sng">
              <a:solidFill>
                <a:srgbClr val="42719B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7893" name="直接连接符 209"/>
            <p:cNvSpPr/>
            <p:nvPr/>
          </p:nvSpPr>
          <p:spPr>
            <a:xfrm>
              <a:off x="193" y="1730"/>
              <a:ext cx="225" cy="0"/>
            </a:xfrm>
            <a:prstGeom prst="line">
              <a:avLst/>
            </a:prstGeom>
            <a:ln w="28575" cap="flat" cmpd="sng">
              <a:solidFill>
                <a:srgbClr val="42719B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7894" name="直接连接符 210"/>
            <p:cNvSpPr/>
            <p:nvPr/>
          </p:nvSpPr>
          <p:spPr>
            <a:xfrm>
              <a:off x="302" y="1745"/>
              <a:ext cx="0" cy="825"/>
            </a:xfrm>
            <a:prstGeom prst="line">
              <a:avLst/>
            </a:prstGeom>
            <a:ln w="6350" cap="flat" cmpd="sng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7895" name="直接连接符 211"/>
            <p:cNvSpPr/>
            <p:nvPr/>
          </p:nvSpPr>
          <p:spPr>
            <a:xfrm flipV="1">
              <a:off x="302" y="665"/>
              <a:ext cx="0" cy="930"/>
            </a:xfrm>
            <a:prstGeom prst="line">
              <a:avLst/>
            </a:prstGeom>
            <a:ln w="6350" cap="flat" cmpd="sng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7896" name="直接连接符 212"/>
            <p:cNvSpPr/>
            <p:nvPr/>
          </p:nvSpPr>
          <p:spPr>
            <a:xfrm>
              <a:off x="332" y="690"/>
              <a:ext cx="390" cy="5"/>
            </a:xfrm>
            <a:prstGeom prst="line">
              <a:avLst/>
            </a:prstGeom>
            <a:ln w="6350" cap="flat" cmpd="sng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7897" name="椭圆 213"/>
            <p:cNvSpPr/>
            <p:nvPr/>
          </p:nvSpPr>
          <p:spPr>
            <a:xfrm>
              <a:off x="722" y="380"/>
              <a:ext cx="555" cy="630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endParaRPr lang="en-US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7898" name="直接连接符 214"/>
            <p:cNvSpPr/>
            <p:nvPr/>
          </p:nvSpPr>
          <p:spPr>
            <a:xfrm>
              <a:off x="788" y="472"/>
              <a:ext cx="393" cy="446"/>
            </a:xfrm>
            <a:prstGeom prst="line">
              <a:avLst/>
            </a:prstGeom>
            <a:ln w="6350" cap="flat" cmpd="sng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7899" name="直接连接符 215"/>
            <p:cNvSpPr/>
            <p:nvPr/>
          </p:nvSpPr>
          <p:spPr>
            <a:xfrm flipH="1">
              <a:off x="788" y="472"/>
              <a:ext cx="393" cy="446"/>
            </a:xfrm>
            <a:prstGeom prst="line">
              <a:avLst/>
            </a:prstGeom>
            <a:ln w="6350" cap="flat" cmpd="sng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7900" name="直接连接符 216"/>
            <p:cNvSpPr/>
            <p:nvPr/>
          </p:nvSpPr>
          <p:spPr>
            <a:xfrm>
              <a:off x="1277" y="695"/>
              <a:ext cx="690" cy="22"/>
            </a:xfrm>
            <a:prstGeom prst="line">
              <a:avLst/>
            </a:prstGeom>
            <a:ln w="6350" cap="flat" cmpd="sng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7901" name="直接连接符 217"/>
            <p:cNvSpPr/>
            <p:nvPr/>
          </p:nvSpPr>
          <p:spPr>
            <a:xfrm>
              <a:off x="1952" y="695"/>
              <a:ext cx="0" cy="345"/>
            </a:xfrm>
            <a:prstGeom prst="line">
              <a:avLst/>
            </a:prstGeom>
            <a:ln w="6350" cap="flat" cmpd="sng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7902" name="直接连接符 218"/>
            <p:cNvSpPr/>
            <p:nvPr/>
          </p:nvSpPr>
          <p:spPr>
            <a:xfrm>
              <a:off x="1592" y="1040"/>
              <a:ext cx="690" cy="0"/>
            </a:xfrm>
            <a:prstGeom prst="line">
              <a:avLst/>
            </a:prstGeom>
            <a:ln w="6350" cap="flat" cmpd="sng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7903" name="直接连接符 219"/>
            <p:cNvSpPr/>
            <p:nvPr/>
          </p:nvSpPr>
          <p:spPr>
            <a:xfrm>
              <a:off x="1562" y="1025"/>
              <a:ext cx="0" cy="375"/>
            </a:xfrm>
            <a:prstGeom prst="line">
              <a:avLst/>
            </a:prstGeom>
            <a:ln w="6350" cap="flat" cmpd="sng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7904" name="直接连接符 220"/>
            <p:cNvSpPr/>
            <p:nvPr/>
          </p:nvSpPr>
          <p:spPr>
            <a:xfrm>
              <a:off x="2267" y="1040"/>
              <a:ext cx="0" cy="405"/>
            </a:xfrm>
            <a:prstGeom prst="line">
              <a:avLst/>
            </a:prstGeom>
            <a:ln w="6350" cap="flat" cmpd="sng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7905" name="直接连接符 221"/>
            <p:cNvSpPr/>
            <p:nvPr/>
          </p:nvSpPr>
          <p:spPr>
            <a:xfrm>
              <a:off x="1562" y="1385"/>
              <a:ext cx="225" cy="495"/>
            </a:xfrm>
            <a:prstGeom prst="line">
              <a:avLst/>
            </a:prstGeom>
            <a:ln w="6350" cap="flat" cmpd="sng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7906" name="直接连接符 222"/>
            <p:cNvSpPr/>
            <p:nvPr/>
          </p:nvSpPr>
          <p:spPr>
            <a:xfrm>
              <a:off x="2267" y="1415"/>
              <a:ext cx="210" cy="405"/>
            </a:xfrm>
            <a:prstGeom prst="line">
              <a:avLst/>
            </a:prstGeom>
            <a:ln w="6350" cap="flat" cmpd="sng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7907" name="直接连接符 223"/>
            <p:cNvSpPr/>
            <p:nvPr/>
          </p:nvSpPr>
          <p:spPr>
            <a:xfrm flipH="1">
              <a:off x="1562" y="1820"/>
              <a:ext cx="15" cy="720"/>
            </a:xfrm>
            <a:prstGeom prst="line">
              <a:avLst/>
            </a:prstGeom>
            <a:ln w="6350" cap="flat" cmpd="sng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7908" name="直接连接符 224"/>
            <p:cNvSpPr/>
            <p:nvPr/>
          </p:nvSpPr>
          <p:spPr>
            <a:xfrm>
              <a:off x="2267" y="1761"/>
              <a:ext cx="0" cy="765"/>
            </a:xfrm>
            <a:prstGeom prst="line">
              <a:avLst/>
            </a:prstGeom>
            <a:ln w="6350" cap="flat" cmpd="sng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7909" name="直接连接符 225"/>
            <p:cNvSpPr/>
            <p:nvPr/>
          </p:nvSpPr>
          <p:spPr>
            <a:xfrm>
              <a:off x="302" y="2526"/>
              <a:ext cx="1965" cy="0"/>
            </a:xfrm>
            <a:prstGeom prst="line">
              <a:avLst/>
            </a:prstGeom>
            <a:ln w="6350" cap="flat" cmpd="sng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7910" name="文本框 226"/>
            <p:cNvSpPr/>
            <p:nvPr/>
          </p:nvSpPr>
          <p:spPr>
            <a:xfrm>
              <a:off x="1172" y="330"/>
              <a:ext cx="450" cy="31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1567" tIns="0" rIns="91567" bIns="0" anchor="t"/>
            <a:p>
              <a:r>
                <a:rPr lang="en-US" altLang="en-US">
                  <a:latin typeface="Arial" panose="020B0604020202020204" pitchFamily="34" charset="0"/>
                  <a:ea typeface="宋体" panose="02010600030101010101" pitchFamily="2" charset="-122"/>
                </a:rPr>
                <a:t>L</a:t>
              </a:r>
              <a:endParaRPr lang="en-US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endParaRPr lang="en-US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7911" name="文本框 227"/>
            <p:cNvSpPr/>
            <p:nvPr/>
          </p:nvSpPr>
          <p:spPr>
            <a:xfrm>
              <a:off x="2263" y="1198"/>
              <a:ext cx="555" cy="48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/>
            <a:p>
              <a:r>
                <a:rPr lang="en-US" altLang="en-US">
                  <a:latin typeface="Arial" panose="020B0604020202020204" pitchFamily="34" charset="0"/>
                  <a:ea typeface="宋体" panose="02010600030101010101" pitchFamily="2" charset="-122"/>
                </a:rPr>
                <a:t>K2</a:t>
              </a:r>
              <a:endParaRPr lang="en-US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endParaRPr lang="en-US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7912" name="文本框 228"/>
            <p:cNvSpPr/>
            <p:nvPr/>
          </p:nvSpPr>
          <p:spPr>
            <a:xfrm>
              <a:off x="1513" y="1213"/>
              <a:ext cx="555" cy="48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/>
            <a:p>
              <a:r>
                <a:rPr lang="en-US" altLang="en-US">
                  <a:latin typeface="Arial" panose="020B0604020202020204" pitchFamily="34" charset="0"/>
                  <a:ea typeface="宋体" panose="02010600030101010101" pitchFamily="2" charset="-122"/>
                </a:rPr>
                <a:t>K1</a:t>
              </a:r>
              <a:endParaRPr lang="en-US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endParaRPr lang="en-US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7913" name="直接连接符 208"/>
            <p:cNvSpPr/>
            <p:nvPr/>
          </p:nvSpPr>
          <p:spPr>
            <a:xfrm>
              <a:off x="2820" y="1565"/>
              <a:ext cx="420" cy="0"/>
            </a:xfrm>
            <a:prstGeom prst="line">
              <a:avLst/>
            </a:prstGeom>
            <a:ln w="28575" cap="flat" cmpd="sng">
              <a:solidFill>
                <a:srgbClr val="42719B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7914" name="直接连接符 209"/>
            <p:cNvSpPr/>
            <p:nvPr/>
          </p:nvSpPr>
          <p:spPr>
            <a:xfrm>
              <a:off x="2910" y="1670"/>
              <a:ext cx="225" cy="0"/>
            </a:xfrm>
            <a:prstGeom prst="line">
              <a:avLst/>
            </a:prstGeom>
            <a:ln w="28575" cap="flat" cmpd="sng">
              <a:solidFill>
                <a:srgbClr val="42719B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7915" name="直接连接符 210"/>
            <p:cNvSpPr/>
            <p:nvPr/>
          </p:nvSpPr>
          <p:spPr>
            <a:xfrm>
              <a:off x="3019" y="1685"/>
              <a:ext cx="0" cy="825"/>
            </a:xfrm>
            <a:prstGeom prst="line">
              <a:avLst/>
            </a:prstGeom>
            <a:ln w="6350" cap="flat" cmpd="sng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7916" name="直接连接符 211"/>
            <p:cNvSpPr/>
            <p:nvPr/>
          </p:nvSpPr>
          <p:spPr>
            <a:xfrm flipV="1">
              <a:off x="3019" y="605"/>
              <a:ext cx="0" cy="930"/>
            </a:xfrm>
            <a:prstGeom prst="line">
              <a:avLst/>
            </a:prstGeom>
            <a:ln w="6350" cap="flat" cmpd="sng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7917" name="直接连接符 212"/>
            <p:cNvSpPr/>
            <p:nvPr/>
          </p:nvSpPr>
          <p:spPr>
            <a:xfrm>
              <a:off x="3002" y="630"/>
              <a:ext cx="437" cy="5"/>
            </a:xfrm>
            <a:prstGeom prst="line">
              <a:avLst/>
            </a:prstGeom>
            <a:ln w="6350" cap="flat" cmpd="sng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7918" name="椭圆 213"/>
            <p:cNvSpPr/>
            <p:nvPr/>
          </p:nvSpPr>
          <p:spPr>
            <a:xfrm>
              <a:off x="3439" y="320"/>
              <a:ext cx="555" cy="630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endParaRPr lang="en-US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7919" name="直接连接符 214"/>
            <p:cNvSpPr/>
            <p:nvPr/>
          </p:nvSpPr>
          <p:spPr>
            <a:xfrm>
              <a:off x="3505" y="412"/>
              <a:ext cx="393" cy="446"/>
            </a:xfrm>
            <a:prstGeom prst="line">
              <a:avLst/>
            </a:prstGeom>
            <a:ln w="6350" cap="flat" cmpd="sng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7920" name="直接连接符 215"/>
            <p:cNvSpPr/>
            <p:nvPr/>
          </p:nvSpPr>
          <p:spPr>
            <a:xfrm flipH="1">
              <a:off x="3505" y="412"/>
              <a:ext cx="393" cy="446"/>
            </a:xfrm>
            <a:prstGeom prst="line">
              <a:avLst/>
            </a:prstGeom>
            <a:ln w="6350" cap="flat" cmpd="sng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7921" name="直接连接符 216"/>
            <p:cNvSpPr/>
            <p:nvPr/>
          </p:nvSpPr>
          <p:spPr>
            <a:xfrm>
              <a:off x="3979" y="635"/>
              <a:ext cx="1245" cy="13"/>
            </a:xfrm>
            <a:prstGeom prst="line">
              <a:avLst/>
            </a:prstGeom>
            <a:ln w="6350" cap="flat" cmpd="sng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7922" name="直接连接符 225"/>
            <p:cNvSpPr/>
            <p:nvPr/>
          </p:nvSpPr>
          <p:spPr>
            <a:xfrm>
              <a:off x="3019" y="2490"/>
              <a:ext cx="585" cy="3"/>
            </a:xfrm>
            <a:prstGeom prst="line">
              <a:avLst/>
            </a:prstGeom>
            <a:ln w="6350" cap="flat" cmpd="sng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7923" name="文本框 227"/>
            <p:cNvSpPr/>
            <p:nvPr/>
          </p:nvSpPr>
          <p:spPr>
            <a:xfrm>
              <a:off x="3525" y="1873"/>
              <a:ext cx="555" cy="48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/>
            <a:p>
              <a:r>
                <a:rPr lang="en-US" altLang="en-US">
                  <a:latin typeface="Arial" panose="020B0604020202020204" pitchFamily="34" charset="0"/>
                  <a:ea typeface="宋体" panose="02010600030101010101" pitchFamily="2" charset="-122"/>
                </a:rPr>
                <a:t>K1</a:t>
              </a:r>
              <a:endParaRPr lang="en-US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endParaRPr lang="en-US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7924" name="文本框 228"/>
            <p:cNvSpPr/>
            <p:nvPr/>
          </p:nvSpPr>
          <p:spPr>
            <a:xfrm>
              <a:off x="4260" y="1918"/>
              <a:ext cx="555" cy="48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/>
            <a:p>
              <a:r>
                <a:rPr lang="en-US" altLang="en-US">
                  <a:latin typeface="Arial" panose="020B0604020202020204" pitchFamily="34" charset="0"/>
                  <a:ea typeface="宋体" panose="02010600030101010101" pitchFamily="2" charset="-122"/>
                </a:rPr>
                <a:t>K2</a:t>
              </a:r>
              <a:endParaRPr lang="en-US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endParaRPr lang="en-US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7925" name="直接连接符 269"/>
            <p:cNvSpPr/>
            <p:nvPr/>
          </p:nvSpPr>
          <p:spPr>
            <a:xfrm flipV="1">
              <a:off x="3604" y="2283"/>
              <a:ext cx="330" cy="225"/>
            </a:xfrm>
            <a:prstGeom prst="line">
              <a:avLst/>
            </a:prstGeom>
            <a:ln w="6350" cap="flat" cmpd="sng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7926" name="直接连接符 270"/>
            <p:cNvSpPr/>
            <p:nvPr/>
          </p:nvSpPr>
          <p:spPr>
            <a:xfrm>
              <a:off x="3844" y="2493"/>
              <a:ext cx="600" cy="0"/>
            </a:xfrm>
            <a:prstGeom prst="line">
              <a:avLst/>
            </a:prstGeom>
            <a:ln w="6350" cap="flat" cmpd="sng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7927" name="直接连接符 271"/>
            <p:cNvSpPr/>
            <p:nvPr/>
          </p:nvSpPr>
          <p:spPr>
            <a:xfrm flipV="1">
              <a:off x="4429" y="2283"/>
              <a:ext cx="285" cy="210"/>
            </a:xfrm>
            <a:prstGeom prst="line">
              <a:avLst/>
            </a:prstGeom>
            <a:ln w="6350" cap="flat" cmpd="sng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7928" name="直接连接符 272"/>
            <p:cNvSpPr/>
            <p:nvPr/>
          </p:nvSpPr>
          <p:spPr>
            <a:xfrm>
              <a:off x="4639" y="2493"/>
              <a:ext cx="585" cy="0"/>
            </a:xfrm>
            <a:prstGeom prst="line">
              <a:avLst/>
            </a:prstGeom>
            <a:ln w="6350" cap="flat" cmpd="sng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7929" name="直接连接符 273"/>
            <p:cNvSpPr/>
            <p:nvPr/>
          </p:nvSpPr>
          <p:spPr>
            <a:xfrm flipV="1">
              <a:off x="5209" y="633"/>
              <a:ext cx="0" cy="1845"/>
            </a:xfrm>
            <a:prstGeom prst="line">
              <a:avLst/>
            </a:prstGeom>
            <a:ln w="6350" cap="flat" cmpd="sng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7930" name="直接连接符 208"/>
            <p:cNvSpPr/>
            <p:nvPr/>
          </p:nvSpPr>
          <p:spPr>
            <a:xfrm>
              <a:off x="5370" y="1490"/>
              <a:ext cx="420" cy="0"/>
            </a:xfrm>
            <a:prstGeom prst="line">
              <a:avLst/>
            </a:prstGeom>
            <a:ln w="28575" cap="flat" cmpd="sng">
              <a:solidFill>
                <a:srgbClr val="42719B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7931" name="直接连接符 209"/>
            <p:cNvSpPr/>
            <p:nvPr/>
          </p:nvSpPr>
          <p:spPr>
            <a:xfrm>
              <a:off x="5460" y="1685"/>
              <a:ext cx="225" cy="0"/>
            </a:xfrm>
            <a:prstGeom prst="line">
              <a:avLst/>
            </a:prstGeom>
            <a:ln w="28575" cap="flat" cmpd="sng">
              <a:solidFill>
                <a:srgbClr val="42719B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7932" name="直接连接符 210"/>
            <p:cNvSpPr/>
            <p:nvPr/>
          </p:nvSpPr>
          <p:spPr>
            <a:xfrm>
              <a:off x="5569" y="1700"/>
              <a:ext cx="0" cy="825"/>
            </a:xfrm>
            <a:prstGeom prst="line">
              <a:avLst/>
            </a:prstGeom>
            <a:ln w="6350" cap="flat" cmpd="sng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7933" name="直接连接符 211"/>
            <p:cNvSpPr/>
            <p:nvPr/>
          </p:nvSpPr>
          <p:spPr>
            <a:xfrm flipV="1">
              <a:off x="5569" y="620"/>
              <a:ext cx="0" cy="930"/>
            </a:xfrm>
            <a:prstGeom prst="line">
              <a:avLst/>
            </a:prstGeom>
            <a:ln w="6350" cap="flat" cmpd="sng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7934" name="直接连接符 212"/>
            <p:cNvSpPr/>
            <p:nvPr/>
          </p:nvSpPr>
          <p:spPr>
            <a:xfrm>
              <a:off x="5569" y="660"/>
              <a:ext cx="810" cy="5"/>
            </a:xfrm>
            <a:prstGeom prst="line">
              <a:avLst/>
            </a:prstGeom>
            <a:ln w="6350" cap="flat" cmpd="sng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7935" name="椭圆 213"/>
            <p:cNvSpPr/>
            <p:nvPr/>
          </p:nvSpPr>
          <p:spPr>
            <a:xfrm>
              <a:off x="6379" y="335"/>
              <a:ext cx="555" cy="630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endParaRPr lang="en-US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7936" name="直接连接符 214"/>
            <p:cNvSpPr/>
            <p:nvPr/>
          </p:nvSpPr>
          <p:spPr>
            <a:xfrm>
              <a:off x="6445" y="427"/>
              <a:ext cx="393" cy="446"/>
            </a:xfrm>
            <a:prstGeom prst="line">
              <a:avLst/>
            </a:prstGeom>
            <a:ln w="6350" cap="flat" cmpd="sng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7937" name="直接连接符 215"/>
            <p:cNvSpPr/>
            <p:nvPr/>
          </p:nvSpPr>
          <p:spPr>
            <a:xfrm flipH="1">
              <a:off x="6445" y="427"/>
              <a:ext cx="393" cy="446"/>
            </a:xfrm>
            <a:prstGeom prst="line">
              <a:avLst/>
            </a:prstGeom>
            <a:ln w="6350" cap="flat" cmpd="sng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7938" name="直接连接符 216"/>
            <p:cNvSpPr/>
            <p:nvPr/>
          </p:nvSpPr>
          <p:spPr>
            <a:xfrm>
              <a:off x="6932" y="630"/>
              <a:ext cx="482" cy="3"/>
            </a:xfrm>
            <a:prstGeom prst="line">
              <a:avLst/>
            </a:prstGeom>
            <a:ln w="6350" cap="flat" cmpd="sng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7939" name="文本框 227"/>
            <p:cNvSpPr/>
            <p:nvPr/>
          </p:nvSpPr>
          <p:spPr>
            <a:xfrm>
              <a:off x="6150" y="1093"/>
              <a:ext cx="555" cy="48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/>
            <a:p>
              <a:r>
                <a:rPr lang="en-US" altLang="en-US">
                  <a:latin typeface="Arial" panose="020B0604020202020204" pitchFamily="34" charset="0"/>
                  <a:ea typeface="宋体" panose="02010600030101010101" pitchFamily="2" charset="-122"/>
                </a:rPr>
                <a:t>K</a:t>
              </a:r>
              <a:endParaRPr lang="en-US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endParaRPr lang="en-US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7940" name="直接连接符 290"/>
            <p:cNvSpPr/>
            <p:nvPr/>
          </p:nvSpPr>
          <p:spPr>
            <a:xfrm>
              <a:off x="5567" y="2505"/>
              <a:ext cx="1845" cy="0"/>
            </a:xfrm>
            <a:prstGeom prst="line">
              <a:avLst/>
            </a:prstGeom>
            <a:ln w="6350" cap="flat" cmpd="sng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7941" name="直接连接符 291"/>
            <p:cNvSpPr/>
            <p:nvPr/>
          </p:nvSpPr>
          <p:spPr>
            <a:xfrm flipV="1">
              <a:off x="7399" y="648"/>
              <a:ext cx="0" cy="1845"/>
            </a:xfrm>
            <a:prstGeom prst="line">
              <a:avLst/>
            </a:prstGeom>
            <a:ln w="6350" cap="flat" cmpd="sng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7942" name="直接连接符 292"/>
            <p:cNvSpPr/>
            <p:nvPr/>
          </p:nvSpPr>
          <p:spPr>
            <a:xfrm>
              <a:off x="6122" y="660"/>
              <a:ext cx="0" cy="570"/>
            </a:xfrm>
            <a:prstGeom prst="line">
              <a:avLst/>
            </a:prstGeom>
            <a:ln w="6350" cap="flat" cmpd="sng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7943" name="直接连接符 293"/>
            <p:cNvSpPr/>
            <p:nvPr/>
          </p:nvSpPr>
          <p:spPr>
            <a:xfrm>
              <a:off x="6122" y="1560"/>
              <a:ext cx="0" cy="945"/>
            </a:xfrm>
            <a:prstGeom prst="line">
              <a:avLst/>
            </a:prstGeom>
            <a:ln w="6350" cap="flat" cmpd="sng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7944" name="直接连接符 294"/>
            <p:cNvSpPr/>
            <p:nvPr/>
          </p:nvSpPr>
          <p:spPr>
            <a:xfrm>
              <a:off x="6122" y="1185"/>
              <a:ext cx="240" cy="375"/>
            </a:xfrm>
            <a:prstGeom prst="line">
              <a:avLst/>
            </a:prstGeom>
            <a:ln w="6350" cap="flat" cmpd="sng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7945" name="文本框 295"/>
            <p:cNvSpPr/>
            <p:nvPr/>
          </p:nvSpPr>
          <p:spPr>
            <a:xfrm>
              <a:off x="3883" y="328"/>
              <a:ext cx="450" cy="31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1567" tIns="0" rIns="91567" bIns="0" anchor="t"/>
            <a:p>
              <a:r>
                <a:rPr lang="en-US" altLang="en-US">
                  <a:latin typeface="Arial" panose="020B0604020202020204" pitchFamily="34" charset="0"/>
                  <a:ea typeface="宋体" panose="02010600030101010101" pitchFamily="2" charset="-122"/>
                </a:rPr>
                <a:t>L</a:t>
              </a:r>
              <a:endParaRPr lang="en-US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endParaRPr lang="en-US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7946" name="文本框 296"/>
            <p:cNvSpPr/>
            <p:nvPr/>
          </p:nvSpPr>
          <p:spPr>
            <a:xfrm>
              <a:off x="6808" y="238"/>
              <a:ext cx="450" cy="31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1567" tIns="0" rIns="91567" bIns="0" anchor="t"/>
            <a:p>
              <a:r>
                <a:rPr lang="en-US" altLang="en-US">
                  <a:latin typeface="Arial" panose="020B0604020202020204" pitchFamily="34" charset="0"/>
                  <a:ea typeface="宋体" panose="02010600030101010101" pitchFamily="2" charset="-122"/>
                </a:rPr>
                <a:t>L</a:t>
              </a:r>
              <a:endParaRPr lang="en-US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endParaRPr lang="en-US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7947" name="文本框 297"/>
            <p:cNvSpPr/>
            <p:nvPr/>
          </p:nvSpPr>
          <p:spPr>
            <a:xfrm>
              <a:off x="272" y="2636"/>
              <a:ext cx="2085" cy="371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/>
            <a:p>
              <a:r>
                <a:rPr lang="en-US" altLang="en-US">
                  <a:latin typeface="Arial" panose="020B0604020202020204" pitchFamily="34" charset="0"/>
                  <a:ea typeface="宋体" panose="02010600030101010101" pitchFamily="2" charset="-122"/>
                </a:rPr>
                <a:t>（1）or，并联电路</a:t>
              </a:r>
              <a:endParaRPr lang="en-US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endParaRPr lang="en-US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7948" name="文本框 299"/>
            <p:cNvSpPr/>
            <p:nvPr/>
          </p:nvSpPr>
          <p:spPr>
            <a:xfrm>
              <a:off x="3058" y="2636"/>
              <a:ext cx="2085" cy="371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/>
            <a:p>
              <a:r>
                <a:rPr lang="en-US" altLang="en-US">
                  <a:latin typeface="Arial" panose="020B0604020202020204" pitchFamily="34" charset="0"/>
                  <a:ea typeface="宋体" panose="02010600030101010101" pitchFamily="2" charset="-122"/>
                </a:rPr>
                <a:t>（2）and，串联电路</a:t>
              </a:r>
              <a:endParaRPr lang="en-US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endParaRPr lang="en-US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7949" name="文本框 300"/>
            <p:cNvSpPr/>
            <p:nvPr/>
          </p:nvSpPr>
          <p:spPr>
            <a:xfrm>
              <a:off x="5473" y="2636"/>
              <a:ext cx="1816" cy="371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/>
            <a:p>
              <a:r>
                <a:rPr lang="en-US" altLang="en-US">
                  <a:latin typeface="Arial" panose="020B0604020202020204" pitchFamily="34" charset="0"/>
                  <a:ea typeface="宋体" panose="02010600030101010101" pitchFamily="2" charset="-122"/>
                </a:rPr>
                <a:t>（3）not，短路</a:t>
              </a:r>
              <a:endParaRPr lang="en-US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endParaRPr lang="en-US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4" name="矩形 3"/>
          <p:cNvSpPr/>
          <p:nvPr/>
        </p:nvSpPr>
        <p:spPr>
          <a:xfrm>
            <a:off x="7083425" y="3816350"/>
            <a:ext cx="84138" cy="4032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trike="noStrike" noProof="1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38646" y="3068960"/>
            <a:ext cx="11114707" cy="273630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逻辑运算</a:t>
            </a:r>
            <a:r>
              <a:rPr lang="zh-CN" altLang="en-US" dirty="0"/>
              <a:t>中的惰性求值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表达式</a:t>
            </a:r>
            <a:r>
              <a:rPr lang="zh-CN" altLang="en-US" dirty="0"/>
              <a:t>“</a:t>
            </a:r>
            <a:r>
              <a:rPr lang="en-US" altLang="zh-CN" b="1" u="sng" dirty="0">
                <a:solidFill>
                  <a:srgbClr val="0070C0"/>
                </a:solidFill>
              </a:rPr>
              <a:t>a </a:t>
            </a:r>
            <a:r>
              <a:rPr lang="zh-CN" altLang="en-US" b="1" u="sng" dirty="0">
                <a:solidFill>
                  <a:srgbClr val="0070C0"/>
                </a:solidFill>
              </a:rPr>
              <a:t>逻辑运算 </a:t>
            </a:r>
            <a:r>
              <a:rPr lang="en-US" altLang="zh-CN" b="1" u="sng" dirty="0">
                <a:solidFill>
                  <a:srgbClr val="0070C0"/>
                </a:solidFill>
              </a:rPr>
              <a:t>b</a:t>
            </a:r>
            <a:r>
              <a:rPr lang="en-US" altLang="zh-CN" dirty="0"/>
              <a:t>”</a:t>
            </a:r>
            <a:r>
              <a:rPr lang="zh-CN" altLang="en-US" dirty="0"/>
              <a:t>，则在计算</a:t>
            </a:r>
            <a:r>
              <a:rPr lang="en-US" altLang="zh-CN" dirty="0"/>
              <a:t>a</a:t>
            </a:r>
            <a:r>
              <a:rPr lang="zh-CN" altLang="en-US" dirty="0"/>
              <a:t>后，已经能确定整个表达式结果时，系统不再计算</a:t>
            </a:r>
            <a:r>
              <a:rPr lang="en-US" altLang="zh-CN" dirty="0"/>
              <a:t>b</a:t>
            </a:r>
            <a:r>
              <a:rPr lang="zh-CN" altLang="en-US" dirty="0"/>
              <a:t>的结果，以提高程序的运行</a:t>
            </a:r>
            <a:r>
              <a:rPr lang="zh-CN" altLang="en-US" dirty="0" smtClean="0"/>
              <a:t>效率</a:t>
            </a:r>
            <a:endParaRPr lang="en-US" altLang="zh-CN" dirty="0" smtClean="0"/>
          </a:p>
          <a:p>
            <a:endParaRPr lang="en-US" altLang="zh-CN" dirty="0" smtClean="0"/>
          </a:p>
          <a:p>
            <a:pPr marL="0" indent="0">
              <a:buNone/>
            </a:pPr>
            <a:r>
              <a:rPr lang="en-US" altLang="zh-CN" dirty="0"/>
              <a:t>&gt;&gt;&gt; 1 &lt; 0 and tuple()	</a:t>
            </a:r>
            <a:r>
              <a:rPr lang="en-US" altLang="zh-CN" sz="2400" dirty="0" smtClean="0">
                <a:solidFill>
                  <a:srgbClr val="FF0000"/>
                </a:solidFill>
              </a:rPr>
              <a:t># tuple</a:t>
            </a:r>
            <a:r>
              <a:rPr lang="en-US" altLang="zh-CN" sz="2400" dirty="0">
                <a:solidFill>
                  <a:srgbClr val="FF0000"/>
                </a:solidFill>
              </a:rPr>
              <a:t>()</a:t>
            </a:r>
            <a:r>
              <a:rPr lang="zh-CN" altLang="en-US" sz="2400" dirty="0">
                <a:solidFill>
                  <a:srgbClr val="FF0000"/>
                </a:solidFill>
              </a:rPr>
              <a:t>函数</a:t>
            </a:r>
            <a:r>
              <a:rPr lang="zh-CN" altLang="en-US" sz="2400" dirty="0" smtClean="0">
                <a:solidFill>
                  <a:srgbClr val="FF0000"/>
                </a:solidFill>
              </a:rPr>
              <a:t>返回空</a:t>
            </a:r>
            <a:r>
              <a:rPr lang="zh-CN" altLang="en-US" sz="2400" dirty="0">
                <a:solidFill>
                  <a:srgbClr val="FF0000"/>
                </a:solidFill>
              </a:rPr>
              <a:t>元组，</a:t>
            </a:r>
            <a:r>
              <a:rPr lang="zh-CN" altLang="en-US" sz="2400" dirty="0" smtClean="0">
                <a:solidFill>
                  <a:srgbClr val="FF0000"/>
                </a:solidFill>
              </a:rPr>
              <a:t>等价于</a:t>
            </a:r>
            <a:r>
              <a:rPr lang="en-US" altLang="zh-CN" sz="2400" dirty="0" smtClean="0">
                <a:solidFill>
                  <a:srgbClr val="FF0000"/>
                </a:solidFill>
              </a:rPr>
              <a:t>False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rgbClr val="0070C0"/>
                </a:solidFill>
              </a:rPr>
              <a:t>False</a:t>
            </a:r>
            <a:endParaRPr lang="en-US" altLang="zh-CN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altLang="zh-CN" dirty="0"/>
              <a:t>&gt;&gt;&gt; 3 + 6 or set()		</a:t>
            </a:r>
            <a:r>
              <a:rPr lang="en-US" altLang="zh-CN" dirty="0" smtClean="0">
                <a:solidFill>
                  <a:srgbClr val="FF0000"/>
                </a:solidFill>
              </a:rPr>
              <a:t># </a:t>
            </a:r>
            <a:r>
              <a:rPr lang="en-US" altLang="zh-CN" sz="2400" dirty="0" smtClean="0">
                <a:solidFill>
                  <a:srgbClr val="FF0000"/>
                </a:solidFill>
              </a:rPr>
              <a:t>set</a:t>
            </a:r>
            <a:r>
              <a:rPr lang="en-US" altLang="zh-CN" sz="2400" dirty="0">
                <a:solidFill>
                  <a:srgbClr val="FF0000"/>
                </a:solidFill>
              </a:rPr>
              <a:t>()</a:t>
            </a:r>
            <a:r>
              <a:rPr lang="zh-CN" altLang="en-US" sz="2400" dirty="0">
                <a:solidFill>
                  <a:srgbClr val="FF0000"/>
                </a:solidFill>
              </a:rPr>
              <a:t>函数</a:t>
            </a:r>
            <a:r>
              <a:rPr lang="zh-CN" altLang="en-US" sz="2400" dirty="0" smtClean="0">
                <a:solidFill>
                  <a:srgbClr val="FF0000"/>
                </a:solidFill>
              </a:rPr>
              <a:t>返回空集</a:t>
            </a:r>
            <a:r>
              <a:rPr lang="zh-CN" altLang="en-US" sz="2400" dirty="0">
                <a:solidFill>
                  <a:srgbClr val="FF0000"/>
                </a:solidFill>
              </a:rPr>
              <a:t>合，等价于</a:t>
            </a:r>
            <a:r>
              <a:rPr lang="en-US" altLang="zh-CN" sz="2400" dirty="0">
                <a:solidFill>
                  <a:srgbClr val="FF0000"/>
                </a:solidFill>
              </a:rPr>
              <a:t>False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rgbClr val="0070C0"/>
                </a:solidFill>
              </a:rPr>
              <a:t>9</a:t>
            </a:r>
            <a:endParaRPr lang="en-US" altLang="zh-CN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4.1.3 </a:t>
            </a:r>
            <a:r>
              <a:rPr lang="zh-CN" altLang="en-US" smtClean="0"/>
              <a:t>测试</a:t>
            </a:r>
            <a:r>
              <a:rPr lang="zh-CN" altLang="en-US" dirty="0"/>
              <a:t>运算及函数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160145"/>
            <a:ext cx="11114707" cy="5180965"/>
          </a:xfrm>
        </p:spPr>
        <p:txBody>
          <a:bodyPr/>
          <a:lstStyle/>
          <a:p>
            <a:pPr marL="0" indent="0">
              <a:spcAft>
                <a:spcPts val="600"/>
              </a:spcAft>
              <a:buNone/>
            </a:pPr>
            <a:r>
              <a:rPr lang="en-US" altLang="zh-CN" dirty="0"/>
              <a:t>1</a:t>
            </a:r>
            <a:r>
              <a:rPr lang="zh-CN" altLang="en-US" dirty="0" smtClean="0"/>
              <a:t>．成员运算符</a:t>
            </a:r>
            <a:endParaRPr lang="en-US" altLang="zh-CN" dirty="0" smtClean="0"/>
          </a:p>
          <a:p>
            <a:pPr lvl="1">
              <a:spcAft>
                <a:spcPts val="600"/>
              </a:spcAft>
            </a:pPr>
            <a:r>
              <a:rPr lang="en-US" altLang="zh-CN" b="1" u="sng" dirty="0">
                <a:solidFill>
                  <a:srgbClr val="0070C0"/>
                </a:solidFill>
              </a:rPr>
              <a:t>a in b</a:t>
            </a:r>
            <a:r>
              <a:rPr lang="en-US" altLang="zh-CN" dirty="0"/>
              <a:t>	</a:t>
            </a:r>
            <a:endParaRPr lang="en-US" altLang="zh-CN" dirty="0" smtClean="0"/>
          </a:p>
          <a:p>
            <a:pPr marL="457200" lvl="1" indent="0">
              <a:spcAft>
                <a:spcPts val="600"/>
              </a:spcAft>
              <a:buNone/>
            </a:pPr>
            <a:r>
              <a:rPr lang="zh-CN" altLang="en-US" sz="2400" dirty="0" smtClean="0"/>
              <a:t>在</a:t>
            </a:r>
            <a:r>
              <a:rPr lang="zh-CN" altLang="en-US" sz="2400" dirty="0"/>
              <a:t>序列或可迭代对象</a:t>
            </a:r>
            <a:r>
              <a:rPr lang="en-US" altLang="zh-CN" sz="2400" dirty="0"/>
              <a:t>b</a:t>
            </a:r>
            <a:r>
              <a:rPr lang="zh-CN" altLang="en-US" sz="2400" dirty="0"/>
              <a:t>中找到值</a:t>
            </a:r>
            <a:r>
              <a:rPr lang="en-US" altLang="zh-CN" sz="2400" dirty="0"/>
              <a:t>a</a:t>
            </a:r>
            <a:r>
              <a:rPr lang="zh-CN" altLang="en-US" sz="2400" dirty="0"/>
              <a:t>，就返回</a:t>
            </a:r>
            <a:r>
              <a:rPr lang="en-US" altLang="zh-CN" sz="2400" dirty="0"/>
              <a:t>True</a:t>
            </a:r>
            <a:r>
              <a:rPr lang="zh-CN" altLang="en-US" sz="2400" dirty="0"/>
              <a:t>，否则返回</a:t>
            </a:r>
            <a:r>
              <a:rPr lang="en-US" altLang="zh-CN" sz="2400" dirty="0"/>
              <a:t>False</a:t>
            </a:r>
            <a:r>
              <a:rPr lang="zh-CN" altLang="en-US" sz="2400" dirty="0"/>
              <a:t>。</a:t>
            </a:r>
            <a:endParaRPr lang="zh-CN" altLang="en-US" sz="2400" dirty="0"/>
          </a:p>
          <a:p>
            <a:pPr lvl="1">
              <a:spcAft>
                <a:spcPts val="600"/>
              </a:spcAft>
            </a:pPr>
            <a:r>
              <a:rPr lang="en-US" altLang="zh-CN" b="1" u="sng" dirty="0">
                <a:solidFill>
                  <a:srgbClr val="0070C0"/>
                </a:solidFill>
              </a:rPr>
              <a:t>a not in b</a:t>
            </a:r>
            <a:endParaRPr lang="en-US" altLang="zh-CN" b="1" u="sng" dirty="0">
              <a:solidFill>
                <a:srgbClr val="0070C0"/>
              </a:solidFill>
            </a:endParaRPr>
          </a:p>
          <a:p>
            <a:pPr marL="457200" lvl="1" indent="0">
              <a:spcAft>
                <a:spcPts val="600"/>
              </a:spcAft>
              <a:buNone/>
            </a:pPr>
            <a:r>
              <a:rPr lang="zh-CN" altLang="en-US" sz="2400" dirty="0" smtClean="0"/>
              <a:t>在</a:t>
            </a:r>
            <a:r>
              <a:rPr lang="zh-CN" altLang="en-US" sz="2400" dirty="0"/>
              <a:t>序列或可迭代对象</a:t>
            </a:r>
            <a:r>
              <a:rPr lang="en-US" altLang="zh-CN" sz="2400" dirty="0"/>
              <a:t>b</a:t>
            </a:r>
            <a:r>
              <a:rPr lang="zh-CN" altLang="en-US" sz="2400" dirty="0"/>
              <a:t>中没有找到值</a:t>
            </a:r>
            <a:r>
              <a:rPr lang="en-US" altLang="zh-CN" sz="2400" dirty="0"/>
              <a:t>a</a:t>
            </a:r>
            <a:r>
              <a:rPr lang="zh-CN" altLang="en-US" sz="2400" dirty="0"/>
              <a:t>，就返回</a:t>
            </a:r>
            <a:r>
              <a:rPr lang="en-US" altLang="zh-CN" sz="2400" dirty="0"/>
              <a:t>True</a:t>
            </a:r>
            <a:r>
              <a:rPr lang="zh-CN" altLang="en-US" sz="2400" dirty="0"/>
              <a:t>，否则返回</a:t>
            </a:r>
            <a:r>
              <a:rPr lang="en-US" altLang="zh-CN" sz="2400" dirty="0"/>
              <a:t>False</a:t>
            </a:r>
            <a:r>
              <a:rPr lang="zh-CN" altLang="en-US" sz="2400" dirty="0"/>
              <a:t>。</a:t>
            </a:r>
            <a:endParaRPr lang="zh-CN" altLang="en-US" sz="2400" dirty="0"/>
          </a:p>
          <a:p>
            <a:pPr lvl="1"/>
            <a:endParaRPr lang="en-US" altLang="zh-CN" dirty="0" smtClean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内容占位符 2"/>
          <p:cNvSpPr txBox="1"/>
          <p:nvPr/>
        </p:nvSpPr>
        <p:spPr>
          <a:xfrm>
            <a:off x="669925" y="4365104"/>
            <a:ext cx="11017224" cy="20882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0000" tIns="46800" rIns="90000" bIns="46800" rtlCol="0">
            <a:normAutofit fontScale="92500" lnSpcReduction="10000"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 dirty="0"/>
              <a:t>&gt;&gt;&gt; 8 not in [1, 2, 3, 4, 5]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>
                <a:solidFill>
                  <a:srgbClr val="0070C0"/>
                </a:solidFill>
              </a:rPr>
              <a:t>True</a:t>
            </a:r>
            <a:endParaRPr lang="en-US" altLang="zh-CN" sz="2400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altLang="zh-CN" sz="2400" dirty="0"/>
              <a:t>&gt;&gt;&gt; 100 in range(100)	</a:t>
            </a:r>
            <a:endParaRPr lang="en-US" altLang="zh-CN" sz="2400" dirty="0" smtClean="0"/>
          </a:p>
          <a:p>
            <a:pPr marL="0" indent="0">
              <a:buNone/>
            </a:pPr>
            <a:r>
              <a:rPr lang="en-US" altLang="zh-CN" sz="2400" dirty="0" smtClean="0">
                <a:solidFill>
                  <a:srgbClr val="0070C0"/>
                </a:solidFill>
              </a:rPr>
              <a:t>False</a:t>
            </a:r>
            <a:endParaRPr lang="en-US" altLang="zh-CN" sz="24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r>
              <a:rPr lang="zh-CN" altLang="en-US" dirty="0" smtClean="0"/>
              <a:t>．身份</a:t>
            </a:r>
            <a:r>
              <a:rPr lang="zh-CN" altLang="en-US" dirty="0"/>
              <a:t>运算符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spcAft>
                <a:spcPts val="600"/>
              </a:spcAft>
            </a:pPr>
            <a:r>
              <a:rPr lang="en-US" altLang="zh-CN" b="1" u="sng" dirty="0">
                <a:solidFill>
                  <a:srgbClr val="0070C0"/>
                </a:solidFill>
              </a:rPr>
              <a:t>a is b</a:t>
            </a:r>
            <a:endParaRPr lang="en-US" altLang="zh-CN" b="1" u="sng" dirty="0">
              <a:solidFill>
                <a:srgbClr val="0070C0"/>
              </a:solidFill>
            </a:endParaRPr>
          </a:p>
          <a:p>
            <a:pPr marL="457200" lvl="1" indent="0">
              <a:spcAft>
                <a:spcPts val="600"/>
              </a:spcAft>
              <a:buNone/>
            </a:pPr>
            <a:r>
              <a:rPr lang="zh-CN" altLang="en-US" dirty="0" smtClean="0"/>
              <a:t>判断</a:t>
            </a:r>
            <a:r>
              <a:rPr lang="en-US" altLang="zh-CN" dirty="0"/>
              <a:t>a</a:t>
            </a:r>
            <a:r>
              <a:rPr lang="zh-CN" altLang="en-US" dirty="0"/>
              <a:t>、</a:t>
            </a:r>
            <a:r>
              <a:rPr lang="en-US" altLang="zh-CN" dirty="0"/>
              <a:t>b</a:t>
            </a:r>
            <a:r>
              <a:rPr lang="zh-CN" altLang="en-US" dirty="0"/>
              <a:t>是否引用了同一个对象，是就返回</a:t>
            </a:r>
            <a:r>
              <a:rPr lang="en-US" altLang="zh-CN" dirty="0"/>
              <a:t>True</a:t>
            </a:r>
            <a:r>
              <a:rPr lang="zh-CN" altLang="en-US" dirty="0"/>
              <a:t>，否则返回</a:t>
            </a:r>
            <a:r>
              <a:rPr lang="en-US" altLang="zh-CN" dirty="0"/>
              <a:t>False</a:t>
            </a:r>
            <a:r>
              <a:rPr lang="zh-CN" altLang="en-US" dirty="0"/>
              <a:t>。</a:t>
            </a:r>
            <a:endParaRPr lang="zh-CN" altLang="en-US" dirty="0"/>
          </a:p>
          <a:p>
            <a:pPr>
              <a:spcAft>
                <a:spcPts val="600"/>
              </a:spcAft>
            </a:pPr>
            <a:r>
              <a:rPr lang="en-US" altLang="zh-CN" b="1" u="sng" dirty="0">
                <a:solidFill>
                  <a:srgbClr val="0070C0"/>
                </a:solidFill>
              </a:rPr>
              <a:t>a is not</a:t>
            </a:r>
            <a:r>
              <a:rPr lang="en-US" altLang="zh-CN" b="1" u="sng" dirty="0">
                <a:solidFill>
                  <a:srgbClr val="0070C0"/>
                </a:solidFill>
              </a:rPr>
              <a:t> b</a:t>
            </a:r>
            <a:endParaRPr lang="en-US" altLang="zh-CN" b="1" u="sng" dirty="0">
              <a:solidFill>
                <a:srgbClr val="0070C0"/>
              </a:solidFill>
            </a:endParaRPr>
          </a:p>
          <a:p>
            <a:pPr marL="457200" lvl="1" indent="0">
              <a:spcAft>
                <a:spcPts val="600"/>
              </a:spcAft>
              <a:buNone/>
            </a:pPr>
            <a:r>
              <a:rPr lang="zh-CN" altLang="en-US" dirty="0" smtClean="0"/>
              <a:t>判断</a:t>
            </a:r>
            <a:r>
              <a:rPr lang="en-US" altLang="zh-CN" dirty="0"/>
              <a:t>a</a:t>
            </a:r>
            <a:r>
              <a:rPr lang="zh-CN" altLang="en-US" dirty="0"/>
              <a:t>、</a:t>
            </a:r>
            <a:r>
              <a:rPr lang="en-US" altLang="zh-CN" dirty="0"/>
              <a:t>b</a:t>
            </a:r>
            <a:r>
              <a:rPr lang="zh-CN" altLang="en-US" dirty="0"/>
              <a:t>是否引用了不同的对象，是就返回</a:t>
            </a:r>
            <a:r>
              <a:rPr lang="en-US" altLang="zh-CN" dirty="0"/>
              <a:t>True</a:t>
            </a:r>
            <a:r>
              <a:rPr lang="zh-CN" altLang="en-US" dirty="0"/>
              <a:t>，否则返回</a:t>
            </a:r>
            <a:r>
              <a:rPr lang="en-US" altLang="zh-CN" dirty="0"/>
              <a:t>False</a:t>
            </a:r>
            <a:r>
              <a:rPr lang="zh-CN" altLang="en-US" dirty="0"/>
              <a:t>。</a:t>
            </a:r>
            <a:endParaRPr lang="zh-CN" altLang="en-US" dirty="0"/>
          </a:p>
          <a:p>
            <a:pPr>
              <a:spcAft>
                <a:spcPts val="600"/>
              </a:spcAft>
            </a:pPr>
            <a:r>
              <a:rPr lang="zh-CN" altLang="en-US" dirty="0" smtClean="0"/>
              <a:t>内置</a:t>
            </a:r>
            <a:r>
              <a:rPr lang="zh-CN" altLang="en-US" dirty="0"/>
              <a:t>函数</a:t>
            </a:r>
            <a:r>
              <a:rPr lang="en-US" altLang="zh-CN" dirty="0"/>
              <a:t>id</a:t>
            </a:r>
            <a:r>
              <a:rPr lang="en-US" altLang="zh-CN" dirty="0" smtClean="0"/>
              <a:t>()</a:t>
            </a:r>
            <a:endParaRPr lang="en-US" altLang="zh-CN" dirty="0" smtClean="0"/>
          </a:p>
          <a:p>
            <a:pPr marL="457200" lvl="1" indent="0">
              <a:spcAft>
                <a:spcPts val="600"/>
              </a:spcAft>
              <a:buNone/>
            </a:pPr>
            <a:r>
              <a:rPr lang="zh-CN" altLang="en-US" dirty="0" smtClean="0"/>
              <a:t>用来</a:t>
            </a:r>
            <a:r>
              <a:rPr lang="zh-CN" altLang="en-US" dirty="0"/>
              <a:t>返回变量所引用对象的</a:t>
            </a:r>
            <a:r>
              <a:rPr lang="en-US" altLang="zh-CN" dirty="0"/>
              <a:t>id</a:t>
            </a:r>
            <a:r>
              <a:rPr lang="zh-CN" altLang="en-US" dirty="0"/>
              <a:t>值，该值就是被引用对象的内存</a:t>
            </a:r>
            <a:r>
              <a:rPr lang="zh-CN" altLang="en-US" dirty="0" smtClean="0"/>
              <a:t>地址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2</a:t>
            </a:r>
            <a:r>
              <a:rPr lang="zh-CN" altLang="en-US" dirty="0" smtClean="0"/>
              <a:t>．身份</a:t>
            </a:r>
            <a:r>
              <a:rPr lang="zh-CN" altLang="en-US" dirty="0"/>
              <a:t>运算符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solidFill>
            <a:schemeClr val="bg1">
              <a:lumMod val="85000"/>
            </a:schemeClr>
          </a:solidFill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s-ES" altLang="zh-CN" dirty="0"/>
              <a:t>&gt;&gt;&gt; x = 20</a:t>
            </a:r>
            <a:endParaRPr lang="es-ES" altLang="zh-CN" dirty="0"/>
          </a:p>
          <a:p>
            <a:pPr marL="0" indent="0">
              <a:buNone/>
            </a:pPr>
            <a:r>
              <a:rPr lang="es-ES" altLang="zh-CN" dirty="0"/>
              <a:t>&gt;&gt;&gt; id(x)</a:t>
            </a:r>
            <a:endParaRPr lang="es-ES" altLang="zh-CN" dirty="0"/>
          </a:p>
          <a:p>
            <a:pPr marL="0" indent="0">
              <a:buNone/>
            </a:pPr>
            <a:r>
              <a:rPr lang="es-ES" altLang="zh-CN" dirty="0">
                <a:solidFill>
                  <a:srgbClr val="0070C0"/>
                </a:solidFill>
              </a:rPr>
              <a:t>1707017264</a:t>
            </a:r>
            <a:endParaRPr lang="es-ES" altLang="zh-CN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s-ES" altLang="zh-CN" dirty="0"/>
              <a:t>&gt;&gt;&gt; y = 20</a:t>
            </a:r>
            <a:endParaRPr lang="es-ES" altLang="zh-CN" dirty="0"/>
          </a:p>
          <a:p>
            <a:pPr marL="0" indent="0">
              <a:buNone/>
            </a:pPr>
            <a:r>
              <a:rPr lang="es-ES" altLang="zh-CN" dirty="0"/>
              <a:t>&gt;&gt;&gt; id(y)</a:t>
            </a:r>
            <a:endParaRPr lang="es-ES" altLang="zh-CN" dirty="0"/>
          </a:p>
          <a:p>
            <a:pPr marL="0" indent="0">
              <a:buNone/>
            </a:pPr>
            <a:r>
              <a:rPr lang="es-ES" altLang="zh-CN" dirty="0">
                <a:solidFill>
                  <a:srgbClr val="0070C0"/>
                </a:solidFill>
              </a:rPr>
              <a:t>1707017264</a:t>
            </a:r>
            <a:endParaRPr lang="es-ES" altLang="zh-CN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s-ES" altLang="zh-CN" dirty="0"/>
              <a:t>&gt;&gt;&gt; x is y</a:t>
            </a:r>
            <a:endParaRPr lang="es-ES" altLang="zh-CN" dirty="0"/>
          </a:p>
          <a:p>
            <a:pPr marL="0" indent="0">
              <a:buNone/>
            </a:pPr>
            <a:r>
              <a:rPr lang="es-ES" altLang="zh-CN" dirty="0" smtClean="0">
                <a:solidFill>
                  <a:srgbClr val="0070C0"/>
                </a:solidFill>
              </a:rPr>
              <a:t>True</a:t>
            </a:r>
            <a:endParaRPr lang="es-ES" altLang="zh-CN" dirty="0" smtClean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altLang="zh-CN" dirty="0"/>
              <a:t>&gt;&gt;&gt; a = list() </a:t>
            </a:r>
            <a:endParaRPr lang="en-US" altLang="zh-CN" dirty="0"/>
          </a:p>
        </p:txBody>
      </p:sp>
      <p:sp>
        <p:nvSpPr>
          <p:cNvPr id="5" name="内容占位符 4"/>
          <p:cNvSpPr>
            <a:spLocks noGrp="1"/>
          </p:cNvSpPr>
          <p:nvPr>
            <p:ph sz="half" idx="2"/>
          </p:nvPr>
        </p:nvSpPr>
        <p:spPr>
          <a:solidFill>
            <a:schemeClr val="bg1">
              <a:lumMod val="85000"/>
            </a:schemeClr>
          </a:solidFill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zh-CN" dirty="0" smtClean="0"/>
              <a:t>&gt;&gt;&gt; id(a)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smtClean="0">
                <a:solidFill>
                  <a:srgbClr val="0070C0"/>
                </a:solidFill>
              </a:rPr>
              <a:t>2271570384968</a:t>
            </a:r>
            <a:endParaRPr lang="en-US" altLang="zh-CN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altLang="zh-CN" dirty="0"/>
              <a:t>&gt;&gt;&gt; b = list</a:t>
            </a:r>
            <a:r>
              <a:rPr lang="en-US" altLang="zh-CN" dirty="0" smtClean="0"/>
              <a:t>()	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/>
              <a:t>&gt;&gt;&gt; id(b)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>
                <a:solidFill>
                  <a:srgbClr val="0070C0"/>
                </a:solidFill>
              </a:rPr>
              <a:t>2271570367048</a:t>
            </a:r>
            <a:endParaRPr lang="en-US" altLang="zh-CN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altLang="zh-CN" dirty="0"/>
              <a:t>&gt;&gt;&gt; a is not b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>
                <a:solidFill>
                  <a:srgbClr val="0070C0"/>
                </a:solidFill>
              </a:rPr>
              <a:t>True</a:t>
            </a:r>
            <a:endParaRPr lang="en-US" altLang="zh-CN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altLang="zh-CN" dirty="0"/>
              <a:t>&gt;&gt;&gt; c = </a:t>
            </a:r>
            <a:r>
              <a:rPr lang="en-US" altLang="zh-CN" dirty="0" smtClean="0"/>
              <a:t>a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smtClean="0"/>
              <a:t>&gt;&gt;&gt; </a:t>
            </a:r>
            <a:r>
              <a:rPr lang="en-US" altLang="zh-CN" dirty="0"/>
              <a:t>c is not b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 smtClean="0">
                <a:solidFill>
                  <a:srgbClr val="0070C0"/>
                </a:solidFill>
              </a:rPr>
              <a:t>True</a:t>
            </a:r>
            <a:endParaRPr lang="en-US" altLang="zh-CN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内置的测试函数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669925" y="3861048"/>
            <a:ext cx="5066035" cy="2480062"/>
          </a:xfrm>
          <a:solidFill>
            <a:schemeClr val="bg1">
              <a:lumMod val="85000"/>
            </a:schemeClr>
          </a:solidFill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zh-CN" dirty="0"/>
              <a:t>&gt;&gt;&gt; all(['a', 'b', 'c', 'd']) 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smtClean="0">
                <a:solidFill>
                  <a:srgbClr val="0070C0"/>
                </a:solidFill>
              </a:rPr>
              <a:t>True</a:t>
            </a:r>
            <a:endParaRPr lang="en-US" altLang="zh-CN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altLang="zh-CN" dirty="0"/>
              <a:t>&gt;&gt;&gt; all(['a', 'b', '', 'd']) 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smtClean="0">
                <a:solidFill>
                  <a:srgbClr val="0070C0"/>
                </a:solidFill>
              </a:rPr>
              <a:t>False</a:t>
            </a:r>
            <a:endParaRPr lang="en-US" altLang="zh-CN" dirty="0">
              <a:solidFill>
                <a:srgbClr val="0070C0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921214" y="1283569"/>
            <a:ext cx="7920000" cy="792088"/>
          </a:xfrm>
          <a:prstGeom prst="rect">
            <a:avLst/>
          </a:prstGeom>
          <a:ln>
            <a:solidFill>
              <a:schemeClr val="bg2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800" dirty="0">
                <a:latin typeface="+mj-ea"/>
                <a:ea typeface="+mj-ea"/>
              </a:rPr>
              <a:t>all(</a:t>
            </a:r>
            <a:r>
              <a:rPr lang="en-US" altLang="zh-CN" sz="2800" dirty="0" err="1">
                <a:latin typeface="+mj-ea"/>
                <a:ea typeface="+mj-ea"/>
              </a:rPr>
              <a:t>iterable</a:t>
            </a:r>
            <a:r>
              <a:rPr lang="en-US" altLang="zh-CN" sz="2800" dirty="0">
                <a:latin typeface="+mj-ea"/>
                <a:ea typeface="+mj-ea"/>
              </a:rPr>
              <a:t>)</a:t>
            </a:r>
            <a:endParaRPr lang="zh-CN" altLang="en-US" sz="2800" dirty="0">
              <a:latin typeface="+mj-ea"/>
              <a:ea typeface="+mj-ea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4211076" y="3595310"/>
            <a:ext cx="7164000" cy="0"/>
          </a:xfrm>
          <a:prstGeom prst="line">
            <a:avLst/>
          </a:prstGeom>
          <a:ln w="19050">
            <a:solidFill>
              <a:srgbClr val="20386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1415480" y="2210315"/>
            <a:ext cx="995959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800" dirty="0" smtClean="0">
                <a:latin typeface="微软雅黑" panose="020B0503020204020204" charset="-122"/>
                <a:ea typeface="微软雅黑" panose="020B0503020204020204" charset="-122"/>
              </a:rPr>
              <a:t>检测</a:t>
            </a:r>
            <a:r>
              <a:rPr lang="en-US" altLang="zh-CN" sz="2800" dirty="0" err="1" smtClean="0">
                <a:latin typeface="微软雅黑" panose="020B0503020204020204" charset="-122"/>
                <a:ea typeface="微软雅黑" panose="020B0503020204020204" charset="-122"/>
              </a:rPr>
              <a:t>iterable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</a:rPr>
              <a:t>中的所有元素值是否都不等价于</a:t>
            </a:r>
            <a:r>
              <a:rPr lang="en-US" altLang="zh-CN" sz="2800" dirty="0" smtClean="0">
                <a:latin typeface="微软雅黑" panose="020B0503020204020204" charset="-122"/>
                <a:ea typeface="微软雅黑" panose="020B0503020204020204" charset="-122"/>
              </a:rPr>
              <a:t>False</a:t>
            </a:r>
            <a:endParaRPr lang="en-US" altLang="zh-CN" sz="2800" dirty="0" smtClean="0">
              <a:latin typeface="微软雅黑" panose="020B0503020204020204" charset="-122"/>
              <a:ea typeface="微软雅黑" panose="020B0503020204020204" charset="-122"/>
            </a:endParaRPr>
          </a:p>
          <a:p>
            <a:pPr algn="r"/>
            <a:r>
              <a:rPr lang="en-US" altLang="zh-CN" sz="2800" dirty="0" err="1" smtClean="0">
                <a:latin typeface="微软雅黑" panose="020B0503020204020204" charset="-122"/>
                <a:ea typeface="微软雅黑" panose="020B0503020204020204" charset="-122"/>
              </a:rPr>
              <a:t>iterable</a:t>
            </a:r>
            <a:r>
              <a:rPr lang="zh-CN" altLang="en-US" sz="2800" dirty="0" smtClean="0">
                <a:latin typeface="微软雅黑" panose="020B0503020204020204" charset="-122"/>
                <a:ea typeface="微软雅黑" panose="020B0503020204020204" charset="-122"/>
              </a:rPr>
              <a:t>是序列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</a:rPr>
              <a:t>或可迭代</a:t>
            </a:r>
            <a:r>
              <a:rPr lang="zh-CN" altLang="en-US" sz="2800" dirty="0" smtClean="0">
                <a:latin typeface="微软雅黑" panose="020B0503020204020204" charset="-122"/>
                <a:ea typeface="微软雅黑" panose="020B0503020204020204" charset="-122"/>
              </a:rPr>
              <a:t>对象</a:t>
            </a:r>
            <a:endParaRPr lang="en-US" altLang="zh-CN" sz="2800" dirty="0" smtClean="0">
              <a:latin typeface="微软雅黑" panose="020B0503020204020204" charset="-122"/>
              <a:ea typeface="微软雅黑" panose="020B0503020204020204" charset="-122"/>
            </a:endParaRPr>
          </a:p>
          <a:p>
            <a:pPr algn="r"/>
            <a:r>
              <a:rPr lang="zh-CN" altLang="en-US" sz="2800" dirty="0" smtClean="0">
                <a:latin typeface="微软雅黑" panose="020B0503020204020204" charset="-122"/>
                <a:ea typeface="微软雅黑" panose="020B0503020204020204" charset="-122"/>
              </a:rPr>
              <a:t>返回</a:t>
            </a:r>
            <a:r>
              <a:rPr lang="en-US" altLang="zh-CN" sz="2800" dirty="0" smtClean="0">
                <a:latin typeface="微软雅黑" panose="020B0503020204020204" charset="-122"/>
                <a:ea typeface="微软雅黑" panose="020B0503020204020204" charset="-122"/>
              </a:rPr>
              <a:t>True</a:t>
            </a:r>
            <a:r>
              <a:rPr lang="zh-CN" altLang="en-US" sz="2800" dirty="0" smtClean="0">
                <a:latin typeface="微软雅黑" panose="020B0503020204020204" charset="-122"/>
                <a:ea typeface="微软雅黑" panose="020B0503020204020204" charset="-122"/>
              </a:rPr>
              <a:t>或</a:t>
            </a:r>
            <a:r>
              <a:rPr lang="en-US" altLang="zh-CN" sz="2800" dirty="0" smtClean="0">
                <a:latin typeface="微软雅黑" panose="020B0503020204020204" charset="-122"/>
                <a:ea typeface="微软雅黑" panose="020B0503020204020204" charset="-122"/>
              </a:rPr>
              <a:t>False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</a:rPr>
              <a:t>。</a:t>
            </a:r>
            <a:r>
              <a:rPr lang="en-US" altLang="zh-CN" sz="2800" dirty="0" err="1">
                <a:latin typeface="微软雅黑" panose="020B0503020204020204" charset="-122"/>
                <a:ea typeface="微软雅黑" panose="020B0503020204020204" charset="-122"/>
              </a:rPr>
              <a:t>iterable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</a:rPr>
              <a:t>为</a:t>
            </a:r>
            <a:r>
              <a:rPr lang="zh-CN" altLang="en-US" sz="2800" dirty="0" smtClean="0">
                <a:latin typeface="微软雅黑" panose="020B0503020204020204" charset="-122"/>
                <a:ea typeface="微软雅黑" panose="020B0503020204020204" charset="-122"/>
              </a:rPr>
              <a:t>空返回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</a:rPr>
              <a:t>True</a:t>
            </a:r>
            <a:endParaRPr lang="zh-CN" altLang="en-US" sz="28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内容占位符 5"/>
          <p:cNvSpPr txBox="1"/>
          <p:nvPr/>
        </p:nvSpPr>
        <p:spPr>
          <a:xfrm>
            <a:off x="6282996" y="3853481"/>
            <a:ext cx="5066035" cy="248006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0000" tIns="46800" rIns="90000" bIns="46800" rtlCol="0">
            <a:normAutofit fontScale="92500" lnSpcReduction="10000"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/>
              <a:t>&gt;&gt;&gt; all(('a', 'b', '', 'd'))	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smtClean="0">
                <a:solidFill>
                  <a:srgbClr val="0070C0"/>
                </a:solidFill>
              </a:rPr>
              <a:t>False</a:t>
            </a:r>
            <a:endParaRPr lang="en-US" altLang="zh-CN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altLang="zh-CN" dirty="0"/>
              <a:t>&gt;&gt;&gt; all({0, 1, 2, 3})	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>
                <a:solidFill>
                  <a:srgbClr val="0070C0"/>
                </a:solidFill>
              </a:rPr>
              <a:t>False</a:t>
            </a:r>
            <a:endParaRPr lang="en-US" altLang="zh-CN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内置的测试函数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669925" y="3299080"/>
            <a:ext cx="10852150" cy="3042030"/>
          </a:xfrm>
          <a:solidFill>
            <a:schemeClr val="bg1">
              <a:lumMod val="85000"/>
            </a:schemeClr>
          </a:solidFill>
        </p:spPr>
        <p:txBody>
          <a:bodyPr>
            <a:normAutofit fontScale="85000" lnSpcReduction="20000"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altLang="zh-CN" dirty="0"/>
              <a:t>&gt;&gt;&gt; any(['a', 'b', 'c', 'd'])</a:t>
            </a:r>
            <a:endParaRPr lang="en-US" altLang="zh-CN" dirty="0"/>
          </a:p>
          <a:p>
            <a:pPr marL="0" indent="0">
              <a:spcAft>
                <a:spcPts val="600"/>
              </a:spcAft>
              <a:buNone/>
            </a:pPr>
            <a:r>
              <a:rPr lang="en-US" altLang="zh-CN" dirty="0">
                <a:solidFill>
                  <a:srgbClr val="0070C0"/>
                </a:solidFill>
              </a:rPr>
              <a:t>True</a:t>
            </a:r>
            <a:endParaRPr lang="en-US" altLang="zh-CN" dirty="0">
              <a:solidFill>
                <a:srgbClr val="0070C0"/>
              </a:solidFill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altLang="zh-CN" dirty="0"/>
              <a:t>&gt;&gt;&gt; any(('a', 'b', '', 'd'))</a:t>
            </a:r>
            <a:endParaRPr lang="en-US" altLang="zh-CN" dirty="0"/>
          </a:p>
          <a:p>
            <a:pPr marL="0" indent="0">
              <a:spcAft>
                <a:spcPts val="600"/>
              </a:spcAft>
              <a:buNone/>
            </a:pPr>
            <a:r>
              <a:rPr lang="en-US" altLang="zh-CN" dirty="0">
                <a:solidFill>
                  <a:srgbClr val="0070C0"/>
                </a:solidFill>
              </a:rPr>
              <a:t>True</a:t>
            </a:r>
            <a:endParaRPr lang="en-US" altLang="zh-CN" dirty="0">
              <a:solidFill>
                <a:srgbClr val="0070C0"/>
              </a:solidFill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altLang="zh-CN" dirty="0"/>
              <a:t>&gt;&gt;&gt; any({})				</a:t>
            </a:r>
            <a:r>
              <a:rPr lang="en-US" altLang="zh-CN" dirty="0">
                <a:solidFill>
                  <a:srgbClr val="FF0000"/>
                </a:solidFill>
              </a:rPr>
              <a:t># {}</a:t>
            </a:r>
            <a:r>
              <a:rPr lang="zh-CN" altLang="en-US" dirty="0">
                <a:solidFill>
                  <a:srgbClr val="FF0000"/>
                </a:solidFill>
              </a:rPr>
              <a:t>表示空集合</a:t>
            </a:r>
            <a:endParaRPr lang="zh-CN" altLang="en-US" dirty="0">
              <a:solidFill>
                <a:srgbClr val="FF0000"/>
              </a:solidFill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altLang="zh-CN" dirty="0">
                <a:solidFill>
                  <a:srgbClr val="0070C0"/>
                </a:solidFill>
              </a:rPr>
              <a:t>False</a:t>
            </a:r>
            <a:endParaRPr lang="en-US" altLang="zh-CN" dirty="0">
              <a:solidFill>
                <a:srgbClr val="0070C0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921214" y="1283569"/>
            <a:ext cx="7920000" cy="792088"/>
          </a:xfrm>
          <a:prstGeom prst="rect">
            <a:avLst/>
          </a:prstGeom>
          <a:ln>
            <a:solidFill>
              <a:schemeClr val="bg2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800" dirty="0">
                <a:latin typeface="+mj-ea"/>
                <a:ea typeface="+mj-ea"/>
              </a:rPr>
              <a:t>any(</a:t>
            </a:r>
            <a:r>
              <a:rPr lang="en-US" altLang="zh-CN" sz="2800" dirty="0" err="1">
                <a:latin typeface="+mj-ea"/>
                <a:ea typeface="+mj-ea"/>
              </a:rPr>
              <a:t>iterable</a:t>
            </a:r>
            <a:r>
              <a:rPr lang="en-US" altLang="zh-CN" sz="2800" dirty="0">
                <a:latin typeface="+mj-ea"/>
                <a:ea typeface="+mj-ea"/>
              </a:rPr>
              <a:t>)</a:t>
            </a:r>
            <a:endParaRPr lang="zh-CN" altLang="en-US" sz="2800" dirty="0">
              <a:latin typeface="+mj-ea"/>
              <a:ea typeface="+mj-ea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4185031" y="3164422"/>
            <a:ext cx="7164000" cy="0"/>
          </a:xfrm>
          <a:prstGeom prst="line">
            <a:avLst/>
          </a:prstGeom>
          <a:ln w="19050">
            <a:solidFill>
              <a:srgbClr val="20386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1415480" y="2210315"/>
            <a:ext cx="995959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800" dirty="0" smtClean="0">
                <a:latin typeface="微软雅黑" panose="020B0503020204020204" charset="-122"/>
                <a:ea typeface="微软雅黑" panose="020B0503020204020204" charset="-122"/>
              </a:rPr>
              <a:t>检测</a:t>
            </a:r>
            <a:r>
              <a:rPr lang="en-US" altLang="zh-CN" sz="2800" dirty="0" err="1" smtClean="0">
                <a:latin typeface="微软雅黑" panose="020B0503020204020204" charset="-122"/>
                <a:ea typeface="微软雅黑" panose="020B0503020204020204" charset="-122"/>
              </a:rPr>
              <a:t>iterable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</a:rPr>
              <a:t>中至少有一个元素值等价于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</a:rPr>
              <a:t>True</a:t>
            </a:r>
            <a:endParaRPr lang="en-US" altLang="zh-CN" sz="2800" dirty="0" smtClean="0">
              <a:latin typeface="微软雅黑" panose="020B0503020204020204" charset="-122"/>
              <a:ea typeface="微软雅黑" panose="020B0503020204020204" charset="-122"/>
            </a:endParaRPr>
          </a:p>
          <a:p>
            <a:pPr algn="r"/>
            <a:r>
              <a:rPr lang="zh-CN" altLang="en-US" sz="2800" dirty="0" smtClean="0">
                <a:latin typeface="微软雅黑" panose="020B0503020204020204" charset="-122"/>
                <a:ea typeface="微软雅黑" panose="020B0503020204020204" charset="-122"/>
              </a:rPr>
              <a:t>返回</a:t>
            </a:r>
            <a:r>
              <a:rPr lang="en-US" altLang="zh-CN" sz="2800" dirty="0" smtClean="0">
                <a:latin typeface="微软雅黑" panose="020B0503020204020204" charset="-122"/>
                <a:ea typeface="微软雅黑" panose="020B0503020204020204" charset="-122"/>
              </a:rPr>
              <a:t>True</a:t>
            </a:r>
            <a:r>
              <a:rPr lang="zh-CN" altLang="en-US" sz="2800" dirty="0" smtClean="0">
                <a:latin typeface="微软雅黑" panose="020B0503020204020204" charset="-122"/>
                <a:ea typeface="微软雅黑" panose="020B0503020204020204" charset="-122"/>
              </a:rPr>
              <a:t>或</a:t>
            </a:r>
            <a:r>
              <a:rPr lang="en-US" altLang="zh-CN" sz="2800" dirty="0" smtClean="0">
                <a:latin typeface="微软雅黑" panose="020B0503020204020204" charset="-122"/>
                <a:ea typeface="微软雅黑" panose="020B0503020204020204" charset="-122"/>
              </a:rPr>
              <a:t>False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</a:rPr>
              <a:t>。</a:t>
            </a:r>
            <a:r>
              <a:rPr lang="en-US" altLang="zh-CN" sz="2800" dirty="0" err="1">
                <a:latin typeface="微软雅黑" panose="020B0503020204020204" charset="-122"/>
                <a:ea typeface="微软雅黑" panose="020B0503020204020204" charset="-122"/>
              </a:rPr>
              <a:t>iterable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</a:rPr>
              <a:t>为</a:t>
            </a:r>
            <a:r>
              <a:rPr lang="zh-CN" altLang="en-US" sz="2800" dirty="0" smtClean="0">
                <a:latin typeface="微软雅黑" panose="020B0503020204020204" charset="-122"/>
                <a:ea typeface="微软雅黑" panose="020B0503020204020204" charset="-122"/>
              </a:rPr>
              <a:t>空返回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</a:rPr>
              <a:t>False</a:t>
            </a:r>
            <a:endParaRPr lang="zh-CN" altLang="en-US" sz="28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内置的测试函数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669925" y="3356992"/>
            <a:ext cx="10852150" cy="2984118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altLang="zh-CN" dirty="0"/>
              <a:t>&gt;&gt;&gt; </a:t>
            </a:r>
            <a:r>
              <a:rPr lang="en-US" altLang="zh-CN" dirty="0" err="1"/>
              <a:t>isinstance</a:t>
            </a:r>
            <a:r>
              <a:rPr lang="en-US" altLang="zh-CN" dirty="0"/>
              <a:t>(3, </a:t>
            </a:r>
            <a:r>
              <a:rPr lang="en-US" altLang="zh-CN" dirty="0" err="1"/>
              <a:t>int</a:t>
            </a:r>
            <a:r>
              <a:rPr lang="en-US" altLang="zh-CN" dirty="0"/>
              <a:t>)</a:t>
            </a:r>
            <a:endParaRPr lang="en-US" altLang="zh-CN" dirty="0"/>
          </a:p>
          <a:p>
            <a:pPr marL="0" indent="0">
              <a:spcAft>
                <a:spcPts val="600"/>
              </a:spcAft>
              <a:buNone/>
            </a:pPr>
            <a:r>
              <a:rPr lang="en-US" altLang="zh-CN" dirty="0">
                <a:solidFill>
                  <a:srgbClr val="0033CC"/>
                </a:solidFill>
              </a:rPr>
              <a:t>True</a:t>
            </a:r>
            <a:endParaRPr lang="en-US" altLang="zh-CN" dirty="0">
              <a:solidFill>
                <a:srgbClr val="0033CC"/>
              </a:solidFill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altLang="zh-CN" dirty="0"/>
              <a:t>&gt;&gt;&gt; </a:t>
            </a:r>
            <a:r>
              <a:rPr lang="en-US" altLang="zh-CN" dirty="0" err="1"/>
              <a:t>isinstance</a:t>
            </a:r>
            <a:r>
              <a:rPr lang="en-US" altLang="zh-CN" dirty="0"/>
              <a:t>(3, (</a:t>
            </a:r>
            <a:r>
              <a:rPr lang="en-US" altLang="zh-CN" dirty="0" err="1"/>
              <a:t>int</a:t>
            </a:r>
            <a:r>
              <a:rPr lang="en-US" altLang="zh-CN" dirty="0"/>
              <a:t>, complex, </a:t>
            </a:r>
            <a:r>
              <a:rPr lang="en-US" altLang="zh-CN" dirty="0" err="1"/>
              <a:t>str</a:t>
            </a:r>
            <a:r>
              <a:rPr lang="en-US" altLang="zh-CN" dirty="0"/>
              <a:t>))</a:t>
            </a:r>
            <a:endParaRPr lang="en-US" altLang="zh-CN" dirty="0"/>
          </a:p>
          <a:p>
            <a:pPr marL="0" indent="0">
              <a:spcAft>
                <a:spcPts val="600"/>
              </a:spcAft>
              <a:buNone/>
            </a:pPr>
            <a:r>
              <a:rPr lang="en-US" altLang="zh-CN" dirty="0">
                <a:solidFill>
                  <a:srgbClr val="0033CC"/>
                </a:solidFill>
              </a:rPr>
              <a:t>True</a:t>
            </a:r>
            <a:endParaRPr lang="en-US" altLang="zh-CN" dirty="0">
              <a:solidFill>
                <a:srgbClr val="0033CC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921214" y="1283569"/>
            <a:ext cx="7920000" cy="792088"/>
          </a:xfrm>
          <a:prstGeom prst="rect">
            <a:avLst/>
          </a:prstGeom>
          <a:ln>
            <a:solidFill>
              <a:schemeClr val="bg2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800" dirty="0" err="1">
                <a:latin typeface="+mj-ea"/>
                <a:ea typeface="+mj-ea"/>
              </a:rPr>
              <a:t>isinstance</a:t>
            </a:r>
            <a:r>
              <a:rPr lang="en-US" altLang="zh-CN" sz="2800" dirty="0">
                <a:latin typeface="+mj-ea"/>
                <a:ea typeface="+mj-ea"/>
              </a:rPr>
              <a:t>(</a:t>
            </a:r>
            <a:r>
              <a:rPr lang="en-US" altLang="zh-CN" sz="2800" dirty="0" err="1">
                <a:latin typeface="+mj-ea"/>
                <a:ea typeface="+mj-ea"/>
              </a:rPr>
              <a:t>obj</a:t>
            </a:r>
            <a:r>
              <a:rPr lang="en-US" altLang="zh-CN" sz="2800" dirty="0">
                <a:latin typeface="+mj-ea"/>
                <a:ea typeface="+mj-ea"/>
              </a:rPr>
              <a:t>, </a:t>
            </a:r>
            <a:r>
              <a:rPr lang="en-US" altLang="zh-CN" sz="2800" dirty="0" err="1">
                <a:latin typeface="+mj-ea"/>
                <a:ea typeface="+mj-ea"/>
              </a:rPr>
              <a:t>class_or_tuple</a:t>
            </a:r>
            <a:r>
              <a:rPr lang="en-US" altLang="zh-CN" sz="2800" dirty="0">
                <a:latin typeface="+mj-ea"/>
                <a:ea typeface="+mj-ea"/>
              </a:rPr>
              <a:t>)</a:t>
            </a:r>
            <a:endParaRPr lang="zh-CN" altLang="en-US" sz="2800" dirty="0">
              <a:latin typeface="+mj-ea"/>
              <a:ea typeface="+mj-ea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4211076" y="2733535"/>
            <a:ext cx="7164000" cy="0"/>
          </a:xfrm>
          <a:prstGeom prst="line">
            <a:avLst/>
          </a:prstGeom>
          <a:ln w="19050">
            <a:solidFill>
              <a:srgbClr val="20386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1415480" y="2210315"/>
            <a:ext cx="99595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800" dirty="0" smtClean="0">
                <a:latin typeface="微软雅黑" panose="020B0503020204020204" charset="-122"/>
                <a:ea typeface="微软雅黑" panose="020B0503020204020204" charset="-122"/>
              </a:rPr>
              <a:t>判断对象</a:t>
            </a:r>
            <a:r>
              <a:rPr lang="en-US" altLang="zh-CN" sz="2800" dirty="0" err="1">
                <a:latin typeface="微软雅黑" panose="020B0503020204020204" charset="-122"/>
                <a:ea typeface="微软雅黑" panose="020B0503020204020204" charset="-122"/>
              </a:rPr>
              <a:t>obj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</a:rPr>
              <a:t>是否</a:t>
            </a:r>
            <a:r>
              <a:rPr lang="zh-CN" altLang="en-US" sz="2800" dirty="0" smtClean="0">
                <a:latin typeface="微软雅黑" panose="020B0503020204020204" charset="-122"/>
                <a:ea typeface="微软雅黑" panose="020B0503020204020204" charset="-122"/>
              </a:rPr>
              <a:t>是</a:t>
            </a:r>
            <a:r>
              <a:rPr lang="en-US" altLang="zh-CN" sz="2800" dirty="0" err="1" smtClean="0">
                <a:latin typeface="微软雅黑" panose="020B0503020204020204" charset="-122"/>
                <a:ea typeface="微软雅黑" panose="020B0503020204020204" charset="-122"/>
              </a:rPr>
              <a:t>class_or_tuple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</a:rPr>
              <a:t>列举出的</a:t>
            </a:r>
            <a:r>
              <a:rPr lang="zh-CN" altLang="en-US" sz="2800" dirty="0" smtClean="0">
                <a:latin typeface="微软雅黑" panose="020B0503020204020204" charset="-122"/>
                <a:ea typeface="微软雅黑" panose="020B0503020204020204" charset="-122"/>
              </a:rPr>
              <a:t>类型</a:t>
            </a:r>
            <a:endParaRPr lang="en-US" altLang="zh-CN" sz="2800" dirty="0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补充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charset="0"/>
              <a:buChar char="n"/>
              <a:defRPr/>
            </a:pPr>
            <a:r>
              <a:rPr spc="0">
                <a:ln>
                  <a:noFill/>
                </a:ln>
                <a:solidFill>
                  <a:schemeClr val="tx1"/>
                </a:solidFill>
                <a:effectLst/>
                <a:uLnTx/>
                <a:latin typeface="宋体" panose="02010600030101010101" pitchFamily="2" charset="-122"/>
                <a:ea typeface="+mn-ea"/>
                <a:sym typeface="+mn-ea"/>
              </a:rPr>
              <a:t>在</a:t>
            </a:r>
            <a:r>
              <a:rPr lang="en-US" altLang="zh-CN" spc="0">
                <a:ln>
                  <a:noFill/>
                </a:ln>
                <a:solidFill>
                  <a:schemeClr val="tx1"/>
                </a:solidFill>
                <a:effectLst/>
                <a:uLnTx/>
                <a:latin typeface="宋体" panose="02010600030101010101" pitchFamily="2" charset="-122"/>
                <a:ea typeface="+mn-ea"/>
                <a:sym typeface="+mn-ea"/>
              </a:rPr>
              <a:t>Python</a:t>
            </a:r>
            <a:r>
              <a:rPr spc="0">
                <a:ln>
                  <a:noFill/>
                </a:ln>
                <a:solidFill>
                  <a:schemeClr val="tx1"/>
                </a:solidFill>
                <a:effectLst/>
                <a:uLnTx/>
                <a:latin typeface="宋体" panose="02010600030101010101" pitchFamily="2" charset="-122"/>
                <a:ea typeface="+mn-ea"/>
                <a:sym typeface="+mn-ea"/>
              </a:rPr>
              <a:t>中，</a:t>
            </a:r>
            <a:r>
              <a:rPr spc="0">
                <a:ln>
                  <a:noFill/>
                </a:ln>
                <a:solidFill>
                  <a:srgbClr val="FF0000"/>
                </a:solidFill>
                <a:effectLst/>
                <a:uLnTx/>
                <a:latin typeface="宋体" panose="02010600030101010101" pitchFamily="2" charset="-122"/>
                <a:ea typeface="+mn-ea"/>
                <a:sym typeface="+mn-ea"/>
              </a:rPr>
              <a:t>条件表达式中不允许使用赋值运算符“</a:t>
            </a:r>
            <a:r>
              <a:rPr lang="en-US" altLang="zh-CN" spc="0">
                <a:ln>
                  <a:noFill/>
                </a:ln>
                <a:solidFill>
                  <a:srgbClr val="FF0000"/>
                </a:solidFill>
                <a:effectLst/>
                <a:uLnTx/>
                <a:latin typeface="宋体" panose="02010600030101010101" pitchFamily="2" charset="-122"/>
                <a:ea typeface="+mn-ea"/>
                <a:sym typeface="+mn-ea"/>
              </a:rPr>
              <a:t>=”</a:t>
            </a:r>
            <a:r>
              <a:rPr spc="0">
                <a:ln>
                  <a:noFill/>
                </a:ln>
                <a:solidFill>
                  <a:srgbClr val="FF0000"/>
                </a:solidFill>
                <a:effectLst/>
                <a:uLnTx/>
                <a:latin typeface="宋体" panose="02010600030101010101" pitchFamily="2" charset="-122"/>
                <a:ea typeface="+mn-ea"/>
                <a:sym typeface="+mn-ea"/>
              </a:rPr>
              <a:t>。</a:t>
            </a:r>
            <a:endParaRPr kumimoji="0" lang="zh-CN" altLang="en-US" b="0" i="0" u="none" strike="noStrike" kern="1200" cap="none" spc="0" normalizeH="0" baseline="0" noProof="1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  <a:p>
            <a:pPr marL="1905" marR="0" lvl="0" indent="-344805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zh-CN" altLang="en-US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  <a:p>
            <a:pPr marL="1905" marR="0" lvl="0" indent="-344805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lang="en-US" altLang="zh-CN" spc="0">
                <a:ln>
                  <a:noFill/>
                </a:ln>
                <a:solidFill>
                  <a:schemeClr val="tx1"/>
                </a:solidFill>
                <a:effectLst/>
                <a:uLnTx/>
                <a:latin typeface="Consolas" panose="020B0609020204030204" charset="0"/>
                <a:ea typeface="+mn-ea"/>
                <a:sym typeface="+mn-ea"/>
              </a:rPr>
              <a:t>&gt;&gt;&gt; if a=3:</a:t>
            </a:r>
            <a:endParaRPr kumimoji="0" lang="en-US" altLang="zh-CN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nsolas" panose="020B0609020204030204" charset="0"/>
              <a:ea typeface="+mn-ea"/>
              <a:cs typeface="+mn-cs"/>
            </a:endParaRPr>
          </a:p>
          <a:p>
            <a:pPr marL="1905" marR="0" lvl="0" indent="-344805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lang="en-US" altLang="zh-CN" spc="0">
                <a:ln>
                  <a:noFill/>
                </a:ln>
                <a:solidFill>
                  <a:srgbClr val="FF0000"/>
                </a:solidFill>
                <a:effectLst/>
                <a:uLnTx/>
                <a:latin typeface="Consolas" panose="020B0609020204030204" charset="0"/>
                <a:ea typeface="+mn-ea"/>
                <a:sym typeface="+mn-ea"/>
              </a:rPr>
              <a:t>SyntaxError: invalid syntax</a:t>
            </a:r>
            <a:endParaRPr kumimoji="0" lang="en-US" altLang="zh-CN" b="0" i="0" u="none" strike="noStrike" kern="1200" cap="none" spc="0" normalizeH="0" baseline="0" noProof="1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nsolas" panose="020B0609020204030204" charset="0"/>
              <a:ea typeface="+mn-ea"/>
              <a:cs typeface="+mn-cs"/>
            </a:endParaRPr>
          </a:p>
          <a:p>
            <a:pPr marL="1905" marR="0" lvl="0" indent="-344805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lang="en-US" altLang="zh-CN" spc="0">
                <a:ln>
                  <a:noFill/>
                </a:ln>
                <a:solidFill>
                  <a:schemeClr val="tx1"/>
                </a:solidFill>
                <a:effectLst/>
                <a:uLnTx/>
                <a:latin typeface="Consolas" panose="020B0609020204030204" charset="0"/>
                <a:ea typeface="+mn-ea"/>
                <a:sym typeface="+mn-ea"/>
              </a:rPr>
              <a:t>&gt;&gt;&gt; if (a=3) and (b=4):	</a:t>
            </a:r>
            <a:endParaRPr kumimoji="0" lang="en-US" altLang="zh-CN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nsolas" panose="020B0609020204030204" charset="0"/>
              <a:ea typeface="+mn-ea"/>
              <a:cs typeface="+mn-cs"/>
            </a:endParaRPr>
          </a:p>
          <a:p>
            <a:pPr marL="1905" marR="0" lvl="0" indent="-344805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lang="en-US" altLang="zh-CN" spc="0">
                <a:ln>
                  <a:noFill/>
                </a:ln>
                <a:solidFill>
                  <a:srgbClr val="FF0000"/>
                </a:solidFill>
                <a:effectLst/>
                <a:uLnTx/>
                <a:latin typeface="Consolas" panose="020B0609020204030204" charset="0"/>
                <a:ea typeface="+mn-ea"/>
                <a:sym typeface="+mn-ea"/>
              </a:rPr>
              <a:t>SyntaxError: invalid syntax</a:t>
            </a:r>
            <a:endParaRPr kumimoji="0" lang="en-US" altLang="zh-CN" b="0" i="0" u="none" strike="noStrike" kern="1200" cap="none" spc="0" normalizeH="0" baseline="0" noProof="1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nsolas" panose="020B0609020204030204" charset="0"/>
              <a:ea typeface="+mn-ea"/>
              <a:cs typeface="+mn-cs"/>
            </a:endParaRPr>
          </a:p>
          <a:p>
            <a:endParaRPr lang="zh-CN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493395"/>
            <a:ext cx="12172950" cy="508381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WordArt 6"/>
          <p:cNvSpPr>
            <a:spLocks noChangeArrowheads="1" noChangeShapeType="1"/>
          </p:cNvSpPr>
          <p:nvPr/>
        </p:nvSpPr>
        <p:spPr bwMode="auto">
          <a:xfrm>
            <a:off x="1882775" y="1557338"/>
            <a:ext cx="8426450" cy="2011363"/>
          </a:xfrm>
          <a:prstGeom prst="rect">
            <a:avLst/>
          </a:prstGeom>
        </p:spPr>
        <p:txBody>
          <a:bodyPr wrap="none" fromWordArt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8500" b="1" i="0" u="none" strike="noStrike" kern="10" cap="none" spc="0" normalizeH="0" baseline="0" noProof="0" dirty="0">
              <a:ln w="9525">
                <a:noFill/>
                <a:round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10245" name="标题 1"/>
          <p:cNvSpPr>
            <a:spLocks noGrp="1"/>
          </p:cNvSpPr>
          <p:nvPr>
            <p:ph type="ctrTitle"/>
          </p:nvPr>
        </p:nvSpPr>
        <p:spPr>
          <a:xfrm>
            <a:off x="1470025" y="2292350"/>
            <a:ext cx="9266555" cy="1151255"/>
          </a:xfrm>
        </p:spPr>
        <p:txBody>
          <a:bodyPr vert="horz" wrap="square" lIns="91440" tIns="45720" rIns="91440" bIns="45720" anchor="b"/>
          <a:lstStyle/>
          <a:p>
            <a:pPr>
              <a:buClrTx/>
              <a:buSzTx/>
              <a:buFontTx/>
              <a:buNone/>
            </a:pPr>
            <a:r>
              <a:rPr lang="en-US" kern="1200" dirty="0">
                <a:latin typeface="+mj-lt"/>
                <a:ea typeface="+mj-ea"/>
                <a:cs typeface="+mj-cs"/>
              </a:rPr>
              <a:t>4.2 </a:t>
            </a:r>
            <a:r>
              <a:rPr lang="zh-CN" altLang="en-US" kern="1200" dirty="0">
                <a:latin typeface="+mj-lt"/>
                <a:ea typeface="+mj-ea"/>
                <a:cs typeface="+mj-cs"/>
              </a:rPr>
              <a:t>条件运算符</a:t>
            </a:r>
            <a:endParaRPr lang="zh-CN" altLang="en-US" kern="1200" dirty="0">
              <a:latin typeface="+mj-lt"/>
              <a:ea typeface="+mj-ea"/>
              <a:cs typeface="+mj-cs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条件运算符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921214" y="1283569"/>
            <a:ext cx="7920000" cy="792088"/>
          </a:xfrm>
          <a:prstGeom prst="rect">
            <a:avLst/>
          </a:prstGeom>
          <a:ln>
            <a:solidFill>
              <a:schemeClr val="bg2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800" dirty="0">
                <a:latin typeface="+mj-ea"/>
                <a:ea typeface="+mj-ea"/>
              </a:rPr>
              <a:t>表达式</a:t>
            </a:r>
            <a:r>
              <a:rPr lang="en-US" altLang="zh-CN" sz="2800" dirty="0">
                <a:latin typeface="+mj-ea"/>
                <a:ea typeface="+mj-ea"/>
              </a:rPr>
              <a:t>1 if </a:t>
            </a:r>
            <a:r>
              <a:rPr lang="zh-CN" altLang="en-US" sz="2800" dirty="0">
                <a:latin typeface="+mj-ea"/>
                <a:ea typeface="+mj-ea"/>
              </a:rPr>
              <a:t>条件表达式 </a:t>
            </a:r>
            <a:r>
              <a:rPr lang="en-US" altLang="zh-CN" sz="2800" dirty="0">
                <a:latin typeface="+mj-ea"/>
                <a:ea typeface="+mj-ea"/>
              </a:rPr>
              <a:t>else </a:t>
            </a:r>
            <a:r>
              <a:rPr lang="zh-CN" altLang="en-US" sz="2800" dirty="0">
                <a:latin typeface="+mj-ea"/>
                <a:ea typeface="+mj-ea"/>
              </a:rPr>
              <a:t>表达式</a:t>
            </a:r>
            <a:r>
              <a:rPr lang="en-US" altLang="zh-CN" sz="2800" dirty="0">
                <a:latin typeface="+mj-ea"/>
                <a:ea typeface="+mj-ea"/>
              </a:rPr>
              <a:t>2</a:t>
            </a:r>
            <a:endParaRPr lang="zh-CN" altLang="en-US" sz="2800" dirty="0">
              <a:latin typeface="+mj-ea"/>
              <a:ea typeface="+mj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562800" y="2644655"/>
            <a:ext cx="9959596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</a:rPr>
              <a:t>先计算条件</a:t>
            </a:r>
            <a:r>
              <a:rPr lang="zh-CN" altLang="en-US" sz="3200" dirty="0" smtClean="0">
                <a:latin typeface="微软雅黑" panose="020B0503020204020204" charset="-122"/>
                <a:ea typeface="微软雅黑" panose="020B0503020204020204" charset="-122"/>
              </a:rPr>
              <a:t>表达式</a:t>
            </a:r>
            <a:endParaRPr lang="en-US" altLang="zh-CN" sz="3200" dirty="0" smtClean="0">
              <a:latin typeface="微软雅黑" panose="020B0503020204020204" charset="-122"/>
              <a:ea typeface="微软雅黑" panose="020B0503020204020204" charset="-122"/>
            </a:endParaRPr>
          </a:p>
          <a:p>
            <a:pPr algn="r"/>
            <a:r>
              <a:rPr lang="zh-CN" altLang="en-US" sz="3200" dirty="0" smtClean="0">
                <a:latin typeface="微软雅黑" panose="020B0503020204020204" charset="-122"/>
                <a:ea typeface="微软雅黑" panose="020B0503020204020204" charset="-122"/>
              </a:rPr>
              <a:t>当</a:t>
            </a:r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</a:rPr>
              <a:t>条件计算结果为</a:t>
            </a:r>
            <a:r>
              <a:rPr lang="en-US" altLang="zh-CN" sz="3200" dirty="0">
                <a:latin typeface="微软雅黑" panose="020B0503020204020204" charset="-122"/>
                <a:ea typeface="微软雅黑" panose="020B0503020204020204" charset="-122"/>
              </a:rPr>
              <a:t>True</a:t>
            </a:r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</a:rPr>
              <a:t>，返回表达式</a:t>
            </a:r>
            <a:r>
              <a:rPr lang="en-US" altLang="zh-CN" sz="3200" dirty="0"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</a:rPr>
              <a:t>的计算</a:t>
            </a:r>
            <a:r>
              <a:rPr lang="zh-CN" altLang="en-US" sz="3200" dirty="0" smtClean="0">
                <a:latin typeface="微软雅黑" panose="020B0503020204020204" charset="-122"/>
                <a:ea typeface="微软雅黑" panose="020B0503020204020204" charset="-122"/>
              </a:rPr>
              <a:t>结果</a:t>
            </a:r>
            <a:endParaRPr lang="en-US" altLang="zh-CN" sz="3200" dirty="0" smtClean="0">
              <a:latin typeface="微软雅黑" panose="020B0503020204020204" charset="-122"/>
              <a:ea typeface="微软雅黑" panose="020B0503020204020204" charset="-122"/>
            </a:endParaRPr>
          </a:p>
          <a:p>
            <a:pPr algn="r"/>
            <a:r>
              <a:rPr lang="zh-CN" altLang="en-US" sz="3200" dirty="0" smtClean="0">
                <a:latin typeface="微软雅黑" panose="020B0503020204020204" charset="-122"/>
                <a:ea typeface="微软雅黑" panose="020B0503020204020204" charset="-122"/>
              </a:rPr>
              <a:t>当</a:t>
            </a:r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</a:rPr>
              <a:t>条件计算结果为</a:t>
            </a:r>
            <a:r>
              <a:rPr lang="en-US" altLang="zh-CN" sz="3200" dirty="0">
                <a:latin typeface="微软雅黑" panose="020B0503020204020204" charset="-122"/>
                <a:ea typeface="微软雅黑" panose="020B0503020204020204" charset="-122"/>
              </a:rPr>
              <a:t>False</a:t>
            </a:r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</a:rPr>
              <a:t>，则返回表达式</a:t>
            </a:r>
            <a:r>
              <a:rPr lang="en-US" altLang="zh-CN" sz="3200" dirty="0"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</a:rPr>
              <a:t>的计算结果</a:t>
            </a:r>
            <a:endParaRPr lang="en-US" altLang="zh-CN" sz="3200" dirty="0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条件运算符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650240" y="1505585"/>
            <a:ext cx="10852150" cy="5038725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dirty="0"/>
              <a:t>求三者最大值</a:t>
            </a:r>
            <a:endParaRPr lang="en-US" altLang="zh-CN" dirty="0"/>
          </a:p>
          <a:p>
            <a:pPr marL="0" indent="0">
              <a:spcAft>
                <a:spcPts val="600"/>
              </a:spcAft>
              <a:buNone/>
            </a:pPr>
            <a:r>
              <a:rPr lang="en-US" altLang="zh-CN" dirty="0"/>
              <a:t>#1.	a, b, c = </a:t>
            </a:r>
            <a:r>
              <a:rPr lang="en-US" altLang="zh-CN" dirty="0" err="1"/>
              <a:t>eval</a:t>
            </a:r>
            <a:r>
              <a:rPr lang="en-US" altLang="zh-CN" dirty="0"/>
              <a:t>(input('</a:t>
            </a:r>
            <a:r>
              <a:rPr lang="en-US" altLang="zh-CN" dirty="0" err="1"/>
              <a:t>a,b,c</a:t>
            </a:r>
            <a:r>
              <a:rPr lang="en-US" altLang="zh-CN" dirty="0"/>
              <a:t>='))</a:t>
            </a:r>
            <a:endParaRPr lang="en-US" altLang="zh-CN" dirty="0"/>
          </a:p>
          <a:p>
            <a:pPr marL="0" indent="0">
              <a:spcAft>
                <a:spcPts val="600"/>
              </a:spcAft>
              <a:buNone/>
            </a:pPr>
            <a:r>
              <a:rPr lang="en-US" altLang="zh-CN" dirty="0"/>
              <a:t>#2.	max = a if a &gt; b else b             #</a:t>
            </a:r>
            <a:r>
              <a:rPr dirty="0"/>
              <a:t>求</a:t>
            </a:r>
            <a:r>
              <a:rPr lang="en-US" altLang="zh-CN" dirty="0"/>
              <a:t>a</a:t>
            </a:r>
            <a:r>
              <a:rPr dirty="0"/>
              <a:t>、</a:t>
            </a:r>
            <a:r>
              <a:rPr lang="en-US" altLang="zh-CN" dirty="0"/>
              <a:t>b</a:t>
            </a:r>
            <a:r>
              <a:rPr dirty="0"/>
              <a:t>最大值</a:t>
            </a:r>
            <a:r>
              <a:rPr lang="en-US" altLang="zh-CN" dirty="0"/>
              <a:t>max</a:t>
            </a:r>
            <a:endParaRPr lang="en-US" altLang="zh-CN" dirty="0"/>
          </a:p>
          <a:p>
            <a:pPr marL="0" indent="0">
              <a:spcAft>
                <a:spcPts val="600"/>
              </a:spcAft>
              <a:buNone/>
            </a:pPr>
            <a:r>
              <a:rPr lang="en-US" altLang="zh-CN" dirty="0"/>
              <a:t>#3.	max = max if max &gt; c else c    </a:t>
            </a:r>
            <a:r>
              <a:rPr lang="en-US" altLang="zh-CN">
                <a:sym typeface="+mn-ea"/>
              </a:rPr>
              <a:t>#</a:t>
            </a:r>
            <a:r>
              <a:rPr>
                <a:sym typeface="+mn-ea"/>
              </a:rPr>
              <a:t>求</a:t>
            </a:r>
            <a:r>
              <a:rPr lang="en-US" altLang="zh-CN">
                <a:sym typeface="+mn-ea"/>
              </a:rPr>
              <a:t>max</a:t>
            </a:r>
            <a:r>
              <a:rPr>
                <a:sym typeface="+mn-ea"/>
              </a:rPr>
              <a:t>、</a:t>
            </a:r>
            <a:r>
              <a:rPr lang="en-US" altLang="zh-CN">
                <a:sym typeface="+mn-ea"/>
              </a:rPr>
              <a:t>c</a:t>
            </a:r>
            <a:r>
              <a:rPr>
                <a:sym typeface="+mn-ea"/>
              </a:rPr>
              <a:t>最大值</a:t>
            </a:r>
            <a:endParaRPr lang="en-US" altLang="zh-CN" dirty="0"/>
          </a:p>
          <a:p>
            <a:pPr marL="0" indent="0">
              <a:spcAft>
                <a:spcPts val="600"/>
              </a:spcAft>
              <a:buNone/>
            </a:pPr>
            <a:r>
              <a:rPr lang="en-US" altLang="zh-CN" dirty="0"/>
              <a:t>#4.	print('Max=', max)</a:t>
            </a: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WordArt 6"/>
          <p:cNvSpPr>
            <a:spLocks noChangeArrowheads="1" noChangeShapeType="1"/>
          </p:cNvSpPr>
          <p:nvPr/>
        </p:nvSpPr>
        <p:spPr bwMode="auto">
          <a:xfrm>
            <a:off x="1882775" y="1557338"/>
            <a:ext cx="8426450" cy="2011363"/>
          </a:xfrm>
          <a:prstGeom prst="rect">
            <a:avLst/>
          </a:prstGeom>
        </p:spPr>
        <p:txBody>
          <a:bodyPr wrap="none" fromWordArt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8500" b="1" i="0" u="none" strike="noStrike" kern="10" cap="none" spc="0" normalizeH="0" baseline="0" noProof="0" dirty="0">
              <a:ln w="9525">
                <a:noFill/>
                <a:round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10245" name="标题 1"/>
          <p:cNvSpPr>
            <a:spLocks noGrp="1"/>
          </p:cNvSpPr>
          <p:nvPr>
            <p:ph type="ctrTitle"/>
          </p:nvPr>
        </p:nvSpPr>
        <p:spPr>
          <a:xfrm>
            <a:off x="1882775" y="2292350"/>
            <a:ext cx="8684895" cy="1151255"/>
          </a:xfrm>
        </p:spPr>
        <p:txBody>
          <a:bodyPr vert="horz" wrap="square" lIns="91440" tIns="45720" rIns="91440" bIns="45720" anchor="b"/>
          <a:lstStyle/>
          <a:p>
            <a:pPr>
              <a:buClrTx/>
              <a:buSzTx/>
              <a:buFontTx/>
              <a:buNone/>
            </a:pPr>
            <a:r>
              <a:rPr lang="en-US" kern="1200" dirty="0">
                <a:latin typeface="+mj-lt"/>
                <a:ea typeface="+mj-ea"/>
                <a:cs typeface="+mj-cs"/>
              </a:rPr>
              <a:t>4.3 </a:t>
            </a:r>
            <a:r>
              <a:rPr lang="zh-CN" altLang="en-US" kern="1200" dirty="0">
                <a:latin typeface="+mj-lt"/>
                <a:ea typeface="+mj-ea"/>
                <a:cs typeface="+mj-cs"/>
              </a:rPr>
              <a:t>选择结构的实现</a:t>
            </a:r>
            <a:endParaRPr lang="zh-CN" altLang="en-US" kern="1200" dirty="0">
              <a:latin typeface="+mj-lt"/>
              <a:ea typeface="+mj-ea"/>
              <a:cs typeface="+mj-cs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if</a:t>
            </a:r>
            <a:r>
              <a:rPr lang="zh-CN" altLang="en-US" dirty="0"/>
              <a:t>语句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if</a:t>
            </a:r>
            <a:r>
              <a:rPr lang="zh-CN" altLang="en-US" dirty="0" smtClean="0"/>
              <a:t>语句是</a:t>
            </a:r>
            <a:r>
              <a:rPr lang="en-US" altLang="zh-CN" dirty="0" smtClean="0"/>
              <a:t>Python</a:t>
            </a:r>
            <a:r>
              <a:rPr lang="zh-CN" altLang="en-US" dirty="0" smtClean="0"/>
              <a:t>唯一的选择</a:t>
            </a:r>
            <a:r>
              <a:rPr lang="zh-CN" altLang="en-US" dirty="0"/>
              <a:t>结构</a:t>
            </a:r>
            <a:r>
              <a:rPr lang="zh-CN" altLang="en-US" dirty="0" smtClean="0"/>
              <a:t>语句。</a:t>
            </a:r>
            <a:endParaRPr lang="en-US" altLang="zh-CN" dirty="0" smtClean="0"/>
          </a:p>
          <a:p>
            <a:r>
              <a:rPr lang="zh-CN" altLang="en-US" dirty="0" smtClean="0"/>
              <a:t>分为</a:t>
            </a:r>
            <a:r>
              <a:rPr lang="zh-CN" altLang="en-US" dirty="0"/>
              <a:t>单分支、双分支和多</a:t>
            </a:r>
            <a:r>
              <a:rPr lang="zh-CN" altLang="en-US" dirty="0" smtClean="0"/>
              <a:t>分支，</a:t>
            </a:r>
            <a:r>
              <a:rPr lang="zh-CN" altLang="en-US" dirty="0"/>
              <a:t>还可以进行</a:t>
            </a:r>
            <a:r>
              <a:rPr lang="en-US" altLang="zh-CN" dirty="0"/>
              <a:t>if</a:t>
            </a:r>
            <a:r>
              <a:rPr lang="zh-CN" altLang="en-US" dirty="0"/>
              <a:t>语句的嵌套</a:t>
            </a:r>
            <a:r>
              <a:rPr lang="zh-CN" altLang="en-US" dirty="0" smtClean="0"/>
              <a:t>。</a:t>
            </a:r>
            <a:endParaRPr lang="en-US" altLang="zh-CN" dirty="0" smtClean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32" y="3433808"/>
            <a:ext cx="1800213" cy="2089299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9616" y="3348198"/>
            <a:ext cx="3744416" cy="226051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4032" y="3036348"/>
            <a:ext cx="5580952" cy="330476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4.3.1 </a:t>
            </a:r>
            <a:r>
              <a:rPr lang="zh-CN" altLang="en-US" dirty="0" smtClean="0"/>
              <a:t>单</a:t>
            </a:r>
            <a:r>
              <a:rPr lang="zh-CN" altLang="en-US" dirty="0"/>
              <a:t>分支选择结构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758809" y="1993983"/>
            <a:ext cx="5040560" cy="1218403"/>
          </a:xfrm>
          <a:prstGeom prst="rect">
            <a:avLst/>
          </a:prstGeom>
          <a:ln>
            <a:solidFill>
              <a:schemeClr val="bg2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800" dirty="0">
                <a:latin typeface="+mj-ea"/>
                <a:ea typeface="+mj-ea"/>
              </a:rPr>
              <a:t>if </a:t>
            </a:r>
            <a:r>
              <a:rPr lang="zh-CN" altLang="en-US" sz="2800" dirty="0">
                <a:latin typeface="+mj-ea"/>
                <a:ea typeface="+mj-ea"/>
              </a:rPr>
              <a:t>条件表达式</a:t>
            </a:r>
            <a:r>
              <a:rPr lang="en-US" altLang="zh-CN" sz="2800" dirty="0">
                <a:latin typeface="+mj-ea"/>
                <a:ea typeface="+mj-ea"/>
              </a:rPr>
              <a:t>:</a:t>
            </a:r>
            <a:endParaRPr lang="en-US" altLang="zh-CN" sz="2800" dirty="0">
              <a:latin typeface="+mj-ea"/>
              <a:ea typeface="+mj-ea"/>
            </a:endParaRPr>
          </a:p>
          <a:p>
            <a:r>
              <a:rPr lang="en-US" altLang="zh-CN" sz="2800" dirty="0">
                <a:latin typeface="+mj-ea"/>
                <a:ea typeface="+mj-ea"/>
              </a:rPr>
              <a:t>    </a:t>
            </a:r>
            <a:r>
              <a:rPr lang="zh-CN" altLang="en-US" sz="2800" dirty="0">
                <a:latin typeface="+mj-ea"/>
                <a:ea typeface="+mj-ea"/>
              </a:rPr>
              <a:t>语句块</a:t>
            </a:r>
            <a:endParaRPr lang="zh-CN" altLang="en-US" sz="2800" dirty="0">
              <a:latin typeface="+mj-ea"/>
              <a:ea typeface="+mj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168008" y="1993983"/>
            <a:ext cx="5040560" cy="792088"/>
          </a:xfrm>
          <a:prstGeom prst="rect">
            <a:avLst/>
          </a:prstGeom>
          <a:ln>
            <a:solidFill>
              <a:schemeClr val="bg2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800" dirty="0">
                <a:latin typeface="+mj-ea"/>
                <a:ea typeface="+mj-ea"/>
              </a:rPr>
              <a:t>if </a:t>
            </a:r>
            <a:r>
              <a:rPr lang="zh-CN" altLang="en-US" sz="2800" dirty="0">
                <a:latin typeface="+mj-ea"/>
                <a:ea typeface="+mj-ea"/>
              </a:rPr>
              <a:t>条件表达式</a:t>
            </a:r>
            <a:r>
              <a:rPr lang="en-US" altLang="zh-CN" sz="2800" dirty="0">
                <a:latin typeface="+mj-ea"/>
                <a:ea typeface="+mj-ea"/>
              </a:rPr>
              <a:t>:  </a:t>
            </a:r>
            <a:r>
              <a:rPr lang="zh-CN" altLang="en-US" sz="2800" dirty="0">
                <a:latin typeface="+mj-ea"/>
                <a:ea typeface="+mj-ea"/>
              </a:rPr>
              <a:t>单语句</a:t>
            </a:r>
            <a:endParaRPr lang="zh-CN" altLang="en-US" sz="2800" dirty="0">
              <a:latin typeface="+mj-ea"/>
              <a:ea typeface="+mj-ea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4196834" y="6124011"/>
            <a:ext cx="7164000" cy="0"/>
          </a:xfrm>
          <a:prstGeom prst="line">
            <a:avLst/>
          </a:prstGeom>
          <a:ln w="19050">
            <a:solidFill>
              <a:srgbClr val="20386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1415480" y="5020745"/>
            <a:ext cx="995959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</a:rPr>
              <a:t>条件表达式结果等价于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</a:rPr>
              <a:t>True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</a:rPr>
              <a:t>，执行语句块或单</a:t>
            </a:r>
            <a:r>
              <a:rPr lang="zh-CN" altLang="en-US" sz="2800" dirty="0" smtClean="0">
                <a:latin typeface="微软雅黑" panose="020B0503020204020204" charset="-122"/>
                <a:ea typeface="微软雅黑" panose="020B0503020204020204" charset="-122"/>
              </a:rPr>
              <a:t>语句</a:t>
            </a:r>
            <a:endParaRPr lang="en-US" altLang="zh-CN" sz="2800" dirty="0" smtClean="0">
              <a:latin typeface="微软雅黑" panose="020B0503020204020204" charset="-122"/>
              <a:ea typeface="微软雅黑" panose="020B0503020204020204" charset="-122"/>
            </a:endParaRPr>
          </a:p>
          <a:p>
            <a:pPr algn="r"/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</a:rPr>
              <a:t>条件表达式</a:t>
            </a:r>
            <a:r>
              <a:rPr lang="zh-CN" altLang="en-US" sz="2800" dirty="0" smtClean="0">
                <a:latin typeface="微软雅黑" panose="020B0503020204020204" charset="-122"/>
                <a:ea typeface="微软雅黑" panose="020B0503020204020204" charset="-122"/>
              </a:rPr>
              <a:t>结果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</a:rPr>
              <a:t>等价于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</a:rPr>
              <a:t>False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</a:rPr>
              <a:t>，执行单分支结构后的后续</a:t>
            </a:r>
            <a:r>
              <a:rPr lang="zh-CN" altLang="en-US" sz="2800" dirty="0" smtClean="0">
                <a:latin typeface="微软雅黑" panose="020B0503020204020204" charset="-122"/>
                <a:ea typeface="微软雅黑" panose="020B0503020204020204" charset="-122"/>
              </a:rPr>
              <a:t>语句</a:t>
            </a:r>
            <a:endParaRPr lang="zh-CN" altLang="en-US" sz="28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线形标注 2(带强调线) 8"/>
          <p:cNvSpPr/>
          <p:nvPr/>
        </p:nvSpPr>
        <p:spPr>
          <a:xfrm>
            <a:off x="7608168" y="764527"/>
            <a:ext cx="4392488" cy="792088"/>
          </a:xfrm>
          <a:prstGeom prst="accentCallout2">
            <a:avLst>
              <a:gd name="adj1" fmla="val 18751"/>
              <a:gd name="adj2" fmla="val -2620"/>
              <a:gd name="adj3" fmla="val 18750"/>
              <a:gd name="adj4" fmla="val -16667"/>
              <a:gd name="adj5" fmla="val 176888"/>
              <a:gd name="adj6" fmla="val -126975"/>
            </a:avLst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</a:rPr>
              <a:t>多数为比较表达式或</a:t>
            </a:r>
            <a:r>
              <a:rPr lang="zh-CN" altLang="en-US" sz="2000" dirty="0" smtClean="0">
                <a:solidFill>
                  <a:schemeClr val="tx1"/>
                </a:solidFill>
              </a:rPr>
              <a:t>逻辑表达式</a:t>
            </a:r>
            <a:endParaRPr lang="en-US" altLang="zh-CN" sz="2000" dirty="0" smtClean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 smtClean="0">
                <a:solidFill>
                  <a:schemeClr val="tx1"/>
                </a:solidFill>
              </a:rPr>
              <a:t>但</a:t>
            </a:r>
            <a:r>
              <a:rPr lang="zh-CN" altLang="en-US" sz="2000" dirty="0">
                <a:solidFill>
                  <a:schemeClr val="tx1"/>
                </a:solidFill>
              </a:rPr>
              <a:t>也可以是其他计算结果的表达式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7176120" y="908720"/>
            <a:ext cx="0" cy="1224136"/>
          </a:xfrm>
          <a:prstGeom prst="line">
            <a:avLst/>
          </a:prstGeom>
          <a:ln w="28575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椭圆 15"/>
          <p:cNvSpPr/>
          <p:nvPr/>
        </p:nvSpPr>
        <p:spPr>
          <a:xfrm>
            <a:off x="2855640" y="2132856"/>
            <a:ext cx="288032" cy="504056"/>
          </a:xfrm>
          <a:prstGeom prst="ellipse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/>
          <p:cNvSpPr/>
          <p:nvPr/>
        </p:nvSpPr>
        <p:spPr>
          <a:xfrm>
            <a:off x="8264840" y="2132856"/>
            <a:ext cx="288032" cy="504056"/>
          </a:xfrm>
          <a:prstGeom prst="ellipse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9" name="直接连接符 18"/>
          <p:cNvCxnSpPr/>
          <p:nvPr/>
        </p:nvCxnSpPr>
        <p:spPr>
          <a:xfrm>
            <a:off x="8408856" y="2636912"/>
            <a:ext cx="0" cy="1224136"/>
          </a:xfrm>
          <a:prstGeom prst="line">
            <a:avLst/>
          </a:prstGeom>
          <a:ln w="28575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3125980" y="2453375"/>
            <a:ext cx="4986244" cy="1407673"/>
          </a:xfrm>
          <a:prstGeom prst="line">
            <a:avLst/>
          </a:prstGeom>
          <a:ln w="28575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/>
          <p:cNvSpPr/>
          <p:nvPr/>
        </p:nvSpPr>
        <p:spPr>
          <a:xfrm>
            <a:off x="7392144" y="3861048"/>
            <a:ext cx="3456384" cy="50405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zh-CN" sz="2000" dirty="0">
                <a:solidFill>
                  <a:schemeClr val="tx1"/>
                </a:solidFill>
              </a:rPr>
              <a:t>条件表达式后必须加冒号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24" name="圆角矩形 23"/>
          <p:cNvSpPr/>
          <p:nvPr/>
        </p:nvSpPr>
        <p:spPr>
          <a:xfrm>
            <a:off x="758809" y="2636912"/>
            <a:ext cx="512655" cy="360040"/>
          </a:xfrm>
          <a:prstGeom prst="round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5" name="直接连接符 24"/>
          <p:cNvCxnSpPr/>
          <p:nvPr/>
        </p:nvCxnSpPr>
        <p:spPr>
          <a:xfrm>
            <a:off x="1027156" y="2996952"/>
            <a:ext cx="0" cy="720000"/>
          </a:xfrm>
          <a:prstGeom prst="line">
            <a:avLst/>
          </a:prstGeom>
          <a:ln w="28575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/>
          <p:cNvSpPr/>
          <p:nvPr/>
        </p:nvSpPr>
        <p:spPr>
          <a:xfrm>
            <a:off x="669575" y="3717031"/>
            <a:ext cx="3922857" cy="79965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</a:rPr>
              <a:t>所有语句行都应向右缩进</a:t>
            </a:r>
            <a:r>
              <a:rPr lang="zh-CN" altLang="en-US" sz="2000" dirty="0" smtClean="0">
                <a:solidFill>
                  <a:schemeClr val="tx1"/>
                </a:solidFill>
              </a:rPr>
              <a:t>对齐</a:t>
            </a:r>
            <a:endParaRPr lang="en-US" altLang="zh-CN" sz="2000" dirty="0" smtClean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 smtClean="0">
                <a:solidFill>
                  <a:schemeClr val="tx1"/>
                </a:solidFill>
              </a:rPr>
              <a:t>并</a:t>
            </a:r>
            <a:r>
              <a:rPr lang="zh-CN" altLang="en-US" sz="2000" dirty="0">
                <a:solidFill>
                  <a:schemeClr val="tx1"/>
                </a:solidFill>
              </a:rPr>
              <a:t>保持一致的缩进方式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6" grpId="0" animBg="1"/>
      <p:bldP spid="18" grpId="0" animBg="1"/>
      <p:bldP spid="23" grpId="0" animBg="1"/>
      <p:bldP spid="24" grpId="0" animBg="1"/>
      <p:bldP spid="26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79376" y="2132856"/>
            <a:ext cx="11042699" cy="316835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4-2</a:t>
            </a:r>
            <a:r>
              <a:rPr lang="en-US" altLang="zh-CN" dirty="0" smtClean="0"/>
              <a:t>】</a:t>
            </a:r>
            <a:r>
              <a:rPr lang="zh-CN" altLang="en-US" dirty="0" smtClean="0"/>
              <a:t>判断大于</a:t>
            </a:r>
            <a:r>
              <a:rPr lang="en-US" altLang="zh-CN" dirty="0" smtClean="0"/>
              <a:t>100</a:t>
            </a:r>
            <a:r>
              <a:rPr lang="zh-CN" altLang="en-US" dirty="0" smtClean="0"/>
              <a:t>的数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160145"/>
            <a:ext cx="10852150" cy="4141063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编写</a:t>
            </a:r>
            <a:r>
              <a:rPr lang="zh-CN" altLang="en-US" dirty="0"/>
              <a:t>程序，从键盘输入</a:t>
            </a:r>
            <a:r>
              <a:rPr lang="zh-CN" altLang="en-US" dirty="0" smtClean="0"/>
              <a:t>整数</a:t>
            </a:r>
            <a:r>
              <a:rPr lang="zh-CN" altLang="en-US" dirty="0"/>
              <a:t>，判定它是否为大于</a:t>
            </a:r>
            <a:r>
              <a:rPr lang="en-US" altLang="zh-CN" dirty="0"/>
              <a:t>100</a:t>
            </a:r>
            <a:r>
              <a:rPr lang="zh-CN" altLang="en-US" dirty="0"/>
              <a:t>的数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marL="0" indent="0">
              <a:buNone/>
            </a:pPr>
            <a:endParaRPr lang="zh-CN" altLang="en-US" sz="1100" dirty="0"/>
          </a:p>
          <a:p>
            <a:pPr marL="0" indent="0">
              <a:buNone/>
            </a:pPr>
            <a:r>
              <a:rPr lang="en-US" altLang="zh-CN" sz="2400" dirty="0"/>
              <a:t>#1.	print(</a:t>
            </a:r>
            <a:r>
              <a:rPr lang="en-US" altLang="zh-CN" sz="2000" dirty="0"/>
              <a:t>'The program gets a number, and shows if it is larger than 100.'</a:t>
            </a:r>
            <a:r>
              <a:rPr lang="en-US" altLang="zh-CN" sz="2400" dirty="0"/>
              <a:t>)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#2.	print('The number: ', end='')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#3.	x = 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(input('x='))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#4.	if x&gt;100: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#5.	    print('The number ',x,' is larger than 100</a:t>
            </a:r>
            <a:r>
              <a:rPr lang="en-US" altLang="zh-CN" sz="2400" dirty="0" smtClean="0"/>
              <a:t>.')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4-3】</a:t>
            </a:r>
            <a:r>
              <a:rPr lang="zh-CN" altLang="en-US" dirty="0"/>
              <a:t>输出</a:t>
            </a:r>
            <a:r>
              <a:rPr lang="en-US" altLang="zh-CN" dirty="0"/>
              <a:t>3</a:t>
            </a:r>
            <a:r>
              <a:rPr lang="zh-CN" altLang="en-US" dirty="0"/>
              <a:t>个整数中的最大数。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>
              <a:lumMod val="85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#1.	a, b, c = </a:t>
            </a:r>
            <a:r>
              <a:rPr lang="en-US" altLang="zh-CN" dirty="0" err="1"/>
              <a:t>eval</a:t>
            </a:r>
            <a:r>
              <a:rPr lang="en-US" altLang="zh-CN" dirty="0"/>
              <a:t>(input('Please input </a:t>
            </a:r>
            <a:r>
              <a:rPr lang="en-US" altLang="zh-CN" dirty="0" err="1"/>
              <a:t>a,b,c</a:t>
            </a:r>
            <a:r>
              <a:rPr lang="en-US" altLang="zh-CN" dirty="0"/>
              <a:t>:'))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#2.	max = a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#3.	if b &gt; max: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#4.	    max = b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#5.	if c &gt; max: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#6.	    max = c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#7.	print('max =', max</a:t>
            </a:r>
            <a:r>
              <a:rPr lang="en-US" altLang="zh-CN" dirty="0" smtClean="0"/>
              <a:t>)</a:t>
            </a: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79376" y="1888569"/>
            <a:ext cx="11042699" cy="269255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4-4</a:t>
            </a:r>
            <a:r>
              <a:rPr lang="en-US" altLang="zh-CN" dirty="0" smtClean="0"/>
              <a:t>】</a:t>
            </a:r>
            <a:r>
              <a:rPr lang="zh-CN" altLang="en-US" dirty="0" smtClean="0"/>
              <a:t>两个数的排序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输入</a:t>
            </a:r>
            <a:r>
              <a:rPr lang="zh-CN" altLang="en-US" dirty="0"/>
              <a:t>两个整数，从小到大排序</a:t>
            </a:r>
            <a:r>
              <a:rPr lang="zh-CN" altLang="en-US" dirty="0" smtClean="0"/>
              <a:t>输出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/>
              <a:t>#1.	a, b = </a:t>
            </a:r>
            <a:r>
              <a:rPr lang="en-US" altLang="zh-CN" dirty="0" err="1"/>
              <a:t>eval</a:t>
            </a:r>
            <a:r>
              <a:rPr lang="en-US" altLang="zh-CN" dirty="0"/>
              <a:t>(input('Please input </a:t>
            </a:r>
            <a:r>
              <a:rPr lang="en-US" altLang="zh-CN" dirty="0" err="1"/>
              <a:t>a,b</a:t>
            </a:r>
            <a:r>
              <a:rPr lang="en-US" altLang="zh-CN" dirty="0"/>
              <a:t>:'))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#2.	if a &gt; b: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#3.	    a, b = b, a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#4.	print(a, b)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4.3.2 </a:t>
            </a:r>
            <a:r>
              <a:rPr lang="zh-CN" altLang="en-US" dirty="0" smtClean="0"/>
              <a:t>双</a:t>
            </a:r>
            <a:r>
              <a:rPr lang="zh-CN" altLang="en-US" dirty="0"/>
              <a:t>分支选择</a:t>
            </a:r>
            <a:r>
              <a:rPr lang="zh-CN" altLang="en-US" dirty="0" smtClean="0"/>
              <a:t>结构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1919536" y="1308754"/>
            <a:ext cx="5040560" cy="2120246"/>
          </a:xfrm>
          <a:prstGeom prst="rect">
            <a:avLst/>
          </a:prstGeom>
          <a:ln>
            <a:solidFill>
              <a:schemeClr val="bg2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r>
              <a:rPr lang="en-US" altLang="zh-CN" sz="2800" dirty="0">
                <a:latin typeface="+mj-ea"/>
                <a:ea typeface="+mj-ea"/>
              </a:rPr>
              <a:t>if </a:t>
            </a:r>
            <a:r>
              <a:rPr lang="zh-CN" altLang="en-US" sz="2800" dirty="0">
                <a:latin typeface="+mj-ea"/>
                <a:ea typeface="+mj-ea"/>
              </a:rPr>
              <a:t>条件表达式</a:t>
            </a:r>
            <a:r>
              <a:rPr lang="en-US" altLang="zh-CN" sz="2800" dirty="0">
                <a:latin typeface="+mj-ea"/>
                <a:ea typeface="+mj-ea"/>
              </a:rPr>
              <a:t>:</a:t>
            </a:r>
            <a:endParaRPr lang="en-US" altLang="zh-CN" sz="2800" dirty="0">
              <a:latin typeface="+mj-ea"/>
              <a:ea typeface="+mj-ea"/>
            </a:endParaRPr>
          </a:p>
          <a:p>
            <a:r>
              <a:rPr lang="en-US" altLang="zh-CN" sz="2800" dirty="0">
                <a:latin typeface="+mj-ea"/>
                <a:ea typeface="+mj-ea"/>
              </a:rPr>
              <a:t>    </a:t>
            </a:r>
            <a:r>
              <a:rPr lang="zh-CN" altLang="en-US" sz="2800" dirty="0">
                <a:latin typeface="+mj-ea"/>
                <a:ea typeface="+mj-ea"/>
              </a:rPr>
              <a:t>语句块</a:t>
            </a:r>
            <a:r>
              <a:rPr lang="en-US" altLang="zh-CN" sz="2800" dirty="0">
                <a:latin typeface="+mj-ea"/>
                <a:ea typeface="+mj-ea"/>
              </a:rPr>
              <a:t>1</a:t>
            </a:r>
            <a:endParaRPr lang="en-US" altLang="zh-CN" sz="2800" dirty="0">
              <a:latin typeface="+mj-ea"/>
              <a:ea typeface="+mj-ea"/>
            </a:endParaRPr>
          </a:p>
          <a:p>
            <a:r>
              <a:rPr lang="en-US" altLang="zh-CN" sz="2800" dirty="0">
                <a:latin typeface="+mj-ea"/>
                <a:ea typeface="+mj-ea"/>
              </a:rPr>
              <a:t>else:</a:t>
            </a:r>
            <a:endParaRPr lang="en-US" altLang="zh-CN" sz="2800" dirty="0">
              <a:latin typeface="+mj-ea"/>
              <a:ea typeface="+mj-ea"/>
            </a:endParaRPr>
          </a:p>
          <a:p>
            <a:r>
              <a:rPr lang="en-US" altLang="zh-CN" sz="2800" dirty="0">
                <a:latin typeface="+mj-ea"/>
                <a:ea typeface="+mj-ea"/>
              </a:rPr>
              <a:t>    </a:t>
            </a:r>
            <a:r>
              <a:rPr lang="zh-CN" altLang="en-US" sz="2800" dirty="0">
                <a:latin typeface="+mj-ea"/>
                <a:ea typeface="+mj-ea"/>
              </a:rPr>
              <a:t>语句块</a:t>
            </a:r>
            <a:r>
              <a:rPr lang="en-US" altLang="zh-CN" sz="2800" dirty="0">
                <a:latin typeface="+mj-ea"/>
                <a:ea typeface="+mj-ea"/>
              </a:rPr>
              <a:t>2</a:t>
            </a:r>
            <a:endParaRPr lang="en-US" altLang="zh-CN" sz="2800" dirty="0">
              <a:latin typeface="+mj-ea"/>
              <a:ea typeface="+mj-ea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4196834" y="6124011"/>
            <a:ext cx="7164000" cy="0"/>
          </a:xfrm>
          <a:prstGeom prst="line">
            <a:avLst/>
          </a:prstGeom>
          <a:ln w="19050">
            <a:solidFill>
              <a:srgbClr val="20386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1415480" y="5020745"/>
            <a:ext cx="995959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</a:rPr>
              <a:t>条件表达式结果等价于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</a:rPr>
              <a:t>True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</a:rPr>
              <a:t>，执行语句</a:t>
            </a:r>
            <a:r>
              <a:rPr lang="zh-CN" altLang="en-US" sz="2800" dirty="0" smtClean="0">
                <a:latin typeface="微软雅黑" panose="020B0503020204020204" charset="-122"/>
                <a:ea typeface="微软雅黑" panose="020B0503020204020204" charset="-122"/>
              </a:rPr>
              <a:t>块</a:t>
            </a:r>
            <a:r>
              <a:rPr lang="en-US" altLang="zh-CN" sz="2800" dirty="0" smtClean="0"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 sz="2800" dirty="0" smtClean="0">
              <a:latin typeface="微软雅黑" panose="020B0503020204020204" charset="-122"/>
              <a:ea typeface="微软雅黑" panose="020B0503020204020204" charset="-122"/>
            </a:endParaRPr>
          </a:p>
          <a:p>
            <a:pPr algn="r"/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</a:rPr>
              <a:t>条件表达式</a:t>
            </a:r>
            <a:r>
              <a:rPr lang="zh-CN" altLang="en-US" sz="2800" dirty="0" smtClean="0">
                <a:latin typeface="微软雅黑" panose="020B0503020204020204" charset="-122"/>
                <a:ea typeface="微软雅黑" panose="020B0503020204020204" charset="-122"/>
              </a:rPr>
              <a:t>结果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</a:rPr>
              <a:t>等价于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</a:rPr>
              <a:t>False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zh-CN" altLang="en-US" sz="2800" dirty="0" smtClean="0">
                <a:latin typeface="微软雅黑" panose="020B0503020204020204" charset="-122"/>
                <a:ea typeface="微软雅黑" panose="020B0503020204020204" charset="-122"/>
              </a:rPr>
              <a:t>执行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</a:rPr>
              <a:t>语句</a:t>
            </a:r>
            <a:r>
              <a:rPr lang="zh-CN" altLang="en-US" sz="2800" dirty="0" smtClean="0">
                <a:latin typeface="微软雅黑" panose="020B0503020204020204" charset="-122"/>
                <a:ea typeface="微软雅黑" panose="020B0503020204020204" charset="-122"/>
              </a:rPr>
              <a:t>块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zh-CN" altLang="en-US" sz="28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2699657" y="2334361"/>
            <a:ext cx="288032" cy="504056"/>
          </a:xfrm>
          <a:prstGeom prst="ellipse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" name="直接连接符 19"/>
          <p:cNvCxnSpPr>
            <a:stCxn id="21" idx="6"/>
            <a:endCxn id="23" idx="1"/>
          </p:cNvCxnSpPr>
          <p:nvPr/>
        </p:nvCxnSpPr>
        <p:spPr>
          <a:xfrm>
            <a:off x="4419187" y="1715451"/>
            <a:ext cx="3359647" cy="668534"/>
          </a:xfrm>
          <a:prstGeom prst="line">
            <a:avLst/>
          </a:prstGeom>
          <a:ln w="28575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/>
          <p:cNvSpPr/>
          <p:nvPr/>
        </p:nvSpPr>
        <p:spPr>
          <a:xfrm>
            <a:off x="7778834" y="2016080"/>
            <a:ext cx="3456384" cy="7358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zh-CN" sz="2000" dirty="0">
                <a:solidFill>
                  <a:schemeClr val="tx1"/>
                </a:solidFill>
              </a:rPr>
              <a:t>条件表达式后必须加</a:t>
            </a:r>
            <a:r>
              <a:rPr lang="zh-CN" altLang="zh-CN" sz="2000" dirty="0" smtClean="0">
                <a:solidFill>
                  <a:schemeClr val="tx1"/>
                </a:solidFill>
              </a:rPr>
              <a:t>冒号</a:t>
            </a:r>
            <a:endParaRPr lang="en-US" altLang="zh-CN" sz="2000" dirty="0" smtClean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tx1"/>
                </a:solidFill>
              </a:rPr>
              <a:t>else</a:t>
            </a:r>
            <a:r>
              <a:rPr lang="zh-CN" altLang="zh-CN" sz="2000" dirty="0">
                <a:solidFill>
                  <a:schemeClr val="tx1"/>
                </a:solidFill>
              </a:rPr>
              <a:t>后必须加冒号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24" name="圆角矩形 23"/>
          <p:cNvSpPr/>
          <p:nvPr/>
        </p:nvSpPr>
        <p:spPr>
          <a:xfrm>
            <a:off x="1975905" y="2016080"/>
            <a:ext cx="512655" cy="360040"/>
          </a:xfrm>
          <a:prstGeom prst="roundRect">
            <a:avLst>
              <a:gd name="adj" fmla="val 20574"/>
            </a:avLst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5" name="直接连接符 24"/>
          <p:cNvCxnSpPr/>
          <p:nvPr/>
        </p:nvCxnSpPr>
        <p:spPr>
          <a:xfrm>
            <a:off x="2232231" y="2376120"/>
            <a:ext cx="0" cy="1340911"/>
          </a:xfrm>
          <a:prstGeom prst="line">
            <a:avLst/>
          </a:prstGeom>
          <a:ln w="571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/>
          <p:cNvSpPr/>
          <p:nvPr/>
        </p:nvSpPr>
        <p:spPr>
          <a:xfrm>
            <a:off x="1080044" y="3717031"/>
            <a:ext cx="5015956" cy="79965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</a:rPr>
              <a:t>语句块</a:t>
            </a:r>
            <a:r>
              <a:rPr lang="en-US" altLang="zh-CN" sz="2000" dirty="0">
                <a:solidFill>
                  <a:schemeClr val="tx1"/>
                </a:solidFill>
              </a:rPr>
              <a:t>1</a:t>
            </a:r>
            <a:r>
              <a:rPr lang="zh-CN" altLang="en-US" sz="2000" dirty="0">
                <a:solidFill>
                  <a:schemeClr val="tx1"/>
                </a:solidFill>
              </a:rPr>
              <a:t>和语句块</a:t>
            </a:r>
            <a:r>
              <a:rPr lang="en-US" altLang="zh-CN" sz="2000" dirty="0" smtClean="0">
                <a:solidFill>
                  <a:schemeClr val="tx1"/>
                </a:solidFill>
              </a:rPr>
              <a:t>2</a:t>
            </a:r>
            <a:r>
              <a:rPr lang="zh-CN" altLang="en-US" sz="2000" dirty="0" smtClean="0">
                <a:solidFill>
                  <a:schemeClr val="tx1"/>
                </a:solidFill>
              </a:rPr>
              <a:t>都</a:t>
            </a:r>
            <a:r>
              <a:rPr lang="zh-CN" altLang="en-US" sz="2000" dirty="0">
                <a:solidFill>
                  <a:schemeClr val="tx1"/>
                </a:solidFill>
              </a:rPr>
              <a:t>应向右缩进</a:t>
            </a:r>
            <a:r>
              <a:rPr lang="zh-CN" altLang="en-US" sz="2000" dirty="0" smtClean="0">
                <a:solidFill>
                  <a:schemeClr val="tx1"/>
                </a:solidFill>
              </a:rPr>
              <a:t>对齐</a:t>
            </a:r>
            <a:endParaRPr lang="en-US" altLang="zh-CN" sz="2000" dirty="0" smtClean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 smtClean="0">
                <a:solidFill>
                  <a:schemeClr val="tx1"/>
                </a:solidFill>
              </a:rPr>
              <a:t>并</a:t>
            </a:r>
            <a:r>
              <a:rPr lang="zh-CN" altLang="en-US" sz="2000" dirty="0">
                <a:solidFill>
                  <a:schemeClr val="tx1"/>
                </a:solidFill>
              </a:rPr>
              <a:t>保持一致的缩进方式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4131155" y="1463423"/>
            <a:ext cx="288032" cy="504056"/>
          </a:xfrm>
          <a:prstGeom prst="ellipse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2" name="直接连接符 21"/>
          <p:cNvCxnSpPr>
            <a:stCxn id="16" idx="6"/>
            <a:endCxn id="23" idx="1"/>
          </p:cNvCxnSpPr>
          <p:nvPr/>
        </p:nvCxnSpPr>
        <p:spPr>
          <a:xfrm flipV="1">
            <a:off x="2987689" y="2383985"/>
            <a:ext cx="4791145" cy="202404"/>
          </a:xfrm>
          <a:prstGeom prst="line">
            <a:avLst/>
          </a:prstGeom>
          <a:ln w="28575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圆角矩形 26"/>
          <p:cNvSpPr/>
          <p:nvPr/>
        </p:nvSpPr>
        <p:spPr>
          <a:xfrm>
            <a:off x="1975904" y="2841974"/>
            <a:ext cx="512655" cy="360040"/>
          </a:xfrm>
          <a:prstGeom prst="roundRect">
            <a:avLst>
              <a:gd name="adj" fmla="val 20574"/>
            </a:avLst>
          </a:prstGeom>
          <a:solidFill>
            <a:srgbClr val="0070C0"/>
          </a:solidFill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3" grpId="0" animBg="1"/>
      <p:bldP spid="24" grpId="0" animBg="1"/>
      <p:bldP spid="26" grpId="0" animBg="1"/>
      <p:bldP spid="21" grpId="0" animBg="1"/>
      <p:bldP spid="27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4-5</a:t>
            </a:r>
            <a:r>
              <a:rPr lang="en-US" altLang="zh-CN" dirty="0" smtClean="0"/>
              <a:t>】</a:t>
            </a:r>
            <a:r>
              <a:rPr lang="zh-CN" altLang="en-US" dirty="0" smtClean="0"/>
              <a:t>改写</a:t>
            </a:r>
            <a:r>
              <a:rPr lang="zh-CN" altLang="en-US" dirty="0"/>
              <a:t>例</a:t>
            </a:r>
            <a:r>
              <a:rPr lang="en-US" altLang="zh-CN" dirty="0" smtClean="0"/>
              <a:t>4-4</a:t>
            </a:r>
            <a:r>
              <a:rPr lang="zh-CN" altLang="en-US" dirty="0" smtClean="0"/>
              <a:t>的两个数排序。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160145"/>
            <a:ext cx="10852150" cy="3564999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#1.	a, b = </a:t>
            </a:r>
            <a:r>
              <a:rPr lang="en-US" altLang="zh-CN" dirty="0" err="1"/>
              <a:t>eval</a:t>
            </a:r>
            <a:r>
              <a:rPr lang="en-US" altLang="zh-CN" dirty="0"/>
              <a:t>(input('Please input </a:t>
            </a:r>
            <a:r>
              <a:rPr lang="en-US" altLang="zh-CN" dirty="0" err="1"/>
              <a:t>a,b</a:t>
            </a:r>
            <a:r>
              <a:rPr lang="en-US" altLang="zh-CN" dirty="0"/>
              <a:t>:'))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#2.	if a &lt; b: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#3.	    print(a, b)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#4.	else: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#5.	    print(b, a</a:t>
            </a:r>
            <a:r>
              <a:rPr lang="en-US" altLang="zh-CN" dirty="0" smtClean="0"/>
              <a:t>)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4-6</a:t>
            </a:r>
            <a:r>
              <a:rPr lang="en-US" altLang="zh-CN" dirty="0" smtClean="0"/>
              <a:t>】</a:t>
            </a:r>
            <a:r>
              <a:rPr lang="zh-CN" altLang="en-US" dirty="0" smtClean="0"/>
              <a:t>改写</a:t>
            </a:r>
            <a:r>
              <a:rPr lang="zh-CN" altLang="en-US" dirty="0"/>
              <a:t>例</a:t>
            </a:r>
            <a:r>
              <a:rPr lang="en-US" altLang="zh-CN" dirty="0"/>
              <a:t>4-3</a:t>
            </a:r>
            <a:r>
              <a:rPr lang="zh-CN" altLang="en-US" dirty="0"/>
              <a:t>，求三个整数的最大值。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>
              <a:lumMod val="85000"/>
            </a:schemeClr>
          </a:solidFill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zh-CN" dirty="0"/>
              <a:t>#1.	a, b, c = </a:t>
            </a:r>
            <a:r>
              <a:rPr lang="en-US" altLang="zh-CN" dirty="0" err="1"/>
              <a:t>eval</a:t>
            </a:r>
            <a:r>
              <a:rPr lang="en-US" altLang="zh-CN" dirty="0"/>
              <a:t>(input('Please input </a:t>
            </a:r>
            <a:r>
              <a:rPr lang="en-US" altLang="zh-CN" dirty="0" err="1"/>
              <a:t>a,b,c</a:t>
            </a:r>
            <a:r>
              <a:rPr lang="en-US" altLang="zh-CN" dirty="0"/>
              <a:t>:'))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#2.	if a &gt; b: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#3.	    max = a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#4.	else: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#5.	    max = b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#6.	if max &lt; c: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#7.	    print('max =', c)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#8.	else: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#9.	    print('max =', max</a:t>
            </a:r>
            <a:r>
              <a:rPr lang="en-US" altLang="zh-CN" dirty="0" smtClean="0"/>
              <a:t>)</a:t>
            </a: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4.3.3 </a:t>
            </a:r>
            <a:r>
              <a:rPr lang="zh-CN" altLang="en-US" dirty="0" smtClean="0"/>
              <a:t>多</a:t>
            </a:r>
            <a:r>
              <a:rPr lang="zh-CN" altLang="en-US" dirty="0"/>
              <a:t>分支选择结构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1919536" y="1308754"/>
            <a:ext cx="5040560" cy="3207934"/>
          </a:xfrm>
          <a:prstGeom prst="rect">
            <a:avLst/>
          </a:prstGeom>
          <a:ln>
            <a:solidFill>
              <a:schemeClr val="bg2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r>
              <a:rPr lang="en-US" altLang="zh-CN" sz="2800" dirty="0">
                <a:latin typeface="+mj-ea"/>
                <a:ea typeface="+mj-ea"/>
              </a:rPr>
              <a:t>if </a:t>
            </a:r>
            <a:r>
              <a:rPr lang="zh-CN" altLang="en-US" sz="2800" dirty="0">
                <a:latin typeface="+mj-ea"/>
                <a:ea typeface="+mj-ea"/>
              </a:rPr>
              <a:t>条件表达式</a:t>
            </a:r>
            <a:r>
              <a:rPr lang="en-US" altLang="zh-CN" sz="2800" dirty="0">
                <a:latin typeface="+mj-ea"/>
                <a:ea typeface="+mj-ea"/>
              </a:rPr>
              <a:t>1:</a:t>
            </a:r>
            <a:endParaRPr lang="en-US" altLang="zh-CN" sz="2800" dirty="0">
              <a:latin typeface="+mj-ea"/>
              <a:ea typeface="+mj-ea"/>
            </a:endParaRPr>
          </a:p>
          <a:p>
            <a:r>
              <a:rPr lang="en-US" altLang="zh-CN" sz="2800" dirty="0">
                <a:latin typeface="+mj-ea"/>
                <a:ea typeface="+mj-ea"/>
              </a:rPr>
              <a:t>    </a:t>
            </a:r>
            <a:r>
              <a:rPr lang="zh-CN" altLang="en-US" sz="2800" dirty="0">
                <a:latin typeface="+mj-ea"/>
                <a:ea typeface="+mj-ea"/>
              </a:rPr>
              <a:t>语句块</a:t>
            </a:r>
            <a:r>
              <a:rPr lang="en-US" altLang="zh-CN" sz="2800" dirty="0">
                <a:latin typeface="+mj-ea"/>
                <a:ea typeface="+mj-ea"/>
              </a:rPr>
              <a:t>1</a:t>
            </a:r>
            <a:endParaRPr lang="en-US" altLang="zh-CN" sz="2800" dirty="0">
              <a:latin typeface="+mj-ea"/>
              <a:ea typeface="+mj-ea"/>
            </a:endParaRPr>
          </a:p>
          <a:p>
            <a:r>
              <a:rPr lang="en-US" altLang="zh-CN" sz="2800" dirty="0" err="1">
                <a:latin typeface="+mj-ea"/>
                <a:ea typeface="+mj-ea"/>
              </a:rPr>
              <a:t>elif</a:t>
            </a:r>
            <a:r>
              <a:rPr lang="en-US" altLang="zh-CN" sz="2800" dirty="0">
                <a:latin typeface="+mj-ea"/>
                <a:ea typeface="+mj-ea"/>
              </a:rPr>
              <a:t> </a:t>
            </a:r>
            <a:r>
              <a:rPr lang="zh-CN" altLang="en-US" sz="2800" dirty="0">
                <a:latin typeface="+mj-ea"/>
                <a:ea typeface="+mj-ea"/>
              </a:rPr>
              <a:t>条件表达式</a:t>
            </a:r>
            <a:r>
              <a:rPr lang="en-US" altLang="zh-CN" sz="2800" dirty="0">
                <a:latin typeface="+mj-ea"/>
                <a:ea typeface="+mj-ea"/>
              </a:rPr>
              <a:t>2:</a:t>
            </a:r>
            <a:endParaRPr lang="en-US" altLang="zh-CN" sz="2800" dirty="0">
              <a:latin typeface="+mj-ea"/>
              <a:ea typeface="+mj-ea"/>
            </a:endParaRPr>
          </a:p>
          <a:p>
            <a:r>
              <a:rPr lang="en-US" altLang="zh-CN" sz="2800" dirty="0">
                <a:latin typeface="+mj-ea"/>
                <a:ea typeface="+mj-ea"/>
              </a:rPr>
              <a:t>    </a:t>
            </a:r>
            <a:r>
              <a:rPr lang="zh-CN" altLang="en-US" sz="2800" dirty="0">
                <a:latin typeface="+mj-ea"/>
                <a:ea typeface="+mj-ea"/>
              </a:rPr>
              <a:t>语句块</a:t>
            </a:r>
            <a:r>
              <a:rPr lang="en-US" altLang="zh-CN" sz="2800" dirty="0">
                <a:latin typeface="+mj-ea"/>
                <a:ea typeface="+mj-ea"/>
              </a:rPr>
              <a:t>2</a:t>
            </a:r>
            <a:endParaRPr lang="en-US" altLang="zh-CN" sz="2800" dirty="0">
              <a:latin typeface="+mj-ea"/>
              <a:ea typeface="+mj-ea"/>
            </a:endParaRPr>
          </a:p>
          <a:p>
            <a:r>
              <a:rPr lang="en-US" altLang="zh-CN" sz="2800" dirty="0">
                <a:latin typeface="+mj-ea"/>
                <a:ea typeface="+mj-ea"/>
              </a:rPr>
              <a:t>……</a:t>
            </a:r>
            <a:endParaRPr lang="en-US" altLang="zh-CN" sz="2800" dirty="0">
              <a:latin typeface="+mj-ea"/>
              <a:ea typeface="+mj-ea"/>
            </a:endParaRPr>
          </a:p>
          <a:p>
            <a:r>
              <a:rPr lang="en-US" altLang="zh-CN" sz="2800" dirty="0">
                <a:latin typeface="+mj-ea"/>
                <a:ea typeface="+mj-ea"/>
              </a:rPr>
              <a:t>else:</a:t>
            </a:r>
            <a:endParaRPr lang="en-US" altLang="zh-CN" sz="2800" dirty="0">
              <a:latin typeface="+mj-ea"/>
              <a:ea typeface="+mj-ea"/>
            </a:endParaRPr>
          </a:p>
          <a:p>
            <a:r>
              <a:rPr lang="en-US" altLang="zh-CN" sz="2800" dirty="0">
                <a:latin typeface="+mj-ea"/>
                <a:ea typeface="+mj-ea"/>
              </a:rPr>
              <a:t>    </a:t>
            </a:r>
            <a:r>
              <a:rPr lang="zh-CN" altLang="en-US" sz="2800" dirty="0">
                <a:latin typeface="+mj-ea"/>
                <a:ea typeface="+mj-ea"/>
              </a:rPr>
              <a:t>语句块</a:t>
            </a:r>
            <a:r>
              <a:rPr lang="en-US" altLang="zh-CN" sz="2800" dirty="0">
                <a:latin typeface="+mj-ea"/>
                <a:ea typeface="+mj-ea"/>
              </a:rPr>
              <a:t>n</a:t>
            </a:r>
            <a:endParaRPr lang="en-US" altLang="zh-CN" sz="2800" dirty="0">
              <a:latin typeface="+mj-ea"/>
              <a:ea typeface="+mj-ea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4196834" y="6124011"/>
            <a:ext cx="7164000" cy="0"/>
          </a:xfrm>
          <a:prstGeom prst="line">
            <a:avLst/>
          </a:prstGeom>
          <a:ln w="19050">
            <a:solidFill>
              <a:srgbClr val="20386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1415480" y="5020745"/>
            <a:ext cx="995959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800" dirty="0" smtClean="0">
                <a:latin typeface="微软雅黑" panose="020B0503020204020204" charset="-122"/>
                <a:ea typeface="微软雅黑" panose="020B0503020204020204" charset="-122"/>
              </a:rPr>
              <a:t>一个条件表达对应一个语句块</a:t>
            </a:r>
            <a:endParaRPr lang="en-US" altLang="zh-CN" sz="2800" dirty="0" smtClean="0">
              <a:latin typeface="微软雅黑" panose="020B0503020204020204" charset="-122"/>
              <a:ea typeface="微软雅黑" panose="020B0503020204020204" charset="-122"/>
            </a:endParaRPr>
          </a:p>
          <a:p>
            <a:pPr algn="r"/>
            <a:r>
              <a:rPr lang="zh-CN" altLang="en-US" sz="2800" dirty="0" smtClean="0">
                <a:latin typeface="微软雅黑" panose="020B0503020204020204" charset="-122"/>
                <a:ea typeface="微软雅黑" panose="020B0503020204020204" charset="-122"/>
              </a:rPr>
              <a:t>所有条件表达式都不成立，执行语句块</a:t>
            </a:r>
            <a:r>
              <a:rPr lang="en-US" altLang="zh-CN" sz="2800" dirty="0" smtClean="0">
                <a:latin typeface="微软雅黑" panose="020B0503020204020204" charset="-122"/>
                <a:ea typeface="微软雅黑" panose="020B0503020204020204" charset="-122"/>
              </a:rPr>
              <a:t>n</a:t>
            </a:r>
            <a:endParaRPr lang="zh-CN" altLang="en-US" sz="28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4643006" y="2224274"/>
            <a:ext cx="288032" cy="504056"/>
          </a:xfrm>
          <a:prstGeom prst="ellipse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>
            <a:stCxn id="13" idx="6"/>
            <a:endCxn id="9" idx="1"/>
          </p:cNvCxnSpPr>
          <p:nvPr/>
        </p:nvCxnSpPr>
        <p:spPr>
          <a:xfrm>
            <a:off x="4583832" y="1628296"/>
            <a:ext cx="3195002" cy="743909"/>
          </a:xfrm>
          <a:prstGeom prst="line">
            <a:avLst/>
          </a:prstGeom>
          <a:ln w="28575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7778834" y="2016080"/>
            <a:ext cx="2277606" cy="7122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 smtClean="0">
                <a:solidFill>
                  <a:schemeClr val="tx1"/>
                </a:solidFill>
              </a:rPr>
              <a:t>冒号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1980491" y="1925996"/>
            <a:ext cx="512655" cy="360040"/>
          </a:xfrm>
          <a:prstGeom prst="roundRect">
            <a:avLst>
              <a:gd name="adj" fmla="val 20574"/>
            </a:avLst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连接符 10"/>
          <p:cNvCxnSpPr/>
          <p:nvPr/>
        </p:nvCxnSpPr>
        <p:spPr>
          <a:xfrm>
            <a:off x="2236817" y="2286035"/>
            <a:ext cx="0" cy="2592000"/>
          </a:xfrm>
          <a:prstGeom prst="line">
            <a:avLst/>
          </a:prstGeom>
          <a:ln w="571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263352" y="4834067"/>
            <a:ext cx="4379654" cy="79965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 smtClean="0">
                <a:solidFill>
                  <a:schemeClr val="tx1"/>
                </a:solidFill>
              </a:rPr>
              <a:t>所有的语句块保持</a:t>
            </a:r>
            <a:r>
              <a:rPr lang="zh-CN" altLang="en-US" sz="2000" dirty="0">
                <a:solidFill>
                  <a:schemeClr val="tx1"/>
                </a:solidFill>
              </a:rPr>
              <a:t>一致的缩进方式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4295800" y="1376268"/>
            <a:ext cx="288032" cy="504056"/>
          </a:xfrm>
          <a:prstGeom prst="ellipse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连接符 13"/>
          <p:cNvCxnSpPr>
            <a:stCxn id="7" idx="6"/>
            <a:endCxn id="9" idx="1"/>
          </p:cNvCxnSpPr>
          <p:nvPr/>
        </p:nvCxnSpPr>
        <p:spPr>
          <a:xfrm flipV="1">
            <a:off x="4931038" y="2372205"/>
            <a:ext cx="2847796" cy="104097"/>
          </a:xfrm>
          <a:prstGeom prst="line">
            <a:avLst/>
          </a:prstGeom>
          <a:ln w="28575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圆角矩形 14"/>
          <p:cNvSpPr/>
          <p:nvPr/>
        </p:nvSpPr>
        <p:spPr>
          <a:xfrm>
            <a:off x="1980491" y="2751890"/>
            <a:ext cx="512655" cy="360040"/>
          </a:xfrm>
          <a:prstGeom prst="roundRect">
            <a:avLst>
              <a:gd name="adj" fmla="val 20574"/>
            </a:avLst>
          </a:prstGeom>
          <a:solidFill>
            <a:schemeClr val="accent1"/>
          </a:solidFill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圆角矩形 19"/>
          <p:cNvSpPr/>
          <p:nvPr/>
        </p:nvSpPr>
        <p:spPr>
          <a:xfrm>
            <a:off x="1980491" y="4044949"/>
            <a:ext cx="512655" cy="360040"/>
          </a:xfrm>
          <a:prstGeom prst="roundRect">
            <a:avLst>
              <a:gd name="adj" fmla="val 20574"/>
            </a:avLst>
          </a:prstGeom>
          <a:solidFill>
            <a:schemeClr val="accent1"/>
          </a:solidFill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椭圆 21"/>
          <p:cNvSpPr/>
          <p:nvPr/>
        </p:nvSpPr>
        <p:spPr>
          <a:xfrm>
            <a:off x="2666411" y="3570497"/>
            <a:ext cx="288032" cy="504056"/>
          </a:xfrm>
          <a:prstGeom prst="ellipse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4" name="直接连接符 23"/>
          <p:cNvCxnSpPr>
            <a:stCxn id="22" idx="6"/>
            <a:endCxn id="9" idx="1"/>
          </p:cNvCxnSpPr>
          <p:nvPr/>
        </p:nvCxnSpPr>
        <p:spPr>
          <a:xfrm flipV="1">
            <a:off x="2954443" y="2372205"/>
            <a:ext cx="4824391" cy="1450320"/>
          </a:xfrm>
          <a:prstGeom prst="line">
            <a:avLst/>
          </a:prstGeom>
          <a:ln w="28575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  <p:bldP spid="12" grpId="0" animBg="1"/>
      <p:bldP spid="13" grpId="0" animBg="1"/>
      <p:bldP spid="15" grpId="0" animBg="1"/>
      <p:bldP spid="20" grpId="0" animBg="1"/>
      <p:bldP spid="22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4-7</a:t>
            </a:r>
            <a:r>
              <a:rPr lang="en-US" altLang="zh-CN" dirty="0" smtClean="0"/>
              <a:t>】</a:t>
            </a:r>
            <a:r>
              <a:rPr lang="zh-CN" altLang="en-US" dirty="0" smtClean="0"/>
              <a:t>购物打折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某</a:t>
            </a:r>
            <a:r>
              <a:rPr lang="zh-CN" altLang="en-US" dirty="0"/>
              <a:t>大型超市为了促销，采用购物打折优惠方法，每位顾客一次购物：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①	在</a:t>
            </a:r>
            <a:r>
              <a:rPr lang="en-US" altLang="zh-CN" dirty="0"/>
              <a:t>500</a:t>
            </a:r>
            <a:r>
              <a:rPr lang="zh-CN" altLang="en-US" dirty="0"/>
              <a:t>元以上者，按九五折优惠；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②	在</a:t>
            </a:r>
            <a:r>
              <a:rPr lang="en-US" altLang="zh-CN" dirty="0"/>
              <a:t>1000</a:t>
            </a:r>
            <a:r>
              <a:rPr lang="zh-CN" altLang="en-US" dirty="0"/>
              <a:t>元以上者，按九折优惠；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③	在</a:t>
            </a:r>
            <a:r>
              <a:rPr lang="en-US" altLang="zh-CN" dirty="0"/>
              <a:t>1500</a:t>
            </a:r>
            <a:r>
              <a:rPr lang="zh-CN" altLang="en-US" dirty="0"/>
              <a:t>元以上者，按八五折优惠；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④	在</a:t>
            </a:r>
            <a:r>
              <a:rPr lang="en-US" altLang="zh-CN" dirty="0"/>
              <a:t>2000</a:t>
            </a:r>
            <a:r>
              <a:rPr lang="zh-CN" altLang="en-US" dirty="0"/>
              <a:t>元以上者，按八折优惠。</a:t>
            </a:r>
            <a:endParaRPr lang="zh-CN" altLang="en-US" dirty="0"/>
          </a:p>
          <a:p>
            <a:r>
              <a:rPr lang="zh-CN" altLang="en-US" dirty="0"/>
              <a:t>编写程序，计算所购商品优惠后的价格。</a:t>
            </a: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4-7</a:t>
            </a:r>
            <a:r>
              <a:rPr lang="en-US" altLang="zh-CN" dirty="0" smtClean="0"/>
              <a:t>】</a:t>
            </a:r>
            <a:r>
              <a:rPr lang="zh-CN" altLang="en-US" dirty="0" smtClean="0"/>
              <a:t>购物打折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160145"/>
            <a:ext cx="10852150" cy="5437207"/>
          </a:xfrm>
          <a:solidFill>
            <a:schemeClr val="bg1">
              <a:lumMod val="85000"/>
            </a:schemeClr>
          </a:solidFill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altLang="zh-CN" sz="2000" dirty="0"/>
              <a:t>#1.	m = </a:t>
            </a:r>
            <a:r>
              <a:rPr lang="en-US" altLang="zh-CN" sz="2000" dirty="0" err="1"/>
              <a:t>eval</a:t>
            </a:r>
            <a:r>
              <a:rPr lang="en-US" altLang="zh-CN" sz="2000" dirty="0"/>
              <a:t>(input('</a:t>
            </a:r>
            <a:r>
              <a:rPr lang="zh-CN" altLang="en-US" sz="2000" dirty="0"/>
              <a:t>总金额 </a:t>
            </a:r>
            <a:r>
              <a:rPr lang="en-US" altLang="zh-CN" sz="2000" dirty="0"/>
              <a:t>= '))</a:t>
            </a:r>
            <a:endParaRPr lang="en-US" altLang="zh-CN" sz="2000" dirty="0"/>
          </a:p>
          <a:p>
            <a:pPr marL="0" indent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altLang="zh-CN" sz="2000" dirty="0"/>
              <a:t>#2.	if m &lt; 500:</a:t>
            </a:r>
            <a:endParaRPr lang="en-US" altLang="zh-CN" sz="2000" dirty="0"/>
          </a:p>
          <a:p>
            <a:pPr marL="0" indent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altLang="zh-CN" sz="2000" dirty="0"/>
              <a:t>#3.	    d = 1</a:t>
            </a:r>
            <a:endParaRPr lang="en-US" altLang="zh-CN" sz="2000" dirty="0"/>
          </a:p>
          <a:p>
            <a:pPr marL="0" indent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altLang="zh-CN" sz="2000" dirty="0"/>
              <a:t>#4.	</a:t>
            </a:r>
            <a:r>
              <a:rPr lang="en-US" altLang="zh-CN" sz="2000" dirty="0" err="1"/>
              <a:t>elif</a:t>
            </a:r>
            <a:r>
              <a:rPr lang="en-US" altLang="zh-CN" sz="2000" dirty="0"/>
              <a:t> m &lt; 1000:</a:t>
            </a:r>
            <a:endParaRPr lang="en-US" altLang="zh-CN" sz="2000" dirty="0"/>
          </a:p>
          <a:p>
            <a:pPr marL="0" indent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altLang="zh-CN" sz="2000" dirty="0"/>
              <a:t>#5.	    d = 0.95</a:t>
            </a:r>
            <a:endParaRPr lang="en-US" altLang="zh-CN" sz="2000" dirty="0"/>
          </a:p>
          <a:p>
            <a:pPr marL="0" indent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altLang="zh-CN" sz="2000" dirty="0"/>
              <a:t>#6.	</a:t>
            </a:r>
            <a:r>
              <a:rPr lang="en-US" altLang="zh-CN" sz="2000" dirty="0" err="1"/>
              <a:t>elif</a:t>
            </a:r>
            <a:r>
              <a:rPr lang="en-US" altLang="zh-CN" sz="2000" dirty="0"/>
              <a:t> m &lt; 1500:</a:t>
            </a:r>
            <a:endParaRPr lang="en-US" altLang="zh-CN" sz="2000" dirty="0"/>
          </a:p>
          <a:p>
            <a:pPr marL="0" indent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altLang="zh-CN" sz="2000" dirty="0"/>
              <a:t>#7.	    d = 0.9</a:t>
            </a:r>
            <a:endParaRPr lang="en-US" altLang="zh-CN" sz="2000" dirty="0"/>
          </a:p>
          <a:p>
            <a:pPr marL="0" indent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altLang="zh-CN" sz="2000" dirty="0"/>
              <a:t>#8.	</a:t>
            </a:r>
            <a:r>
              <a:rPr lang="en-US" altLang="zh-CN" sz="2000" dirty="0" err="1"/>
              <a:t>elif</a:t>
            </a:r>
            <a:r>
              <a:rPr lang="en-US" altLang="zh-CN" sz="2000" dirty="0"/>
              <a:t> m &lt; 2000:</a:t>
            </a:r>
            <a:endParaRPr lang="en-US" altLang="zh-CN" sz="2000" dirty="0"/>
          </a:p>
          <a:p>
            <a:pPr marL="0" indent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altLang="zh-CN" sz="2000" dirty="0"/>
              <a:t>#9.	    d = 0.85</a:t>
            </a:r>
            <a:endParaRPr lang="en-US" altLang="zh-CN" sz="2000" dirty="0"/>
          </a:p>
          <a:p>
            <a:pPr marL="0" indent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altLang="zh-CN" sz="2000" dirty="0"/>
              <a:t>#10.	else:</a:t>
            </a:r>
            <a:endParaRPr lang="en-US" altLang="zh-CN" sz="2000" dirty="0"/>
          </a:p>
          <a:p>
            <a:pPr marL="0" indent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altLang="zh-CN" sz="2000" dirty="0"/>
              <a:t>#11.	    d = 0.8</a:t>
            </a:r>
            <a:endParaRPr lang="en-US" altLang="zh-CN" sz="2000" dirty="0"/>
          </a:p>
          <a:p>
            <a:pPr marL="0" indent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altLang="zh-CN" sz="2000" dirty="0"/>
              <a:t>#12.	amount = m * d</a:t>
            </a:r>
            <a:endParaRPr lang="en-US" altLang="zh-CN" sz="2000" dirty="0"/>
          </a:p>
          <a:p>
            <a:pPr marL="0" indent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altLang="zh-CN" sz="2000" dirty="0"/>
              <a:t>#13.	print('</a:t>
            </a:r>
            <a:r>
              <a:rPr lang="zh-CN" altLang="en-US" sz="2000" dirty="0"/>
              <a:t>优惠价 </a:t>
            </a:r>
            <a:r>
              <a:rPr lang="en-US" altLang="zh-CN" sz="2000" dirty="0"/>
              <a:t>=', amount</a:t>
            </a:r>
            <a:r>
              <a:rPr lang="en-US" altLang="zh-CN" sz="2000" dirty="0" smtClean="0"/>
              <a:t>)</a:t>
            </a:r>
            <a:endParaRPr lang="en-US" altLang="zh-CN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4.3.4 </a:t>
            </a:r>
            <a:r>
              <a:rPr lang="zh-CN" altLang="en-US" dirty="0" smtClean="0"/>
              <a:t>选择</a:t>
            </a:r>
            <a:r>
              <a:rPr lang="zh-CN" altLang="en-US" dirty="0"/>
              <a:t>结构的嵌套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7385" y="188640"/>
            <a:ext cx="5978782" cy="6467613"/>
          </a:xfrm>
          <a:prstGeom prst="rect">
            <a:avLst/>
          </a:prstGeom>
        </p:spPr>
      </p:pic>
      <p:sp>
        <p:nvSpPr>
          <p:cNvPr id="8" name="椭圆 7"/>
          <p:cNvSpPr/>
          <p:nvPr/>
        </p:nvSpPr>
        <p:spPr>
          <a:xfrm>
            <a:off x="6117384" y="188640"/>
            <a:ext cx="1202752" cy="504056"/>
          </a:xfrm>
          <a:prstGeom prst="ellipse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6117384" y="4509120"/>
            <a:ext cx="1202752" cy="504056"/>
          </a:xfrm>
          <a:prstGeom prst="ellipse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6129710" y="5805264"/>
            <a:ext cx="1202752" cy="504056"/>
          </a:xfrm>
          <a:prstGeom prst="ellipse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/>
          <p:cNvCxnSpPr/>
          <p:nvPr/>
        </p:nvCxnSpPr>
        <p:spPr>
          <a:xfrm>
            <a:off x="6696000" y="332656"/>
            <a:ext cx="0" cy="5796000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>
            <a:stCxn id="15" idx="3"/>
          </p:cNvCxnSpPr>
          <p:nvPr/>
        </p:nvCxnSpPr>
        <p:spPr>
          <a:xfrm>
            <a:off x="4540796" y="2243394"/>
            <a:ext cx="2155204" cy="813365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839415" y="1849875"/>
            <a:ext cx="3701381" cy="78703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tx1"/>
                </a:solidFill>
              </a:rPr>
              <a:t>#1</a:t>
            </a:r>
            <a:r>
              <a:rPr lang="zh-CN" altLang="en-US" sz="2000" dirty="0">
                <a:solidFill>
                  <a:schemeClr val="tx1"/>
                </a:solidFill>
              </a:rPr>
              <a:t>、</a:t>
            </a:r>
            <a:r>
              <a:rPr lang="en-US" altLang="zh-CN" sz="2000" dirty="0">
                <a:solidFill>
                  <a:schemeClr val="tx1"/>
                </a:solidFill>
              </a:rPr>
              <a:t>#11</a:t>
            </a:r>
            <a:r>
              <a:rPr lang="zh-CN" altLang="en-US" sz="2000" dirty="0" smtClean="0">
                <a:solidFill>
                  <a:schemeClr val="tx1"/>
                </a:solidFill>
              </a:rPr>
              <a:t>、</a:t>
            </a:r>
            <a:r>
              <a:rPr lang="en-US" altLang="zh-CN" sz="2000" dirty="0" smtClean="0">
                <a:solidFill>
                  <a:schemeClr val="tx1"/>
                </a:solidFill>
              </a:rPr>
              <a:t>#</a:t>
            </a:r>
            <a:r>
              <a:rPr lang="en-US" altLang="zh-CN" sz="2000" dirty="0">
                <a:solidFill>
                  <a:schemeClr val="tx1"/>
                </a:solidFill>
              </a:rPr>
              <a:t>14</a:t>
            </a:r>
            <a:r>
              <a:rPr lang="zh-CN" altLang="en-US" sz="2000" dirty="0">
                <a:solidFill>
                  <a:schemeClr val="tx1"/>
                </a:solidFill>
              </a:rPr>
              <a:t>行的缩进对齐是一致的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cxnSp>
        <p:nvCxnSpPr>
          <p:cNvPr id="23" name="直接连接符 22"/>
          <p:cNvCxnSpPr/>
          <p:nvPr/>
        </p:nvCxnSpPr>
        <p:spPr>
          <a:xfrm>
            <a:off x="7272000" y="692696"/>
            <a:ext cx="0" cy="5796000"/>
          </a:xfrm>
          <a:prstGeom prst="line">
            <a:avLst/>
          </a:prstGeom>
          <a:ln w="571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>
            <a:stCxn id="27" idx="3"/>
          </p:cNvCxnSpPr>
          <p:nvPr/>
        </p:nvCxnSpPr>
        <p:spPr>
          <a:xfrm flipV="1">
            <a:off x="4540797" y="3741714"/>
            <a:ext cx="2731203" cy="411801"/>
          </a:xfrm>
          <a:prstGeom prst="line">
            <a:avLst/>
          </a:prstGeom>
          <a:ln w="28575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/>
          <p:cNvSpPr/>
          <p:nvPr/>
        </p:nvSpPr>
        <p:spPr>
          <a:xfrm>
            <a:off x="839416" y="3274243"/>
            <a:ext cx="3701381" cy="175854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tx1"/>
                </a:solidFill>
              </a:rPr>
              <a:t>#2</a:t>
            </a:r>
            <a:r>
              <a:rPr lang="zh-CN" altLang="en-US" sz="2000" dirty="0">
                <a:solidFill>
                  <a:schemeClr val="tx1"/>
                </a:solidFill>
              </a:rPr>
              <a:t>到</a:t>
            </a:r>
            <a:r>
              <a:rPr lang="en-US" altLang="zh-CN" sz="2000" dirty="0">
                <a:solidFill>
                  <a:schemeClr val="tx1"/>
                </a:solidFill>
              </a:rPr>
              <a:t>#10</a:t>
            </a:r>
            <a:r>
              <a:rPr lang="zh-CN" altLang="en-US" sz="2000" dirty="0">
                <a:solidFill>
                  <a:schemeClr val="tx1"/>
                </a:solidFill>
              </a:rPr>
              <a:t>行相对外层</a:t>
            </a:r>
            <a:r>
              <a:rPr lang="en-US" altLang="zh-CN" sz="2000" dirty="0">
                <a:solidFill>
                  <a:schemeClr val="tx1"/>
                </a:solidFill>
              </a:rPr>
              <a:t>if</a:t>
            </a:r>
            <a:r>
              <a:rPr lang="zh-CN" altLang="en-US" sz="2000" dirty="0">
                <a:solidFill>
                  <a:schemeClr val="tx1"/>
                </a:solidFill>
              </a:rPr>
              <a:t>向右缩进一</a:t>
            </a:r>
            <a:r>
              <a:rPr lang="zh-CN" altLang="en-US" sz="2000" dirty="0" smtClean="0">
                <a:solidFill>
                  <a:schemeClr val="tx1"/>
                </a:solidFill>
              </a:rPr>
              <a:t>层</a:t>
            </a:r>
            <a:endParaRPr lang="en-US" altLang="zh-CN" sz="2000" dirty="0" smtClean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</a:rPr>
              <a:t>语句块</a:t>
            </a:r>
            <a:r>
              <a:rPr lang="en-US" altLang="zh-CN" sz="2000" dirty="0">
                <a:solidFill>
                  <a:schemeClr val="tx1"/>
                </a:solidFill>
              </a:rPr>
              <a:t>1</a:t>
            </a:r>
            <a:r>
              <a:rPr lang="zh-CN" altLang="en-US" sz="2000" dirty="0">
                <a:solidFill>
                  <a:schemeClr val="tx1"/>
                </a:solidFill>
              </a:rPr>
              <a:t>、内层</a:t>
            </a:r>
            <a:r>
              <a:rPr lang="en-US" altLang="zh-CN" sz="2000" dirty="0">
                <a:solidFill>
                  <a:schemeClr val="tx1"/>
                </a:solidFill>
              </a:rPr>
              <a:t>if</a:t>
            </a:r>
            <a:r>
              <a:rPr lang="zh-CN" altLang="en-US" sz="2000" dirty="0">
                <a:solidFill>
                  <a:schemeClr val="tx1"/>
                </a:solidFill>
              </a:rPr>
              <a:t>语句和语句块</a:t>
            </a:r>
            <a:r>
              <a:rPr lang="en-US" altLang="zh-CN" sz="2000" dirty="0">
                <a:solidFill>
                  <a:schemeClr val="tx1"/>
                </a:solidFill>
              </a:rPr>
              <a:t>2</a:t>
            </a:r>
            <a:r>
              <a:rPr lang="zh-CN" altLang="en-US" sz="2000" dirty="0">
                <a:solidFill>
                  <a:schemeClr val="tx1"/>
                </a:solidFill>
              </a:rPr>
              <a:t>是并列的同一层的</a:t>
            </a:r>
            <a:r>
              <a:rPr lang="zh-CN" altLang="en-US" sz="2000" dirty="0" smtClean="0">
                <a:solidFill>
                  <a:schemeClr val="tx1"/>
                </a:solidFill>
              </a:rPr>
              <a:t>语句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1" grpId="0" animBg="1"/>
      <p:bldP spid="15" grpId="0" animBg="1"/>
      <p:bldP spid="27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4-8】</a:t>
            </a:r>
            <a:r>
              <a:rPr lang="zh-CN" altLang="en-US" dirty="0"/>
              <a:t>使用</a:t>
            </a:r>
            <a:r>
              <a:rPr lang="en-US" altLang="zh-CN" dirty="0"/>
              <a:t>if</a:t>
            </a:r>
            <a:r>
              <a:rPr lang="zh-CN" altLang="en-US" dirty="0"/>
              <a:t>嵌套改写例</a:t>
            </a:r>
            <a:r>
              <a:rPr lang="en-US" altLang="zh-CN" dirty="0"/>
              <a:t>4-3</a:t>
            </a:r>
            <a:r>
              <a:rPr lang="zh-CN" altLang="en-US" dirty="0"/>
              <a:t>，求三个整数的最大值。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>
              <a:lumMod val="85000"/>
            </a:schemeClr>
          </a:solidFill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dirty="0"/>
              <a:t>#1.	a, b, c = </a:t>
            </a:r>
            <a:r>
              <a:rPr lang="en-US" altLang="zh-CN" dirty="0" err="1"/>
              <a:t>eval</a:t>
            </a:r>
            <a:r>
              <a:rPr lang="en-US" altLang="zh-CN" dirty="0"/>
              <a:t>(input('Please input </a:t>
            </a:r>
            <a:r>
              <a:rPr lang="en-US" altLang="zh-CN" dirty="0" err="1"/>
              <a:t>a,b,c</a:t>
            </a:r>
            <a:r>
              <a:rPr lang="en-US" altLang="zh-CN" dirty="0"/>
              <a:t>:'))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#2.	if a &gt; b and a &gt; c: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#3.	    print('max =', a)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#4.	else:       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#5.	    if b &gt; c:     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#6.	        print('max =', b)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#7.	    else:       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#8.	        print('max =', c</a:t>
            </a:r>
            <a:r>
              <a:rPr lang="en-US" altLang="zh-CN" dirty="0" smtClean="0"/>
              <a:t>)</a:t>
            </a: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WordArt 6"/>
          <p:cNvSpPr>
            <a:spLocks noChangeArrowheads="1" noChangeShapeType="1"/>
          </p:cNvSpPr>
          <p:nvPr/>
        </p:nvSpPr>
        <p:spPr bwMode="auto">
          <a:xfrm>
            <a:off x="1882775" y="1557338"/>
            <a:ext cx="8426450" cy="2011363"/>
          </a:xfrm>
          <a:prstGeom prst="rect">
            <a:avLst/>
          </a:prstGeom>
        </p:spPr>
        <p:txBody>
          <a:bodyPr wrap="none" fromWordArt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8500" b="1" i="0" u="none" strike="noStrike" kern="10" cap="none" spc="0" normalizeH="0" baseline="0" noProof="0" dirty="0">
              <a:ln w="9525">
                <a:noFill/>
                <a:round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10245" name="标题 1"/>
          <p:cNvSpPr>
            <a:spLocks noGrp="1"/>
          </p:cNvSpPr>
          <p:nvPr>
            <p:ph type="ctrTitle"/>
          </p:nvPr>
        </p:nvSpPr>
        <p:spPr>
          <a:xfrm>
            <a:off x="1779905" y="2292350"/>
            <a:ext cx="8731885" cy="1151255"/>
          </a:xfrm>
        </p:spPr>
        <p:txBody>
          <a:bodyPr vert="horz" wrap="square" lIns="91440" tIns="45720" rIns="91440" bIns="45720" anchor="b"/>
          <a:lstStyle/>
          <a:p>
            <a:pPr>
              <a:buClrTx/>
              <a:buSzTx/>
              <a:buFontTx/>
              <a:buNone/>
            </a:pPr>
            <a:r>
              <a:rPr lang="en-US" kern="1200" dirty="0">
                <a:latin typeface="+mj-lt"/>
                <a:ea typeface="+mj-ea"/>
                <a:cs typeface="+mj-cs"/>
              </a:rPr>
              <a:t>4.4 </a:t>
            </a:r>
            <a:r>
              <a:rPr lang="zh-CN" altLang="en-US" kern="1200" dirty="0">
                <a:latin typeface="+mj-lt"/>
                <a:ea typeface="+mj-ea"/>
                <a:cs typeface="+mj-cs"/>
              </a:rPr>
              <a:t>选择结构程序举例</a:t>
            </a:r>
            <a:endParaRPr lang="zh-CN" altLang="en-US" kern="1200" dirty="0">
              <a:latin typeface="+mj-lt"/>
              <a:ea typeface="+mj-ea"/>
              <a:cs typeface="+mj-cs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 smtClean="0"/>
              <a:t>4-9】</a:t>
            </a:r>
            <a:r>
              <a:rPr lang="zh-CN" altLang="en-US" dirty="0" smtClean="0"/>
              <a:t>成绩转换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sz="half" idx="1"/>
          </p:nvPr>
        </p:nvSpPr>
        <p:spPr>
          <a:xfrm>
            <a:off x="669930" y="2285778"/>
            <a:ext cx="6218158" cy="4383582"/>
          </a:xfrm>
          <a:solidFill>
            <a:schemeClr val="bg1">
              <a:lumMod val="85000"/>
            </a:schemeClr>
          </a:solidFill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zh-CN" dirty="0"/>
              <a:t>#1.	s = </a:t>
            </a:r>
            <a:r>
              <a:rPr lang="en-US" altLang="zh-CN" sz="2200" dirty="0" err="1"/>
              <a:t>eval</a:t>
            </a:r>
            <a:r>
              <a:rPr lang="en-US" altLang="zh-CN" sz="2200" dirty="0"/>
              <a:t>(input('Please input score='))</a:t>
            </a:r>
            <a:endParaRPr lang="en-US" altLang="zh-CN" sz="2200" dirty="0"/>
          </a:p>
          <a:p>
            <a:pPr marL="0" indent="0">
              <a:buNone/>
            </a:pPr>
            <a:r>
              <a:rPr lang="en-US" altLang="zh-CN" dirty="0"/>
              <a:t>#2.	if s &gt; 100 or s &lt; 0: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#3.	    print('Input Error!')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#4.	else: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#5.	    if s &gt;= 90: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#6.	        g = 'A'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#7.	    </a:t>
            </a:r>
            <a:r>
              <a:rPr lang="en-US" altLang="zh-CN" dirty="0" err="1"/>
              <a:t>elif</a:t>
            </a:r>
            <a:r>
              <a:rPr lang="en-US" altLang="zh-CN" dirty="0"/>
              <a:t> s &gt;= 80: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#8.	        g = 'B</a:t>
            </a:r>
            <a:r>
              <a:rPr lang="en-US" altLang="zh-CN" dirty="0" smtClean="0"/>
              <a:t>'</a:t>
            </a:r>
            <a:endParaRPr lang="en-US" altLang="zh-CN" dirty="0"/>
          </a:p>
        </p:txBody>
      </p:sp>
      <p:sp>
        <p:nvSpPr>
          <p:cNvPr id="6" name="内容占位符 5"/>
          <p:cNvSpPr>
            <a:spLocks noGrp="1"/>
          </p:cNvSpPr>
          <p:nvPr>
            <p:ph sz="half" idx="2"/>
          </p:nvPr>
        </p:nvSpPr>
        <p:spPr>
          <a:xfrm>
            <a:off x="7104111" y="2285778"/>
            <a:ext cx="4418007" cy="4055636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sz="2200" dirty="0"/>
              <a:t>#9.	    </a:t>
            </a:r>
            <a:r>
              <a:rPr lang="en-US" altLang="zh-CN" sz="2200" dirty="0" err="1"/>
              <a:t>elif</a:t>
            </a:r>
            <a:r>
              <a:rPr lang="en-US" altLang="zh-CN" sz="2200" dirty="0"/>
              <a:t> s &gt;= 70:</a:t>
            </a:r>
            <a:endParaRPr lang="en-US" altLang="zh-CN" sz="2200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200" dirty="0"/>
              <a:t>#10.	        g = 'C'</a:t>
            </a:r>
            <a:endParaRPr lang="en-US" altLang="zh-CN" sz="2200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200" dirty="0"/>
              <a:t>#11.	    </a:t>
            </a:r>
            <a:r>
              <a:rPr lang="en-US" altLang="zh-CN" sz="2200" dirty="0" err="1"/>
              <a:t>elif</a:t>
            </a:r>
            <a:r>
              <a:rPr lang="en-US" altLang="zh-CN" sz="2200" dirty="0"/>
              <a:t> s &gt;= 60:</a:t>
            </a:r>
            <a:endParaRPr lang="en-US" altLang="zh-CN" sz="2200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200" dirty="0"/>
              <a:t>#12.	        g = 'D'</a:t>
            </a:r>
            <a:endParaRPr lang="en-US" altLang="zh-CN" sz="2200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200" dirty="0"/>
              <a:t>#13.	    else:</a:t>
            </a:r>
            <a:endParaRPr lang="en-US" altLang="zh-CN" sz="2200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200" dirty="0"/>
              <a:t>#14.	        g = 'E'</a:t>
            </a:r>
            <a:endParaRPr lang="en-US" altLang="zh-CN" sz="2200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200" dirty="0"/>
              <a:t>#15.	    print('Grade is', g</a:t>
            </a:r>
            <a:r>
              <a:rPr lang="en-US" altLang="zh-CN" sz="2200" dirty="0" smtClean="0"/>
              <a:t>)</a:t>
            </a:r>
            <a:endParaRPr lang="en-US" altLang="zh-CN" sz="2200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sz="2200" dirty="0" smtClean="0"/>
              <a:t>输入</a:t>
            </a:r>
            <a:r>
              <a:rPr lang="zh-CN" altLang="en-US" sz="2200" dirty="0"/>
              <a:t>一个百分制的成绩，要求根据不同分数输出成绩等级</a:t>
            </a:r>
            <a:r>
              <a:rPr lang="en-US" altLang="zh-CN" sz="2200" dirty="0"/>
              <a:t>A</a:t>
            </a:r>
            <a:r>
              <a:rPr lang="zh-CN" altLang="en-US" sz="2200" dirty="0"/>
              <a:t>、</a:t>
            </a:r>
            <a:r>
              <a:rPr lang="en-US" altLang="zh-CN" sz="2200" dirty="0"/>
              <a:t>B</a:t>
            </a:r>
            <a:r>
              <a:rPr lang="zh-CN" altLang="en-US" sz="2200" dirty="0"/>
              <a:t>、</a:t>
            </a:r>
            <a:r>
              <a:rPr lang="en-US" altLang="zh-CN" sz="2200" dirty="0"/>
              <a:t>C</a:t>
            </a:r>
            <a:r>
              <a:rPr lang="zh-CN" altLang="en-US" sz="2200" dirty="0"/>
              <a:t>、</a:t>
            </a:r>
            <a:r>
              <a:rPr lang="en-US" altLang="zh-CN" sz="2200" dirty="0"/>
              <a:t>D</a:t>
            </a:r>
            <a:r>
              <a:rPr lang="zh-CN" altLang="en-US" sz="2200" dirty="0"/>
              <a:t>、</a:t>
            </a:r>
            <a:r>
              <a:rPr lang="en-US" altLang="zh-CN" sz="2200" dirty="0"/>
              <a:t>E</a:t>
            </a:r>
            <a:r>
              <a:rPr lang="zh-CN" altLang="en-US" sz="2200" dirty="0"/>
              <a:t>。</a:t>
            </a:r>
            <a:r>
              <a:rPr lang="en-US" altLang="zh-CN" sz="2200" dirty="0"/>
              <a:t>90</a:t>
            </a:r>
            <a:r>
              <a:rPr lang="zh-CN" altLang="en-US" sz="2200" dirty="0"/>
              <a:t>分以上为</a:t>
            </a:r>
            <a:r>
              <a:rPr lang="en-US" altLang="zh-CN" sz="2200" dirty="0"/>
              <a:t>A</a:t>
            </a:r>
            <a:r>
              <a:rPr lang="zh-CN" altLang="en-US" sz="2200" dirty="0"/>
              <a:t>，</a:t>
            </a:r>
            <a:r>
              <a:rPr lang="en-US" altLang="zh-CN" sz="2200" dirty="0"/>
              <a:t>80~89</a:t>
            </a:r>
            <a:r>
              <a:rPr lang="zh-CN" altLang="en-US" sz="2200" dirty="0"/>
              <a:t>分为</a:t>
            </a:r>
            <a:r>
              <a:rPr lang="en-US" altLang="zh-CN" sz="2200" dirty="0"/>
              <a:t>B</a:t>
            </a:r>
            <a:r>
              <a:rPr lang="zh-CN" altLang="en-US" sz="2200" dirty="0"/>
              <a:t>，</a:t>
            </a:r>
            <a:r>
              <a:rPr lang="en-US" altLang="zh-CN" sz="2200" dirty="0"/>
              <a:t>70~79</a:t>
            </a:r>
            <a:r>
              <a:rPr lang="zh-CN" altLang="en-US" sz="2200" dirty="0"/>
              <a:t>分为</a:t>
            </a:r>
            <a:r>
              <a:rPr lang="en-US" altLang="zh-CN" sz="2200" dirty="0"/>
              <a:t>C</a:t>
            </a:r>
            <a:r>
              <a:rPr lang="zh-CN" altLang="en-US" sz="2200" dirty="0"/>
              <a:t>，</a:t>
            </a:r>
            <a:r>
              <a:rPr lang="en-US" altLang="zh-CN" sz="2200" dirty="0"/>
              <a:t>60~69</a:t>
            </a:r>
            <a:r>
              <a:rPr lang="zh-CN" altLang="en-US" sz="2200" dirty="0"/>
              <a:t>分为</a:t>
            </a:r>
            <a:r>
              <a:rPr lang="en-US" altLang="zh-CN" sz="2200" dirty="0"/>
              <a:t>D</a:t>
            </a:r>
            <a:r>
              <a:rPr lang="zh-CN" altLang="en-US" sz="2200" dirty="0"/>
              <a:t>，</a:t>
            </a:r>
            <a:r>
              <a:rPr lang="en-US" altLang="zh-CN" sz="2200" dirty="0"/>
              <a:t>60</a:t>
            </a:r>
            <a:r>
              <a:rPr lang="zh-CN" altLang="en-US" sz="2200" dirty="0"/>
              <a:t>分以下为</a:t>
            </a:r>
            <a:r>
              <a:rPr lang="en-US" altLang="zh-CN" sz="2200" dirty="0"/>
              <a:t>E</a:t>
            </a:r>
            <a:r>
              <a:rPr lang="zh-CN" altLang="en-US" sz="2200" dirty="0"/>
              <a:t>。</a:t>
            </a:r>
            <a:endParaRPr lang="zh-CN" alt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4-10】</a:t>
            </a:r>
            <a:r>
              <a:rPr lang="zh-CN" altLang="en-US" dirty="0"/>
              <a:t>输入三个整数，从小到大排序输出。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>
              <a:lumMod val="85000"/>
            </a:schemeClr>
          </a:solidFill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dirty="0"/>
              <a:t>#1.	a, b, c = </a:t>
            </a:r>
            <a:r>
              <a:rPr lang="en-US" altLang="zh-CN" dirty="0" err="1"/>
              <a:t>eval</a:t>
            </a:r>
            <a:r>
              <a:rPr lang="en-US" altLang="zh-CN" dirty="0"/>
              <a:t>(input('Please input </a:t>
            </a:r>
            <a:r>
              <a:rPr lang="en-US" altLang="zh-CN" dirty="0" err="1"/>
              <a:t>a,b,c</a:t>
            </a:r>
            <a:r>
              <a:rPr lang="en-US" altLang="zh-CN" dirty="0"/>
              <a:t>:'))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#2.	if a &gt; b: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#3.	    a, b = b, a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#4.	if a &gt; c: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#5.	    a, c = c, a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#6.	if b &gt; c: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#7.	    b, c = c, b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#8.	print(a, b, c</a:t>
            </a:r>
            <a:r>
              <a:rPr lang="en-US" altLang="zh-CN" dirty="0" smtClean="0"/>
              <a:t>)</a:t>
            </a: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4-11】</a:t>
            </a:r>
            <a:r>
              <a:rPr lang="zh-CN" altLang="en-US" dirty="0"/>
              <a:t>改写例</a:t>
            </a:r>
            <a:r>
              <a:rPr lang="en-US" altLang="zh-CN" dirty="0"/>
              <a:t>3-5</a:t>
            </a:r>
            <a:r>
              <a:rPr lang="zh-CN" altLang="en-US" dirty="0" smtClean="0"/>
              <a:t>，完整正确将整数</a:t>
            </a:r>
            <a:r>
              <a:rPr lang="zh-CN" altLang="en-US" dirty="0"/>
              <a:t>转换为</a:t>
            </a:r>
            <a:r>
              <a:rPr lang="zh-CN" altLang="en-US" dirty="0" smtClean="0"/>
              <a:t>英文。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>
              <a:lumMod val="85000"/>
            </a:schemeClr>
          </a:solidFill>
        </p:spPr>
        <p:txBody>
          <a:bodyPr>
            <a:no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altLang="zh-CN" sz="2200" dirty="0"/>
              <a:t>#1.	eng1 = ['', 'one', 'two', 'three', 'four', 'five', 'six', 'seven', 'eight', 'nine']</a:t>
            </a:r>
            <a:endParaRPr lang="en-US" altLang="zh-CN" sz="2200" dirty="0"/>
          </a:p>
          <a:p>
            <a:pPr marL="0" indent="0">
              <a:spcAft>
                <a:spcPts val="600"/>
              </a:spcAft>
              <a:buNone/>
            </a:pPr>
            <a:r>
              <a:rPr lang="en-US" altLang="zh-CN" sz="2200" dirty="0"/>
              <a:t>#2.	eng2</a:t>
            </a:r>
            <a:r>
              <a:rPr lang="en-US" altLang="zh-CN" sz="1800" dirty="0"/>
              <a:t>=['', 'ten', 'twenty', 'thirty', 'forty', 'fifty', 'sixty', 'seventy', 'eighty', 'ninety']</a:t>
            </a:r>
            <a:endParaRPr lang="en-US" altLang="zh-CN" sz="1800" dirty="0"/>
          </a:p>
          <a:p>
            <a:pPr marL="0" indent="0">
              <a:spcAft>
                <a:spcPts val="600"/>
              </a:spcAft>
              <a:buNone/>
            </a:pPr>
            <a:r>
              <a:rPr lang="en-US" altLang="zh-CN" sz="2200" dirty="0"/>
              <a:t>#3.	eng3=['ten', 'eleven', 'twelve', 'thirteen', 'fourteen', 'fifteen',</a:t>
            </a:r>
            <a:endParaRPr lang="en-US" altLang="zh-CN" sz="2200" dirty="0"/>
          </a:p>
          <a:p>
            <a:pPr marL="0" indent="0">
              <a:spcAft>
                <a:spcPts val="600"/>
              </a:spcAft>
              <a:buNone/>
            </a:pPr>
            <a:r>
              <a:rPr lang="en-US" altLang="zh-CN" sz="2200" dirty="0"/>
              <a:t>#4.	      'sixteen', 'seventeen', 'eighteen', 'nineteen']</a:t>
            </a:r>
            <a:endParaRPr lang="en-US" altLang="zh-CN" sz="2200" dirty="0"/>
          </a:p>
          <a:p>
            <a:pPr marL="0" indent="0">
              <a:spcAft>
                <a:spcPts val="600"/>
              </a:spcAft>
              <a:buNone/>
            </a:pPr>
            <a:r>
              <a:rPr lang="en-US" altLang="zh-CN" sz="2200" dirty="0"/>
              <a:t>#5.	x = input('</a:t>
            </a:r>
            <a:r>
              <a:rPr lang="zh-CN" altLang="en-US" sz="2200" dirty="0"/>
              <a:t>请输入一个三位数：</a:t>
            </a:r>
            <a:r>
              <a:rPr lang="en-US" altLang="zh-CN" sz="2200" dirty="0"/>
              <a:t>')</a:t>
            </a:r>
            <a:endParaRPr lang="en-US" altLang="zh-CN" sz="2200" dirty="0"/>
          </a:p>
          <a:p>
            <a:pPr marL="0" indent="0">
              <a:spcAft>
                <a:spcPts val="600"/>
              </a:spcAft>
              <a:buNone/>
            </a:pPr>
            <a:r>
              <a:rPr lang="en-US" altLang="zh-CN" sz="2200" dirty="0"/>
              <a:t>#6.	if </a:t>
            </a:r>
            <a:r>
              <a:rPr lang="en-US" altLang="zh-CN" sz="2200" dirty="0" err="1"/>
              <a:t>len</a:t>
            </a:r>
            <a:r>
              <a:rPr lang="en-US" altLang="zh-CN" sz="2200" dirty="0"/>
              <a:t>(x) != 3:</a:t>
            </a:r>
            <a:endParaRPr lang="en-US" altLang="zh-CN" sz="2200" dirty="0"/>
          </a:p>
          <a:p>
            <a:pPr marL="0" indent="0">
              <a:spcAft>
                <a:spcPts val="600"/>
              </a:spcAft>
              <a:buNone/>
            </a:pPr>
            <a:r>
              <a:rPr lang="en-US" altLang="zh-CN" sz="2200" dirty="0"/>
              <a:t>#7.	    print('Input Error!')</a:t>
            </a:r>
            <a:endParaRPr lang="en-US" altLang="zh-CN" sz="2200" dirty="0"/>
          </a:p>
          <a:p>
            <a:pPr marL="0" indent="0">
              <a:spcAft>
                <a:spcPts val="600"/>
              </a:spcAft>
              <a:buNone/>
            </a:pPr>
            <a:r>
              <a:rPr lang="en-US" altLang="zh-CN" sz="2200" dirty="0"/>
              <a:t>#8.	else:</a:t>
            </a:r>
            <a:endParaRPr lang="en-US" altLang="zh-CN" sz="2200" dirty="0"/>
          </a:p>
          <a:p>
            <a:pPr marL="0" indent="0">
              <a:spcAft>
                <a:spcPts val="600"/>
              </a:spcAft>
              <a:buNone/>
            </a:pPr>
            <a:r>
              <a:rPr lang="en-US" altLang="zh-CN" sz="2200" dirty="0"/>
              <a:t>#9.	    a, b, c = map(</a:t>
            </a:r>
            <a:r>
              <a:rPr lang="en-US" altLang="zh-CN" sz="2200" dirty="0" err="1"/>
              <a:t>int</a:t>
            </a:r>
            <a:r>
              <a:rPr lang="en-US" altLang="zh-CN" sz="2200" dirty="0"/>
              <a:t>, x)</a:t>
            </a:r>
            <a:endParaRPr lang="en-US" altLang="zh-CN" sz="2200" dirty="0"/>
          </a:p>
          <a:p>
            <a:pPr marL="0" indent="0">
              <a:spcAft>
                <a:spcPts val="600"/>
              </a:spcAft>
              <a:buNone/>
            </a:pPr>
            <a:r>
              <a:rPr lang="en-US" altLang="zh-CN" sz="2200" dirty="0"/>
              <a:t>#10.	    s = ''		</a:t>
            </a:r>
            <a:r>
              <a:rPr lang="en-US" altLang="zh-CN" sz="2200" dirty="0" smtClean="0">
                <a:solidFill>
                  <a:srgbClr val="FF0000"/>
                </a:solidFill>
              </a:rPr>
              <a:t># </a:t>
            </a:r>
            <a:r>
              <a:rPr lang="zh-CN" altLang="en-US" sz="2200" dirty="0">
                <a:solidFill>
                  <a:srgbClr val="FF0000"/>
                </a:solidFill>
              </a:rPr>
              <a:t>结果字符串初始为</a:t>
            </a:r>
            <a:r>
              <a:rPr lang="zh-CN" altLang="en-US" sz="2200" dirty="0" smtClean="0">
                <a:solidFill>
                  <a:srgbClr val="FF0000"/>
                </a:solidFill>
              </a:rPr>
              <a:t>空</a:t>
            </a:r>
            <a:endParaRPr lang="zh-CN" altLang="en-US" sz="22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35" y="-635"/>
            <a:ext cx="12191365" cy="6859270"/>
          </a:xfrm>
          <a:solidFill>
            <a:schemeClr val="bg1">
              <a:lumMod val="85000"/>
            </a:schemeClr>
          </a:solidFill>
        </p:spPr>
        <p:txBody>
          <a:bodyPr>
            <a:no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lang="en-US" altLang="zh-CN" sz="2200" dirty="0"/>
              <a:t>#11.	    # </a:t>
            </a:r>
            <a:r>
              <a:rPr lang="zh-CN" altLang="en-US" sz="2200" dirty="0"/>
              <a:t>直接转换百位，百位不会为</a:t>
            </a:r>
            <a:r>
              <a:rPr lang="en-US" altLang="zh-CN" sz="2200" dirty="0"/>
              <a:t>0</a:t>
            </a:r>
            <a:endParaRPr lang="en-US" altLang="zh-CN" sz="2200" dirty="0"/>
          </a:p>
          <a:p>
            <a:pPr marL="0" indent="0">
              <a:spcAft>
                <a:spcPts val="400"/>
              </a:spcAft>
              <a:buNone/>
            </a:pPr>
            <a:r>
              <a:rPr lang="en-US" altLang="zh-CN" sz="2200" dirty="0"/>
              <a:t>#12.	    s = eng1[a] + ' hundred '</a:t>
            </a:r>
            <a:endParaRPr lang="en-US" altLang="zh-CN" sz="2200" dirty="0"/>
          </a:p>
          <a:p>
            <a:pPr marL="0" indent="0">
              <a:spcAft>
                <a:spcPts val="400"/>
              </a:spcAft>
              <a:buNone/>
            </a:pPr>
            <a:r>
              <a:rPr lang="en-US" altLang="zh-CN" sz="2200" dirty="0"/>
              <a:t>#13.	    if b != 0 or c != 0:</a:t>
            </a:r>
            <a:endParaRPr lang="en-US" altLang="zh-CN" sz="2200" dirty="0"/>
          </a:p>
          <a:p>
            <a:pPr marL="0" indent="0">
              <a:spcAft>
                <a:spcPts val="400"/>
              </a:spcAft>
              <a:buNone/>
            </a:pPr>
            <a:r>
              <a:rPr lang="en-US" altLang="zh-CN" sz="2200" dirty="0"/>
              <a:t># 不是整百的数字，例如100，one hundred，不需要加and。整百数，无十位数和个位数	</a:t>
            </a:r>
            <a:endParaRPr lang="en-US" altLang="zh-CN" sz="2200" dirty="0"/>
          </a:p>
          <a:p>
            <a:pPr marL="0" indent="0">
              <a:spcAft>
                <a:spcPts val="400"/>
              </a:spcAft>
              <a:buNone/>
            </a:pPr>
            <a:r>
              <a:rPr lang="en-US" altLang="zh-CN" sz="2200" dirty="0"/>
              <a:t>#14.	        s += 'and '</a:t>
            </a:r>
            <a:endParaRPr lang="en-US" altLang="zh-CN" sz="2200" dirty="0"/>
          </a:p>
          <a:p>
            <a:pPr marL="0" indent="0">
              <a:spcAft>
                <a:spcPts val="400"/>
              </a:spcAft>
              <a:buNone/>
            </a:pPr>
            <a:r>
              <a:rPr lang="en-US" altLang="zh-CN" sz="2200" dirty="0"/>
              <a:t>#15.	        if b == 0:				</a:t>
            </a:r>
            <a:r>
              <a:rPr lang="en-US" altLang="zh-CN" sz="2200" dirty="0">
                <a:solidFill>
                  <a:srgbClr val="FF0000"/>
                </a:solidFill>
              </a:rPr>
              <a:t># </a:t>
            </a:r>
            <a:r>
              <a:rPr lang="zh-CN" altLang="en-US" sz="2200" dirty="0">
                <a:solidFill>
                  <a:srgbClr val="FF0000"/>
                </a:solidFill>
              </a:rPr>
              <a:t>十位数为</a:t>
            </a:r>
            <a:r>
              <a:rPr lang="en-US" altLang="zh-CN" sz="2200" dirty="0">
                <a:solidFill>
                  <a:srgbClr val="FF0000"/>
                </a:solidFill>
              </a:rPr>
              <a:t>0</a:t>
            </a:r>
            <a:r>
              <a:rPr lang="zh-CN" altLang="en-US" sz="2200" dirty="0">
                <a:solidFill>
                  <a:srgbClr val="FF0000"/>
                </a:solidFill>
              </a:rPr>
              <a:t>的数字</a:t>
            </a:r>
            <a:endParaRPr lang="zh-CN" altLang="en-US" sz="2200" dirty="0">
              <a:solidFill>
                <a:srgbClr val="FF0000"/>
              </a:solidFill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US" altLang="zh-CN" sz="2200" dirty="0"/>
              <a:t>#16.	            s += eng1[c]</a:t>
            </a:r>
            <a:endParaRPr lang="en-US" altLang="zh-CN" sz="2200" dirty="0"/>
          </a:p>
          <a:p>
            <a:pPr marL="0" indent="0">
              <a:spcAft>
                <a:spcPts val="400"/>
              </a:spcAft>
              <a:buNone/>
            </a:pPr>
            <a:r>
              <a:rPr lang="en-US" altLang="zh-CN" sz="2200" dirty="0"/>
              <a:t>#17.	        </a:t>
            </a:r>
            <a:r>
              <a:rPr lang="en-US" altLang="zh-CN" sz="2200" dirty="0" err="1"/>
              <a:t>elif</a:t>
            </a:r>
            <a:r>
              <a:rPr lang="en-US" altLang="zh-CN" sz="2200" dirty="0"/>
              <a:t> b == 1:				</a:t>
            </a:r>
            <a:r>
              <a:rPr lang="en-US" altLang="zh-CN" sz="2200" dirty="0">
                <a:solidFill>
                  <a:srgbClr val="FF0000"/>
                </a:solidFill>
              </a:rPr>
              <a:t># </a:t>
            </a:r>
            <a:r>
              <a:rPr lang="zh-CN" altLang="en-US" sz="2200" dirty="0">
                <a:solidFill>
                  <a:srgbClr val="FF0000"/>
                </a:solidFill>
              </a:rPr>
              <a:t>十位数为</a:t>
            </a:r>
            <a:r>
              <a:rPr lang="en-US" altLang="zh-CN" sz="2200" dirty="0">
                <a:solidFill>
                  <a:srgbClr val="FF0000"/>
                </a:solidFill>
              </a:rPr>
              <a:t>1</a:t>
            </a:r>
            <a:r>
              <a:rPr lang="zh-CN" altLang="en-US" sz="2200" dirty="0">
                <a:solidFill>
                  <a:srgbClr val="FF0000"/>
                </a:solidFill>
              </a:rPr>
              <a:t>的数字</a:t>
            </a:r>
            <a:endParaRPr lang="zh-CN" altLang="en-US" sz="2200" dirty="0">
              <a:solidFill>
                <a:srgbClr val="FF0000"/>
              </a:solidFill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US" altLang="zh-CN" sz="2200" dirty="0"/>
              <a:t>#18.	            s += eng3[c]</a:t>
            </a:r>
            <a:endParaRPr lang="en-US" altLang="zh-CN" sz="2200" dirty="0"/>
          </a:p>
          <a:p>
            <a:pPr marL="0" indent="0">
              <a:spcAft>
                <a:spcPts val="400"/>
              </a:spcAft>
              <a:buNone/>
            </a:pPr>
            <a:r>
              <a:rPr lang="en-US" altLang="zh-CN" sz="2200" dirty="0"/>
              <a:t>#19.	        else:</a:t>
            </a:r>
            <a:endParaRPr lang="en-US" altLang="zh-CN" sz="2200" dirty="0"/>
          </a:p>
          <a:p>
            <a:pPr marL="0" indent="0">
              <a:spcAft>
                <a:spcPts val="400"/>
              </a:spcAft>
              <a:buNone/>
            </a:pPr>
            <a:r>
              <a:rPr lang="en-US" altLang="zh-CN" sz="2200" dirty="0"/>
              <a:t>#20.	            s += eng2[b]</a:t>
            </a:r>
            <a:endParaRPr lang="en-US" altLang="zh-CN" sz="2200" dirty="0"/>
          </a:p>
          <a:p>
            <a:pPr marL="0" indent="0">
              <a:spcAft>
                <a:spcPts val="400"/>
              </a:spcAft>
              <a:buNone/>
            </a:pPr>
            <a:r>
              <a:rPr lang="en-US" altLang="zh-CN" sz="2200" dirty="0"/>
              <a:t>#21.	            if c != 0: 		</a:t>
            </a:r>
            <a:r>
              <a:rPr lang="en-US" altLang="zh-CN" sz="2200" dirty="0">
                <a:solidFill>
                  <a:srgbClr val="FF0000"/>
                </a:solidFill>
              </a:rPr>
              <a:t># </a:t>
            </a:r>
            <a:r>
              <a:rPr lang="zh-CN" altLang="en-US" sz="2200" dirty="0">
                <a:solidFill>
                  <a:srgbClr val="FF0000"/>
                </a:solidFill>
              </a:rPr>
              <a:t>个位数为非</a:t>
            </a:r>
            <a:r>
              <a:rPr lang="en-US" altLang="zh-CN" sz="2200" dirty="0">
                <a:solidFill>
                  <a:srgbClr val="FF0000"/>
                </a:solidFill>
              </a:rPr>
              <a:t>0</a:t>
            </a:r>
            <a:r>
              <a:rPr lang="zh-CN" altLang="en-US" sz="2200" dirty="0">
                <a:solidFill>
                  <a:srgbClr val="FF0000"/>
                </a:solidFill>
              </a:rPr>
              <a:t>的数字</a:t>
            </a:r>
            <a:endParaRPr lang="zh-CN" altLang="en-US" sz="2200" dirty="0">
              <a:solidFill>
                <a:srgbClr val="FF0000"/>
              </a:solidFill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US" altLang="zh-CN" sz="2200" dirty="0"/>
              <a:t>#22.	                s += '-' + eng1[c]</a:t>
            </a:r>
            <a:endParaRPr lang="en-US" altLang="zh-CN" sz="2200" dirty="0"/>
          </a:p>
          <a:p>
            <a:pPr marL="0" indent="0">
              <a:spcAft>
                <a:spcPts val="400"/>
              </a:spcAft>
              <a:buNone/>
            </a:pPr>
            <a:r>
              <a:rPr lang="en-US" altLang="zh-CN" sz="2200" dirty="0"/>
              <a:t>#23.	    print(s</a:t>
            </a:r>
            <a:r>
              <a:rPr lang="en-US" altLang="zh-CN" sz="2200" dirty="0" smtClean="0"/>
              <a:t>)</a:t>
            </a:r>
            <a:endParaRPr lang="en-US" altLang="zh-CN" sz="2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rcRect t="7697" b="6236"/>
          <a:stretch>
            <a:fillRect/>
          </a:stretch>
        </p:blipFill>
        <p:spPr>
          <a:xfrm>
            <a:off x="635" y="0"/>
            <a:ext cx="12191365" cy="6956425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82320" y="0"/>
            <a:ext cx="9305925" cy="6774815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4327525" y="1499870"/>
            <a:ext cx="3436620" cy="92202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dist"/>
            <a:endParaRPr lang="zh-CN" altLang="en-US" sz="5400" dirty="0">
              <a:solidFill>
                <a:schemeClr val="accent1"/>
              </a:solidFill>
              <a:uFillTx/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dirty="0"/>
              <a:t>谢   谢</a:t>
            </a:r>
            <a:endParaRPr lang="zh-CN" altLang="en-US" dirty="0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i*1"/>
  <p:tag name="KSO_WM_UNIT_LAYERLEVEL" val="1"/>
  <p:tag name="KSO_WM_TAG_VERSION" val="1.0"/>
  <p:tag name="KSO_WM_BEAUTIFY_FLAG" val="#wm#"/>
  <p:tag name="KSO_WM_SLIDE_BACKGROUND_TYPE" val="topBottom"/>
  <p:tag name="KSO_WM_SLIDE_BK_DARK_LIGHT" val="2"/>
  <p:tag name="KSO_WM_UNIT_TYPE" val="i"/>
  <p:tag name="KSO_WM_UNIT_INDEX" val="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i*1"/>
  <p:tag name="KSO_WM_UNIT_LAYERLEVEL" val="1"/>
  <p:tag name="KSO_WM_TAG_VERSION" val="1.0"/>
  <p:tag name="KSO_WM_BEAUTIFY_FLAG" val="#wm#"/>
  <p:tag name="KSO_WM_SLIDE_BACKGROUND_TYPE" val="topBottom"/>
  <p:tag name="KSO_WM_SLIDE_BK_DARK_LIGHT" val="2"/>
  <p:tag name="KSO_WM_UNIT_TYPE" val="i"/>
  <p:tag name="KSO_WM_UNIT_INDEX" val="1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1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TYPE" val="i"/>
  <p:tag name="KSO_WM_UNIT_INDEX" val="1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3*i*1"/>
  <p:tag name="KSO_WM_UNIT_BK_DARK_LIGHT" val="2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SLIDE_BACKGROUND_TYPE" val="frame"/>
  <p:tag name="KSO_WM_SLIDE_BK_DARK_LIGHT" val="2"/>
  <p:tag name="KSO_WM_UNIT_TYPE" val="i"/>
  <p:tag name="KSO_WM_UNIT_INDEX" val="1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leftRight"/>
  <p:tag name="KSO_WM_SLIDE_BK_DARK_LIGHT" val="2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SLIDE_BACKGROUND_TYPE" val="leftRight"/>
  <p:tag name="KSO_WM_SLIDE_BK_DARK_LIGHT" val="2"/>
  <p:tag name="KSO_WM_UNIT_TYPE" val="i"/>
  <p:tag name="KSO_WM_UNIT_INDEX" val="1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topBottom"/>
  <p:tag name="KSO_WM_SLIDE_BK_DARK_LIGHT" val="2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SLIDE_BACKGROUND_TYPE" val="topBottom"/>
  <p:tag name="KSO_WM_SLIDE_BK_DARK_LIGHT" val="2"/>
  <p:tag name="KSO_WM_UNIT_TYPE" val="i"/>
  <p:tag name="KSO_WM_UNIT_INDEX" val="1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bottomTop"/>
  <p:tag name="KSO_WM_SLIDE_BK_DARK_LIGHT" val="2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bottomTop"/>
  <p:tag name="KSO_WM_SLIDE_BK_DARK_LIGHT" val="2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navigation"/>
  <p:tag name="KSO_WM_SLIDE_BK_DARK_LIGHT" val="2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navigation"/>
  <p:tag name="KSO_WM_SLIDE_BK_DARK_LIGHT" val="2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2"/>
  <p:tag name="KSO_WM_SLIDE_BACKGROUND_TYPE" val="belt"/>
  <p:tag name="KSO_WM_SLIDE_BK_DARK_LIGHT" val="2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SLIDE_BACKGROUND_TYPE" val="belt"/>
  <p:tag name="KSO_WM_SLIDE_BK_DARK_LIGHT" val="2"/>
  <p:tag name="KSO_WM_UNIT_TYPE" val="i"/>
  <p:tag name="KSO_WM_UNIT_INDEX" val="1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2"/>
  <p:tag name="KSO_WM_UNIT_LAYERLEVEL" val="1"/>
  <p:tag name="KSO_WM_TAG_VERSION" val="1.0"/>
  <p:tag name="KSO_WM_BEAUTIFY_FLAG" val="#wm#"/>
  <p:tag name="KSO_WM_SLIDE_BACKGROUND_TYPE" val="belt"/>
  <p:tag name="KSO_WM_SLIDE_BK_DARK_LIGHT" val="2"/>
  <p:tag name="KSO_WM_UNIT_TYPE" val="i"/>
  <p:tag name="KSO_WM_UNIT_INDEX" val="2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2601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2601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52.xml><?xml version="1.0" encoding="utf-8"?>
<p:tagLst xmlns:p="http://schemas.openxmlformats.org/presentationml/2006/main">
  <p:tag name="KSO_WM_TEMPLATE_SUBCATEGORY" val="0"/>
  <p:tag name="KSO_WM_TEMPLATE_MASTER_TYPE" val="1"/>
  <p:tag name="KSO_WM_TEMPLATE_COLOR_TYPE" val="1"/>
  <p:tag name="KSO_WM_TEMPLATE_MASTER_THUMB_INDEX" val="18"/>
  <p:tag name="KSO_WM_UNIT_SHOW_EDIT_AREA_INDICATION" val="0"/>
  <p:tag name="KSO_WM_TAG_VERSION" val="1.0"/>
  <p:tag name="KSO_WM_BEAUTIFY_FLAG" val="#wm#"/>
  <p:tag name="KSO_WM_TEMPLATE_CATEGORY" val="custom"/>
  <p:tag name="KSO_WM_TEMPLATE_INDEX" val="20202601"/>
  <p:tag name="KSO_WM_TEMPLATE_THUMBS_INDEX" val="1、4、7、8、9、10、11、13、14、15"/>
</p:tagLst>
</file>

<file path=ppt/tags/tag153.xml><?xml version="1.0" encoding="utf-8"?>
<p:tagLst xmlns:p="http://schemas.openxmlformats.org/presentationml/2006/main">
  <p:tag name="KSO_WM_TEMPLATE_CATEGORY" val="custom"/>
  <p:tag name="KSO_WM_TEMPLATE_INDEX" val="20202601"/>
</p:tagLst>
</file>

<file path=ppt/tags/tag154.xml><?xml version="1.0" encoding="utf-8"?>
<p:tagLst xmlns:p="http://schemas.openxmlformats.org/presentationml/2006/main">
  <p:tag name="KSO_WM_TEMPLATE_CATEGORY" val="custom"/>
  <p:tag name="KSO_WM_TEMPLATE_INDEX" val="20202601"/>
</p:tagLst>
</file>

<file path=ppt/tags/tag155.xml><?xml version="1.0" encoding="utf-8"?>
<p:tagLst xmlns:p="http://schemas.openxmlformats.org/presentationml/2006/main">
  <p:tag name="KSO_WM_TEMPLATE_CATEGORY" val="custom"/>
  <p:tag name="KSO_WM_TEMPLATE_INDEX" val="20202601"/>
</p:tagLst>
</file>

<file path=ppt/tags/tag156.xml><?xml version="1.0" encoding="utf-8"?>
<p:tagLst xmlns:p="http://schemas.openxmlformats.org/presentationml/2006/main">
  <p:tag name="KSO_WM_UNIT_TABLE_BEAUTIFY" val="smartTable{3091ef88-c9a4-47bc-8b49-6f0a40c6332d}"/>
</p:tagLst>
</file>

<file path=ppt/tags/tag157.xml><?xml version="1.0" encoding="utf-8"?>
<p:tagLst xmlns:p="http://schemas.openxmlformats.org/presentationml/2006/main">
  <p:tag name="KSO_WM_UNIT_TABLE_BEAUTIFY" val="smartTable{3091ef88-c9a4-47bc-8b49-6f0a40c6332d}"/>
</p:tagLst>
</file>

<file path=ppt/tags/tag158.xml><?xml version="1.0" encoding="utf-8"?>
<p:tagLst xmlns:p="http://schemas.openxmlformats.org/presentationml/2006/main">
  <p:tag name="REFSHAPE" val="416444500"/>
  <p:tag name="KSO_WM_UNIT_PLACING_PICTURE_USER_VIEWPORT" val="{&quot;height&quot;:3924,&quot;width&quot;:9396}"/>
</p:tagLst>
</file>

<file path=ppt/tags/tag159.xml><?xml version="1.0" encoding="utf-8"?>
<p:tagLst xmlns:p="http://schemas.openxmlformats.org/presentationml/2006/main">
  <p:tag name="KSO_WM_TEMPLATE_CATEGORY" val="custom"/>
  <p:tag name="KSO_WM_TEMPLATE_INDEX" val="20202601"/>
</p:tagLst>
</file>

<file path=ppt/tags/tag160.xml><?xml version="1.0" encoding="utf-8"?>
<p:tagLst xmlns:p="http://schemas.openxmlformats.org/presentationml/2006/main">
  <p:tag name="KSO_WM_TEMPLATE_CATEGORY" val="custom"/>
  <p:tag name="KSO_WM_TEMPLATE_INDEX" val="20202601"/>
</p:tagLst>
</file>

<file path=ppt/tags/tag161.xml><?xml version="1.0" encoding="utf-8"?>
<p:tagLst xmlns:p="http://schemas.openxmlformats.org/presentationml/2006/main">
  <p:tag name="KSO_WM_TEMPLATE_CATEGORY" val="custom"/>
  <p:tag name="KSO_WM_TEMPLATE_INDEX" val="20202601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2601_15*i*1"/>
  <p:tag name="KSO_WM_TEMPLATE_CATEGORY" val="custom"/>
  <p:tag name="KSO_WM_TEMPLATE_INDEX" val="20202601"/>
  <p:tag name="KSO_WM_UNIT_LAYERLEVEL" val="1"/>
  <p:tag name="KSO_WM_TAG_VERSION" val="1.0"/>
  <p:tag name="KSO_WM_BEAUTIFY_FLAG" val="#wm#"/>
  <p:tag name="KSO_WM_UNIT_ISCONTENTSTITLE" val="0"/>
  <p:tag name="KSO_WM_UNIT_NOCLEAR" val="0"/>
  <p:tag name="KSO_WM_UNIT_TYPE" val="i"/>
  <p:tag name="KSO_WM_UNIT_INDEX" val="1"/>
  <p:tag name="KSO_WM_UNIT_PRESET_TEXT" val="2019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2601_15*a*1"/>
  <p:tag name="KSO_WM_TEMPLATE_CATEGORY" val="custom"/>
  <p:tag name="KSO_WM_TEMPLATE_INDEX" val="20202601"/>
  <p:tag name="KSO_WM_UNIT_LAYERLEVEL" val="1"/>
  <p:tag name="KSO_WM_TAG_VERSION" val="1.0"/>
  <p:tag name="KSO_WM_BEAUTIFY_FLAG" val="#wm#"/>
  <p:tag name="KSO_WM_UNIT_ISCONTENTSTITLE" val="0"/>
  <p:tag name="KSO_WM_UNIT_PRESET_TEXT" val="谢谢观赏"/>
  <p:tag name="KSO_WM_UNIT_NOCLEAR" val="1"/>
  <p:tag name="KSO_WM_UNIT_VALUE" val="6"/>
  <p:tag name="KSO_WM_UNIT_TYPE" val="a"/>
  <p:tag name="KSO_WM_UNIT_INDEX" val="1"/>
</p:tagLst>
</file>

<file path=ppt/tags/tag164.xml><?xml version="1.0" encoding="utf-8"?>
<p:tagLst xmlns:p="http://schemas.openxmlformats.org/presentationml/2006/main">
  <p:tag name="KSO_WM_SLIDE_ID" val="custom20202601_15"/>
  <p:tag name="KSO_WM_TEMPLATE_SUBCATEGORY" val="0"/>
  <p:tag name="KSO_WM_TEMPLATE_MASTER_TYPE" val="1"/>
  <p:tag name="KSO_WM_TEMPLATE_COLOR_TYPE" val="1"/>
  <p:tag name="KSO_WM_SLIDE_ITEM_CNT" val="0"/>
  <p:tag name="KSO_WM_SLIDE_INDEX" val="15"/>
  <p:tag name="KSO_WM_TAG_VERSION" val="1.0"/>
  <p:tag name="KSO_WM_BEAUTIFY_FLAG" val="#wm#"/>
  <p:tag name="KSO_WM_TEMPLATE_CATEGORY" val="custom"/>
  <p:tag name="KSO_WM_TEMPLATE_INDEX" val="20202601"/>
  <p:tag name="KSO_WM_SLIDE_LAYOUT" val="a_b"/>
  <p:tag name="KSO_WM_SLIDE_LAYOUT_CNT" val="1_2"/>
  <p:tag name="KSO_WM_SLIDE_TYPE" val="endPage"/>
  <p:tag name="KSO_WM_SLIDE_SUBTYPE" val="pureTxt"/>
</p:tagLst>
</file>

<file path=ppt/tags/tag165.xml><?xml version="1.0" encoding="utf-8"?>
<p:tagLst xmlns:p="http://schemas.openxmlformats.org/presentationml/2006/main">
  <p:tag name="ISPRING_PRESENTATION_TITLE" val="幻灯片 1"/>
</p:tagLst>
</file>

<file path=ppt/theme/theme1.xml><?xml version="1.0" encoding="utf-8"?>
<a:theme xmlns:a="http://schemas.openxmlformats.org/drawingml/2006/main" name="1_Office 主题​​">
  <a:themeElements>
    <a:clrScheme name="自定义 25">
      <a:dk1>
        <a:srgbClr val="000000"/>
      </a:dk1>
      <a:lt1>
        <a:srgbClr val="FFFFFF"/>
      </a:lt1>
      <a:dk2>
        <a:srgbClr val="E9F3FA"/>
      </a:dk2>
      <a:lt2>
        <a:srgbClr val="FFFFFF"/>
      </a:lt2>
      <a:accent1>
        <a:srgbClr val="4472C4"/>
      </a:accent1>
      <a:accent2>
        <a:srgbClr val="2A8DD4"/>
      </a:accent2>
      <a:accent3>
        <a:srgbClr val="2FA1CF"/>
      </a:accent3>
      <a:accent4>
        <a:srgbClr val="33B2B2"/>
      </a:accent4>
      <a:accent5>
        <a:srgbClr val="35BD81"/>
      </a:accent5>
      <a:accent6>
        <a:srgbClr val="59C54F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7458</Words>
  <Application>WPS 演示</Application>
  <PresentationFormat>宽屏</PresentationFormat>
  <Paragraphs>628</Paragraphs>
  <Slides>54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54</vt:i4>
      </vt:variant>
    </vt:vector>
  </HeadingPairs>
  <TitlesOfParts>
    <vt:vector size="67" baseType="lpstr">
      <vt:lpstr>Arial</vt:lpstr>
      <vt:lpstr>宋体</vt:lpstr>
      <vt:lpstr>Wingdings</vt:lpstr>
      <vt:lpstr>微软雅黑</vt:lpstr>
      <vt:lpstr>汉仪旗黑-85S</vt:lpstr>
      <vt:lpstr>Viner Hand ITC</vt:lpstr>
      <vt:lpstr>Segoe UI Semilight</vt:lpstr>
      <vt:lpstr>华文新魏</vt:lpstr>
      <vt:lpstr>Arial Unicode MS</vt:lpstr>
      <vt:lpstr>黑体</vt:lpstr>
      <vt:lpstr>Wingdings</vt:lpstr>
      <vt:lpstr>Consolas</vt:lpstr>
      <vt:lpstr>1_Office 主题​​</vt:lpstr>
      <vt:lpstr>第4章 选择结构</vt:lpstr>
      <vt:lpstr>PowerPoint 演示文稿</vt:lpstr>
      <vt:lpstr>目录</vt:lpstr>
      <vt:lpstr>4.1 条件表达式</vt:lpstr>
      <vt:lpstr>条件表达式</vt:lpstr>
      <vt:lpstr>条件表达式</vt:lpstr>
      <vt:lpstr>4.1.1 关系运算</vt:lpstr>
      <vt:lpstr>4.1.1 关系运算</vt:lpstr>
      <vt:lpstr>PowerPoint 演示文稿</vt:lpstr>
      <vt:lpstr>PowerPoint 演示文稿</vt:lpstr>
      <vt:lpstr>PowerPoint 演示文稿</vt:lpstr>
      <vt:lpstr>PowerPoint 演示文稿</vt:lpstr>
      <vt:lpstr>4.1.2 逻辑运算</vt:lpstr>
      <vt:lpstr>与运算and</vt:lpstr>
      <vt:lpstr>与运算and</vt:lpstr>
      <vt:lpstr>and 汇总</vt:lpstr>
      <vt:lpstr>PowerPoint 演示文稿</vt:lpstr>
      <vt:lpstr>或运算or</vt:lpstr>
      <vt:lpstr>or  汇总</vt:lpstr>
      <vt:lpstr>PowerPoint 演示文稿</vt:lpstr>
      <vt:lpstr>逻辑运算中的惰性求值</vt:lpstr>
      <vt:lpstr>4.1.3 测试运算及函数</vt:lpstr>
      <vt:lpstr>2．身份运算符 </vt:lpstr>
      <vt:lpstr>2．身份运算符 </vt:lpstr>
      <vt:lpstr>内置的测试函数</vt:lpstr>
      <vt:lpstr>内置的测试函数</vt:lpstr>
      <vt:lpstr>内置的测试函数</vt:lpstr>
      <vt:lpstr>补充</vt:lpstr>
      <vt:lpstr>PowerPoint 演示文稿</vt:lpstr>
      <vt:lpstr>4.2 条件运算符</vt:lpstr>
      <vt:lpstr>条件运算符</vt:lpstr>
      <vt:lpstr>条件运算符</vt:lpstr>
      <vt:lpstr>4.3 选择结构的实现</vt:lpstr>
      <vt:lpstr>if语句</vt:lpstr>
      <vt:lpstr>4.3.1 单分支选择结构</vt:lpstr>
      <vt:lpstr>【例4-2】判断大于100的数</vt:lpstr>
      <vt:lpstr>【例4-3】输出3个整数中的最大数。</vt:lpstr>
      <vt:lpstr>【例4-4】两个数的排序</vt:lpstr>
      <vt:lpstr>4.3.2 双分支选择结构</vt:lpstr>
      <vt:lpstr>【例4-5】改写例4-4的两个数排序。</vt:lpstr>
      <vt:lpstr>【例4-6】改写例4-3，求三个整数的最大值。</vt:lpstr>
      <vt:lpstr>4.3.3 多分支选择结构</vt:lpstr>
      <vt:lpstr>【例4-7】购物打折</vt:lpstr>
      <vt:lpstr>【例4-7】购物打折</vt:lpstr>
      <vt:lpstr>4.3.4 选择结构的嵌套</vt:lpstr>
      <vt:lpstr>【例4-8】使用if嵌套改写例4-3，求三个整数的最大值。</vt:lpstr>
      <vt:lpstr>4.4 选择结构程序举例</vt:lpstr>
      <vt:lpstr>【例4-9】成绩转换</vt:lpstr>
      <vt:lpstr>【例4-10】输入三个整数，从小到大排序输出。</vt:lpstr>
      <vt:lpstr>【例4-11】改写例3-5，完整正确将整数转换为英文。</vt:lpstr>
      <vt:lpstr>PowerPoint 演示文稿</vt:lpstr>
      <vt:lpstr>PowerPoint 演示文稿</vt:lpstr>
      <vt:lpstr>PowerPoint 演示文稿</vt:lpstr>
      <vt:lpstr>谢   谢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当图网</dc:title>
  <dc:creator>钱毅湘</dc:creator>
  <cp:lastModifiedBy>18662582800</cp:lastModifiedBy>
  <cp:revision>88</cp:revision>
  <dcterms:created xsi:type="dcterms:W3CDTF">2018-10-09T06:59:00Z</dcterms:created>
  <dcterms:modified xsi:type="dcterms:W3CDTF">2020-03-25T05:19:24Z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2052-11.1.0.9513</vt:lpwstr>
  </property>
</Properties>
</file>