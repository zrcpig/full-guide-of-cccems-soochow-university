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4" r:id="rId3"/>
    <p:sldId id="485" r:id="rId5"/>
    <p:sldId id="562" r:id="rId6"/>
    <p:sldId id="561" r:id="rId7"/>
    <p:sldId id="483" r:id="rId8"/>
    <p:sldId id="498" r:id="rId9"/>
    <p:sldId id="563" r:id="rId10"/>
    <p:sldId id="503" r:id="rId11"/>
    <p:sldId id="565" r:id="rId12"/>
    <p:sldId id="566" r:id="rId13"/>
    <p:sldId id="504" r:id="rId14"/>
    <p:sldId id="505" r:id="rId15"/>
    <p:sldId id="584" r:id="rId16"/>
    <p:sldId id="506" r:id="rId17"/>
    <p:sldId id="507" r:id="rId18"/>
    <p:sldId id="585" r:id="rId19"/>
    <p:sldId id="587" r:id="rId20"/>
    <p:sldId id="567" r:id="rId21"/>
    <p:sldId id="568" r:id="rId22"/>
    <p:sldId id="575" r:id="rId23"/>
    <p:sldId id="583" r:id="rId24"/>
    <p:sldId id="576" r:id="rId25"/>
    <p:sldId id="577" r:id="rId26"/>
    <p:sldId id="578" r:id="rId27"/>
    <p:sldId id="579" r:id="rId28"/>
    <p:sldId id="582" r:id="rId29"/>
    <p:sldId id="588" r:id="rId30"/>
    <p:sldId id="508" r:id="rId31"/>
    <p:sldId id="589" r:id="rId32"/>
    <p:sldId id="509" r:id="rId33"/>
    <p:sldId id="581" r:id="rId34"/>
    <p:sldId id="510" r:id="rId35"/>
    <p:sldId id="593" r:id="rId36"/>
    <p:sldId id="488" r:id="rId37"/>
    <p:sldId id="499" r:id="rId38"/>
    <p:sldId id="590" r:id="rId39"/>
    <p:sldId id="512" r:id="rId40"/>
    <p:sldId id="511" r:id="rId41"/>
    <p:sldId id="513" r:id="rId42"/>
    <p:sldId id="591" r:id="rId43"/>
    <p:sldId id="592" r:id="rId44"/>
    <p:sldId id="595" r:id="rId45"/>
    <p:sldId id="514" r:id="rId46"/>
    <p:sldId id="596" r:id="rId47"/>
    <p:sldId id="515" r:id="rId48"/>
    <p:sldId id="602" r:id="rId49"/>
    <p:sldId id="516" r:id="rId50"/>
    <p:sldId id="517" r:id="rId51"/>
    <p:sldId id="518" r:id="rId52"/>
    <p:sldId id="519" r:id="rId53"/>
    <p:sldId id="594" r:id="rId54"/>
    <p:sldId id="489" r:id="rId55"/>
    <p:sldId id="500" r:id="rId56"/>
    <p:sldId id="542" r:id="rId57"/>
    <p:sldId id="603" r:id="rId58"/>
    <p:sldId id="521" r:id="rId59"/>
    <p:sldId id="522" r:id="rId60"/>
    <p:sldId id="606" r:id="rId61"/>
    <p:sldId id="605" r:id="rId62"/>
    <p:sldId id="607" r:id="rId63"/>
    <p:sldId id="523" r:id="rId64"/>
    <p:sldId id="598" r:id="rId65"/>
    <p:sldId id="490" r:id="rId66"/>
    <p:sldId id="501" r:id="rId67"/>
    <p:sldId id="600" r:id="rId68"/>
    <p:sldId id="524" r:id="rId69"/>
    <p:sldId id="525" r:id="rId70"/>
    <p:sldId id="526" r:id="rId71"/>
    <p:sldId id="527" r:id="rId72"/>
    <p:sldId id="608" r:id="rId73"/>
    <p:sldId id="599" r:id="rId74"/>
    <p:sldId id="491" r:id="rId75"/>
    <p:sldId id="502" r:id="rId76"/>
    <p:sldId id="528" r:id="rId77"/>
    <p:sldId id="529" r:id="rId78"/>
    <p:sldId id="530" r:id="rId79"/>
    <p:sldId id="652" r:id="rId80"/>
    <p:sldId id="497" r:id="rId81"/>
  </p:sldIdLst>
  <p:sldSz cx="12192000" cy="6858000"/>
  <p:notesSz cx="6858000" cy="9144000"/>
  <p:custDataLst>
    <p:tags r:id="rId8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800080"/>
    <a:srgbClr val="660066"/>
    <a:srgbClr val="0033CC"/>
    <a:srgbClr val="99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79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6" Type="http://schemas.openxmlformats.org/officeDocument/2006/relationships/tags" Target="tags/tag159.xml"/><Relationship Id="rId85" Type="http://schemas.openxmlformats.org/officeDocument/2006/relationships/commentAuthors" Target="commentAuthors.xml"/><Relationship Id="rId84" Type="http://schemas.openxmlformats.org/officeDocument/2006/relationships/tableStyles" Target="tableStyles.xml"/><Relationship Id="rId83" Type="http://schemas.openxmlformats.org/officeDocument/2006/relationships/viewProps" Target="viewProps.xml"/><Relationship Id="rId82" Type="http://schemas.openxmlformats.org/officeDocument/2006/relationships/presProps" Target="presProps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3-24T10:35: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960 154,'4'0,"0"3,1-2,1 0,4-1,5 0,1 0,2 0,-1-2,3 2,-2 0,3 0,-3 0,2 0,-5 0,0 0,0 0,-2 0,0 0,1 0,-4 0,0 0,5 0,-10 0,2 0,-3 0,5 2,3-2,-1 0,11 1,-14-1,-2 0,-2 0,-1 0,0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5.xml"/><Relationship Id="rId7" Type="http://schemas.openxmlformats.org/officeDocument/2006/relationships/image" Target="../media/image2.png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1.pn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1" Type="http://schemas.openxmlformats.org/officeDocument/2006/relationships/image" Target="../media/image6.png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3" Type="http://schemas.openxmlformats.org/officeDocument/2006/relationships/image" Target="../media/image5.png"/><Relationship Id="rId12" Type="http://schemas.openxmlformats.org/officeDocument/2006/relationships/tags" Target="../tags/tag42.xml"/><Relationship Id="rId11" Type="http://schemas.openxmlformats.org/officeDocument/2006/relationships/image" Target="../media/image6.png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image" Target="../media/image8.png"/><Relationship Id="rId5" Type="http://schemas.openxmlformats.org/officeDocument/2006/relationships/tags" Target="../tags/tag45.xml"/><Relationship Id="rId4" Type="http://schemas.openxmlformats.org/officeDocument/2006/relationships/image" Target="../media/image7.png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image" Target="../media/image10.png"/><Relationship Id="rId2" Type="http://schemas.openxmlformats.org/officeDocument/2006/relationships/tags" Target="../tags/tag64.xm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image" Target="../media/image1.png"/><Relationship Id="rId4" Type="http://schemas.openxmlformats.org/officeDocument/2006/relationships/tags" Target="../tags/tag77.xml"/><Relationship Id="rId3" Type="http://schemas.openxmlformats.org/officeDocument/2006/relationships/image" Target="../media/image11.png"/><Relationship Id="rId2" Type="http://schemas.openxmlformats.org/officeDocument/2006/relationships/tags" Target="../tags/tag76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image" Target="../media/image2.png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2.png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image" Target="../media/image14.png"/><Relationship Id="rId2" Type="http://schemas.openxmlformats.org/officeDocument/2006/relationships/tags" Target="../tags/tag113.xml"/><Relationship Id="rId10" Type="http://schemas.openxmlformats.org/officeDocument/2006/relationships/tags" Target="../tags/tag120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image" Target="../media/image15.png"/><Relationship Id="rId2" Type="http://schemas.openxmlformats.org/officeDocument/2006/relationships/tags" Target="../tags/tag12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136.xml"/><Relationship Id="rId7" Type="http://schemas.openxmlformats.org/officeDocument/2006/relationships/image" Target="../media/image16.png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4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6"/>
                </p:custDataLst>
              </p:nvPr>
            </p:nvPicPr>
            <p:blipFill rotWithShape="1">
              <a:blip r:embed="rId7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spc="600" baseline="0">
                <a:solidFill>
                  <a:schemeClr val="accent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16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25" y="443230"/>
            <a:ext cx="10852150" cy="716915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925" y="1160145"/>
            <a:ext cx="10852150" cy="5180965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6177281"/>
            <a:ext cx="12192000" cy="132453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251487" y="2681555"/>
            <a:ext cx="3577049" cy="716508"/>
          </a:xfrm>
        </p:spPr>
        <p:txBody>
          <a:bodyPr lIns="90000" tIns="46800" rIns="90000" bIns="0" anchor="ctr" anchorCtr="0">
            <a:normAutofit/>
          </a:bodyPr>
          <a:lstStyle>
            <a:lvl1pPr algn="dist">
              <a:defRPr sz="4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5251487" y="3459937"/>
            <a:ext cx="3577050" cy="544296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0" y="-15482"/>
            <a:ext cx="3649343" cy="6857999"/>
            <a:chOff x="0" y="-15482"/>
            <a:chExt cx="3649343" cy="6857999"/>
          </a:xfrm>
        </p:grpSpPr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 rot="10800000">
            <a:off x="8542657" y="15483"/>
            <a:ext cx="3649343" cy="6857999"/>
            <a:chOff x="0" y="-15482"/>
            <a:chExt cx="3649343" cy="6857999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角 13"/>
          <p:cNvSpPr/>
          <p:nvPr>
            <p:custDataLst>
              <p:tags r:id="rId14"/>
            </p:custDataLst>
          </p:nvPr>
        </p:nvSpPr>
        <p:spPr>
          <a:xfrm>
            <a:off x="5638165" y="1484173"/>
            <a:ext cx="914400" cy="4762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5400000">
            <a:off x="-3378783" y="2809615"/>
            <a:ext cx="6858002" cy="1238771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4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5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13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3" Type="http://schemas.openxmlformats.org/officeDocument/2006/relationships/theme" Target="../theme/theme1.xml"/><Relationship Id="rId32" Type="http://schemas.openxmlformats.org/officeDocument/2006/relationships/tags" Target="../tags/tag144.xml"/><Relationship Id="rId31" Type="http://schemas.openxmlformats.org/officeDocument/2006/relationships/tags" Target="../tags/tag143.xml"/><Relationship Id="rId30" Type="http://schemas.openxmlformats.org/officeDocument/2006/relationships/tags" Target="../tags/tag142.xml"/><Relationship Id="rId3" Type="http://schemas.openxmlformats.org/officeDocument/2006/relationships/slideLayout" Target="../slideLayouts/slideLayout3.xml"/><Relationship Id="rId29" Type="http://schemas.openxmlformats.org/officeDocument/2006/relationships/tags" Target="../tags/tag141.xml"/><Relationship Id="rId28" Type="http://schemas.openxmlformats.org/officeDocument/2006/relationships/tags" Target="../tags/tag140.xml"/><Relationship Id="rId27" Type="http://schemas.openxmlformats.org/officeDocument/2006/relationships/tags" Target="../tags/tag13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8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3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5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46.xml"/><Relationship Id="rId5" Type="http://schemas.openxmlformats.org/officeDocument/2006/relationships/slide" Target="slide72.xml"/><Relationship Id="rId4" Type="http://schemas.openxmlformats.org/officeDocument/2006/relationships/slide" Target="slide63.xml"/><Relationship Id="rId3" Type="http://schemas.openxmlformats.org/officeDocument/2006/relationships/slide" Target="slide52.xml"/><Relationship Id="rId2" Type="http://schemas.openxmlformats.org/officeDocument/2006/relationships/slide" Target="slide34.xml"/><Relationship Id="rId1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8.emf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3.bin"/><Relationship Id="rId1" Type="http://schemas.openxmlformats.org/officeDocument/2006/relationships/tags" Target="../tags/tag15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5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1" Type="http://schemas.openxmlformats.org/officeDocument/2006/relationships/oleObject" Target="../embeddings/oleObject6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customXml" Target="../ink/ink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2540" y="2292350"/>
            <a:ext cx="9437370" cy="1151255"/>
          </a:xfrm>
        </p:spPr>
        <p:txBody>
          <a:bodyPr/>
          <a:lstStyle/>
          <a:p>
            <a:r>
              <a:rPr lang="zh-CN" altLang="en-US" dirty="0">
                <a:latin typeface="+mj-lt"/>
                <a:ea typeface="+mj-ea"/>
                <a:sym typeface="+mn-ea"/>
              </a:rPr>
              <a:t>第</a:t>
            </a:r>
            <a:r>
              <a:rPr lang="en-US" altLang="zh-CN" dirty="0">
                <a:latin typeface="+mj-lt"/>
                <a:ea typeface="+mj-ea"/>
                <a:sym typeface="+mn-ea"/>
              </a:rPr>
              <a:t>5</a:t>
            </a:r>
            <a:r>
              <a:rPr lang="zh-CN" altLang="en-US" dirty="0">
                <a:latin typeface="+mj-lt"/>
                <a:ea typeface="+mj-ea"/>
                <a:sym typeface="+mn-ea"/>
              </a:rPr>
              <a:t>章 循环结构</a:t>
            </a:r>
            <a:endParaRPr lang="zh-CN" altLang="en-US" dirty="0">
              <a:latin typeface="+mj-lt"/>
              <a:ea typeface="+mj-ea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838315" y="4431665"/>
            <a:ext cx="516128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lang="zh-CN" altLang="en-US" sz="2800">
                <a:latin typeface="+mn-ea"/>
                <a:ea typeface="+mn-ea"/>
                <a:sym typeface="+mn-ea"/>
              </a:rPr>
              <a:t>苏州大学计算机学院公共教学部</a:t>
            </a:r>
            <a:endParaRPr lang="zh-CN" altLang="en-US" sz="2800">
              <a:latin typeface="+mn-ea"/>
              <a:ea typeface="+mn-ea"/>
            </a:endParaRPr>
          </a:p>
          <a:p>
            <a:pPr algn="r"/>
            <a:r>
              <a:rPr lang="zh-CN" altLang="en-US" sz="2800">
                <a:latin typeface="+mn-ea"/>
                <a:ea typeface="+mn-ea"/>
                <a:sym typeface="+mn-ea"/>
              </a:rPr>
              <a:t>甄田甜</a:t>
            </a:r>
            <a:endParaRPr lang="zh-CN" altLang="en-US" sz="2800">
              <a:latin typeface="+mn-ea"/>
              <a:ea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  <a:endParaRPr lang="zh-CN" altLang="en-US" sz="4000" dirty="0"/>
          </a:p>
        </p:txBody>
      </p:sp>
      <p:sp>
        <p:nvSpPr>
          <p:cNvPr id="13315" name="内容占位符 2"/>
          <p:cNvSpPr>
            <a:spLocks noGrp="1"/>
          </p:cNvSpPr>
          <p:nvPr>
            <p:ph idx="1" hasCustomPrompt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5.1 </a:t>
            </a:r>
            <a:r>
              <a:rPr lang="en-US" altLang="zh-CN" sz="3200" dirty="0">
                <a:hlinkClick r:id="rId1" action="ppaction://hlinksldjump"/>
              </a:rPr>
              <a:t>while</a:t>
            </a:r>
            <a:r>
              <a:rPr sz="3200" dirty="0">
                <a:hlinkClick r:id="rId1" action="ppaction://hlinksldjump"/>
              </a:rPr>
              <a:t>循环结构</a:t>
            </a:r>
            <a:endParaRPr lang="zh-CN" altLang="en-US" sz="3200" dirty="0"/>
          </a:p>
          <a:p>
            <a:r>
              <a:rPr lang="en-US" altLang="zh-CN" sz="3200" dirty="0"/>
              <a:t>5.2 </a:t>
            </a:r>
            <a:r>
              <a:rPr lang="en-US" altLang="zh-CN" sz="3200" dirty="0">
                <a:hlinkClick r:id="rId2" action="ppaction://hlinksldjump"/>
              </a:rPr>
              <a:t>for</a:t>
            </a:r>
            <a:r>
              <a:rPr sz="3200" dirty="0">
                <a:hlinkClick r:id="rId2" action="ppaction://hlinksldjump"/>
              </a:rPr>
              <a:t>循环结构</a:t>
            </a:r>
            <a:endParaRPr lang="zh-CN" altLang="en-US" sz="3200" dirty="0"/>
          </a:p>
          <a:p>
            <a:r>
              <a:rPr lang="en-US" altLang="zh-CN" sz="3200" dirty="0"/>
              <a:t>5.3 </a:t>
            </a:r>
            <a:r>
              <a:rPr sz="3200" dirty="0">
                <a:hlinkClick r:id="rId3" action="ppaction://hlinksldjump"/>
              </a:rPr>
              <a:t>循环控制语句</a:t>
            </a:r>
            <a:endParaRPr lang="zh-CN" altLang="en-US" sz="3200" dirty="0"/>
          </a:p>
          <a:p>
            <a:r>
              <a:rPr lang="en-US" altLang="zh-CN" sz="3200" dirty="0"/>
              <a:t>5.4 </a:t>
            </a:r>
            <a:r>
              <a:rPr sz="3200" dirty="0">
                <a:hlinkClick r:id="rId4" action="ppaction://hlinksldjump"/>
              </a:rPr>
              <a:t>循环的嵌套</a:t>
            </a:r>
            <a:endParaRPr lang="zh-CN" altLang="en-US" sz="3200" dirty="0"/>
          </a:p>
          <a:p>
            <a:r>
              <a:rPr lang="en-US" altLang="zh-CN" sz="3200" dirty="0"/>
              <a:t>5.5 </a:t>
            </a:r>
            <a:r>
              <a:rPr sz="3200" dirty="0">
                <a:hlinkClick r:id="rId5" action="ppaction://hlinksldjump"/>
              </a:rPr>
              <a:t>循环结构程序举例</a:t>
            </a:r>
            <a:endParaRPr sz="3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eaLnBrk="1" hangingPunct="1">
              <a:lnSpc>
                <a:spcPct val="90000"/>
              </a:lnSpc>
              <a:buNone/>
            </a:pPr>
            <a:r>
              <a:rPr sz="36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复杂问题的求解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sz="36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是将一个复杂的功能</a:t>
            </a:r>
            <a:r>
              <a:rPr sz="3600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变成若干个简单功能的重复。</a:t>
            </a:r>
            <a:endParaRPr lang="zh-CN" altLang="en-US" sz="3600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3600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3600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sz="36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所谓的循环，就是</a:t>
            </a:r>
            <a:r>
              <a:rPr sz="3600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重复执行</a:t>
            </a:r>
            <a:r>
              <a:rPr sz="36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某些操作。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buNone/>
            </a:pP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635" y="-635"/>
            <a:ext cx="12192000" cy="6858635"/>
          </a:xfrm>
        </p:spPr>
        <p:txBody>
          <a:bodyPr>
            <a:normAutofit lnSpcReduction="20000"/>
          </a:bodyPr>
          <a:p>
            <a:pPr eaLnBrk="1" latinLnBrk="0" hangingPunct="1">
              <a:spcBef>
                <a:spcPts val="12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endParaRPr lang="en-US" altLang="zh-CN">
              <a:latin typeface="+mn-ea"/>
              <a:ea typeface="+mn-ea"/>
              <a:cs typeface="+mn-ea"/>
              <a:sym typeface="+mn-ea"/>
            </a:endParaRPr>
          </a:p>
          <a:p>
            <a:pPr eaLnBrk="1" latinLnBrk="0" hangingPunct="1">
              <a:spcBef>
                <a:spcPts val="12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Python</a:t>
            </a:r>
            <a:r>
              <a:rPr>
                <a:latin typeface="+mn-ea"/>
                <a:ea typeface="+mn-ea"/>
                <a:cs typeface="+mn-ea"/>
                <a:sym typeface="+mn-ea"/>
              </a:rPr>
              <a:t>提供了两种基本的循环结构语句</a:t>
            </a:r>
            <a:r>
              <a:rPr lang="en-US" altLang="zh-CN">
                <a:latin typeface="+mn-ea"/>
                <a:ea typeface="+mn-ea"/>
                <a:cs typeface="+mn-ea"/>
                <a:sym typeface="+mn-ea"/>
              </a:rPr>
              <a:t>——</a:t>
            </a:r>
            <a:r>
              <a:rPr lang="en-US" altLang="zh-CN">
                <a:latin typeface="+mn-ea"/>
                <a:ea typeface="+mn-ea"/>
                <a:cs typeface="+mn-ea"/>
                <a:sym typeface="Arial" panose="020B0604020202020204" pitchFamily="34" charset="0"/>
              </a:rPr>
              <a:t>while</a:t>
            </a:r>
            <a:r>
              <a:rPr>
                <a:latin typeface="+mn-ea"/>
                <a:ea typeface="+mn-ea"/>
                <a:cs typeface="+mn-ea"/>
                <a:sym typeface="Arial" panose="020B0604020202020204" pitchFamily="34" charset="0"/>
              </a:rPr>
              <a:t>和</a:t>
            </a:r>
            <a:r>
              <a:rPr lang="en-US" altLang="zh-CN">
                <a:latin typeface="+mn-ea"/>
                <a:ea typeface="+mn-ea"/>
                <a:cs typeface="+mn-ea"/>
                <a:sym typeface="Arial" panose="020B0604020202020204" pitchFamily="34" charset="0"/>
              </a:rPr>
              <a:t>for</a:t>
            </a:r>
            <a:r>
              <a:rPr>
                <a:latin typeface="+mn-ea"/>
                <a:ea typeface="+mn-ea"/>
                <a:cs typeface="+mn-ea"/>
                <a:sym typeface="Arial" panose="020B0604020202020204" pitchFamily="34" charset="0"/>
              </a:rPr>
              <a:t>。</a:t>
            </a:r>
            <a:endParaRPr lang="zh-CN" altLang="en-US" kern="1200" dirty="0">
              <a:latin typeface="+mn-ea"/>
              <a:ea typeface="+mn-ea"/>
              <a:cs typeface="+mn-ea"/>
              <a:sym typeface="Arial" panose="020B0604020202020204" pitchFamily="34" charset="0"/>
            </a:endParaRPr>
          </a:p>
          <a:p>
            <a:pPr eaLnBrk="1" latinLnBrk="0" hangingPunct="1">
              <a:spcBef>
                <a:spcPts val="12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>
                <a:latin typeface="+mn-ea"/>
                <a:ea typeface="+mn-ea"/>
                <a:cs typeface="+mn-ea"/>
                <a:sym typeface="Arial" panose="020B0604020202020204" pitchFamily="34" charset="0"/>
              </a:rPr>
              <a:t>while循环一般用于循环次数难以提前确定的情况，也可以用于循环次数确定的情况。</a:t>
            </a:r>
            <a:endParaRPr lang="zh-CN" altLang="en-US" kern="1200" dirty="0">
              <a:latin typeface="+mn-ea"/>
              <a:ea typeface="+mn-ea"/>
              <a:cs typeface="+mn-ea"/>
              <a:sym typeface="Arial" panose="020B0604020202020204" pitchFamily="34" charset="0"/>
            </a:endParaRPr>
          </a:p>
          <a:p>
            <a:pPr eaLnBrk="1" latinLnBrk="0" hangingPunct="1">
              <a:spcBef>
                <a:spcPts val="12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>
                <a:latin typeface="+mn-ea"/>
                <a:ea typeface="+mn-ea"/>
                <a:cs typeface="+mn-ea"/>
                <a:sym typeface="Arial" panose="020B0604020202020204" pitchFamily="34" charset="0"/>
              </a:rPr>
              <a:t>for循环一般用于循环次数可以提前确定的情况，尤其是用于枚举序列或迭代对象中的元素。</a:t>
            </a:r>
            <a:endParaRPr>
              <a:latin typeface="+mn-ea"/>
              <a:ea typeface="+mn-ea"/>
              <a:cs typeface="+mn-ea"/>
              <a:sym typeface="Arial" panose="020B0604020202020204" pitchFamily="34" charset="0"/>
            </a:endParaRPr>
          </a:p>
          <a:p>
            <a:pPr eaLnBrk="1" latinLnBrk="0" hangingPunct="1">
              <a:spcBef>
                <a:spcPts val="12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>
                <a:latin typeface="+mn-ea"/>
                <a:ea typeface="+mn-ea"/>
                <a:cs typeface="+mn-ea"/>
                <a:sym typeface="Arial" panose="020B0604020202020204" pitchFamily="34" charset="0"/>
              </a:rPr>
              <a:t>一般优先考虑使用for循环。</a:t>
            </a:r>
            <a:endParaRPr lang="zh-CN" altLang="en-US" kern="1200" dirty="0">
              <a:latin typeface="+mn-ea"/>
              <a:ea typeface="+mn-ea"/>
              <a:cs typeface="+mn-ea"/>
              <a:sym typeface="Arial" panose="020B0604020202020204" pitchFamily="34" charset="0"/>
            </a:endParaRPr>
          </a:p>
          <a:p>
            <a:pPr eaLnBrk="1" latinLnBrk="0" hangingPunct="1">
              <a:spcBef>
                <a:spcPts val="12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endParaRPr lang="zh-CN" altLang="en-US" kern="1200" dirty="0">
              <a:latin typeface="+mn-ea"/>
              <a:ea typeface="+mn-ea"/>
              <a:cs typeface="+mn-ea"/>
              <a:sym typeface="Arial" panose="020B0604020202020204" pitchFamily="34" charset="0"/>
            </a:endParaRPr>
          </a:p>
          <a:p>
            <a:pPr eaLnBrk="1" latinLnBrk="0" hangingPunct="1">
              <a:spcBef>
                <a:spcPts val="12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>
                <a:latin typeface="+mn-ea"/>
                <a:ea typeface="+mn-ea"/>
                <a:cs typeface="+mn-ea"/>
                <a:sym typeface="Arial" panose="020B0604020202020204" pitchFamily="34" charset="0"/>
              </a:rPr>
              <a:t>相同或不同的循环结构之间都可以互相嵌套，实现更为复杂的逻辑。</a:t>
            </a:r>
            <a:endParaRPr lang="zh-CN" altLang="en-US">
              <a:latin typeface="+mn-ea"/>
              <a:ea typeface="+mn-ea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+mj-ea"/>
                <a:sym typeface="+mn-ea"/>
              </a:rPr>
              <a:t>5.1 while</a:t>
            </a:r>
            <a:r>
              <a:rPr lang="zh-CN" altLang="en-US" dirty="0">
                <a:latin typeface="+mj-lt"/>
                <a:ea typeface="+mj-ea"/>
                <a:sym typeface="+mn-ea"/>
              </a:rPr>
              <a:t>循环结构</a:t>
            </a:r>
            <a:endParaRPr lang="zh-CN" altLang="en-US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循环结构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3200" dirty="0"/>
          </a:p>
          <a:p>
            <a:r>
              <a:rPr lang="en-US" altLang="zh-CN" sz="3200" dirty="0"/>
              <a:t>while</a:t>
            </a:r>
            <a:r>
              <a:rPr lang="zh-CN" altLang="en-US" sz="3200" dirty="0"/>
              <a:t>循环结构是根据条件来判断是否需要继续重复执行语句块，故可以称为</a:t>
            </a:r>
            <a:r>
              <a:rPr lang="zh-CN" altLang="en-US" sz="3200" b="1" u="sng" dirty="0"/>
              <a:t>条件循环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pPr lvl="1"/>
            <a:r>
              <a:rPr lang="zh-CN" altLang="en-US" sz="3200" dirty="0" smtClean="0"/>
              <a:t>无论</a:t>
            </a:r>
            <a:r>
              <a:rPr lang="zh-CN" altLang="en-US" sz="3200" dirty="0"/>
              <a:t>循环的次数是否预知，都可以使用</a:t>
            </a:r>
            <a:r>
              <a:rPr lang="en-US" altLang="zh-CN" sz="3200" dirty="0"/>
              <a:t>while</a:t>
            </a:r>
            <a:r>
              <a:rPr lang="zh-CN" altLang="en-US" sz="3200" dirty="0"/>
              <a:t>语句来循环执行语句块。</a:t>
            </a:r>
            <a:endParaRPr lang="zh-CN" altLang="en-US" sz="3200" dirty="0"/>
          </a:p>
          <a:p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循环结构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while</a:t>
            </a:r>
            <a:r>
              <a:rPr lang="zh-CN" altLang="en-US" dirty="0"/>
              <a:t>语句包括两种形式：</a:t>
            </a:r>
            <a:endParaRPr lang="zh-CN" altLang="en-US" dirty="0"/>
          </a:p>
          <a:p>
            <a:pPr lvl="1"/>
            <a:r>
              <a:rPr lang="zh-CN" altLang="en-US" dirty="0" smtClean="0"/>
              <a:t>基本</a:t>
            </a:r>
            <a:r>
              <a:rPr lang="en-US" altLang="zh-CN" dirty="0"/>
              <a:t>while</a:t>
            </a:r>
            <a:r>
              <a:rPr lang="zh-CN" altLang="en-US" dirty="0"/>
              <a:t>语句；</a:t>
            </a:r>
            <a:endParaRPr lang="zh-CN" altLang="en-US" dirty="0"/>
          </a:p>
          <a:p>
            <a:pPr lvl="1"/>
            <a:r>
              <a:rPr lang="zh-CN" altLang="en-US" dirty="0" smtClean="0"/>
              <a:t>扩展</a:t>
            </a:r>
            <a:r>
              <a:rPr lang="en-US" altLang="zh-CN" dirty="0"/>
              <a:t>while</a:t>
            </a:r>
            <a:r>
              <a:rPr lang="zh-CN" altLang="en-US" dirty="0"/>
              <a:t>语句。带有</a:t>
            </a:r>
            <a:r>
              <a:rPr lang="en-US" altLang="zh-CN" dirty="0"/>
              <a:t>else</a:t>
            </a:r>
            <a:r>
              <a:rPr dirty="0"/>
              <a:t>结构。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基本</a:t>
            </a:r>
            <a:r>
              <a:rPr lang="en-US" altLang="zh-CN" dirty="0"/>
              <a:t>while</a:t>
            </a:r>
            <a:r>
              <a:rPr lang="zh-CN" altLang="zh-CN" dirty="0"/>
              <a:t>语句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865054" y="1583180"/>
            <a:ext cx="5040560" cy="1218403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 smtClean="0">
                <a:latin typeface="+mj-ea"/>
                <a:ea typeface="+mj-ea"/>
              </a:rPr>
              <a:t>while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: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</a:t>
            </a:r>
            <a:endParaRPr lang="zh-CN" altLang="en-US" sz="2800" dirty="0">
              <a:latin typeface="+mj-ea"/>
              <a:ea typeface="+mj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353241" y="5045878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557645" y="4082708"/>
            <a:ext cx="99595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条件表达式结果等价于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True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，执行语句块，并返回条件处</a:t>
            </a:r>
            <a:endParaRPr lang="en-US" altLang="zh-CN" sz="28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条件表达式结果等价于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False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，则循环结束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线形标注 2(带强调线) 7"/>
          <p:cNvSpPr/>
          <p:nvPr/>
        </p:nvSpPr>
        <p:spPr>
          <a:xfrm>
            <a:off x="7608168" y="764527"/>
            <a:ext cx="4392488" cy="792088"/>
          </a:xfrm>
          <a:prstGeom prst="accentCallout2">
            <a:avLst>
              <a:gd name="adj1" fmla="val 18751"/>
              <a:gd name="adj2" fmla="val -2620"/>
              <a:gd name="adj3" fmla="val 18750"/>
              <a:gd name="adj4" fmla="val -16667"/>
              <a:gd name="adj5" fmla="val 132487"/>
              <a:gd name="adj6" fmla="val -80537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多数为比较表达式或</a:t>
            </a:r>
            <a:r>
              <a:rPr lang="zh-CN" altLang="en-US" sz="2000" dirty="0" smtClean="0">
                <a:solidFill>
                  <a:schemeClr val="tx1"/>
                </a:solidFill>
              </a:rPr>
              <a:t>逻辑表达式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</a:rPr>
              <a:t>但</a:t>
            </a:r>
            <a:r>
              <a:rPr lang="zh-CN" altLang="en-US" sz="2000" dirty="0">
                <a:solidFill>
                  <a:schemeClr val="tx1"/>
                </a:solidFill>
              </a:rPr>
              <a:t>也可以是其他计算结果的表达式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4592448" y="1787606"/>
            <a:ext cx="288032" cy="504056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>
            <a:stCxn id="10" idx="6"/>
            <a:endCxn id="14" idx="1"/>
          </p:cNvCxnSpPr>
          <p:nvPr/>
        </p:nvCxnSpPr>
        <p:spPr>
          <a:xfrm>
            <a:off x="4880480" y="2039634"/>
            <a:ext cx="3345614" cy="689858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8226094" y="2477464"/>
            <a:ext cx="3456384" cy="5040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chemeClr val="tx1"/>
                </a:solidFill>
              </a:rPr>
              <a:t>条件表达式后必须加冒号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1921042" y="2261480"/>
            <a:ext cx="512655" cy="360040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2189389" y="2621520"/>
            <a:ext cx="0" cy="46800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865054" y="3033456"/>
            <a:ext cx="3922857" cy="79965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所有语句行都应向右缩进</a:t>
            </a:r>
            <a:r>
              <a:rPr lang="zh-CN" altLang="en-US" sz="2000" dirty="0" smtClean="0">
                <a:solidFill>
                  <a:schemeClr val="tx1"/>
                </a:solidFill>
              </a:rPr>
              <a:t>对齐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</a:rPr>
              <a:t>并</a:t>
            </a:r>
            <a:r>
              <a:rPr lang="zh-CN" altLang="en-US" sz="2000" dirty="0">
                <a:solidFill>
                  <a:schemeClr val="tx1"/>
                </a:solidFill>
              </a:rPr>
              <a:t>保持一致的缩进方式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4" grpId="0" animBg="1"/>
      <p:bldP spid="15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>
                <a:sym typeface="+mn-ea"/>
              </a:rPr>
              <a:t>基本</a:t>
            </a:r>
            <a:r>
              <a:rPr lang="en-US" altLang="zh-CN">
                <a:sym typeface="+mn-ea"/>
              </a:rPr>
              <a:t>while</a:t>
            </a:r>
            <a:r>
              <a:rPr altLang="zh-CN">
                <a:sym typeface="+mn-ea"/>
              </a:rPr>
              <a:t>语句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mtClean="0">
                <a:sym typeface="+mn-ea"/>
              </a:rPr>
              <a:t>先</a:t>
            </a:r>
            <a:r>
              <a:rPr>
                <a:sym typeface="+mn-ea"/>
              </a:rPr>
              <a:t>计算条件</a:t>
            </a:r>
            <a:r>
              <a:rPr smtClean="0">
                <a:sym typeface="+mn-ea"/>
              </a:rPr>
              <a:t>表达式，</a:t>
            </a:r>
            <a:r>
              <a:rPr>
                <a:sym typeface="+mn-ea"/>
              </a:rPr>
              <a:t>再执行循环体，</a:t>
            </a:r>
            <a:r>
              <a:rPr smtClean="0">
                <a:sym typeface="+mn-ea"/>
              </a:rPr>
              <a:t>故循环体有</a:t>
            </a:r>
            <a:r>
              <a:rPr>
                <a:sym typeface="+mn-ea"/>
              </a:rPr>
              <a:t>可能一次也不被</a:t>
            </a:r>
            <a:r>
              <a:rPr smtClean="0">
                <a:sym typeface="+mn-ea"/>
              </a:rPr>
              <a:t>执行</a:t>
            </a:r>
            <a:endParaRPr lang="zh-CN" altLang="en-US" dirty="0"/>
          </a:p>
          <a:p>
            <a:r>
              <a:rPr smtClean="0">
                <a:sym typeface="+mn-ea"/>
              </a:rPr>
              <a:t>若条件表达式永为</a:t>
            </a:r>
            <a:r>
              <a:rPr lang="en-US" altLang="zh-CN">
                <a:sym typeface="+mn-ea"/>
              </a:rPr>
              <a:t>True</a:t>
            </a:r>
            <a:r>
              <a:rPr>
                <a:sym typeface="+mn-ea"/>
              </a:rPr>
              <a:t>，则循环将无限次的执行下去（俗称死循环）</a:t>
            </a:r>
            <a:endParaRPr lang="zh-CN" altLang="en-US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80" name="灯片编号占位符 3"/>
          <p:cNvSpPr txBox="1">
            <a:spLocks noGrp="1"/>
          </p:cNvSpPr>
          <p:nvPr/>
        </p:nvSpPr>
        <p:spPr>
          <a:xfrm>
            <a:off x="8613775" y="6289040"/>
            <a:ext cx="535305" cy="49276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algn="ctr"/>
            <a:fld id="{9A0DB2DC-4C9A-4742-B13C-FB6460FD3503}" type="slidenum">
              <a:rPr lang="zh-CN" altLang="en-US" sz="1200" dirty="0">
                <a:solidFill>
                  <a:srgbClr val="B5A788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</a:fld>
            <a:endParaRPr lang="zh-CN" altLang="en-US" sz="1200" dirty="0">
              <a:solidFill>
                <a:srgbClr val="B5A788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50181" name="Object 2"/>
          <p:cNvGraphicFramePr>
            <a:graphicFrameLocks noChangeAspect="1"/>
          </p:cNvGraphicFramePr>
          <p:nvPr/>
        </p:nvGraphicFramePr>
        <p:xfrm>
          <a:off x="8613775" y="614045"/>
          <a:ext cx="3354070" cy="3913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461135" imgH="1702435" progId="">
                  <p:embed/>
                </p:oleObj>
              </mc:Choice>
              <mc:Fallback>
                <p:oleObj name="" r:id="rId1" imgW="1461135" imgH="1702435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613775" y="614045"/>
                        <a:ext cx="3354070" cy="39135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3"/>
          <p:cNvGraphicFramePr>
            <a:graphicFrameLocks noChangeAspect="1"/>
          </p:cNvGraphicFramePr>
          <p:nvPr/>
        </p:nvGraphicFramePr>
        <p:xfrm>
          <a:off x="5111750" y="740410"/>
          <a:ext cx="3246120" cy="3787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1461135" imgH="1702435" progId="">
                  <p:embed/>
                </p:oleObj>
              </mc:Choice>
              <mc:Fallback>
                <p:oleObj name="" r:id="rId3" imgW="1461135" imgH="1702435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1750" y="740410"/>
                        <a:ext cx="3246120" cy="3787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71179" y="1683510"/>
            <a:ext cx="5040560" cy="1218403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altLang="zh-CN" sz="2800" dirty="0" smtClean="0">
                <a:latin typeface="+mj-ea"/>
                <a:ea typeface="+mj-ea"/>
              </a:rPr>
              <a:t>while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: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 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556750" y="4790440"/>
            <a:ext cx="14674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800" dirty="0">
                <a:latin typeface="+mj-ea"/>
                <a:ea typeface="+mj-ea"/>
                <a:sym typeface="+mn-ea"/>
              </a:rPr>
              <a:t>if</a:t>
            </a:r>
            <a:r>
              <a:rPr lang="zh-CN" altLang="en-US" sz="2800" dirty="0">
                <a:latin typeface="+mj-ea"/>
                <a:ea typeface="+mj-ea"/>
                <a:sym typeface="+mn-ea"/>
              </a:rPr>
              <a:t>流程图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00750" y="4680585"/>
            <a:ext cx="21405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800" dirty="0">
                <a:latin typeface="+mj-ea"/>
                <a:ea typeface="+mj-ea"/>
                <a:sym typeface="+mn-ea"/>
              </a:rPr>
              <a:t>while</a:t>
            </a:r>
            <a:r>
              <a:rPr lang="zh-CN" altLang="en-US" sz="2800" dirty="0">
                <a:latin typeface="+mj-ea"/>
                <a:ea typeface="+mj-ea"/>
                <a:sym typeface="+mn-ea"/>
              </a:rPr>
              <a:t>流程图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62370" y="3002915"/>
            <a:ext cx="944880" cy="39878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latin typeface="+mj-ea"/>
                <a:ea typeface="+mj-ea"/>
                <a:sym typeface="+mn-ea"/>
              </a:rPr>
              <a:t>语句块</a:t>
            </a:r>
            <a:endParaRPr lang="zh-CN" altLang="en-US" sz="2000" dirty="0">
              <a:latin typeface="+mj-ea"/>
              <a:ea typeface="+mj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817735" y="3002915"/>
            <a:ext cx="944880" cy="39878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latin typeface="+mj-ea"/>
                <a:ea typeface="+mj-ea"/>
                <a:sym typeface="+mn-ea"/>
              </a:rPr>
              <a:t>语句块</a:t>
            </a:r>
            <a:endParaRPr lang="zh-CN" altLang="en-US" sz="2000" dirty="0">
              <a:latin typeface="+mj-ea"/>
              <a:ea typeface="+mj-ea"/>
              <a:sym typeface="+mn-ea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5-1</a:t>
            </a:r>
            <a:r>
              <a:rPr lang="en-US" altLang="zh-CN" dirty="0" smtClean="0"/>
              <a:t>】</a:t>
            </a:r>
            <a:r>
              <a:rPr lang="zh-CN" altLang="en-US" dirty="0" smtClean="0"/>
              <a:t>求累加和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编写</a:t>
            </a:r>
            <a:r>
              <a:rPr lang="zh-CN" altLang="en-US" dirty="0"/>
              <a:t>程序求</a:t>
            </a:r>
            <a:r>
              <a:rPr lang="en-US" altLang="zh-CN" dirty="0"/>
              <a:t>1+2+3+…+100</a:t>
            </a:r>
            <a:r>
              <a:rPr lang="zh-CN" altLang="en-US" dirty="0"/>
              <a:t>的值。</a:t>
            </a:r>
            <a:endParaRPr lang="zh-CN" altLang="en-US" dirty="0"/>
          </a:p>
          <a:p>
            <a:pPr marL="457200" lvl="1" indent="0">
              <a:buNone/>
            </a:pPr>
            <a:r>
              <a:rPr lang="zh-CN" altLang="en-US" dirty="0" smtClean="0"/>
              <a:t>步骤</a:t>
            </a:r>
            <a:r>
              <a:rPr lang="zh-CN" altLang="en-US" dirty="0"/>
              <a:t>：</a:t>
            </a:r>
            <a:endParaRPr lang="zh-CN" altLang="en-US" dirty="0"/>
          </a:p>
          <a:p>
            <a:pPr marL="1371600" lvl="3" indent="-1800225">
              <a:buNone/>
            </a:pPr>
            <a:r>
              <a:rPr lang="en-US" altLang="zh-CN" dirty="0"/>
              <a:t>Step1</a:t>
            </a:r>
            <a:r>
              <a:rPr lang="zh-CN" altLang="en-US" dirty="0"/>
              <a:t>：初始化变量，</a:t>
            </a:r>
            <a:r>
              <a:rPr lang="en-US" altLang="zh-CN" dirty="0" err="1"/>
              <a:t>i</a:t>
            </a:r>
            <a:r>
              <a:rPr lang="en-US" altLang="zh-CN" dirty="0"/>
              <a:t>=1</a:t>
            </a:r>
            <a:r>
              <a:rPr lang="zh-CN" altLang="en-US" dirty="0"/>
              <a:t>，</a:t>
            </a:r>
            <a:r>
              <a:rPr lang="en-US" altLang="zh-CN" dirty="0"/>
              <a:t>sum=0</a:t>
            </a:r>
            <a:r>
              <a:rPr lang="zh-CN" altLang="en-US" dirty="0"/>
              <a:t>。</a:t>
            </a:r>
            <a:r>
              <a:rPr lang="en-US" altLang="zh-CN" dirty="0" err="1"/>
              <a:t>i</a:t>
            </a:r>
            <a:r>
              <a:rPr lang="zh-CN" altLang="en-US" dirty="0"/>
              <a:t>表示被加数</a:t>
            </a:r>
            <a:r>
              <a:rPr lang="en-US" altLang="zh-CN" dirty="0"/>
              <a:t>1~100</a:t>
            </a:r>
            <a:r>
              <a:rPr lang="zh-CN" altLang="en-US" dirty="0"/>
              <a:t>，</a:t>
            </a:r>
            <a:r>
              <a:rPr lang="en-US" altLang="zh-CN" dirty="0"/>
              <a:t>sum</a:t>
            </a:r>
            <a:r>
              <a:rPr lang="zh-CN" altLang="en-US" dirty="0"/>
              <a:t>存放</a:t>
            </a:r>
            <a:r>
              <a:rPr lang="en-US" altLang="zh-CN" dirty="0"/>
              <a:t>1~100</a:t>
            </a:r>
            <a:r>
              <a:rPr lang="zh-CN" altLang="en-US" dirty="0"/>
              <a:t>的累加值。</a:t>
            </a:r>
            <a:endParaRPr lang="zh-CN" altLang="en-US" dirty="0"/>
          </a:p>
          <a:p>
            <a:pPr marL="1371600" lvl="3" indent="-1800225">
              <a:buNone/>
            </a:pPr>
            <a:r>
              <a:rPr lang="en-US" altLang="zh-CN" dirty="0"/>
              <a:t>Step2</a:t>
            </a:r>
            <a:r>
              <a:rPr lang="zh-CN" altLang="en-US" dirty="0"/>
              <a:t>：判断</a:t>
            </a:r>
            <a:r>
              <a:rPr lang="en-US" altLang="zh-CN" dirty="0" err="1"/>
              <a:t>i</a:t>
            </a:r>
            <a:r>
              <a:rPr lang="en-US" altLang="zh-CN" dirty="0"/>
              <a:t>&lt;=100</a:t>
            </a:r>
            <a:r>
              <a:rPr lang="zh-CN" altLang="en-US" dirty="0"/>
              <a:t>的值是否为真，若为真，将</a:t>
            </a:r>
            <a:r>
              <a:rPr lang="en-US" altLang="zh-CN" dirty="0" err="1"/>
              <a:t>i</a:t>
            </a:r>
            <a:r>
              <a:rPr lang="zh-CN" altLang="en-US" dirty="0"/>
              <a:t>累加到</a:t>
            </a:r>
            <a:r>
              <a:rPr lang="en-US" altLang="zh-CN" dirty="0"/>
              <a:t>sum</a:t>
            </a:r>
            <a:r>
              <a:rPr lang="zh-CN" altLang="en-US" dirty="0"/>
              <a:t>，然后</a:t>
            </a:r>
            <a:r>
              <a:rPr lang="en-US" altLang="zh-CN" dirty="0" err="1"/>
              <a:t>i</a:t>
            </a:r>
            <a:r>
              <a:rPr lang="zh-CN" altLang="en-US" dirty="0"/>
              <a:t>加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zh-CN" altLang="en-US" dirty="0"/>
          </a:p>
          <a:p>
            <a:pPr marL="1371600" lvl="3" indent="-1800225">
              <a:buNone/>
            </a:pPr>
            <a:r>
              <a:rPr lang="en-US" altLang="zh-CN" dirty="0"/>
              <a:t>Step3</a:t>
            </a:r>
            <a:r>
              <a:rPr lang="zh-CN" altLang="en-US" dirty="0"/>
              <a:t>：重复</a:t>
            </a:r>
            <a:r>
              <a:rPr lang="en-US" altLang="zh-CN" dirty="0"/>
              <a:t>Step2</a:t>
            </a:r>
            <a:r>
              <a:rPr lang="zh-CN" altLang="en-US" dirty="0"/>
              <a:t>直到</a:t>
            </a:r>
            <a:r>
              <a:rPr lang="en-US" altLang="zh-CN" dirty="0" err="1"/>
              <a:t>i</a:t>
            </a:r>
            <a:r>
              <a:rPr lang="en-US" altLang="zh-CN" dirty="0"/>
              <a:t>&lt;=100</a:t>
            </a:r>
            <a:r>
              <a:rPr lang="zh-CN" altLang="en-US" dirty="0"/>
              <a:t>为假，退出循环。</a:t>
            </a:r>
            <a:endParaRPr lang="zh-CN" altLang="en-US" dirty="0"/>
          </a:p>
          <a:p>
            <a:pPr marL="1371600" lvl="3" indent="-1800225">
              <a:buNone/>
            </a:pPr>
            <a:r>
              <a:rPr lang="en-US" altLang="zh-CN" dirty="0"/>
              <a:t>Step4</a:t>
            </a:r>
            <a:r>
              <a:rPr lang="zh-CN" altLang="en-US" dirty="0"/>
              <a:t>：输出累加值</a:t>
            </a:r>
            <a:r>
              <a:rPr lang="en-US" altLang="zh-CN" dirty="0"/>
              <a:t>sum</a:t>
            </a:r>
            <a:r>
              <a:rPr lang="zh-CN" altLang="en-US" dirty="0"/>
              <a:t>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5-1】</a:t>
            </a:r>
            <a:r>
              <a:rPr lang="zh-CN" altLang="en-US" dirty="0"/>
              <a:t>求累加和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84630"/>
            <a:ext cx="5469890" cy="424878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nn-NO" altLang="zh-CN" dirty="0"/>
              <a:t>#1.	i = 1</a:t>
            </a:r>
            <a:endParaRPr lang="nn-NO" altLang="zh-CN" dirty="0"/>
          </a:p>
          <a:p>
            <a:pPr marL="0" indent="0">
              <a:buNone/>
            </a:pPr>
            <a:r>
              <a:rPr lang="nn-NO" altLang="zh-CN" dirty="0"/>
              <a:t>#2.	sum = 0</a:t>
            </a:r>
            <a:endParaRPr lang="nn-NO" altLang="zh-CN" dirty="0"/>
          </a:p>
          <a:p>
            <a:pPr marL="0" indent="0">
              <a:buNone/>
            </a:pPr>
            <a:r>
              <a:rPr lang="nn-NO" altLang="zh-CN" dirty="0"/>
              <a:t>#3.	while i &lt;= 100:</a:t>
            </a:r>
            <a:endParaRPr lang="nn-NO" altLang="zh-CN" dirty="0"/>
          </a:p>
          <a:p>
            <a:pPr marL="0" indent="0">
              <a:buNone/>
            </a:pPr>
            <a:r>
              <a:rPr lang="nn-NO" altLang="zh-CN" dirty="0"/>
              <a:t>#4.	    sum += i</a:t>
            </a:r>
            <a:endParaRPr lang="nn-NO" altLang="zh-CN" dirty="0"/>
          </a:p>
          <a:p>
            <a:pPr marL="0" indent="0">
              <a:buNone/>
            </a:pPr>
            <a:r>
              <a:rPr lang="nn-NO" altLang="zh-CN" dirty="0"/>
              <a:t>#5.	    i = i + 1</a:t>
            </a:r>
            <a:endParaRPr lang="nn-NO" altLang="zh-CN" dirty="0"/>
          </a:p>
          <a:p>
            <a:pPr marL="0" indent="0">
              <a:buNone/>
            </a:pPr>
            <a:r>
              <a:rPr lang="nn-NO" altLang="zh-CN" dirty="0"/>
              <a:t>#6.	print(sum</a:t>
            </a:r>
            <a:r>
              <a:rPr lang="nn-NO" altLang="zh-CN" dirty="0" smtClean="0"/>
              <a:t>)</a:t>
            </a:r>
            <a:endParaRPr lang="nn-NO" altLang="zh-CN" dirty="0"/>
          </a:p>
        </p:txBody>
      </p:sp>
      <p:graphicFrame>
        <p:nvGraphicFramePr>
          <p:cNvPr id="53252" name="Object 3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142957" y="1671638"/>
          <a:ext cx="3676650" cy="3874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" imgW="1243965" imgH="1450340" progId="">
                  <p:embed/>
                </p:oleObj>
              </mc:Choice>
              <mc:Fallback>
                <p:oleObj name="" r:id="rId2" imgW="1243965" imgH="1450340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42957" y="1671638"/>
                        <a:ext cx="3676650" cy="38741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573135" y="4222750"/>
            <a:ext cx="106299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l"/>
            <a:r>
              <a:rPr lang="en-US" altLang="zh-CN" b="1"/>
              <a:t>i=i+1</a:t>
            </a:r>
            <a:endParaRPr lang="en-US" altLang="zh-CN" b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循环变量的变化</a:t>
            </a:r>
          </a:p>
        </p:txBody>
      </p:sp>
      <p:graphicFrame>
        <p:nvGraphicFramePr>
          <p:cNvPr id="56324" name="Group 4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69925" y="1160145"/>
          <a:ext cx="10852150" cy="4581525"/>
        </p:xfrm>
        <a:graphic>
          <a:graphicData uri="http://schemas.openxmlformats.org/drawingml/2006/table">
            <a:tbl>
              <a:tblPr/>
              <a:tblGrid>
                <a:gridCol w="2713355"/>
                <a:gridCol w="2086610"/>
                <a:gridCol w="3339465"/>
                <a:gridCol w="2712720"/>
              </a:tblGrid>
              <a:tr h="518227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循环次数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i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初始值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sum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i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的新值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</a:tr>
              <a:tr h="520773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</a:tr>
              <a:tr h="520773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3=1+2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</a:tr>
              <a:tr h="519186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6=1+2+3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</a:tr>
              <a:tr h="519186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…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…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…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…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</a:tr>
              <a:tr h="519186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99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99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sum(98)+99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100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</a:tr>
              <a:tr h="519186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100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100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sum(99)+100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101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</a:tr>
              <a:tr h="945007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101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101&gt;100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不满足条件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不满足条件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69925" y="5984240"/>
            <a:ext cx="87172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3200" b="1">
                <a:latin typeface="+mn-ea"/>
                <a:ea typeface="+mn-ea"/>
                <a:sym typeface="+mn-ea"/>
              </a:rPr>
              <a:t>上一轮循环，变量的新值，是下一轮循环的初值</a:t>
            </a:r>
            <a:endParaRPr lang="zh-CN" altLang="en-US" sz="3200" b="1">
              <a:latin typeface="+mn-ea"/>
              <a:ea typeface="+mn-ea"/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 smtClean="0"/>
              <a:t>5-2】</a:t>
            </a:r>
            <a:r>
              <a:rPr lang="zh-CN" altLang="en-US" dirty="0" smtClean="0"/>
              <a:t>求阶乘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编写程序，求令</a:t>
            </a:r>
            <a:r>
              <a:rPr lang="en-US" altLang="zh-CN" dirty="0"/>
              <a:t>1*2*3*…n&gt;=100000</a:t>
            </a:r>
            <a:r>
              <a:rPr lang="zh-CN" altLang="en-US" dirty="0"/>
              <a:t>成立的最小</a:t>
            </a:r>
            <a:r>
              <a:rPr lang="en-US" altLang="zh-CN" dirty="0"/>
              <a:t>n</a:t>
            </a:r>
            <a:r>
              <a:rPr lang="zh-CN" altLang="en-US" dirty="0"/>
              <a:t>值。</a:t>
            </a:r>
            <a:endParaRPr lang="zh-CN" altLang="en-US" dirty="0"/>
          </a:p>
          <a:p>
            <a:pPr marL="1371600" lvl="3" indent="-1800225">
              <a:buNone/>
            </a:pPr>
            <a:r>
              <a:rPr lang="en-US" altLang="zh-CN" dirty="0" smtClean="0"/>
              <a:t>Step1</a:t>
            </a:r>
            <a:r>
              <a:rPr lang="zh-CN" altLang="en-US" dirty="0"/>
              <a:t>：定义整型变量</a:t>
            </a:r>
            <a:r>
              <a:rPr lang="en-US" altLang="zh-CN" dirty="0" err="1"/>
              <a:t>i</a:t>
            </a:r>
            <a:r>
              <a:rPr lang="zh-CN" altLang="en-US" dirty="0"/>
              <a:t>，用于存放乘数，定义变量</a:t>
            </a:r>
            <a:r>
              <a:rPr lang="en-US" altLang="zh-CN" dirty="0"/>
              <a:t>r</a:t>
            </a:r>
            <a:r>
              <a:rPr lang="zh-CN" altLang="en-US" dirty="0"/>
              <a:t>存放乘积。</a:t>
            </a:r>
            <a:endParaRPr lang="zh-CN" altLang="en-US" dirty="0"/>
          </a:p>
          <a:p>
            <a:pPr marL="1371600" lvl="3" indent="-1800225">
              <a:buNone/>
            </a:pPr>
            <a:r>
              <a:rPr lang="en-US" altLang="zh-CN" dirty="0"/>
              <a:t>Step2</a:t>
            </a:r>
            <a:r>
              <a:rPr lang="zh-CN" altLang="en-US" dirty="0"/>
              <a:t>：初始化变量，</a:t>
            </a:r>
            <a:r>
              <a:rPr lang="en-US" altLang="zh-CN" dirty="0" err="1"/>
              <a:t>i</a:t>
            </a:r>
            <a:r>
              <a:rPr lang="en-US" altLang="zh-CN" dirty="0"/>
              <a:t>=1</a:t>
            </a:r>
            <a:r>
              <a:rPr lang="zh-CN" altLang="en-US" dirty="0"/>
              <a:t>，</a:t>
            </a:r>
            <a:r>
              <a:rPr lang="en-US" altLang="zh-CN" dirty="0"/>
              <a:t>r=1</a:t>
            </a:r>
            <a:r>
              <a:rPr lang="zh-CN" altLang="en-US" dirty="0"/>
              <a:t>。</a:t>
            </a:r>
            <a:endParaRPr lang="zh-CN" altLang="en-US" dirty="0"/>
          </a:p>
          <a:p>
            <a:pPr marL="1371600" lvl="3" indent="-1800225">
              <a:buNone/>
            </a:pPr>
            <a:r>
              <a:rPr lang="en-US" altLang="zh-CN" dirty="0"/>
              <a:t>Step3</a:t>
            </a:r>
            <a:r>
              <a:rPr lang="zh-CN" altLang="en-US" dirty="0"/>
              <a:t>：判断</a:t>
            </a:r>
            <a:r>
              <a:rPr lang="en-US" altLang="zh-CN" dirty="0"/>
              <a:t>r&lt;100000</a:t>
            </a:r>
            <a:r>
              <a:rPr lang="zh-CN" altLang="en-US" dirty="0"/>
              <a:t>的值是否为真，若为真，转</a:t>
            </a:r>
            <a:r>
              <a:rPr lang="en-US" altLang="zh-CN" dirty="0"/>
              <a:t>Step4</a:t>
            </a:r>
            <a:r>
              <a:rPr lang="zh-CN" altLang="en-US" dirty="0"/>
              <a:t>，若为假，转</a:t>
            </a:r>
            <a:r>
              <a:rPr lang="en-US" altLang="zh-CN" dirty="0"/>
              <a:t>Step6</a:t>
            </a:r>
            <a:r>
              <a:rPr lang="zh-CN" altLang="en-US" dirty="0"/>
              <a:t>。</a:t>
            </a:r>
            <a:endParaRPr lang="zh-CN" altLang="en-US" dirty="0"/>
          </a:p>
          <a:p>
            <a:pPr marL="1371600" lvl="3" indent="-1800225">
              <a:buNone/>
            </a:pPr>
            <a:r>
              <a:rPr lang="en-US" altLang="zh-CN" dirty="0"/>
              <a:t>Step4</a:t>
            </a:r>
            <a:r>
              <a:rPr lang="zh-CN" altLang="en-US" dirty="0"/>
              <a:t>：将</a:t>
            </a:r>
            <a:r>
              <a:rPr lang="en-US" altLang="zh-CN" dirty="0" err="1"/>
              <a:t>i</a:t>
            </a:r>
            <a:r>
              <a:rPr lang="zh-CN" altLang="en-US" dirty="0"/>
              <a:t>加</a:t>
            </a:r>
            <a:r>
              <a:rPr lang="en-US" altLang="zh-CN" dirty="0"/>
              <a:t>1</a:t>
            </a:r>
            <a:r>
              <a:rPr lang="zh-CN" altLang="en-US" dirty="0"/>
              <a:t>，然后</a:t>
            </a:r>
            <a:r>
              <a:rPr lang="en-US" altLang="zh-CN" dirty="0"/>
              <a:t>r=r*</a:t>
            </a:r>
            <a:r>
              <a:rPr lang="en-US" altLang="zh-CN" dirty="0" err="1"/>
              <a:t>i</a:t>
            </a:r>
            <a:r>
              <a:rPr lang="zh-CN" altLang="en-US" dirty="0"/>
              <a:t>。</a:t>
            </a:r>
            <a:endParaRPr lang="zh-CN" altLang="en-US" dirty="0"/>
          </a:p>
          <a:p>
            <a:pPr marL="1371600" lvl="3" indent="-1800225">
              <a:buNone/>
            </a:pPr>
            <a:r>
              <a:rPr lang="en-US" altLang="zh-CN" dirty="0"/>
              <a:t>Step5</a:t>
            </a:r>
            <a:r>
              <a:rPr lang="zh-CN" altLang="en-US" dirty="0"/>
              <a:t>：转</a:t>
            </a:r>
            <a:r>
              <a:rPr lang="en-US" altLang="zh-CN" dirty="0"/>
              <a:t>Step3</a:t>
            </a:r>
            <a:r>
              <a:rPr lang="zh-CN" altLang="en-US" dirty="0"/>
              <a:t>。</a:t>
            </a:r>
            <a:endParaRPr lang="zh-CN" altLang="en-US" dirty="0"/>
          </a:p>
          <a:p>
            <a:pPr marL="1371600" lvl="3" indent="-1800225">
              <a:buNone/>
            </a:pPr>
            <a:r>
              <a:rPr lang="en-US" altLang="zh-CN" dirty="0"/>
              <a:t>Step6</a:t>
            </a:r>
            <a:r>
              <a:rPr lang="zh-CN" altLang="en-US" dirty="0"/>
              <a:t>：循环结束，输出最后的乘数</a:t>
            </a:r>
            <a:r>
              <a:rPr lang="en-US" altLang="zh-CN" dirty="0" err="1"/>
              <a:t>i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5-2】</a:t>
            </a:r>
            <a:r>
              <a:rPr lang="zh-CN" altLang="en-US" dirty="0"/>
              <a:t>求阶乘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556792"/>
            <a:ext cx="10852150" cy="4176464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zh-CN" dirty="0"/>
              <a:t>#1.	i = 1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#2.	r = 1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#3.	while r &lt;= 100000: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#4.	    r *= i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#5.	    i = i + 1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#6.	print(i</a:t>
            </a:r>
            <a:r>
              <a:rPr lang="pt-BR" altLang="zh-CN" dirty="0" smtClean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循环中，变量的变化</a:t>
            </a:r>
            <a:br>
              <a:rPr lang="zh-CN" altLang="en-US"/>
            </a:br>
            <a:endParaRPr lang="zh-CN" altLang="en-US"/>
          </a:p>
        </p:txBody>
      </p:sp>
      <p:graphicFrame>
        <p:nvGraphicFramePr>
          <p:cNvPr id="58372" name="Group 4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69925" y="1621790"/>
          <a:ext cx="10852150" cy="4581006"/>
        </p:xfrm>
        <a:graphic>
          <a:graphicData uri="http://schemas.openxmlformats.org/drawingml/2006/table">
            <a:tbl>
              <a:tblPr/>
              <a:tblGrid>
                <a:gridCol w="1989455"/>
                <a:gridCol w="1718310"/>
                <a:gridCol w="4515485"/>
                <a:gridCol w="2628900"/>
              </a:tblGrid>
              <a:tr h="944880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循环次数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i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初始值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r=r*i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i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新值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</a:tr>
              <a:tr h="519186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1=1*1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</a:tr>
              <a:tr h="518795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2=1*2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</a:tr>
              <a:tr h="519186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6=2*3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</a:tr>
              <a:tr h="518227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…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lang="en-US" altLang="zh-CN" sz="2800" b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sym typeface="+mn-ea"/>
                        </a:rPr>
                        <a:t>…</a:t>
                      </a: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lang="en-US" altLang="zh-CN" sz="2800" b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sym typeface="+mn-ea"/>
                        </a:rPr>
                        <a:t>…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lang="en-US" altLang="zh-CN" sz="2800" b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sym typeface="+mn-ea"/>
                        </a:rPr>
                        <a:t>…</a:t>
                      </a: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</a:tr>
              <a:tr h="520773"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40320=1*2*…*8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9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</a:tr>
              <a:tr h="520773">
                <a:tc>
                  <a:txBody>
                    <a:bodyPr/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9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9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362880=1*2*…*9&gt;100000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  <a:tc>
                  <a:txBody>
                    <a:bodyPr/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8E8"/>
                    </a:solidFill>
                  </a:tcPr>
                </a:tc>
              </a:tr>
              <a:tr h="519186">
                <a:tc gridSpan="4">
                  <a:txBody>
                    <a:bodyPr/>
                    <a:lstStyle>
                      <a:lvl1pPr indent="82550"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Verdana" panose="020B060403050404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Verdana" panose="020B060403050404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825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结束循环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2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CDC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75895"/>
            <a:ext cx="10852150" cy="6165215"/>
          </a:xfrm>
        </p:spPr>
        <p:txBody>
          <a:bodyPr>
            <a:normAutofit fontScale="90000"/>
          </a:bodyPr>
          <a:p>
            <a:r>
              <a:rPr>
                <a:sym typeface="+mn-ea"/>
              </a:rPr>
              <a:t>编写程序，求令</a:t>
            </a:r>
            <a:r>
              <a:rPr lang="en-US" altLang="zh-CN">
                <a:sym typeface="+mn-ea"/>
              </a:rPr>
              <a:t>1*2*3*…n&gt;=100000</a:t>
            </a:r>
            <a:r>
              <a:rPr>
                <a:sym typeface="+mn-ea"/>
              </a:rPr>
              <a:t>成立的最小</a:t>
            </a:r>
            <a:r>
              <a:rPr lang="en-US" altLang="zh-CN">
                <a:sym typeface="+mn-ea"/>
              </a:rPr>
              <a:t>n</a:t>
            </a:r>
            <a:r>
              <a:rPr>
                <a:sym typeface="+mn-ea"/>
              </a:rPr>
              <a:t>值。</a:t>
            </a:r>
            <a:endParaRPr>
              <a:sym typeface="+mn-ea"/>
            </a:endParaRPr>
          </a:p>
          <a:p>
            <a:r>
              <a:rPr lang="en-US" altLang="zh-CN" b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362880=1*2*…*9&gt;100000      </a:t>
            </a:r>
            <a:endParaRPr lang="en-US" altLang="zh-CN" b="1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华文中宋" panose="02010600040101010101" pitchFamily="2" charset="-122"/>
              <a:sym typeface="+mn-ea"/>
            </a:endParaRPr>
          </a:p>
          <a:p>
            <a:r>
              <a:rPr>
                <a:sym typeface="+mn-ea"/>
              </a:rPr>
              <a:t>原来的输出是</a:t>
            </a:r>
            <a:r>
              <a:rPr lang="en-US" altLang="zh-CN">
                <a:sym typeface="+mn-ea"/>
              </a:rPr>
              <a:t>i=10</a:t>
            </a:r>
            <a:r>
              <a:rPr>
                <a:sym typeface="+mn-ea"/>
              </a:rPr>
              <a:t>，所以最后输出应改写为</a:t>
            </a:r>
            <a:endParaRPr lang="zh-CN" altLang="en-US" dirty="0"/>
          </a:p>
          <a:p>
            <a:pPr marL="0" indent="0">
              <a:buNone/>
            </a:pPr>
            <a:r>
              <a:rPr lang="pt-BR" altLang="zh-CN">
                <a:sym typeface="+mn-ea"/>
              </a:rPr>
              <a:t>#1.	i = 1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>
                <a:sym typeface="+mn-ea"/>
              </a:rPr>
              <a:t>#2.	r = 1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>
                <a:sym typeface="+mn-ea"/>
              </a:rPr>
              <a:t>#3.	while r &lt;= 100000: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>
                <a:sym typeface="+mn-ea"/>
              </a:rPr>
              <a:t>#4.	    r *= i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>
                <a:sym typeface="+mn-ea"/>
              </a:rPr>
              <a:t>#5.	    i = i + 1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sz="3600" b="1">
                <a:solidFill>
                  <a:srgbClr val="FF0000"/>
                </a:solidFill>
                <a:sym typeface="+mn-ea"/>
              </a:rPr>
              <a:t>#6.	print(i</a:t>
            </a:r>
            <a:r>
              <a:rPr lang="en-US" altLang="pt-BR" sz="3600" b="1">
                <a:solidFill>
                  <a:srgbClr val="FF0000"/>
                </a:solidFill>
                <a:sym typeface="+mn-ea"/>
              </a:rPr>
              <a:t>-1</a:t>
            </a:r>
            <a:r>
              <a:rPr lang="pt-BR" altLang="zh-CN" sz="3600" b="1" smtClean="0">
                <a:solidFill>
                  <a:srgbClr val="FF0000"/>
                </a:solidFill>
                <a:sym typeface="+mn-ea"/>
              </a:rPr>
              <a:t>)</a:t>
            </a:r>
            <a:endParaRPr lang="zh-CN" altLang="en-US" sz="3600" b="1" dirty="0">
              <a:solidFill>
                <a:srgbClr val="FF0000"/>
              </a:solidFill>
            </a:endParaRPr>
          </a:p>
          <a:p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已知累加值，</a:t>
            </a:r>
            <a:r>
              <a:rPr lang="zh-CN" altLang="en-US"/>
              <a:t>求和、求差、求积、求商等等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循环体内，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先</a:t>
            </a:r>
            <a:r>
              <a:rPr>
                <a:sym typeface="+mn-ea"/>
              </a:rPr>
              <a:t>进行本轮循环求值</a:t>
            </a:r>
            <a:endParaRPr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在为下一轮循环做准备。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987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475" y="2826385"/>
            <a:ext cx="8064500" cy="21043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875" name="内容占位符 2"/>
          <p:cNvSpPr>
            <a:spLocks noGrp="1"/>
          </p:cNvSpPr>
          <p:nvPr>
            <p:ph idx="4294967295"/>
          </p:nvPr>
        </p:nvSpPr>
        <p:spPr>
          <a:xfrm>
            <a:off x="0" y="0"/>
            <a:ext cx="12192000" cy="3054985"/>
          </a:xfrm>
        </p:spPr>
        <p:txBody>
          <a:bodyPr vert="horz" wrap="square" lIns="91440" tIns="45720" rIns="91440" bIns="45720" anchor="t">
            <a:normAutofit/>
          </a:bodyPr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编写程序，按照以下公式，求</a:t>
            </a:r>
            <a:r>
              <a:rPr lang="el-GR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π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的近似值，直到最后一项的值小于</a:t>
            </a:r>
            <a:r>
              <a:rPr lang="en-US" altLang="zh-CN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10</a:t>
            </a:r>
            <a:r>
              <a:rPr lang="en-US" altLang="zh-CN" sz="3600" b="1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-6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为止。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3600" b="1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3600" b="1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CA" altLang="en-US" sz="2800" b="1" dirty="0"/>
          </a:p>
        </p:txBody>
      </p:sp>
      <p:sp>
        <p:nvSpPr>
          <p:cNvPr id="79876" name="灯片编号占位符 3"/>
          <p:cNvSpPr txBox="1">
            <a:spLocks noGrp="1"/>
          </p:cNvSpPr>
          <p:nvPr/>
        </p:nvSpPr>
        <p:spPr>
          <a:xfrm>
            <a:off x="10137775" y="6305550"/>
            <a:ext cx="457200" cy="4762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algn="ctr"/>
            <a:fld id="{9A0DB2DC-4C9A-4742-B13C-FB6460FD3503}" type="slidenum">
              <a:rPr lang="zh-CN" altLang="en-US" sz="1200" dirty="0">
                <a:solidFill>
                  <a:srgbClr val="B5A788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</a:fld>
            <a:endParaRPr lang="zh-CN" altLang="en-US" sz="1200" dirty="0">
              <a:solidFill>
                <a:srgbClr val="B5A788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5780" y="332105"/>
            <a:ext cx="9435465" cy="6185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3600" dirty="0">
                <a:sym typeface="+mn-ea"/>
              </a:rPr>
              <a:t>import math</a:t>
            </a:r>
            <a:endParaRPr lang="en-US" altLang="zh-CN" sz="3600" dirty="0">
              <a:sym typeface="+mn-ea"/>
            </a:endParaRPr>
          </a:p>
          <a:p>
            <a:pPr algn="l"/>
            <a:endParaRPr lang="en-US" altLang="zh-CN" sz="3600" dirty="0">
              <a:sym typeface="+mn-ea"/>
            </a:endParaRPr>
          </a:p>
          <a:p>
            <a:pPr algn="l"/>
            <a:r>
              <a:rPr lang="en-US" altLang="zh-CN" sz="3600" dirty="0">
                <a:sym typeface="+mn-ea"/>
              </a:rPr>
              <a:t>i=1;  d=1 ; </a:t>
            </a:r>
            <a:r>
              <a:rPr lang="en-US" altLang="zh-CN" sz="3600" dirty="0">
                <a:sym typeface="+mn-ea"/>
              </a:rPr>
              <a:t>sum=0; pi=0 </a:t>
            </a:r>
            <a:endParaRPr lang="en-US" altLang="zh-CN" sz="3600" dirty="0">
              <a:sym typeface="+mn-ea"/>
            </a:endParaRPr>
          </a:p>
          <a:p>
            <a:pPr algn="l"/>
            <a:endParaRPr lang="en-US" altLang="zh-CN" sz="3600" dirty="0">
              <a:sym typeface="+mn-ea"/>
            </a:endParaRPr>
          </a:p>
          <a:p>
            <a:pPr algn="l"/>
            <a:r>
              <a:rPr lang="en-US" altLang="zh-CN" sz="3600" dirty="0">
                <a:sym typeface="+mn-ea"/>
              </a:rPr>
              <a:t>while   i*i&lt;=1e+6  :</a:t>
            </a:r>
            <a:endParaRPr lang="en-US" altLang="zh-CN" sz="3600" dirty="0">
              <a:sym typeface="+mn-ea"/>
            </a:endParaRPr>
          </a:p>
          <a:p>
            <a:pPr algn="l"/>
            <a:r>
              <a:rPr lang="en-US" altLang="zh-CN" sz="3600" dirty="0">
                <a:sym typeface="+mn-ea"/>
              </a:rPr>
              <a:t>    sum=sum+d</a:t>
            </a:r>
            <a:endParaRPr lang="en-US" altLang="zh-CN" sz="3600" dirty="0">
              <a:sym typeface="+mn-ea"/>
            </a:endParaRPr>
          </a:p>
          <a:p>
            <a:pPr algn="l"/>
            <a:r>
              <a:rPr lang="en-US" altLang="zh-CN" sz="3600" dirty="0">
                <a:sym typeface="+mn-ea"/>
              </a:rPr>
              <a:t>    i=i+1</a:t>
            </a:r>
            <a:endParaRPr lang="en-US" altLang="zh-CN" sz="3600" dirty="0">
              <a:sym typeface="+mn-ea"/>
            </a:endParaRPr>
          </a:p>
          <a:p>
            <a:pPr algn="l"/>
            <a:r>
              <a:rPr lang="en-US" altLang="zh-CN" sz="3600" dirty="0">
                <a:sym typeface="+mn-ea"/>
              </a:rPr>
              <a:t>    d=1/(i*i)</a:t>
            </a:r>
            <a:endParaRPr lang="en-US" altLang="zh-CN" sz="3600" dirty="0">
              <a:sym typeface="+mn-ea"/>
            </a:endParaRPr>
          </a:p>
          <a:p>
            <a:pPr algn="l"/>
            <a:endParaRPr lang="en-US" altLang="zh-CN" sz="3600" dirty="0">
              <a:sym typeface="+mn-ea"/>
            </a:endParaRPr>
          </a:p>
          <a:p>
            <a:pPr algn="l"/>
            <a:r>
              <a:rPr lang="en-US" altLang="zh-CN" sz="3600" dirty="0">
                <a:sym typeface="+mn-ea"/>
              </a:rPr>
              <a:t>pi=math.sqrt(6.0*sum)</a:t>
            </a:r>
            <a:endParaRPr lang="en-US" altLang="zh-CN" sz="3600" dirty="0">
              <a:sym typeface="+mn-ea"/>
            </a:endParaRPr>
          </a:p>
          <a:p>
            <a:pPr algn="l"/>
            <a:r>
              <a:rPr lang="en-US" altLang="zh-CN" sz="3600" dirty="0">
                <a:sym typeface="+mn-ea"/>
              </a:rPr>
              <a:t>print("pi=",pi) </a:t>
            </a:r>
            <a:endParaRPr lang="en-US" altLang="zh-CN" sz="3600" dirty="0">
              <a:sym typeface="+mn-ea"/>
            </a:endParaRPr>
          </a:p>
        </p:txBody>
      </p:sp>
      <p:pic>
        <p:nvPicPr>
          <p:cNvPr id="7987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9565" y="511175"/>
            <a:ext cx="4689475" cy="12236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565" y="4654550"/>
            <a:ext cx="4613910" cy="98806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1760" y="1083945"/>
            <a:ext cx="10868660" cy="15855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练习：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pPr marL="0" indent="0" algn="l" eaLnBrk="1" hangingPunct="1">
              <a:lnSpc>
                <a:spcPct val="90000"/>
              </a:lnSpc>
              <a:buNone/>
            </a:pPr>
            <a:endParaRPr lang="en-US" altLang="zh-CN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l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用循环结构实现，计算1-3+5-7+……-99+101的值。</a:t>
            </a:r>
            <a:endParaRPr lang="en-US" altLang="zh-CN" sz="3600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内容占位符 2"/>
          <p:cNvSpPr>
            <a:spLocks noGrp="1"/>
          </p:cNvSpPr>
          <p:nvPr>
            <p:ph idx="4294967295"/>
          </p:nvPr>
        </p:nvSpPr>
        <p:spPr>
          <a:xfrm>
            <a:off x="157480" y="0"/>
            <a:ext cx="11960860" cy="5631815"/>
          </a:xfrm>
        </p:spPr>
        <p:txBody>
          <a:bodyPr vert="horz" wrap="square" lIns="91440" tIns="45720" rIns="91440" bIns="45720" anchor="t"/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练习：</a:t>
            </a:r>
            <a:endParaRPr lang="en-US" altLang="zh-CN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用循环结构实现，输入</a:t>
            </a:r>
            <a:r>
              <a:rPr lang="en-US" altLang="zh-CN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x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值，按照公式计算</a:t>
            </a:r>
            <a:r>
              <a:rPr lang="en-US" altLang="zh-CN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cos(x)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的值，直到最后一项小于</a:t>
            </a:r>
            <a:r>
              <a:rPr lang="en-US" altLang="zh-CN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1.0e-6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zh-CN" altLang="en-US" sz="3600" dirty="0"/>
          </a:p>
        </p:txBody>
      </p:sp>
      <p:sp>
        <p:nvSpPr>
          <p:cNvPr id="80899" name="灯片编号占位符 3"/>
          <p:cNvSpPr txBox="1">
            <a:spLocks noGrp="1"/>
          </p:cNvSpPr>
          <p:nvPr/>
        </p:nvSpPr>
        <p:spPr>
          <a:xfrm>
            <a:off x="10137775" y="6305550"/>
            <a:ext cx="457200" cy="4762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algn="ctr"/>
            <a:fld id="{9A0DB2DC-4C9A-4742-B13C-FB6460FD3503}" type="slidenum">
              <a:rPr lang="zh-CN" altLang="en-US" sz="1200" dirty="0">
                <a:solidFill>
                  <a:srgbClr val="B5A788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</a:fld>
            <a:endParaRPr lang="zh-CN" altLang="en-US" sz="1200" dirty="0">
              <a:solidFill>
                <a:srgbClr val="B5A788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80900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400" y="2872740"/>
            <a:ext cx="8396605" cy="21374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内容占位符 2"/>
          <p:cNvSpPr>
            <a:spLocks noGrp="1"/>
          </p:cNvSpPr>
          <p:nvPr>
            <p:ph idx="4294967295"/>
          </p:nvPr>
        </p:nvSpPr>
        <p:spPr>
          <a:xfrm>
            <a:off x="96520" y="0"/>
            <a:ext cx="10571480" cy="6858000"/>
          </a:xfrm>
        </p:spPr>
        <p:txBody>
          <a:bodyPr vert="horz" wrap="square" lIns="91440" tIns="45720" rIns="91440" bIns="45720" anchor="t"/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练习：</a:t>
            </a:r>
            <a:endParaRPr lang="en-US" altLang="zh-CN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编写程序，求级数的值。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当第</a:t>
            </a:r>
            <a:r>
              <a:rPr lang="en-CA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项小于等于</a:t>
            </a:r>
            <a:r>
              <a:rPr lang="en-CA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1.0e-6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，停止累加。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zh-CN" altLang="en-US" sz="3600" dirty="0"/>
          </a:p>
        </p:txBody>
      </p:sp>
      <p:sp>
        <p:nvSpPr>
          <p:cNvPr id="81923" name="灯片编号占位符 3"/>
          <p:cNvSpPr txBox="1">
            <a:spLocks noGrp="1"/>
          </p:cNvSpPr>
          <p:nvPr/>
        </p:nvSpPr>
        <p:spPr>
          <a:xfrm>
            <a:off x="10137775" y="6305550"/>
            <a:ext cx="457200" cy="4762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algn="ctr"/>
            <a:fld id="{9A0DB2DC-4C9A-4742-B13C-FB6460FD3503}" type="slidenum">
              <a:rPr lang="zh-CN" altLang="en-US" sz="1200" dirty="0">
                <a:solidFill>
                  <a:srgbClr val="B5A788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</a:fld>
            <a:endParaRPr lang="zh-CN" altLang="en-US" sz="1200" dirty="0">
              <a:solidFill>
                <a:srgbClr val="B5A788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81924" name="Rectangle 2"/>
          <p:cNvSpPr/>
          <p:nvPr/>
        </p:nvSpPr>
        <p:spPr>
          <a:xfrm>
            <a:off x="1524000" y="444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25" name="Rectangle 3"/>
          <p:cNvSpPr/>
          <p:nvPr/>
        </p:nvSpPr>
        <p:spPr>
          <a:xfrm>
            <a:off x="1524000" y="71120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eaLnBrk="0" hangingPunct="0"/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81926" name="Rectangle 2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81927" name="Object 1"/>
          <p:cNvGraphicFramePr>
            <a:graphicFrameLocks noChangeAspect="1"/>
          </p:cNvGraphicFramePr>
          <p:nvPr/>
        </p:nvGraphicFramePr>
        <p:xfrm>
          <a:off x="3048000" y="3159125"/>
          <a:ext cx="7109460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511300" imgH="419100" progId="Equation.3">
                  <p:embed/>
                </p:oleObj>
              </mc:Choice>
              <mc:Fallback>
                <p:oleObj name="" r:id="rId1" imgW="1511300" imgH="4191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0" y="3159125"/>
                        <a:ext cx="7109460" cy="196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内容占位符 2"/>
          <p:cNvSpPr>
            <a:spLocks noGrp="1"/>
          </p:cNvSpPr>
          <p:nvPr>
            <p:ph idx="4294967295"/>
          </p:nvPr>
        </p:nvSpPr>
        <p:spPr>
          <a:xfrm>
            <a:off x="65405" y="0"/>
            <a:ext cx="10602595" cy="6858000"/>
          </a:xfrm>
        </p:spPr>
        <p:txBody>
          <a:bodyPr vert="horz" wrap="square" lIns="91440" tIns="45720" rIns="91440" bIns="45720" anchor="t"/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练习：</a:t>
            </a:r>
            <a:endParaRPr lang="en-US" altLang="zh-CN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编写程序，根据以下公式，求</a:t>
            </a:r>
            <a:r>
              <a:rPr lang="en-US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e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的近似值，进度要求为</a:t>
            </a:r>
            <a:r>
              <a:rPr lang="en-CA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1.0e-6 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r>
              <a:rPr lang="en-US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zh-CN" altLang="en-US" sz="3600" dirty="0"/>
          </a:p>
        </p:txBody>
      </p:sp>
      <p:sp>
        <p:nvSpPr>
          <p:cNvPr id="82947" name="灯片编号占位符 3"/>
          <p:cNvSpPr txBox="1">
            <a:spLocks noGrp="1"/>
          </p:cNvSpPr>
          <p:nvPr/>
        </p:nvSpPr>
        <p:spPr>
          <a:xfrm>
            <a:off x="10137775" y="6305550"/>
            <a:ext cx="457200" cy="4762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algn="ctr"/>
            <a:fld id="{9A0DB2DC-4C9A-4742-B13C-FB6460FD3503}" type="slidenum">
              <a:rPr lang="zh-CN" altLang="en-US" sz="1200" dirty="0">
                <a:solidFill>
                  <a:srgbClr val="B5A788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</a:fld>
            <a:endParaRPr lang="zh-CN" altLang="en-US" sz="1200" dirty="0">
              <a:solidFill>
                <a:srgbClr val="B5A788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82948" name="Rectangle 2"/>
          <p:cNvSpPr/>
          <p:nvPr/>
        </p:nvSpPr>
        <p:spPr>
          <a:xfrm>
            <a:off x="1524000" y="444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2949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800" y="2971800"/>
            <a:ext cx="8927465" cy="18751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50" name="Rectangle 3"/>
          <p:cNvSpPr/>
          <p:nvPr/>
        </p:nvSpPr>
        <p:spPr>
          <a:xfrm>
            <a:off x="1524000" y="71120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eaLnBrk="0" hangingPunct="0"/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内容占位符 2"/>
          <p:cNvSpPr>
            <a:spLocks noGrp="1"/>
          </p:cNvSpPr>
          <p:nvPr>
            <p:ph idx="4294967295"/>
          </p:nvPr>
        </p:nvSpPr>
        <p:spPr>
          <a:xfrm>
            <a:off x="76200" y="0"/>
            <a:ext cx="12021185" cy="4981575"/>
          </a:xfrm>
        </p:spPr>
        <p:txBody>
          <a:bodyPr vert="horz" wrap="square" lIns="91440" tIns="45720" rIns="91440" bIns="45720" anchor="t"/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练习：</a:t>
            </a:r>
            <a:endParaRPr lang="en-US" altLang="zh-CN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求</a:t>
            </a:r>
            <a:r>
              <a:rPr lang="en-US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S=a+aa+aaa+……+aaa…a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之值，其中最后一项由</a:t>
            </a:r>
            <a:r>
              <a:rPr lang="en-US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  <a:r>
              <a:rPr lang="en-US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组成。</a:t>
            </a:r>
            <a:r>
              <a:rPr lang="en-US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值是由键盘输入。例如：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2+22+222+…22222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。（</a:t>
            </a:r>
            <a:r>
              <a:rPr lang="en-US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a=2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n=5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zh-CN" altLang="en-US" sz="3600" dirty="0"/>
          </a:p>
        </p:txBody>
      </p:sp>
      <p:sp>
        <p:nvSpPr>
          <p:cNvPr id="83971" name="灯片编号占位符 3"/>
          <p:cNvSpPr txBox="1">
            <a:spLocks noGrp="1"/>
          </p:cNvSpPr>
          <p:nvPr/>
        </p:nvSpPr>
        <p:spPr>
          <a:xfrm>
            <a:off x="10137775" y="6305550"/>
            <a:ext cx="457200" cy="4762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algn="ctr"/>
            <a:fld id="{9A0DB2DC-4C9A-4742-B13C-FB6460FD3503}" type="slidenum">
              <a:rPr lang="zh-CN" altLang="en-US" sz="1200" dirty="0">
                <a:solidFill>
                  <a:srgbClr val="B5A788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</a:fld>
            <a:endParaRPr lang="zh-CN" altLang="en-US" sz="1200" dirty="0">
              <a:solidFill>
                <a:srgbClr val="B5A788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内容占位符 2"/>
          <p:cNvSpPr>
            <a:spLocks noGrp="1"/>
          </p:cNvSpPr>
          <p:nvPr/>
        </p:nvSpPr>
        <p:spPr>
          <a:xfrm>
            <a:off x="0" y="1064260"/>
            <a:ext cx="12192000" cy="579374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6855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Verdana" panose="020B0604030504040204" pitchFamily="34" charset="0"/>
              <a:buChar char="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097280" indent="-1733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Verdana" panose="020B0604030504040204" pitchFamily="34" charset="0"/>
              <a:buChar char="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297305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Verdana" panose="020B0604030504040204" pitchFamily="34" charset="0"/>
              <a:buChar char="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1754505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Verdana" panose="020B0604030504040204" pitchFamily="34" charset="0"/>
              <a:buChar char="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211705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Verdana" panose="020B0604030504040204" pitchFamily="34" charset="0"/>
              <a:buChar char="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668905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Verdana" panose="020B0604030504040204" pitchFamily="34" charset="0"/>
              <a:buChar char="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126105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Verdana" panose="020B0604030504040204" pitchFamily="34" charset="0"/>
              <a:buChar char="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练习：</a:t>
            </a:r>
            <a:endParaRPr lang="en-US" altLang="zh-CN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用循环结构实现，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这个数列的前20项之和。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9395" name="灯片编号占位符 3"/>
          <p:cNvSpPr txBox="1">
            <a:spLocks noGrp="1"/>
          </p:cNvSpPr>
          <p:nvPr/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algn="ctr"/>
            <a:fld id="{9A0DB2DC-4C9A-4742-B13C-FB6460FD3503}" type="slidenum">
              <a:rPr lang="zh-CN" altLang="en-US" sz="1200" dirty="0">
                <a:solidFill>
                  <a:srgbClr val="B5A788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</a:fld>
            <a:endParaRPr lang="zh-CN" altLang="en-US" sz="1200" dirty="0">
              <a:solidFill>
                <a:srgbClr val="B5A788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59396" name="Picture 1"/>
          <p:cNvGraphicFramePr>
            <a:graphicFrameLocks noChangeAspect="1"/>
          </p:cNvGraphicFramePr>
          <p:nvPr/>
        </p:nvGraphicFramePr>
        <p:xfrm>
          <a:off x="1492250" y="3113405"/>
          <a:ext cx="6662420" cy="1998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320800" imgH="393700" progId="Equation.3">
                  <p:embed/>
                </p:oleObj>
              </mc:Choice>
              <mc:Fallback>
                <p:oleObj name="" r:id="rId1" imgW="1320800" imgH="3937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92250" y="3113405"/>
                        <a:ext cx="6662420" cy="19989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18160" y="342265"/>
            <a:ext cx="9989185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endParaRPr lang="zh-CN" altLang="en-US" sz="3600" dirty="0">
              <a:latin typeface="+mn-ea"/>
              <a:ea typeface="+mn-ea"/>
              <a:sym typeface="+mn-ea"/>
            </a:endParaRPr>
          </a:p>
          <a:p>
            <a:pPr algn="l"/>
            <a:r>
              <a:rPr lang="zh-CN" altLang="en-US" sz="3600" dirty="0">
                <a:latin typeface="+mn-ea"/>
                <a:ea typeface="+mn-ea"/>
                <a:sym typeface="+mn-ea"/>
              </a:rPr>
              <a:t>分析题意</a:t>
            </a:r>
            <a:r>
              <a:rPr lang="zh-CN" altLang="en-US" sz="3600" dirty="0">
                <a:latin typeface="+mn-ea"/>
                <a:ea typeface="+mn-ea"/>
                <a:sym typeface="+mn-ea"/>
              </a:rPr>
              <a:t>，建立数学模型，</a:t>
            </a:r>
            <a:endParaRPr lang="zh-CN" altLang="en-US" sz="3600" dirty="0">
              <a:latin typeface="+mn-ea"/>
              <a:ea typeface="+mn-ea"/>
              <a:sym typeface="+mn-ea"/>
            </a:endParaRPr>
          </a:p>
          <a:p>
            <a:pPr algn="l"/>
            <a:endParaRPr lang="zh-CN" altLang="en-US" sz="3600" dirty="0">
              <a:latin typeface="+mn-ea"/>
              <a:ea typeface="+mn-ea"/>
              <a:sym typeface="+mn-ea"/>
            </a:endParaRPr>
          </a:p>
          <a:p>
            <a:pPr algn="l"/>
            <a:r>
              <a:rPr lang="zh-CN" altLang="en-US" sz="3600" dirty="0">
                <a:latin typeface="+mn-ea"/>
                <a:ea typeface="+mn-ea"/>
                <a:sym typeface="+mn-ea"/>
              </a:rPr>
              <a:t>根据需要，将操作放在合适的位置上。</a:t>
            </a:r>
            <a:endParaRPr lang="zh-CN" altLang="en-US" sz="3600" dirty="0">
              <a:latin typeface="+mn-ea"/>
              <a:ea typeface="+mn-ea"/>
              <a:sym typeface="+mn-ea"/>
            </a:endParaRPr>
          </a:p>
          <a:p>
            <a:pPr algn="l"/>
            <a:endParaRPr lang="zh-CN" altLang="en-US" sz="3600" dirty="0">
              <a:latin typeface="+mn-ea"/>
              <a:ea typeface="+mn-ea"/>
              <a:sym typeface="+mn-ea"/>
            </a:endParaRPr>
          </a:p>
          <a:p>
            <a:pPr algn="l"/>
            <a:endParaRPr lang="zh-CN" altLang="en-US" sz="3600" dirty="0">
              <a:latin typeface="+mn-ea"/>
              <a:ea typeface="+mn-ea"/>
              <a:sym typeface="+mn-ea"/>
            </a:endParaRPr>
          </a:p>
          <a:p>
            <a:pPr algn="l"/>
            <a:endParaRPr lang="zh-CN" altLang="en-US" sz="3600" dirty="0">
              <a:latin typeface="+mn-ea"/>
              <a:ea typeface="+mn-ea"/>
              <a:sym typeface="+mn-ea"/>
            </a:endParaRPr>
          </a:p>
          <a:p>
            <a:pPr algn="l"/>
            <a:r>
              <a:rPr lang="zh-CN" altLang="en-US" sz="3600" dirty="0">
                <a:latin typeface="+mn-ea"/>
                <a:ea typeface="+mn-ea"/>
                <a:sym typeface="+mn-ea"/>
              </a:rPr>
              <a:t>注意结束循环时，</a:t>
            </a:r>
            <a:endParaRPr lang="zh-CN" altLang="en-US" sz="3600" dirty="0">
              <a:latin typeface="+mn-ea"/>
              <a:ea typeface="+mn-ea"/>
              <a:sym typeface="+mn-ea"/>
            </a:endParaRPr>
          </a:p>
          <a:p>
            <a:pPr algn="l"/>
            <a:endParaRPr lang="zh-CN" altLang="en-US" sz="3600" dirty="0">
              <a:latin typeface="+mn-ea"/>
              <a:ea typeface="+mn-ea"/>
              <a:sym typeface="+mn-ea"/>
            </a:endParaRPr>
          </a:p>
          <a:p>
            <a:pPr algn="l"/>
            <a:r>
              <a:rPr lang="zh-CN" altLang="en-US" sz="3600" dirty="0">
                <a:latin typeface="+mn-ea"/>
                <a:ea typeface="+mn-ea"/>
                <a:sym typeface="+mn-ea"/>
              </a:rPr>
              <a:t>各个变量有没有多执行一次或者少执行一次。</a:t>
            </a:r>
            <a:endParaRPr lang="zh-CN" altLang="en-US" sz="3600" dirty="0">
              <a:latin typeface="+mn-ea"/>
              <a:ea typeface="+mn-ea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-635"/>
            <a:ext cx="10852150" cy="1160780"/>
          </a:xfrm>
        </p:spPr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5-3】</a:t>
            </a:r>
            <a:r>
              <a:rPr lang="zh-CN" altLang="en-US" dirty="0"/>
              <a:t>输入一个整数，求它的各位数字之和。</a:t>
            </a:r>
            <a:br>
              <a:rPr lang="zh-CN" altLang="en-US" dirty="0"/>
            </a:br>
            <a:r>
              <a:rPr>
                <a:sym typeface="+mn-ea"/>
              </a:rPr>
              <a:t>求和在后，下一轮准备在前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84784"/>
            <a:ext cx="10852150" cy="485632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pt-BR" altLang="zh-CN" dirty="0"/>
              <a:t>#1.	n = int(input("请输入一个整数："))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#2.	sum = 0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#3.	while n: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#4.	    r = n % 10     </a:t>
            </a:r>
            <a:r>
              <a:rPr lang="en-US" altLang="pt-BR" dirty="0"/>
              <a:t>#</a:t>
            </a:r>
            <a:r>
              <a:rPr dirty="0"/>
              <a:t>个位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#5.	    n = n // 10     </a:t>
            </a:r>
            <a:r>
              <a:rPr lang="en-US" altLang="pt-BR" dirty="0"/>
              <a:t>#</a:t>
            </a:r>
            <a:r>
              <a:rPr lang="en-US" altLang="zh-CN" dirty="0"/>
              <a:t>n</a:t>
            </a:r>
            <a:r>
              <a:rPr dirty="0"/>
              <a:t>删除</a:t>
            </a:r>
            <a:r>
              <a:rPr dirty="0"/>
              <a:t>最低位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#6.	    sum += r       </a:t>
            </a:r>
            <a:r>
              <a:rPr lang="en-US" altLang="pt-BR" dirty="0"/>
              <a:t>#</a:t>
            </a:r>
            <a:r>
              <a:rPr dirty="0"/>
              <a:t>每次循环将最低位加到和值里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#7.	print('sum =', sum</a:t>
            </a:r>
            <a:r>
              <a:rPr lang="pt-BR" altLang="zh-CN" dirty="0" smtClean="0"/>
              <a:t>)</a:t>
            </a:r>
            <a:endParaRPr lang="pt-BR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0"/>
            <a:ext cx="10852150" cy="716915"/>
          </a:xfrm>
        </p:spPr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5-3】</a:t>
            </a:r>
            <a:r>
              <a:rPr lang="zh-CN" altLang="en-US" dirty="0"/>
              <a:t>改写，求和在前，下一轮准备在后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8470" y="717550"/>
            <a:ext cx="10852150" cy="614045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altLang="zh-CN" sz="3200" dirty="0"/>
              <a:t>n=int(input("请输入一个整数："))</a:t>
            </a:r>
            <a:endParaRPr lang="pt-BR" altLang="zh-CN" sz="3200" dirty="0"/>
          </a:p>
          <a:p>
            <a:pPr marL="0" indent="0">
              <a:buNone/>
            </a:pPr>
            <a:r>
              <a:rPr lang="pt-BR" altLang="zh-CN" sz="3200" dirty="0"/>
              <a:t>sum=0; r = 0</a:t>
            </a:r>
            <a:endParaRPr lang="pt-BR" altLang="zh-CN" sz="3200" dirty="0"/>
          </a:p>
          <a:p>
            <a:pPr marL="0" indent="0">
              <a:buNone/>
            </a:pPr>
            <a:r>
              <a:rPr lang="pt-BR" altLang="zh-CN" sz="3200" dirty="0"/>
              <a:t>while n:</a:t>
            </a:r>
            <a:endParaRPr lang="pt-BR" altLang="zh-CN" sz="3200" dirty="0"/>
          </a:p>
          <a:p>
            <a:pPr marL="0" indent="0">
              <a:buNone/>
            </a:pPr>
            <a:r>
              <a:rPr lang="pt-BR" altLang="zh-CN" sz="3200" dirty="0"/>
              <a:t>    sum = sum + r                 </a:t>
            </a:r>
            <a:endParaRPr lang="pt-BR" altLang="zh-CN" sz="3200" dirty="0"/>
          </a:p>
          <a:p>
            <a:pPr marL="0" indent="0">
              <a:buNone/>
            </a:pPr>
            <a:r>
              <a:rPr lang="pt-BR" altLang="zh-CN" sz="3200" dirty="0"/>
              <a:t>    r = n % 10</a:t>
            </a:r>
            <a:r>
              <a:rPr lang="pt-BR" altLang="zh-CN" sz="3200">
                <a:sym typeface="+mn-ea"/>
              </a:rPr>
              <a:t>        </a:t>
            </a:r>
            <a:r>
              <a:rPr lang="en-US" altLang="pt-BR" sz="3200">
                <a:sym typeface="+mn-ea"/>
              </a:rPr>
              <a:t>#</a:t>
            </a:r>
            <a:r>
              <a:rPr sz="3200">
                <a:sym typeface="+mn-ea"/>
              </a:rPr>
              <a:t>个位</a:t>
            </a:r>
            <a:endParaRPr lang="pt-BR" altLang="zh-CN" sz="3200" dirty="0"/>
          </a:p>
          <a:p>
            <a:pPr marL="0" indent="0">
              <a:buNone/>
            </a:pPr>
            <a:r>
              <a:rPr lang="pt-BR" altLang="zh-CN" sz="3200" dirty="0"/>
              <a:t>    n = n // 10</a:t>
            </a:r>
            <a:r>
              <a:rPr lang="pt-BR" altLang="zh-CN" sz="3200">
                <a:sym typeface="+mn-ea"/>
              </a:rPr>
              <a:t>        </a:t>
            </a:r>
            <a:r>
              <a:rPr lang="en-US" altLang="pt-BR" sz="3200">
                <a:sym typeface="+mn-ea"/>
              </a:rPr>
              <a:t>#</a:t>
            </a:r>
            <a:r>
              <a:rPr lang="en-US" altLang="zh-CN" sz="3200">
                <a:sym typeface="+mn-ea"/>
              </a:rPr>
              <a:t>n</a:t>
            </a:r>
            <a:r>
              <a:rPr sz="3200">
                <a:sym typeface="+mn-ea"/>
              </a:rPr>
              <a:t>删除最低位</a:t>
            </a:r>
            <a:endParaRPr lang="pt-BR" altLang="zh-CN" sz="3200" dirty="0"/>
          </a:p>
          <a:p>
            <a:pPr marL="0" indent="0">
              <a:buNone/>
            </a:pPr>
            <a:r>
              <a:rPr lang="pt-BR" altLang="zh-CN" sz="3200" dirty="0"/>
              <a:t>sum=sum + r        </a:t>
            </a:r>
            <a:r>
              <a:rPr lang="en-US" altLang="pt-BR" sz="3200" dirty="0"/>
              <a:t>#</a:t>
            </a:r>
            <a:r>
              <a:rPr sz="3200" dirty="0"/>
              <a:t>把最高位加到</a:t>
            </a:r>
            <a:r>
              <a:rPr lang="en-US" altLang="zh-CN" sz="3200" dirty="0"/>
              <a:t>sum</a:t>
            </a:r>
            <a:r>
              <a:rPr sz="3200" dirty="0"/>
              <a:t>里</a:t>
            </a:r>
            <a:endParaRPr lang="pt-BR" altLang="zh-CN" sz="3200" dirty="0"/>
          </a:p>
          <a:p>
            <a:pPr marL="0" indent="0">
              <a:buNone/>
            </a:pPr>
            <a:r>
              <a:rPr lang="pt-BR" altLang="zh-CN" sz="3200" dirty="0"/>
              <a:t>print("sum=",sum)</a:t>
            </a:r>
            <a:endParaRPr lang="pt-BR" altLang="zh-CN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扩展</a:t>
            </a:r>
            <a:r>
              <a:rPr lang="en-US" altLang="zh-CN" dirty="0" smtClean="0"/>
              <a:t>while</a:t>
            </a:r>
            <a:r>
              <a:rPr lang="zh-CN" altLang="zh-CN" dirty="0"/>
              <a:t>语句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801647" y="1541293"/>
            <a:ext cx="5040560" cy="1925156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 smtClean="0">
                <a:latin typeface="+mj-ea"/>
                <a:ea typeface="+mj-ea"/>
              </a:rPr>
              <a:t>while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: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</a:t>
            </a:r>
            <a:r>
              <a:rPr lang="zh-CN" altLang="en-US" sz="2800" dirty="0" smtClean="0">
                <a:latin typeface="+mj-ea"/>
                <a:ea typeface="+mj-ea"/>
              </a:rPr>
              <a:t>块</a:t>
            </a:r>
            <a:r>
              <a:rPr lang="en-US" altLang="zh-CN" sz="2800" dirty="0" smtClean="0">
                <a:latin typeface="+mj-ea"/>
                <a:ea typeface="+mj-ea"/>
              </a:rPr>
              <a:t>1</a:t>
            </a:r>
            <a:endParaRPr lang="en-US" altLang="zh-CN" sz="2800" dirty="0" smtClean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else:</a:t>
            </a:r>
            <a:endParaRPr lang="zh-CN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zh-CN" sz="2800" dirty="0">
                <a:latin typeface="+mj-ea"/>
                <a:ea typeface="+mj-ea"/>
              </a:rPr>
              <a:t>语句块</a:t>
            </a:r>
            <a:r>
              <a:rPr lang="en-US" altLang="zh-CN" sz="2800" dirty="0" smtClean="0">
                <a:latin typeface="+mj-ea"/>
                <a:ea typeface="+mj-ea"/>
              </a:rPr>
              <a:t>2</a:t>
            </a:r>
            <a:endParaRPr lang="zh-CN" altLang="en-US" sz="2800" dirty="0">
              <a:latin typeface="+mj-ea"/>
              <a:ea typeface="+mj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597243" y="5857533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801647" y="4816230"/>
            <a:ext cx="99595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当条件表达式值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False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则循环结束，且执行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else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后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的语句块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8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若执行语句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块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中的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break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语句结束循环，则不执行语句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块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526816" y="2524760"/>
            <a:ext cx="288032" cy="504056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>
            <a:stCxn id="10" idx="6"/>
            <a:endCxn id="14" idx="1"/>
          </p:cNvCxnSpPr>
          <p:nvPr/>
        </p:nvCxnSpPr>
        <p:spPr>
          <a:xfrm flipV="1">
            <a:off x="2814848" y="1948767"/>
            <a:ext cx="4762108" cy="828021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576956" y="1696739"/>
            <a:ext cx="3456384" cy="5040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tx1"/>
                </a:solidFill>
              </a:rPr>
              <a:t>else</a:t>
            </a:r>
            <a:r>
              <a:rPr lang="zh-CN" altLang="zh-CN" sz="2000" dirty="0" smtClean="0">
                <a:solidFill>
                  <a:schemeClr val="tx1"/>
                </a:solidFill>
              </a:rPr>
              <a:t>后</a:t>
            </a:r>
            <a:r>
              <a:rPr lang="zh-CN" altLang="zh-CN" sz="2000" dirty="0">
                <a:solidFill>
                  <a:schemeClr val="tx1"/>
                </a:solidFill>
              </a:rPr>
              <a:t>必须加冒号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791007" y="2174637"/>
            <a:ext cx="512655" cy="360040"/>
          </a:xfrm>
          <a:prstGeom prst="roundRect">
            <a:avLst>
              <a:gd name="adj" fmla="val 20574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2047333" y="2534676"/>
            <a:ext cx="0" cy="15480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1791007" y="3000531"/>
            <a:ext cx="512655" cy="360040"/>
          </a:xfrm>
          <a:prstGeom prst="roundRect">
            <a:avLst>
              <a:gd name="adj" fmla="val 20574"/>
            </a:avLst>
          </a:prstGeom>
          <a:solidFill>
            <a:schemeClr val="accent1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08204" y="4053660"/>
            <a:ext cx="4379654" cy="4564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</a:rPr>
              <a:t>所有的语句块保持</a:t>
            </a:r>
            <a:r>
              <a:rPr lang="zh-CN" altLang="en-US" sz="2000" dirty="0">
                <a:solidFill>
                  <a:schemeClr val="tx1"/>
                </a:solidFill>
              </a:rPr>
              <a:t>一致的缩进方式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8" grpId="0" animBg="1"/>
      <p:bldP spid="20" grpId="0" animBg="1"/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mtClean="0">
                <a:sym typeface="+mn-ea"/>
              </a:rPr>
              <a:t>扩展</a:t>
            </a:r>
            <a:r>
              <a:rPr lang="en-US" altLang="zh-CN" smtClean="0">
                <a:sym typeface="+mn-ea"/>
              </a:rPr>
              <a:t>while</a:t>
            </a:r>
            <a:r>
              <a:rPr altLang="zh-CN">
                <a:sym typeface="+mn-ea"/>
              </a:rPr>
              <a:t>语句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流程图：</a:t>
            </a:r>
            <a:endParaRPr lang="zh-CN" altLang="en-US"/>
          </a:p>
        </p:txBody>
      </p:sp>
      <p:graphicFrame>
        <p:nvGraphicFramePr>
          <p:cNvPr id="50182" name="Object 3"/>
          <p:cNvGraphicFramePr>
            <a:graphicFrameLocks noChangeAspect="1"/>
          </p:cNvGraphicFramePr>
          <p:nvPr/>
        </p:nvGraphicFramePr>
        <p:xfrm>
          <a:off x="7536180" y="1430020"/>
          <a:ext cx="3246120" cy="3787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461135" imgH="1702435" progId="">
                  <p:embed/>
                </p:oleObj>
              </mc:Choice>
              <mc:Fallback>
                <p:oleObj name="" r:id="rId1" imgW="1461135" imgH="1702435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36180" y="1430020"/>
                        <a:ext cx="3246120" cy="3787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425180" y="5370195"/>
            <a:ext cx="21405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800" dirty="0">
                <a:latin typeface="+mj-ea"/>
                <a:ea typeface="+mj-ea"/>
                <a:sym typeface="+mn-ea"/>
              </a:rPr>
              <a:t>while</a:t>
            </a:r>
            <a:r>
              <a:rPr lang="zh-CN" altLang="en-US" sz="2800" dirty="0">
                <a:latin typeface="+mj-ea"/>
                <a:ea typeface="+mj-ea"/>
                <a:sym typeface="+mn-ea"/>
              </a:rPr>
              <a:t>流程图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15045" y="3692525"/>
            <a:ext cx="1048385" cy="38354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p>
            <a:pPr algn="l"/>
            <a:r>
              <a:rPr lang="zh-CN" altLang="en-US" sz="1900" dirty="0">
                <a:latin typeface="+mj-ea"/>
                <a:ea typeface="+mj-ea"/>
                <a:sym typeface="+mn-ea"/>
              </a:rPr>
              <a:t>语句块</a:t>
            </a:r>
            <a:r>
              <a:rPr lang="en-US" altLang="zh-CN" sz="1900" dirty="0">
                <a:latin typeface="+mj-ea"/>
                <a:ea typeface="+mj-ea"/>
                <a:sym typeface="+mn-ea"/>
              </a:rPr>
              <a:t>1</a:t>
            </a:r>
            <a:endParaRPr lang="en-US" altLang="zh-CN" sz="1900" dirty="0">
              <a:latin typeface="+mj-ea"/>
              <a:ea typeface="+mj-ea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00277" y="2466488"/>
            <a:ext cx="5040560" cy="1925156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altLang="zh-CN" sz="2800" dirty="0" smtClean="0">
                <a:latin typeface="+mj-ea"/>
                <a:ea typeface="+mj-ea"/>
              </a:rPr>
              <a:t>while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: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</a:t>
            </a:r>
            <a:r>
              <a:rPr lang="zh-CN" altLang="en-US" sz="2800" dirty="0" smtClean="0">
                <a:latin typeface="+mj-ea"/>
                <a:ea typeface="+mj-ea"/>
              </a:rPr>
              <a:t>块</a:t>
            </a:r>
            <a:r>
              <a:rPr lang="en-US" altLang="zh-CN" sz="2800" dirty="0" smtClean="0">
                <a:latin typeface="+mj-ea"/>
                <a:ea typeface="+mj-ea"/>
              </a:rPr>
              <a:t>1</a:t>
            </a:r>
            <a:endParaRPr lang="en-US" altLang="zh-CN" sz="2800" dirty="0" smtClean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else:</a:t>
            </a:r>
            <a:endParaRPr lang="zh-CN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zh-CN" sz="2800" dirty="0">
                <a:latin typeface="+mj-ea"/>
                <a:ea typeface="+mj-ea"/>
              </a:rPr>
              <a:t>语句块</a:t>
            </a:r>
            <a:r>
              <a:rPr lang="en-US" altLang="zh-CN" sz="2800" dirty="0" smtClean="0">
                <a:latin typeface="+mj-ea"/>
                <a:ea typeface="+mj-ea"/>
              </a:rPr>
              <a:t>2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61550" y="3692525"/>
            <a:ext cx="1048385" cy="383540"/>
          </a:xfrm>
          <a:prstGeom prst="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  <a:prstDash val="solid"/>
          </a:ln>
        </p:spPr>
        <p:txBody>
          <a:bodyPr wrap="none" rtlCol="0">
            <a:spAutoFit/>
          </a:bodyPr>
          <a:p>
            <a:pPr algn="l"/>
            <a:r>
              <a:rPr lang="zh-CN" altLang="en-US" sz="1900" dirty="0">
                <a:latin typeface="+mj-ea"/>
                <a:ea typeface="+mj-ea"/>
                <a:sym typeface="+mn-ea"/>
              </a:rPr>
              <a:t>语句块</a:t>
            </a:r>
            <a:r>
              <a:rPr lang="en-US" altLang="zh-CN" sz="1900" dirty="0">
                <a:latin typeface="+mj-ea"/>
                <a:ea typeface="+mj-ea"/>
                <a:sym typeface="+mn-ea"/>
              </a:rPr>
              <a:t>2</a:t>
            </a:r>
            <a:endParaRPr lang="en-US" altLang="zh-CN" sz="1900" dirty="0">
              <a:latin typeface="+mj-ea"/>
              <a:ea typeface="+mj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9925" y="6224270"/>
            <a:ext cx="1005268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3200" b="1" dirty="0">
                <a:latin typeface="Times New Roman" panose="02020603050405020304" pitchFamily="18" charset="0"/>
                <a:ea typeface="+mn-ea"/>
                <a:sym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sym typeface="Arial" panose="020B0604020202020204" pitchFamily="34" charset="0"/>
              </a:rPr>
              <a:t>#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sym typeface="Arial" panose="020B0604020202020204" pitchFamily="34" charset="0"/>
              </a:rPr>
              <a:t>如果 循环是因为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sym typeface="Arial" panose="020B0604020202020204" pitchFamily="34" charset="0"/>
              </a:rPr>
              <a:t>break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sym typeface="Arial" panose="020B0604020202020204" pitchFamily="34" charset="0"/>
              </a:rPr>
              <a:t>结束的，就不执行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sym typeface="Arial" panose="020B0604020202020204" pitchFamily="34" charset="0"/>
              </a:rPr>
              <a:t>else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sym typeface="Arial" panose="020B0604020202020204" pitchFamily="34" charset="0"/>
              </a:rPr>
              <a:t>中的代码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sym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 smtClean="0"/>
              <a:t>5-2】</a:t>
            </a:r>
            <a:r>
              <a:rPr lang="zh-CN" altLang="en-US" dirty="0"/>
              <a:t>求阶乘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84784"/>
            <a:ext cx="10852150" cy="485632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pt-BR" altLang="zh-CN" dirty="0"/>
              <a:t>#1.	i = 1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#2.	r = 1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#3.	while r &lt;= 100000: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#4.	    r *= i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#5.	    i = i + 1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#6.	else: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#7.	    print(i)</a:t>
            </a:r>
            <a:endParaRPr lang="pt-BR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639445"/>
            <a:ext cx="11920220" cy="469392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70025" y="2292350"/>
            <a:ext cx="926655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5.2 for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循环结构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for</a:t>
            </a:r>
            <a:r>
              <a:rPr lang="zh-CN" altLang="en-US" dirty="0" smtClean="0"/>
              <a:t>循环结构中，</a:t>
            </a:r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循环的</a:t>
            </a:r>
            <a:r>
              <a:rPr lang="zh-CN" altLang="en-US" dirty="0"/>
              <a:t>控制需要有序列或可迭代对象参与，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循环过程中对序列或可迭代对象中的元素逐一处理，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故又称为遍历循环。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r>
              <a:rPr lang="en-US" altLang="zh-CN" sz="3200" dirty="0"/>
              <a:t>for</a:t>
            </a:r>
            <a:r>
              <a:rPr lang="zh-CN" altLang="en-US" sz="3200" dirty="0"/>
              <a:t>循环结构适用的</a:t>
            </a:r>
            <a:r>
              <a:rPr lang="zh-CN" altLang="en-US" sz="3200" dirty="0" smtClean="0"/>
              <a:t>情况：</a:t>
            </a:r>
            <a:endParaRPr lang="zh-CN" altLang="en-US" sz="3200" dirty="0"/>
          </a:p>
          <a:p>
            <a:pPr lvl="1"/>
            <a:r>
              <a:rPr lang="zh-CN" altLang="en-US" sz="3200" dirty="0" smtClean="0"/>
              <a:t>循环</a:t>
            </a:r>
            <a:r>
              <a:rPr lang="zh-CN" altLang="en-US" sz="3200" dirty="0"/>
              <a:t>次数已知；</a:t>
            </a:r>
            <a:endParaRPr lang="zh-CN" altLang="en-US" sz="3200" dirty="0"/>
          </a:p>
          <a:p>
            <a:pPr lvl="1"/>
            <a:r>
              <a:rPr lang="zh-CN" altLang="en-US" sz="3200" dirty="0" smtClean="0"/>
              <a:t>需要</a:t>
            </a:r>
            <a:r>
              <a:rPr lang="zh-CN" altLang="en-US" sz="3200" dirty="0"/>
              <a:t>遍历处理</a:t>
            </a:r>
            <a:r>
              <a:rPr lang="en-US" altLang="zh-CN" sz="3200" dirty="0"/>
              <a:t>Python</a:t>
            </a:r>
            <a:r>
              <a:rPr lang="zh-CN" altLang="en-US" sz="3200" dirty="0"/>
              <a:t>的序列结构或可迭代对象中的每个元素。</a:t>
            </a:r>
            <a:endParaRPr lang="zh-CN" altLang="en-US" sz="3200" dirty="0"/>
          </a:p>
          <a:p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语句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669924" y="5788997"/>
            <a:ext cx="11522075" cy="671154"/>
          </a:xfrm>
        </p:spPr>
        <p:txBody>
          <a:bodyPr>
            <a:normAutofit fontScale="92500"/>
          </a:bodyPr>
          <a:lstStyle/>
          <a:p>
            <a:r>
              <a:rPr lang="zh-CN" altLang="en-US" dirty="0" smtClean="0"/>
              <a:t>若需按</a:t>
            </a:r>
            <a:r>
              <a:rPr lang="zh-CN" altLang="en-US" dirty="0"/>
              <a:t>指定次数循环，</a:t>
            </a:r>
            <a:r>
              <a:rPr lang="zh-CN" altLang="en-US" dirty="0" smtClean="0"/>
              <a:t>可用</a:t>
            </a:r>
            <a:r>
              <a:rPr lang="en-US" altLang="zh-CN" dirty="0"/>
              <a:t>range</a:t>
            </a:r>
            <a:r>
              <a:rPr lang="zh-CN" altLang="en-US" dirty="0"/>
              <a:t>函数</a:t>
            </a:r>
            <a:r>
              <a:rPr lang="zh-CN" altLang="en-US" dirty="0" smtClean="0"/>
              <a:t>产生</a:t>
            </a:r>
            <a:r>
              <a:rPr lang="en-US" altLang="zh-CN" b="1" dirty="0" smtClean="0">
                <a:solidFill>
                  <a:srgbClr val="FF0000"/>
                </a:solidFill>
              </a:rPr>
              <a:t>range</a:t>
            </a:r>
            <a:r>
              <a:rPr lang="zh-CN" altLang="en-US" b="1" dirty="0">
                <a:solidFill>
                  <a:srgbClr val="FF0000"/>
                </a:solidFill>
              </a:rPr>
              <a:t>对象来配合控制</a:t>
            </a:r>
            <a:r>
              <a:rPr lang="zh-CN" altLang="en-US" b="1" dirty="0" smtClean="0">
                <a:solidFill>
                  <a:srgbClr val="FF0000"/>
                </a:solidFill>
              </a:rPr>
              <a:t>循环</a:t>
            </a:r>
            <a:endParaRPr lang="zh-CN" altLang="en-US" b="1" dirty="0" smtClean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01647" y="1541293"/>
            <a:ext cx="5040560" cy="1925156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>
                <a:latin typeface="+mj-ea"/>
                <a:ea typeface="+mj-ea"/>
              </a:rPr>
              <a:t>for </a:t>
            </a:r>
            <a:r>
              <a:rPr lang="zh-CN" altLang="en-US" sz="2800" dirty="0">
                <a:latin typeface="+mj-ea"/>
                <a:ea typeface="+mj-ea"/>
              </a:rPr>
              <a:t>循环变量 </a:t>
            </a:r>
            <a:r>
              <a:rPr lang="en-US" altLang="zh-CN" sz="2800" dirty="0">
                <a:latin typeface="+mj-ea"/>
                <a:ea typeface="+mj-ea"/>
              </a:rPr>
              <a:t>in </a:t>
            </a:r>
            <a:r>
              <a:rPr lang="zh-CN" altLang="en-US" sz="2800" dirty="0">
                <a:latin typeface="+mj-ea"/>
                <a:ea typeface="+mj-ea"/>
              </a:rPr>
              <a:t>遍历结构</a:t>
            </a:r>
            <a:r>
              <a:rPr lang="en-US" altLang="zh-CN" sz="2800" dirty="0">
                <a:latin typeface="+mj-ea"/>
                <a:ea typeface="+mj-ea"/>
              </a:rPr>
              <a:t>: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</a:t>
            </a:r>
            <a:r>
              <a:rPr lang="en-US" altLang="zh-CN" sz="2800" dirty="0">
                <a:latin typeface="+mj-ea"/>
                <a:ea typeface="+mj-ea"/>
              </a:rPr>
              <a:t>1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[else: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</a:t>
            </a:r>
            <a:r>
              <a:rPr lang="en-US" altLang="zh-CN" sz="2800" dirty="0">
                <a:latin typeface="+mj-ea"/>
                <a:ea typeface="+mj-ea"/>
              </a:rPr>
              <a:t>2]</a:t>
            </a:r>
            <a:endParaRPr lang="en-US" altLang="zh-CN" sz="2800" dirty="0">
              <a:latin typeface="+mj-ea"/>
              <a:ea typeface="+mj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658005" y="5232592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862409" y="3847597"/>
            <a:ext cx="99595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从遍历结构中逐一提取元素，放入循环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endParaRPr lang="en-US" altLang="zh-CN" sz="28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循环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次数就是元素的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个数</a:t>
            </a:r>
            <a:endParaRPr lang="en-US" altLang="zh-CN" sz="28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r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可选的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else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部分，执行方式和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while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语句类似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07968" y="1639775"/>
            <a:ext cx="288032" cy="504056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>
            <a:stCxn id="10" idx="6"/>
            <a:endCxn id="14" idx="1"/>
          </p:cNvCxnSpPr>
          <p:nvPr/>
        </p:nvCxnSpPr>
        <p:spPr>
          <a:xfrm>
            <a:off x="6096000" y="1891803"/>
            <a:ext cx="1480956" cy="56964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576956" y="1696739"/>
            <a:ext cx="3456384" cy="5040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dirty="0" smtClean="0">
                <a:solidFill>
                  <a:schemeClr val="tx1"/>
                </a:solidFill>
              </a:rPr>
              <a:t>必须</a:t>
            </a:r>
            <a:r>
              <a:rPr lang="zh-CN" altLang="zh-CN" sz="2000" dirty="0">
                <a:solidFill>
                  <a:schemeClr val="tx1"/>
                </a:solidFill>
              </a:rPr>
              <a:t>加冒号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767069" y="2143831"/>
            <a:ext cx="512655" cy="360040"/>
          </a:xfrm>
          <a:prstGeom prst="roundRect">
            <a:avLst>
              <a:gd name="adj" fmla="val 20574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2023395" y="2503870"/>
            <a:ext cx="0" cy="15480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1767069" y="2969725"/>
            <a:ext cx="512655" cy="360040"/>
          </a:xfrm>
          <a:prstGeom prst="roundRect">
            <a:avLst>
              <a:gd name="adj" fmla="val 20574"/>
            </a:avLst>
          </a:prstGeom>
          <a:solidFill>
            <a:schemeClr val="accent1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84266" y="4022854"/>
            <a:ext cx="2647438" cy="9183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</a:rPr>
              <a:t>所有的语句块保持</a:t>
            </a:r>
            <a:r>
              <a:rPr lang="zh-CN" altLang="en-US" sz="2000" dirty="0">
                <a:solidFill>
                  <a:schemeClr val="tx1"/>
                </a:solidFill>
              </a:rPr>
              <a:t>一致的缩进方式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2591688" y="2491647"/>
            <a:ext cx="288032" cy="504056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>
            <a:stCxn id="15" idx="6"/>
            <a:endCxn id="14" idx="1"/>
          </p:cNvCxnSpPr>
          <p:nvPr/>
        </p:nvCxnSpPr>
        <p:spPr>
          <a:xfrm flipV="1">
            <a:off x="2879720" y="1948767"/>
            <a:ext cx="4697236" cy="794908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8" grpId="0" animBg="1"/>
      <p:bldP spid="20" grpId="0" animBg="1"/>
      <p:bldP spid="22" grpId="0" animBg="1"/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range</a:t>
            </a:r>
            <a:r>
              <a:rPr lang="zh-CN" altLang="en-US" dirty="0"/>
              <a:t>函数的格式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4156036"/>
            <a:ext cx="10852150" cy="2185075"/>
          </a:xfrm>
          <a:solidFill>
            <a:schemeClr val="bg1">
              <a:lumMod val="85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dirty="0"/>
              <a:t>&gt;&gt;&gt; range(5)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range(0, 5)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&gt;&gt;&gt; range(3,10,3)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range(3, 10, 3</a:t>
            </a:r>
            <a:r>
              <a:rPr lang="en-US" altLang="zh-CN" dirty="0" smtClean="0">
                <a:solidFill>
                  <a:srgbClr val="0070C0"/>
                </a:solidFill>
              </a:rPr>
              <a:t>)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21214" y="1283568"/>
            <a:ext cx="6480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latin typeface="+mj-ea"/>
                <a:ea typeface="+mj-ea"/>
              </a:rPr>
              <a:t>格式</a:t>
            </a:r>
            <a:r>
              <a:rPr lang="en-US" altLang="zh-CN" sz="2400" dirty="0">
                <a:latin typeface="+mj-ea"/>
                <a:ea typeface="+mj-ea"/>
              </a:rPr>
              <a:t>1</a:t>
            </a:r>
            <a:r>
              <a:rPr lang="zh-CN" altLang="en-US" sz="2400" dirty="0">
                <a:latin typeface="+mj-ea"/>
                <a:ea typeface="+mj-ea"/>
              </a:rPr>
              <a:t>：</a:t>
            </a:r>
            <a:r>
              <a:rPr lang="en-US" altLang="zh-CN" sz="2400" dirty="0">
                <a:latin typeface="+mj-ea"/>
                <a:ea typeface="+mj-ea"/>
              </a:rPr>
              <a:t>range(stop</a:t>
            </a:r>
            <a:r>
              <a:rPr lang="en-US" altLang="zh-CN" sz="2400" dirty="0" smtClean="0">
                <a:latin typeface="+mj-ea"/>
                <a:ea typeface="+mj-ea"/>
              </a:rPr>
              <a:t>)</a:t>
            </a:r>
            <a:endParaRPr lang="en-US" altLang="zh-CN" sz="24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71664" y="1919619"/>
            <a:ext cx="8450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生成从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开始到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stop-1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的连续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整数，返回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range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069851" y="2442839"/>
            <a:ext cx="7452224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21214" y="2660362"/>
            <a:ext cx="6480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 smtClean="0">
                <a:latin typeface="+mj-ea"/>
                <a:ea typeface="+mj-ea"/>
              </a:rPr>
              <a:t>格式</a:t>
            </a:r>
            <a:r>
              <a:rPr lang="en-US" altLang="zh-CN" sz="2400" dirty="0">
                <a:latin typeface="+mj-ea"/>
                <a:ea typeface="+mj-ea"/>
              </a:rPr>
              <a:t>2</a:t>
            </a:r>
            <a:r>
              <a:rPr lang="zh-CN" altLang="en-US" sz="2400" dirty="0">
                <a:latin typeface="+mj-ea"/>
                <a:ea typeface="+mj-ea"/>
              </a:rPr>
              <a:t>：</a:t>
            </a:r>
            <a:r>
              <a:rPr lang="en-US" altLang="zh-CN" sz="2400" dirty="0">
                <a:latin typeface="+mj-ea"/>
                <a:ea typeface="+mj-ea"/>
              </a:rPr>
              <a:t>range(start, stop[, step])</a:t>
            </a:r>
            <a:endParaRPr lang="en-US" altLang="zh-CN" sz="2400" dirty="0"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9926" y="3326514"/>
            <a:ext cx="1085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生成从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start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开始到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stop-1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的、间隔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step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整数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，返回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range</a:t>
            </a:r>
            <a:r>
              <a:rPr lang="zh-CN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069851" y="3849734"/>
            <a:ext cx="7452224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</a:t>
            </a:r>
            <a:r>
              <a:rPr lang="en-US" altLang="zh-CN" dirty="0" smtClean="0"/>
              <a:t>for</a:t>
            </a:r>
            <a:r>
              <a:rPr lang="zh-CN" altLang="en-US" dirty="0" smtClean="0"/>
              <a:t>循环的循环变量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/>
              <a:t>循环变量是序列</a:t>
            </a:r>
            <a:r>
              <a:rPr lang="zh-CN" altLang="en-US" sz="3200" dirty="0"/>
              <a:t>结构或可迭代对象的</a:t>
            </a:r>
            <a:r>
              <a:rPr lang="zh-CN" altLang="en-US" sz="3200" dirty="0">
                <a:solidFill>
                  <a:srgbClr val="FF0000"/>
                </a:solidFill>
              </a:rPr>
              <a:t>当前元素值的</a:t>
            </a:r>
            <a:r>
              <a:rPr lang="zh-CN" altLang="en-US" sz="3200" dirty="0" smtClean="0">
                <a:solidFill>
                  <a:srgbClr val="FF0000"/>
                </a:solidFill>
              </a:rPr>
              <a:t>复制</a:t>
            </a:r>
            <a:endParaRPr lang="en-US" altLang="zh-CN" sz="3200" dirty="0" smtClean="0"/>
          </a:p>
          <a:p>
            <a:pPr lvl="1"/>
            <a:r>
              <a:rPr lang="zh-CN" altLang="en-US" sz="3200" dirty="0" smtClean="0"/>
              <a:t>修改</a:t>
            </a:r>
            <a:r>
              <a:rPr lang="zh-CN" altLang="en-US" sz="3200" dirty="0"/>
              <a:t>循环变量的值，无法改变序列结构和可迭代对象的</a:t>
            </a:r>
            <a:r>
              <a:rPr lang="zh-CN" altLang="en-US" sz="3200" dirty="0" smtClean="0"/>
              <a:t>值</a:t>
            </a:r>
            <a:endParaRPr lang="en-US" altLang="zh-CN" sz="3200" dirty="0" smtClean="0"/>
          </a:p>
          <a:p>
            <a:pPr lvl="1"/>
            <a:r>
              <a:rPr lang="zh-CN" altLang="en-US" sz="3200" dirty="0" smtClean="0"/>
              <a:t>循环变量的变化次数是恒定不变的</a:t>
            </a:r>
            <a:endParaRPr lang="zh-CN" altLang="en-US" sz="3200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1160403"/>
            <a:ext cx="10538643" cy="30243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</a:t>
            </a:r>
            <a:r>
              <a:rPr lang="en-US" altLang="zh-CN" dirty="0" smtClean="0"/>
              <a:t>for</a:t>
            </a:r>
            <a:r>
              <a:rPr lang="zh-CN" altLang="en-US" dirty="0" smtClean="0"/>
              <a:t>循环的循环变量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sz="2600" dirty="0"/>
              <a:t>#1.	x = [1, 2]</a:t>
            </a:r>
            <a:endParaRPr lang="en-US" altLang="zh-CN" sz="26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sz="2600" dirty="0"/>
              <a:t>#2.	for </a:t>
            </a:r>
            <a:r>
              <a:rPr lang="en-US" altLang="zh-CN" sz="2600" dirty="0" err="1"/>
              <a:t>i</a:t>
            </a:r>
            <a:r>
              <a:rPr lang="en-US" altLang="zh-CN" sz="2600" dirty="0"/>
              <a:t> in x:</a:t>
            </a:r>
            <a:endParaRPr lang="en-US" altLang="zh-CN" sz="26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sz="2600" dirty="0"/>
              <a:t>#3.	    print(</a:t>
            </a:r>
            <a:r>
              <a:rPr lang="en-US" altLang="zh-CN" sz="2600" dirty="0" err="1"/>
              <a:t>i</a:t>
            </a:r>
            <a:r>
              <a:rPr lang="en-US" altLang="zh-CN" sz="2600" dirty="0"/>
              <a:t>, end=' ')</a:t>
            </a:r>
            <a:endParaRPr lang="en-US" altLang="zh-CN" sz="26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sz="2600" dirty="0"/>
              <a:t>#4.	    </a:t>
            </a:r>
            <a:r>
              <a:rPr lang="en-US" altLang="zh-CN" sz="2600" dirty="0" err="1"/>
              <a:t>i</a:t>
            </a:r>
            <a:r>
              <a:rPr lang="en-US" altLang="zh-CN" sz="2600" dirty="0"/>
              <a:t> = </a:t>
            </a:r>
            <a:r>
              <a:rPr lang="en-US" altLang="zh-CN" sz="2600" dirty="0" err="1"/>
              <a:t>i</a:t>
            </a:r>
            <a:r>
              <a:rPr lang="en-US" altLang="zh-CN" sz="2600" dirty="0"/>
              <a:t> - 3</a:t>
            </a:r>
            <a:endParaRPr lang="en-US" altLang="zh-CN" sz="26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sz="2600" dirty="0"/>
              <a:t>#5.	    print(</a:t>
            </a:r>
            <a:r>
              <a:rPr lang="en-US" altLang="zh-CN" sz="2600" dirty="0" err="1"/>
              <a:t>i</a:t>
            </a:r>
            <a:r>
              <a:rPr lang="en-US" altLang="zh-CN" sz="2600" dirty="0"/>
              <a:t>)</a:t>
            </a:r>
            <a:endParaRPr lang="en-US" altLang="zh-CN" sz="26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sz="2600" dirty="0"/>
              <a:t>#6.	print(x</a:t>
            </a:r>
            <a:r>
              <a:rPr lang="en-US" altLang="zh-CN" sz="2600" dirty="0" smtClean="0"/>
              <a:t>)</a:t>
            </a:r>
            <a:endParaRPr lang="en-US" altLang="zh-CN" sz="2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t="6015"/>
          <a:stretch>
            <a:fillRect/>
          </a:stretch>
        </p:blipFill>
        <p:spPr>
          <a:xfrm>
            <a:off x="8338031" y="4258015"/>
            <a:ext cx="2698915" cy="2174227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mtClean="0">
                <a:sym typeface="+mn-ea"/>
              </a:rPr>
              <a:t>for</a:t>
            </a:r>
            <a:r>
              <a:rPr>
                <a:sym typeface="+mn-ea"/>
              </a:rPr>
              <a:t>循环</a:t>
            </a:r>
            <a:r>
              <a:rPr smtClean="0">
                <a:sym typeface="+mn-ea"/>
              </a:rPr>
              <a:t>中序列</a:t>
            </a:r>
            <a:r>
              <a:rPr>
                <a:sym typeface="+mn-ea"/>
              </a:rPr>
              <a:t>结构的元素增加或</a:t>
            </a:r>
            <a:r>
              <a:rPr smtClean="0">
                <a:sym typeface="+mn-ea"/>
              </a:rPr>
              <a:t>减少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5" y="1160145"/>
            <a:ext cx="12192000" cy="5697220"/>
          </a:xfrm>
        </p:spPr>
        <p:txBody>
          <a:bodyPr>
            <a:normAutofit lnSpcReduction="10000"/>
          </a:bodyPr>
          <a:p>
            <a:r>
              <a:rPr lang="en-US" altLang="zh-CN">
                <a:sym typeface="+mn-ea"/>
              </a:rPr>
              <a:t>x = [1, 2, 3, 4]</a:t>
            </a:r>
            <a:endParaRPr lang="en-US" altLang="zh-CN">
              <a:sym typeface="+mn-ea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>
                <a:sym typeface="+mn-ea"/>
              </a:rPr>
              <a:t>x.pop</a:t>
            </a:r>
            <a:r>
              <a:rPr lang="en-US" altLang="zh-CN">
                <a:sym typeface="+mn-ea"/>
              </a:rPr>
              <a:t>()                   #</a:t>
            </a:r>
            <a:r>
              <a:rPr>
                <a:sym typeface="+mn-ea"/>
              </a:rPr>
              <a:t>按下标</a:t>
            </a:r>
            <a:r>
              <a:rPr>
                <a:sym typeface="+mn-ea"/>
              </a:rPr>
              <a:t>删除列表元素</a:t>
            </a:r>
            <a:endParaRPr lang="en-US" altLang="zh-CN">
              <a:sym typeface="+mn-ea"/>
            </a:endParaRPr>
          </a:p>
          <a:p>
            <a:r>
              <a:rPr lang="en-US" altLang="zh-CN" dirty="0" err="1">
                <a:sym typeface="+mn-ea"/>
              </a:rPr>
              <a:t>x.append</a:t>
            </a:r>
            <a:r>
              <a:rPr lang="en-US" altLang="zh-CN">
                <a:sym typeface="+mn-ea"/>
              </a:rPr>
              <a:t>(5)           #</a:t>
            </a:r>
            <a:r>
              <a:rPr>
                <a:sym typeface="+mn-ea"/>
              </a:rPr>
              <a:t>追加列表元素</a:t>
            </a:r>
            <a:endParaRPr lang="en-US" altLang="zh-CN"/>
          </a:p>
          <a:p>
            <a:r>
              <a:rPr lang="en-US" altLang="zh-CN"/>
              <a:t>x.insert(3,5)    #</a:t>
            </a:r>
            <a:r>
              <a:t>指定位置插入数值。下标</a:t>
            </a:r>
            <a:r>
              <a:rPr lang="en-US" altLang="zh-CN"/>
              <a:t>3</a:t>
            </a:r>
            <a:r>
              <a:t>的位置插入数值</a:t>
            </a:r>
            <a:r>
              <a:rPr lang="en-US" altLang="zh-CN"/>
              <a:t>5</a:t>
            </a:r>
            <a:r>
              <a:t>。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pop</a:t>
            </a:r>
            <a:r>
              <a:t>按下标</a:t>
            </a:r>
            <a:r>
              <a:t>删除列表元素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60780"/>
            <a:ext cx="12192635" cy="5697220"/>
          </a:xfrm>
        </p:spPr>
        <p:txBody>
          <a:bodyPr>
            <a:normAutofit lnSpcReduction="10000"/>
          </a:bodyPr>
          <a:p>
            <a:pPr algn="l"/>
            <a:r>
              <a:rPr lang="en-US" altLang="zh-CN">
                <a:sym typeface="+mn-ea"/>
              </a:rPr>
              <a:t>list.pop([index=-1])</a:t>
            </a:r>
            <a:endParaRPr lang="en-US" altLang="zh-CN" dirty="0">
              <a:sym typeface="+mn-ea"/>
            </a:endParaRPr>
          </a:p>
          <a:p>
            <a:pPr algn="l"/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obj -- 可选参数，要移除列表元素的索引值</a:t>
            </a:r>
            <a:r>
              <a:rPr>
                <a:sym typeface="+mn-ea"/>
              </a:rPr>
              <a:t>（下标）</a:t>
            </a:r>
            <a:r>
              <a:rPr lang="en-US" altLang="zh-CN">
                <a:sym typeface="+mn-ea"/>
              </a:rPr>
              <a:t>，不能超过列表总长度，</a:t>
            </a:r>
            <a:endParaRPr lang="en-US" altLang="zh-CN">
              <a:sym typeface="+mn-ea"/>
            </a:endParaRPr>
          </a:p>
          <a:p>
            <a:pPr algn="l"/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默认为 index=-1，删除最后一个列表值。 </a:t>
            </a:r>
            <a:endParaRPr lang="en-US" altLang="zh-CN">
              <a:sym typeface="+mn-ea"/>
            </a:endParaRPr>
          </a:p>
          <a:p>
            <a:pPr algn="l"/>
            <a:endParaRPr lang="en-US" altLang="zh-CN">
              <a:sym typeface="+mn-ea"/>
            </a:endParaRPr>
          </a:p>
          <a:p>
            <a:pPr algn="l"/>
            <a:r>
              <a:rPr lang="en-US" altLang="zh-CN" dirty="0">
                <a:sym typeface="+mn-ea"/>
              </a:rPr>
              <a:t>返回值</a:t>
            </a:r>
            <a:r>
              <a:rPr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该方法返回从列表中移除的元素对象。</a:t>
            </a:r>
            <a:endParaRPr lang="en-US" altLang="zh-CN" dirty="0">
              <a:sym typeface="+mn-ea"/>
            </a:endParaRPr>
          </a:p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</a:t>
            </a:r>
            <a:r>
              <a:rPr lang="zh-CN" altLang="en-US" dirty="0"/>
              <a:t>循环</a:t>
            </a:r>
            <a:r>
              <a:rPr lang="zh-CN" altLang="en-US" dirty="0" smtClean="0"/>
              <a:t>中序列</a:t>
            </a:r>
            <a:r>
              <a:rPr lang="zh-CN" altLang="en-US" dirty="0"/>
              <a:t>结构的元素增加或</a:t>
            </a:r>
            <a:r>
              <a:rPr lang="zh-CN" altLang="en-US" dirty="0" smtClean="0"/>
              <a:t>减少（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5" y="1011555"/>
            <a:ext cx="12191365" cy="5329555"/>
          </a:xfrm>
          <a:solidFill>
            <a:schemeClr val="bg1">
              <a:lumMod val="85000"/>
            </a:schemeClr>
          </a:solidFill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zh-CN">
                <a:sym typeface="+mn-ea"/>
              </a:rPr>
              <a:t>#1.	</a:t>
            </a:r>
            <a:r>
              <a:rPr lang="en-US" altLang="zh-CN" dirty="0"/>
              <a:t>x=[1,2,3,4,5,6,7,8,9,10,11,12,13,14]#</a:t>
            </a:r>
            <a:r>
              <a:rPr dirty="0"/>
              <a:t>原表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>
                <a:sym typeface="+mn-ea"/>
              </a:rPr>
              <a:t>#2.	</a:t>
            </a:r>
            <a:r>
              <a:rPr lang="en-US" altLang="zh-CN" dirty="0"/>
              <a:t>y=[0,1,7,8]               #</a:t>
            </a:r>
            <a:r>
              <a:rPr dirty="0"/>
              <a:t>要删除的下标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>
                <a:sym typeface="+mn-ea"/>
              </a:rPr>
              <a:t>#3.	</a:t>
            </a:r>
            <a:r>
              <a:rPr lang="en-US" altLang="zh-CN" dirty="0"/>
              <a:t>print(x)                    #</a:t>
            </a:r>
            <a:r>
              <a:rPr dirty="0"/>
              <a:t>输出原表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>
                <a:sym typeface="+mn-ea"/>
              </a:rPr>
              <a:t>#4.	</a:t>
            </a:r>
            <a:r>
              <a:rPr lang="en-US" altLang="zh-CN" dirty="0"/>
              <a:t>for i in y: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>
                <a:sym typeface="+mn-ea"/>
              </a:rPr>
              <a:t>#5.	</a:t>
            </a:r>
            <a:r>
              <a:rPr lang="en-US" altLang="zh-CN" dirty="0"/>
              <a:t>    print("删除下标为",i,"值为",x[i],"的元素")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>
                <a:sym typeface="+mn-ea"/>
              </a:rPr>
              <a:t>#6.	</a:t>
            </a:r>
            <a:r>
              <a:rPr lang="en-US" altLang="zh-CN" dirty="0"/>
              <a:t>    x.pop(i)   #</a:t>
            </a:r>
            <a:r>
              <a:rPr dirty="0"/>
              <a:t>删除元素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>
                <a:sym typeface="+mn-ea"/>
              </a:rPr>
              <a:t>#7.	</a:t>
            </a:r>
            <a:r>
              <a:rPr lang="en-US" altLang="zh-CN" dirty="0"/>
              <a:t>    print(x) 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#</a:t>
            </a:r>
            <a:r>
              <a:rPr dirty="0"/>
              <a:t>输出删除一个元素</a:t>
            </a:r>
            <a:r>
              <a:rPr dirty="0"/>
              <a:t>后的表</a:t>
            </a:r>
            <a:endParaRPr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7225" b="1603"/>
          <a:stretch>
            <a:fillRect/>
          </a:stretch>
        </p:blipFill>
        <p:spPr>
          <a:xfrm>
            <a:off x="5970905" y="4046220"/>
            <a:ext cx="6221095" cy="2766695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append</a:t>
            </a:r>
            <a:r>
              <a:rPr>
                <a:sym typeface="+mn-ea"/>
              </a:rPr>
              <a:t>列表末尾添加新元素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635" y="1160145"/>
            <a:ext cx="11522710" cy="5180965"/>
          </a:xfrm>
        </p:spPr>
        <p:txBody>
          <a:bodyPr>
            <a:normAutofit lnSpcReduction="10000"/>
          </a:bodyPr>
          <a:p>
            <a:endParaRPr lang="zh-CN" altLang="en-US"/>
          </a:p>
          <a:p>
            <a:r>
              <a:rPr lang="zh-CN" altLang="en-US"/>
              <a:t>list.append(obj)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obj -- 添加到列表末尾的对象。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返回值：该方法无返回值，但是会修改原来的列表。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</a:t>
            </a:r>
            <a:r>
              <a:rPr lang="zh-CN" altLang="en-US" dirty="0"/>
              <a:t>循环</a:t>
            </a:r>
            <a:r>
              <a:rPr lang="zh-CN" altLang="en-US" dirty="0" smtClean="0"/>
              <a:t>中序列</a:t>
            </a:r>
            <a:r>
              <a:rPr lang="zh-CN" altLang="en-US" dirty="0"/>
              <a:t>结构的元素增加或</a:t>
            </a:r>
            <a:r>
              <a:rPr lang="zh-CN" altLang="en-US" dirty="0" smtClean="0"/>
              <a:t>减少（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268730"/>
            <a:ext cx="10852150" cy="558990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#1.	x = [1, 2]  ;  y=[4,5,6]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for i in x: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>
                <a:sym typeface="+mn-ea"/>
              </a:rPr>
              <a:t>#3.</a:t>
            </a:r>
            <a:r>
              <a:rPr lang="en-US" altLang="zh-CN" dirty="0"/>
              <a:t>          print("新元素：",i)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>
                <a:sym typeface="+mn-ea"/>
              </a:rPr>
              <a:t>#4.</a:t>
            </a:r>
            <a:r>
              <a:rPr lang="en-US" altLang="zh-CN" dirty="0"/>
              <a:t>          if i not in y: y.append(i)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>
                <a:sym typeface="+mn-ea"/>
              </a:rPr>
              <a:t>#5.</a:t>
            </a:r>
            <a:r>
              <a:rPr lang="en-US" altLang="zh-CN" dirty="0"/>
              <a:t>          print(y)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2220" y="4574540"/>
            <a:ext cx="4051935" cy="2284095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insert() 函数用于将指定对象插入列表的指定位置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5" y="1160145"/>
            <a:ext cx="11521440" cy="5180965"/>
          </a:xfrm>
        </p:spPr>
        <p:txBody>
          <a:bodyPr>
            <a:normAutofit/>
          </a:bodyPr>
          <a:p>
            <a:r>
              <a:rPr lang="zh-CN" altLang="en-US"/>
              <a:t>list.insert(index, obj)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index -- 对象 obj 需要插入的索引（下标）</a:t>
            </a:r>
            <a:r>
              <a:rPr lang="zh-CN" altLang="en-US"/>
              <a:t>位置。</a:t>
            </a:r>
            <a:endParaRPr lang="zh-CN" altLang="en-US"/>
          </a:p>
          <a:p>
            <a:r>
              <a:rPr lang="zh-CN" altLang="en-US"/>
              <a:t>obj -- 要插入列表中的对象。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返回值：该方法没有返回值，但会在列表指定位置插入对象。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</a:t>
            </a:r>
            <a:r>
              <a:rPr lang="zh-CN" altLang="en-US" dirty="0"/>
              <a:t>循环</a:t>
            </a:r>
            <a:r>
              <a:rPr lang="zh-CN" altLang="en-US" dirty="0" smtClean="0"/>
              <a:t>中序列</a:t>
            </a:r>
            <a:r>
              <a:rPr lang="zh-CN" altLang="en-US" dirty="0"/>
              <a:t>结构的元素增加或</a:t>
            </a:r>
            <a:r>
              <a:rPr lang="zh-CN" altLang="en-US" dirty="0" smtClean="0"/>
              <a:t>减少（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635" y="1268730"/>
            <a:ext cx="11522710" cy="50723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#1.	</a:t>
            </a:r>
            <a:r>
              <a:rPr lang="en-US" altLang="zh-CN"/>
              <a:t>x=[1,2,3,4,5]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#2.	</a:t>
            </a:r>
            <a:r>
              <a:rPr lang="en-US" altLang="zh-CN"/>
              <a:t>y=[11,12,13,14]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#3.	</a:t>
            </a:r>
            <a:r>
              <a:rPr lang="en-US" altLang="zh-CN"/>
              <a:t>print(x)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#4.	</a:t>
            </a:r>
            <a:r>
              <a:rPr lang="en-US" altLang="zh-CN"/>
              <a:t>for i in y: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#5.	</a:t>
            </a:r>
            <a:r>
              <a:rPr lang="en-US" altLang="zh-CN"/>
              <a:t>    print("在下标3的位置插入元素",i)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#6.	</a:t>
            </a:r>
            <a:r>
              <a:rPr lang="en-US" altLang="zh-CN"/>
              <a:t>    x.insert(3,i)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#7.	</a:t>
            </a:r>
            <a:r>
              <a:rPr lang="en-US" altLang="zh-CN"/>
              <a:t>    print(x)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1505" y="3385820"/>
            <a:ext cx="5161280" cy="3366135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1160145"/>
            <a:ext cx="10970691" cy="28449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5-4】</a:t>
            </a:r>
            <a:r>
              <a:rPr lang="zh-CN" altLang="en-US" dirty="0"/>
              <a:t>用</a:t>
            </a:r>
            <a:r>
              <a:rPr lang="en-US" altLang="zh-CN" dirty="0"/>
              <a:t>for</a:t>
            </a:r>
            <a:r>
              <a:rPr lang="zh-CN" altLang="en-US" dirty="0"/>
              <a:t>语句求</a:t>
            </a:r>
            <a:r>
              <a:rPr lang="en-US" altLang="zh-CN" dirty="0"/>
              <a:t>1+2+3+…+99+100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#1.	sum = 0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for </a:t>
            </a:r>
            <a:r>
              <a:rPr lang="en-US" altLang="zh-CN" dirty="0" err="1"/>
              <a:t>i</a:t>
            </a:r>
            <a:r>
              <a:rPr lang="en-US" altLang="zh-CN" dirty="0"/>
              <a:t> in range(1, 101</a:t>
            </a:r>
            <a:r>
              <a:rPr lang="en-US" altLang="zh-CN" dirty="0" smtClean="0"/>
              <a:t>):  </a:t>
            </a:r>
            <a:r>
              <a:rPr lang="en-US" altLang="zh-CN" dirty="0" smtClean="0">
                <a:solidFill>
                  <a:srgbClr val="FF0000"/>
                </a:solidFill>
              </a:rPr>
              <a:t># range</a:t>
            </a:r>
            <a:r>
              <a:rPr lang="en-US" altLang="zh-CN" dirty="0">
                <a:solidFill>
                  <a:srgbClr val="FF0000"/>
                </a:solidFill>
              </a:rPr>
              <a:t>()</a:t>
            </a:r>
            <a:r>
              <a:rPr lang="zh-CN" altLang="en-US" dirty="0">
                <a:solidFill>
                  <a:srgbClr val="FF0000"/>
                </a:solidFill>
              </a:rPr>
              <a:t>函数产生的数不包括</a:t>
            </a:r>
            <a:r>
              <a:rPr lang="en-US" altLang="zh-CN" dirty="0">
                <a:solidFill>
                  <a:srgbClr val="FF0000"/>
                </a:solidFill>
              </a:rPr>
              <a:t>101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#3.	    sum += </a:t>
            </a:r>
            <a:r>
              <a:rPr lang="en-US" altLang="zh-CN" dirty="0" err="1"/>
              <a:t>i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print(sum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运行程序，结果如下：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5050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1160145"/>
            <a:ext cx="10970691" cy="30609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5-5】</a:t>
            </a:r>
            <a:r>
              <a:rPr lang="zh-CN" altLang="en-US" dirty="0"/>
              <a:t>用</a:t>
            </a:r>
            <a:r>
              <a:rPr lang="en-US" altLang="zh-CN" dirty="0"/>
              <a:t>for</a:t>
            </a:r>
            <a:r>
              <a:rPr lang="zh-CN" altLang="en-US" dirty="0"/>
              <a:t>语句求一个整数的各位数字之和。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#</a:t>
            </a:r>
            <a:r>
              <a:rPr lang="en-US" altLang="zh-CN" dirty="0"/>
              <a:t>1.	n = input("</a:t>
            </a:r>
            <a:r>
              <a:rPr lang="zh-CN" altLang="en-US" dirty="0"/>
              <a:t>请输入一个整数：</a:t>
            </a:r>
            <a:r>
              <a:rPr lang="en-US" altLang="zh-CN" dirty="0"/>
              <a:t>")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sum = 0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for </a:t>
            </a:r>
            <a:r>
              <a:rPr lang="en-US" altLang="zh-CN" dirty="0" err="1"/>
              <a:t>i</a:t>
            </a:r>
            <a:r>
              <a:rPr lang="en-US" altLang="zh-CN" dirty="0"/>
              <a:t> in n:			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    sum += </a:t>
            </a:r>
            <a:r>
              <a:rPr lang="en-US" altLang="zh-CN" dirty="0" err="1"/>
              <a:t>int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#5.	print(sum)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请</a:t>
            </a:r>
            <a:r>
              <a:rPr lang="zh-CN" altLang="en-US" dirty="0"/>
              <a:t>输入一个整数：</a:t>
            </a:r>
            <a:r>
              <a:rPr lang="en-US" altLang="zh-CN" u="sng" dirty="0"/>
              <a:t>382↙</a:t>
            </a:r>
            <a:endParaRPr lang="en-US" altLang="zh-CN" u="sng" dirty="0"/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13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2492896"/>
            <a:ext cx="10970691" cy="3312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5-6】</a:t>
            </a:r>
            <a:r>
              <a:rPr lang="zh-CN" altLang="en-US" dirty="0"/>
              <a:t>编写程序找出所有三位水仙花数。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所谓</a:t>
            </a:r>
            <a:r>
              <a:rPr lang="zh-CN" altLang="en-US" dirty="0"/>
              <a:t>水仙花数是指其各位数字的立方和等于该数本身。例如，</a:t>
            </a:r>
            <a:r>
              <a:rPr lang="en-US" altLang="zh-CN" dirty="0" smtClean="0"/>
              <a:t>153=1</a:t>
            </a:r>
            <a:r>
              <a:rPr lang="en-US" altLang="zh-CN" baseline="30000" dirty="0" smtClean="0"/>
              <a:t>3</a:t>
            </a:r>
            <a:r>
              <a:rPr lang="en-US" altLang="zh-CN" dirty="0" smtClean="0"/>
              <a:t>+5</a:t>
            </a:r>
            <a:r>
              <a:rPr lang="en-US" altLang="zh-CN" baseline="30000" dirty="0" smtClean="0"/>
              <a:t>3</a:t>
            </a:r>
            <a:r>
              <a:rPr lang="en-US" altLang="zh-CN" dirty="0" smtClean="0"/>
              <a:t>+3</a:t>
            </a:r>
            <a:r>
              <a:rPr lang="en-US" altLang="zh-CN" baseline="30000" dirty="0"/>
              <a:t>3</a:t>
            </a:r>
            <a:r>
              <a:rPr lang="zh-CN" altLang="en-US" dirty="0" smtClean="0"/>
              <a:t>，</a:t>
            </a:r>
            <a:r>
              <a:rPr lang="zh-CN" altLang="en-US" dirty="0"/>
              <a:t>所以</a:t>
            </a:r>
            <a:r>
              <a:rPr lang="en-US" altLang="zh-CN" dirty="0"/>
              <a:t>153</a:t>
            </a:r>
            <a:r>
              <a:rPr lang="zh-CN" altLang="en-US" dirty="0"/>
              <a:t>是水仙花数。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#1.	for </a:t>
            </a:r>
            <a:r>
              <a:rPr lang="en-US" altLang="zh-CN" dirty="0" err="1"/>
              <a:t>i</a:t>
            </a:r>
            <a:r>
              <a:rPr lang="en-US" altLang="zh-CN" dirty="0"/>
              <a:t> in range(100, 1000):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    a, temp = </a:t>
            </a:r>
            <a:r>
              <a:rPr lang="en-US" altLang="zh-CN" dirty="0" err="1"/>
              <a:t>divmod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, 100)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    b, c=</a:t>
            </a:r>
            <a:r>
              <a:rPr lang="en-US" altLang="zh-CN" dirty="0" err="1"/>
              <a:t>divmod</a:t>
            </a:r>
            <a:r>
              <a:rPr lang="en-US" altLang="zh-CN" dirty="0"/>
              <a:t>(temp, 10)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    if a ** 3 + b ** 3 + c ** 3 == i: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#5.	        print(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6" name="墨迹 5"/>
              <p14:cNvContentPartPr/>
              <p14:nvPr/>
            </p14:nvContentPartPr>
            <p14:xfrm>
              <a:off x="6096000" y="977900"/>
              <a:ext cx="2597150" cy="3810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2"/>
            </p:blipFill>
            <p:spPr>
              <a:xfrm>
                <a:off x="6096000" y="977900"/>
                <a:ext cx="2597150" cy="381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339850"/>
            <a:ext cx="12178030" cy="36195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882775" y="2292350"/>
            <a:ext cx="868489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5.3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循环控制语句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5.3.1 break</a:t>
            </a:r>
            <a:r>
              <a:rPr lang="zh-CN" altLang="en-US" dirty="0"/>
              <a:t>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循环体中使用</a:t>
            </a:r>
            <a:r>
              <a:rPr lang="en-US" altLang="zh-CN" sz="3200" dirty="0"/>
              <a:t>break</a:t>
            </a:r>
            <a:r>
              <a:rPr lang="zh-CN" altLang="en-US" sz="3200" dirty="0"/>
              <a:t>语句，可以跳出包含</a:t>
            </a:r>
            <a:r>
              <a:rPr lang="en-US" altLang="zh-CN" sz="3200" dirty="0"/>
              <a:t>break</a:t>
            </a:r>
            <a:r>
              <a:rPr lang="zh-CN" altLang="en-US" sz="3200" dirty="0"/>
              <a:t>语句的那层循环，从而提前结束该循环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pPr lvl="1"/>
            <a:r>
              <a:rPr lang="zh-CN" altLang="en-US" sz="3200" dirty="0" smtClean="0"/>
              <a:t>跳出</a:t>
            </a:r>
            <a:r>
              <a:rPr lang="zh-CN" altLang="en-US" sz="3200" dirty="0"/>
              <a:t>循环后，继续执行当前层循环的后续语句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5.3.1 break</a:t>
            </a:r>
            <a:r>
              <a:rPr lang="zh-CN" altLang="en-US" dirty="0"/>
              <a:t>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【</a:t>
            </a:r>
            <a:r>
              <a:rPr lang="zh-CN" altLang="en-US" sz="3200" dirty="0"/>
              <a:t>例</a:t>
            </a:r>
            <a:r>
              <a:rPr lang="en-US" altLang="zh-CN" sz="3200" dirty="0"/>
              <a:t>5-7】</a:t>
            </a:r>
            <a:r>
              <a:rPr lang="zh-CN" altLang="en-US" sz="3200" dirty="0"/>
              <a:t>输入一个正整数</a:t>
            </a:r>
            <a:r>
              <a:rPr lang="en-US" altLang="zh-CN" sz="3200" dirty="0"/>
              <a:t>n</a:t>
            </a:r>
            <a:r>
              <a:rPr lang="zh-CN" altLang="en-US" sz="3200" dirty="0"/>
              <a:t>，判断它是否为素数。素数就是只能被</a:t>
            </a:r>
            <a:r>
              <a:rPr lang="en-US" altLang="zh-CN" sz="3200" dirty="0"/>
              <a:t>1</a:t>
            </a:r>
            <a:r>
              <a:rPr lang="zh-CN" altLang="en-US" sz="3200" dirty="0"/>
              <a:t>和自身整除的数。</a:t>
            </a:r>
            <a:endParaRPr lang="zh-CN" altLang="en-US" sz="3200" dirty="0"/>
          </a:p>
          <a:p>
            <a:pPr lvl="1"/>
            <a:r>
              <a:rPr lang="zh-CN" altLang="en-US" sz="3200" dirty="0" smtClean="0"/>
              <a:t>判断</a:t>
            </a:r>
            <a:r>
              <a:rPr lang="en-US" altLang="zh-CN" sz="3200" dirty="0"/>
              <a:t>n</a:t>
            </a:r>
            <a:r>
              <a:rPr lang="zh-CN" altLang="en-US" sz="3200" dirty="0"/>
              <a:t>是否为素数，可以按素数的定义进行判断，用</a:t>
            </a:r>
            <a:r>
              <a:rPr lang="en-US" altLang="zh-CN" sz="3200" dirty="0"/>
              <a:t>n</a:t>
            </a:r>
            <a:r>
              <a:rPr lang="zh-CN" altLang="en-US" sz="3200" dirty="0"/>
              <a:t>依次除以</a:t>
            </a:r>
            <a:r>
              <a:rPr lang="en-US" altLang="zh-CN" sz="3200" dirty="0"/>
              <a:t>2</a:t>
            </a:r>
            <a:r>
              <a:rPr lang="zh-CN" altLang="en-US" sz="3200" dirty="0"/>
              <a:t>到</a:t>
            </a:r>
            <a:r>
              <a:rPr lang="en-US" altLang="zh-CN" sz="3200" dirty="0"/>
              <a:t>n-1</a:t>
            </a:r>
            <a:r>
              <a:rPr lang="zh-CN" altLang="en-US" sz="3200" dirty="0"/>
              <a:t>之间的所有数，只要发现有一个数能够被</a:t>
            </a:r>
            <a:r>
              <a:rPr lang="en-US" altLang="zh-CN" sz="3200" dirty="0"/>
              <a:t>n</a:t>
            </a:r>
            <a:r>
              <a:rPr lang="zh-CN" altLang="en-US" sz="3200" dirty="0"/>
              <a:t>整除，马上可以结束循环，判定</a:t>
            </a:r>
            <a:r>
              <a:rPr lang="en-US" altLang="zh-CN" sz="3200" dirty="0"/>
              <a:t>n</a:t>
            </a:r>
            <a:r>
              <a:rPr lang="zh-CN" altLang="en-US" sz="3200" dirty="0"/>
              <a:t>不是素数。如果没有一个能够被</a:t>
            </a:r>
            <a:r>
              <a:rPr lang="en-US" altLang="zh-CN" sz="3200" dirty="0"/>
              <a:t>n</a:t>
            </a:r>
            <a:r>
              <a:rPr lang="zh-CN" altLang="en-US" sz="3200" dirty="0"/>
              <a:t>整除的数，则</a:t>
            </a:r>
            <a:r>
              <a:rPr lang="en-US" altLang="zh-CN" sz="3200" dirty="0"/>
              <a:t>n</a:t>
            </a:r>
            <a:r>
              <a:rPr lang="zh-CN" altLang="en-US" sz="3200" dirty="0"/>
              <a:t>为素数</a:t>
            </a:r>
            <a:r>
              <a:rPr lang="zh-CN" altLang="en-US" sz="3200" dirty="0" smtClean="0"/>
              <a:t>。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5-7】</a:t>
            </a:r>
            <a:r>
              <a:rPr lang="zh-CN" altLang="en-US" dirty="0"/>
              <a:t>输入一个正整数</a:t>
            </a:r>
            <a:r>
              <a:rPr lang="en-US" altLang="zh-CN" dirty="0"/>
              <a:t>n</a:t>
            </a:r>
            <a:r>
              <a:rPr lang="zh-CN" altLang="en-US" dirty="0"/>
              <a:t>，判断它是否为素数。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12776"/>
            <a:ext cx="10852150" cy="492833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#1.	n = </a:t>
            </a:r>
            <a:r>
              <a:rPr lang="en-US" altLang="zh-CN" dirty="0" err="1"/>
              <a:t>int</a:t>
            </a:r>
            <a:r>
              <a:rPr lang="en-US" altLang="zh-CN" dirty="0"/>
              <a:t>(input('</a:t>
            </a:r>
            <a:r>
              <a:rPr lang="zh-CN" altLang="en-US" dirty="0"/>
              <a:t>请输入一个整数：</a:t>
            </a:r>
            <a:r>
              <a:rPr lang="en-US" altLang="zh-CN" dirty="0"/>
              <a:t>'))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for </a:t>
            </a:r>
            <a:r>
              <a:rPr lang="en-US" altLang="zh-CN" dirty="0" err="1"/>
              <a:t>i</a:t>
            </a:r>
            <a:r>
              <a:rPr lang="en-US" altLang="zh-CN" dirty="0"/>
              <a:t> in range(2, n):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    if n % </a:t>
            </a:r>
            <a:r>
              <a:rPr lang="en-US" altLang="zh-CN" dirty="0" err="1"/>
              <a:t>i</a:t>
            </a:r>
            <a:r>
              <a:rPr lang="en-US" altLang="zh-CN" dirty="0"/>
              <a:t> == 0: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        print(n, '</a:t>
            </a:r>
            <a:r>
              <a:rPr lang="zh-CN" altLang="en-US" dirty="0"/>
              <a:t>不是素数</a:t>
            </a:r>
            <a:r>
              <a:rPr lang="en-US" altLang="zh-CN" dirty="0"/>
              <a:t>')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#5.	        break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#6.	else: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#7.	    print(n, '</a:t>
            </a:r>
            <a:r>
              <a:rPr lang="zh-CN" altLang="en-US" dirty="0"/>
              <a:t>是素数</a:t>
            </a:r>
            <a:r>
              <a:rPr lang="en-US" altLang="zh-CN" dirty="0" smtClean="0"/>
              <a:t>')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33205" y="1925320"/>
            <a:ext cx="16560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in range(2, n)</a:t>
            </a:r>
            <a:endParaRPr lang="en-US" altLang="zh-CN" dirty="0">
              <a:sym typeface="+mn-ea"/>
            </a:endParaRPr>
          </a:p>
        </p:txBody>
      </p:sp>
      <p:sp>
        <p:nvSpPr>
          <p:cNvPr id="6" name="菱形 5"/>
          <p:cNvSpPr/>
          <p:nvPr/>
        </p:nvSpPr>
        <p:spPr>
          <a:xfrm>
            <a:off x="8930005" y="1701800"/>
            <a:ext cx="1754505" cy="815340"/>
          </a:xfrm>
          <a:prstGeom prst="diamond">
            <a:avLst/>
          </a:prstGeom>
          <a:noFill/>
          <a:ln w="222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endCxn id="6" idx="0"/>
          </p:cNvCxnSpPr>
          <p:nvPr/>
        </p:nvCxnSpPr>
        <p:spPr>
          <a:xfrm>
            <a:off x="9768840" y="980440"/>
            <a:ext cx="38735" cy="72136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9263380" y="3223895"/>
            <a:ext cx="1084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ym typeface="+mn-ea"/>
              </a:rPr>
              <a:t>n%i == 0</a:t>
            </a:r>
            <a:endParaRPr lang="en-US" altLang="zh-CN" dirty="0">
              <a:sym typeface="+mn-ea"/>
            </a:endParaRPr>
          </a:p>
        </p:txBody>
      </p:sp>
      <p:sp>
        <p:nvSpPr>
          <p:cNvPr id="9" name="菱形 8"/>
          <p:cNvSpPr/>
          <p:nvPr/>
        </p:nvSpPr>
        <p:spPr>
          <a:xfrm>
            <a:off x="8928100" y="3000375"/>
            <a:ext cx="1754505" cy="815340"/>
          </a:xfrm>
          <a:prstGeom prst="diamond">
            <a:avLst/>
          </a:prstGeom>
          <a:noFill/>
          <a:ln w="222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endCxn id="9" idx="0"/>
          </p:cNvCxnSpPr>
          <p:nvPr/>
        </p:nvCxnSpPr>
        <p:spPr>
          <a:xfrm flipH="1">
            <a:off x="9805670" y="2588895"/>
            <a:ext cx="1905" cy="4832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9807575" y="3815715"/>
            <a:ext cx="2540" cy="41465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646795" y="4230370"/>
            <a:ext cx="2379980" cy="3683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dirty="0">
                <a:sym typeface="+mn-ea"/>
              </a:rPr>
              <a:t>输出</a:t>
            </a:r>
            <a:r>
              <a:rPr lang="en-US" altLang="zh-CN" dirty="0">
                <a:sym typeface="+mn-ea"/>
              </a:rPr>
              <a:t>n</a:t>
            </a:r>
            <a:r>
              <a:rPr lang="zh-CN" altLang="en-US" dirty="0">
                <a:sym typeface="+mn-ea"/>
              </a:rPr>
              <a:t>不是素数</a:t>
            </a:r>
            <a:r>
              <a:rPr lang="en-US" altLang="zh-CN" dirty="0">
                <a:sym typeface="+mn-ea"/>
              </a:rPr>
              <a:t>,</a:t>
            </a:r>
            <a:r>
              <a:rPr lang="en-US" altLang="zh-CN" dirty="0">
                <a:sym typeface="+mn-ea"/>
              </a:rPr>
              <a:t>break;</a:t>
            </a:r>
            <a:endParaRPr lang="en-US" altLang="zh-CN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441940" y="5227955"/>
            <a:ext cx="1452880" cy="3683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dirty="0">
                <a:sym typeface="+mn-ea"/>
              </a:rPr>
              <a:t>输出</a:t>
            </a:r>
            <a:r>
              <a:rPr lang="en-US" altLang="zh-CN" dirty="0">
                <a:sym typeface="+mn-ea"/>
              </a:rPr>
              <a:t>n</a:t>
            </a:r>
            <a:r>
              <a:rPr lang="zh-CN" altLang="en-US" dirty="0">
                <a:sym typeface="+mn-ea"/>
              </a:rPr>
              <a:t>是素数</a:t>
            </a:r>
            <a:endParaRPr lang="zh-CN" altLang="en-US" dirty="0">
              <a:sym typeface="+mn-ea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10684510" y="2059940"/>
            <a:ext cx="668655" cy="4254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11281410" y="2059940"/>
            <a:ext cx="25400" cy="316801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8133715" y="3407410"/>
            <a:ext cx="794385" cy="127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 flipV="1">
            <a:off x="8112760" y="1555750"/>
            <a:ext cx="20955" cy="185166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8133715" y="1483995"/>
            <a:ext cx="1707515" cy="7175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9457690" y="3815715"/>
            <a:ext cx="335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Y</a:t>
            </a:r>
            <a:endParaRPr lang="en-US" altLang="zh-CN" dirty="0"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557895" y="3094355"/>
            <a:ext cx="347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N</a:t>
            </a:r>
            <a:endParaRPr lang="en-US" altLang="zh-CN" dirty="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682605" y="1701800"/>
            <a:ext cx="347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N</a:t>
            </a:r>
            <a:endParaRPr lang="en-US" altLang="zh-CN" dirty="0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493250" y="2462530"/>
            <a:ext cx="335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Y</a:t>
            </a:r>
            <a:endParaRPr lang="en-US" altLang="zh-CN" dirty="0">
              <a:sym typeface="+mn-ea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9840595" y="4598670"/>
            <a:ext cx="635" cy="156654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9828530" y="5411470"/>
            <a:ext cx="588010" cy="3365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5.3.2 continue</a:t>
            </a:r>
            <a:r>
              <a:rPr lang="zh-CN" altLang="en-US" dirty="0"/>
              <a:t>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循环体中使用</a:t>
            </a:r>
            <a:r>
              <a:rPr lang="en-US" altLang="zh-CN" dirty="0"/>
              <a:t>continue</a:t>
            </a:r>
            <a:r>
              <a:rPr lang="zh-CN" altLang="en-US" dirty="0"/>
              <a:t>语句，可以提前结束本次</a:t>
            </a:r>
            <a:r>
              <a:rPr lang="zh-CN" altLang="en-US" dirty="0" smtClean="0"/>
              <a:t>循环体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不再</a:t>
            </a:r>
            <a:r>
              <a:rPr lang="zh-CN" altLang="en-US" dirty="0"/>
              <a:t>执行本语句后循环体中的其他</a:t>
            </a:r>
            <a:r>
              <a:rPr lang="zh-CN" altLang="en-US" dirty="0" smtClean="0"/>
              <a:t>语句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跳</a:t>
            </a:r>
            <a:r>
              <a:rPr lang="zh-CN" altLang="en-US" dirty="0"/>
              <a:t>回到循环结构首行，重新判断循环</a:t>
            </a:r>
            <a:r>
              <a:rPr lang="zh-CN" altLang="en-US" dirty="0" smtClean="0"/>
              <a:t>条件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5-8】</a:t>
            </a:r>
            <a:r>
              <a:rPr lang="zh-CN" altLang="en-US" dirty="0"/>
              <a:t>改用</a:t>
            </a:r>
            <a:r>
              <a:rPr lang="en-US" altLang="zh-CN" dirty="0"/>
              <a:t>continue</a:t>
            </a:r>
            <a:r>
              <a:rPr lang="zh-CN" altLang="en-US" dirty="0"/>
              <a:t>找所有三位水仙花数。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12776"/>
            <a:ext cx="10852150" cy="421307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#1.	for </a:t>
            </a:r>
            <a:r>
              <a:rPr lang="en-US" altLang="zh-CN" dirty="0" err="1"/>
              <a:t>i</a:t>
            </a:r>
            <a:r>
              <a:rPr lang="en-US" altLang="zh-CN" dirty="0"/>
              <a:t> in range(100, 1000):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    a, temp = </a:t>
            </a:r>
            <a:r>
              <a:rPr lang="en-US" altLang="zh-CN" dirty="0" err="1"/>
              <a:t>divmod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, 100)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    b, c = </a:t>
            </a:r>
            <a:r>
              <a:rPr lang="en-US" altLang="zh-CN" dirty="0" err="1"/>
              <a:t>divmod</a:t>
            </a:r>
            <a:r>
              <a:rPr lang="en-US" altLang="zh-CN" dirty="0"/>
              <a:t>(temp, 10)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    if a ** 3 + b ** 3 + c ** 3 != i: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#5.	        continue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#6.	    print(</a:t>
            </a:r>
            <a:r>
              <a:rPr lang="en-US" altLang="zh-CN" dirty="0" err="1"/>
              <a:t>i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905875" y="5673558"/>
            <a:ext cx="2700000" cy="316800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078595" y="1249045"/>
            <a:ext cx="2227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ym typeface="+mn-ea"/>
              </a:rPr>
              <a:t>i in range(100,1000)</a:t>
            </a:r>
            <a:endParaRPr lang="en-US" altLang="zh-CN" dirty="0">
              <a:sym typeface="+mn-ea"/>
            </a:endParaRPr>
          </a:p>
        </p:txBody>
      </p:sp>
      <p:sp>
        <p:nvSpPr>
          <p:cNvPr id="6" name="菱形 5"/>
          <p:cNvSpPr/>
          <p:nvPr/>
        </p:nvSpPr>
        <p:spPr>
          <a:xfrm>
            <a:off x="8977630" y="1025525"/>
            <a:ext cx="2444750" cy="815340"/>
          </a:xfrm>
          <a:prstGeom prst="diamond">
            <a:avLst/>
          </a:prstGeom>
          <a:noFill/>
          <a:ln w="222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905875" y="2325370"/>
            <a:ext cx="2837180" cy="3683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dirty="0">
                <a:sym typeface="+mn-ea"/>
              </a:rPr>
              <a:t>计算</a:t>
            </a:r>
            <a:r>
              <a:rPr lang="en-US" altLang="zh-CN" dirty="0">
                <a:sym typeface="+mn-ea"/>
              </a:rPr>
              <a:t>a</a:t>
            </a:r>
            <a:r>
              <a:rPr lang="zh-CN" altLang="en-US" dirty="0">
                <a:sym typeface="+mn-ea"/>
              </a:rPr>
              <a:t>百位、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十位、</a:t>
            </a:r>
            <a:r>
              <a:rPr lang="en-US" altLang="zh-CN" dirty="0">
                <a:sym typeface="+mn-ea"/>
              </a:rPr>
              <a:t>c</a:t>
            </a:r>
            <a:r>
              <a:rPr lang="zh-CN" altLang="en-US" dirty="0">
                <a:sym typeface="+mn-ea"/>
              </a:rPr>
              <a:t>个位</a:t>
            </a:r>
            <a:endParaRPr lang="zh-CN" altLang="en-US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428480" y="3319145"/>
            <a:ext cx="1560830" cy="64516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ym typeface="+mn-ea"/>
              </a:rPr>
              <a:t>a ** 3 + b ** 3</a:t>
            </a:r>
            <a:endParaRPr lang="en-US" altLang="zh-CN" dirty="0">
              <a:sym typeface="+mn-ea"/>
            </a:endParaRPr>
          </a:p>
          <a:p>
            <a:pPr algn="l"/>
            <a:r>
              <a:rPr lang="en-US" altLang="zh-CN" dirty="0">
                <a:sym typeface="+mn-ea"/>
              </a:rPr>
              <a:t> + c ** 3 != i</a:t>
            </a:r>
            <a:endParaRPr lang="zh-CN" altLang="en-US" dirty="0">
              <a:sym typeface="+mn-ea"/>
            </a:endParaRPr>
          </a:p>
        </p:txBody>
      </p:sp>
      <p:sp>
        <p:nvSpPr>
          <p:cNvPr id="8" name="菱形 7"/>
          <p:cNvSpPr/>
          <p:nvPr/>
        </p:nvSpPr>
        <p:spPr>
          <a:xfrm>
            <a:off x="9081770" y="3095625"/>
            <a:ext cx="2296160" cy="1099185"/>
          </a:xfrm>
          <a:prstGeom prst="diamond">
            <a:avLst/>
          </a:prstGeom>
          <a:noFill/>
          <a:ln w="222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>
            <a:endCxn id="6" idx="0"/>
          </p:cNvCxnSpPr>
          <p:nvPr/>
        </p:nvCxnSpPr>
        <p:spPr>
          <a:xfrm flipH="1">
            <a:off x="10200005" y="561975"/>
            <a:ext cx="1905" cy="46355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10191750" y="1840865"/>
            <a:ext cx="1905" cy="46355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10204450" y="2632075"/>
            <a:ext cx="1905" cy="46355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9706610" y="4581525"/>
            <a:ext cx="1046480" cy="3683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ym typeface="+mn-ea"/>
              </a:rPr>
              <a:t>continue</a:t>
            </a:r>
            <a:endParaRPr lang="en-US" altLang="zh-CN" dirty="0">
              <a:sym typeface="+mn-ea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10228580" y="4194810"/>
            <a:ext cx="1905" cy="46355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0915015" y="5373370"/>
            <a:ext cx="690880" cy="3683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dirty="0">
                <a:sym typeface="+mn-ea"/>
              </a:rPr>
              <a:t>输出</a:t>
            </a:r>
            <a:r>
              <a:rPr lang="en-US" altLang="zh-CN" dirty="0">
                <a:sym typeface="+mn-ea"/>
              </a:rPr>
              <a:t>i</a:t>
            </a:r>
            <a:endParaRPr lang="en-US" altLang="zh-CN" dirty="0">
              <a:sym typeface="+mn-ea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11352530" y="3656965"/>
            <a:ext cx="25400" cy="1716405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 flipV="1">
            <a:off x="8263255" y="4768850"/>
            <a:ext cx="1443355" cy="635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11350625" y="5741670"/>
            <a:ext cx="1905" cy="46355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8256270" y="6165215"/>
            <a:ext cx="3096260" cy="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8256270" y="980440"/>
            <a:ext cx="0" cy="5184775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8273415" y="980440"/>
            <a:ext cx="1854835" cy="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9792970" y="1840865"/>
            <a:ext cx="335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dirty="0">
                <a:sym typeface="+mn-ea"/>
              </a:rPr>
              <a:t>Y</a:t>
            </a:r>
            <a:endParaRPr lang="en-US" dirty="0"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174095" y="980440"/>
            <a:ext cx="347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N</a:t>
            </a:r>
            <a:endParaRPr lang="en-US" altLang="zh-CN" dirty="0">
              <a:sym typeface="+mn-ea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11424285" y="1412875"/>
            <a:ext cx="576580" cy="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12000865" y="1412875"/>
            <a:ext cx="0" cy="5112385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 flipV="1">
            <a:off x="10272395" y="6525260"/>
            <a:ext cx="1728470" cy="635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10325735" y="6525260"/>
            <a:ext cx="18415" cy="28829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9848215" y="4120515"/>
            <a:ext cx="3352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dirty="0">
                <a:sym typeface="+mn-ea"/>
              </a:rPr>
              <a:t>Y</a:t>
            </a:r>
            <a:endParaRPr lang="en-US" dirty="0"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377930" y="3656965"/>
            <a:ext cx="347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N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mtClean="0">
                <a:sym typeface="+mn-ea"/>
              </a:rPr>
              <a:t>5.3.2 continue</a:t>
            </a:r>
            <a:r>
              <a:rPr>
                <a:sym typeface="+mn-ea"/>
              </a:rPr>
              <a:t>语句</a:t>
            </a:r>
            <a:br>
              <a:rPr lang="zh-CN" altLang="en-US" dirty="0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sz="32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sz="32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可通过调整</a:t>
            </a:r>
            <a:r>
              <a:rPr lang="en-US" altLang="zh-CN" sz="32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if else</a:t>
            </a:r>
            <a:r>
              <a:rPr sz="32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结构，来避免使用</a:t>
            </a:r>
            <a:r>
              <a:rPr lang="en-US" altLang="zh-CN" sz="32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continue</a:t>
            </a:r>
            <a:r>
              <a:rPr sz="32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语句。</a:t>
            </a:r>
            <a:endParaRPr lang="zh-CN" altLang="en-US" sz="3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zh-CN" altLang="en-US" sz="3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用</a:t>
            </a:r>
            <a:r>
              <a:rPr lang="en-US" altLang="zh-CN" dirty="0"/>
              <a:t>if</a:t>
            </a:r>
            <a:r>
              <a:rPr dirty="0"/>
              <a:t>改写</a:t>
            </a:r>
            <a:r>
              <a:rPr lang="en-US" altLang="zh-CN" dirty="0"/>
              <a:t>continue</a:t>
            </a:r>
            <a:r>
              <a:rPr dirty="0"/>
              <a:t>语句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12776"/>
            <a:ext cx="10852150" cy="421307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#1.	for </a:t>
            </a:r>
            <a:r>
              <a:rPr lang="en-US" altLang="zh-CN" dirty="0" err="1"/>
              <a:t>i</a:t>
            </a:r>
            <a:r>
              <a:rPr lang="en-US" altLang="zh-CN" dirty="0"/>
              <a:t> in range(100, 1000):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    a, temp = </a:t>
            </a:r>
            <a:r>
              <a:rPr lang="en-US" altLang="zh-CN" dirty="0" err="1"/>
              <a:t>divmod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, 100)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    b, c = </a:t>
            </a:r>
            <a:r>
              <a:rPr lang="en-US" altLang="zh-CN" dirty="0" err="1"/>
              <a:t>divmod</a:t>
            </a:r>
            <a:r>
              <a:rPr lang="en-US" altLang="zh-CN" dirty="0"/>
              <a:t>(temp, 10)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    if a ** 3 + b ** 3 + c ** 3 == i: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#5.	        print(</a:t>
            </a:r>
            <a:r>
              <a:rPr lang="en-US" altLang="zh-CN" dirty="0" err="1"/>
              <a:t>i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905875" y="5673558"/>
            <a:ext cx="2700000" cy="316800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905875" y="2325370"/>
            <a:ext cx="2837180" cy="3683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dirty="0">
                <a:sym typeface="+mn-ea"/>
              </a:rPr>
              <a:t>计算</a:t>
            </a:r>
            <a:r>
              <a:rPr lang="en-US" altLang="zh-CN" dirty="0">
                <a:sym typeface="+mn-ea"/>
              </a:rPr>
              <a:t>a</a:t>
            </a:r>
            <a:r>
              <a:rPr lang="zh-CN" altLang="en-US" dirty="0">
                <a:sym typeface="+mn-ea"/>
              </a:rPr>
              <a:t>百位、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十位、</a:t>
            </a:r>
            <a:r>
              <a:rPr lang="en-US" altLang="zh-CN" dirty="0">
                <a:sym typeface="+mn-ea"/>
              </a:rPr>
              <a:t>c</a:t>
            </a:r>
            <a:r>
              <a:rPr lang="zh-CN" altLang="en-US" dirty="0">
                <a:sym typeface="+mn-ea"/>
              </a:rPr>
              <a:t>个位</a:t>
            </a:r>
            <a:endParaRPr lang="zh-CN" altLang="en-US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428480" y="3319145"/>
            <a:ext cx="1560830" cy="64516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ym typeface="+mn-ea"/>
              </a:rPr>
              <a:t>a ** 3 + b ** 3</a:t>
            </a:r>
            <a:endParaRPr lang="en-US" altLang="zh-CN" dirty="0">
              <a:sym typeface="+mn-ea"/>
            </a:endParaRPr>
          </a:p>
          <a:p>
            <a:pPr algn="l"/>
            <a:r>
              <a:rPr lang="en-US" altLang="zh-CN" dirty="0">
                <a:sym typeface="+mn-ea"/>
              </a:rPr>
              <a:t> + c ** 3= = i</a:t>
            </a:r>
            <a:endParaRPr lang="zh-CN" altLang="en-US" dirty="0">
              <a:sym typeface="+mn-ea"/>
            </a:endParaRPr>
          </a:p>
        </p:txBody>
      </p:sp>
      <p:sp>
        <p:nvSpPr>
          <p:cNvPr id="8" name="菱形 7"/>
          <p:cNvSpPr/>
          <p:nvPr/>
        </p:nvSpPr>
        <p:spPr>
          <a:xfrm>
            <a:off x="9081770" y="3095625"/>
            <a:ext cx="2296160" cy="1099185"/>
          </a:xfrm>
          <a:prstGeom prst="diamond">
            <a:avLst/>
          </a:prstGeom>
          <a:noFill/>
          <a:ln w="222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>
            <a:endCxn id="6" idx="0"/>
          </p:cNvCxnSpPr>
          <p:nvPr/>
        </p:nvCxnSpPr>
        <p:spPr>
          <a:xfrm flipH="1">
            <a:off x="10207625" y="561975"/>
            <a:ext cx="1905" cy="46355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10191750" y="1840865"/>
            <a:ext cx="1905" cy="46355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10204450" y="2632075"/>
            <a:ext cx="1905" cy="46355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9706610" y="4581525"/>
            <a:ext cx="690880" cy="3683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dirty="0">
                <a:sym typeface="+mn-ea"/>
              </a:rPr>
              <a:t>输出</a:t>
            </a:r>
            <a:r>
              <a:rPr lang="en-US" altLang="zh-CN" dirty="0">
                <a:sym typeface="+mn-ea"/>
              </a:rPr>
              <a:t>i</a:t>
            </a:r>
            <a:endParaRPr lang="en-US" altLang="zh-CN" dirty="0">
              <a:sym typeface="+mn-ea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10228580" y="4194810"/>
            <a:ext cx="1905" cy="46355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8328025" y="3644900"/>
            <a:ext cx="779145" cy="12065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 flipV="1">
            <a:off x="8263255" y="4768850"/>
            <a:ext cx="1443355" cy="635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8256270" y="927100"/>
            <a:ext cx="17145" cy="3870325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8273415" y="980440"/>
            <a:ext cx="1854835" cy="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9792970" y="1840865"/>
            <a:ext cx="335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dirty="0">
                <a:sym typeface="+mn-ea"/>
              </a:rPr>
              <a:t>Y</a:t>
            </a:r>
            <a:endParaRPr lang="en-US" dirty="0">
              <a:sym typeface="+mn-ea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11424285" y="1412875"/>
            <a:ext cx="576580" cy="1397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12000865" y="1412875"/>
            <a:ext cx="0" cy="3960495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 flipV="1">
            <a:off x="10250805" y="5372735"/>
            <a:ext cx="1728470" cy="635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10272395" y="5373370"/>
            <a:ext cx="0" cy="575945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9848215" y="4120515"/>
            <a:ext cx="3352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dirty="0">
                <a:sym typeface="+mn-ea"/>
              </a:rPr>
              <a:t>Y</a:t>
            </a:r>
            <a:endParaRPr lang="en-US" dirty="0"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810625" y="3244850"/>
            <a:ext cx="347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N</a:t>
            </a:r>
            <a:endParaRPr lang="en-US" altLang="zh-CN" dirty="0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078595" y="1249045"/>
            <a:ext cx="2227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ym typeface="+mn-ea"/>
              </a:rPr>
              <a:t>i in range(100,1000)</a:t>
            </a:r>
            <a:endParaRPr lang="en-US" altLang="zh-CN" dirty="0">
              <a:sym typeface="+mn-ea"/>
            </a:endParaRPr>
          </a:p>
        </p:txBody>
      </p:sp>
      <p:sp>
        <p:nvSpPr>
          <p:cNvPr id="35" name="菱形 34"/>
          <p:cNvSpPr/>
          <p:nvPr/>
        </p:nvSpPr>
        <p:spPr>
          <a:xfrm>
            <a:off x="8977630" y="1025525"/>
            <a:ext cx="2444750" cy="815340"/>
          </a:xfrm>
          <a:prstGeom prst="diamond">
            <a:avLst/>
          </a:prstGeom>
          <a:noFill/>
          <a:ln w="222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箭头连接符 35"/>
          <p:cNvCxnSpPr>
            <a:endCxn id="35" idx="0"/>
          </p:cNvCxnSpPr>
          <p:nvPr/>
        </p:nvCxnSpPr>
        <p:spPr>
          <a:xfrm flipH="1">
            <a:off x="10200005" y="561975"/>
            <a:ext cx="1905" cy="463550"/>
          </a:xfrm>
          <a:prstGeom prst="straightConnector1">
            <a:avLst/>
          </a:prstGeom>
          <a:ln w="22225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1301095" y="1107440"/>
            <a:ext cx="347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N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mtClean="0">
                <a:sym typeface="+mn-ea"/>
              </a:rPr>
              <a:t>5.3.2 continue</a:t>
            </a:r>
            <a:r>
              <a:rPr>
                <a:sym typeface="+mn-ea"/>
              </a:rPr>
              <a:t>语句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sz="32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注意：</a:t>
            </a:r>
            <a:r>
              <a:rPr lang="en-US" altLang="zh-CN" sz="32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break</a:t>
            </a:r>
            <a:r>
              <a:rPr sz="32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和</a:t>
            </a:r>
            <a:r>
              <a:rPr lang="en-US" altLang="zh-CN" sz="32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continue</a:t>
            </a:r>
            <a:r>
              <a:rPr sz="32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的区别：</a:t>
            </a:r>
            <a:endParaRPr lang="zh-CN" altLang="en-US" sz="3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sz="32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在循环语句中：</a:t>
            </a:r>
            <a:endParaRPr lang="zh-CN" altLang="en-US" sz="32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en-US" altLang="zh-CN" sz="3200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break</a:t>
            </a:r>
            <a:r>
              <a:rPr sz="3200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满足条件跳出整个循环体，本循环语句结束。</a:t>
            </a:r>
            <a:endParaRPr lang="zh-CN" altLang="en-US" sz="3200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en-US" altLang="zh-CN" sz="3200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continue</a:t>
            </a:r>
            <a:r>
              <a:rPr sz="3200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满足条件跳出本次循环，不离开本循环语句,继续执行下一次循环。</a:t>
            </a:r>
            <a:endParaRPr lang="zh-CN" altLang="en-US" sz="3200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zh-CN" altLang="en-US" sz="3200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5.3.3 pass</a:t>
            </a:r>
            <a:r>
              <a:rPr lang="zh-CN" altLang="en-US" dirty="0"/>
              <a:t>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pass</a:t>
            </a:r>
            <a:r>
              <a:rPr lang="zh-CN" altLang="en-US" dirty="0"/>
              <a:t>语句又称空语句，执行</a:t>
            </a:r>
            <a:r>
              <a:rPr lang="en-US" altLang="zh-CN" dirty="0"/>
              <a:t>pass</a:t>
            </a:r>
            <a:r>
              <a:rPr lang="zh-CN" altLang="en-US" dirty="0"/>
              <a:t>语句时不做任何</a:t>
            </a:r>
            <a:r>
              <a:rPr lang="zh-CN" altLang="en-US" dirty="0" smtClean="0"/>
              <a:t>操作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用</a:t>
            </a:r>
            <a:r>
              <a:rPr lang="en-US" altLang="zh-CN" dirty="0"/>
              <a:t>pass</a:t>
            </a:r>
            <a:r>
              <a:rPr lang="zh-CN" altLang="en-US" dirty="0"/>
              <a:t>语句保证控制结构的完整性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模块化</a:t>
            </a:r>
            <a:r>
              <a:rPr lang="zh-CN" altLang="en-US" dirty="0"/>
              <a:t>设计时，用</a:t>
            </a:r>
            <a:r>
              <a:rPr lang="en-US" altLang="zh-CN" dirty="0"/>
              <a:t>pass</a:t>
            </a:r>
            <a:r>
              <a:rPr lang="zh-CN" altLang="en-US" dirty="0"/>
              <a:t>语句占位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1537970"/>
            <a:ext cx="12191365" cy="300609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779905" y="2292350"/>
            <a:ext cx="873188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5.4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循环的嵌套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循环嵌套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一</a:t>
            </a:r>
            <a:r>
              <a:rPr lang="zh-CN" altLang="en-US" dirty="0"/>
              <a:t>个循环体内的语句中包含另一个循环语句，称为循环的嵌套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</a:t>
            </a:r>
            <a:r>
              <a:rPr lang="zh-CN" altLang="en-US" dirty="0"/>
              <a:t>个循环嵌套中包括外层循环和内层循环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内层</a:t>
            </a:r>
            <a:r>
              <a:rPr lang="zh-CN" altLang="en-US" dirty="0"/>
              <a:t>循环可以继续循环嵌套，即为多层循环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较常用：双重</a:t>
            </a:r>
            <a:r>
              <a:rPr lang="zh-CN" altLang="en-US" dirty="0"/>
              <a:t>循环和三重循环。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循环嵌套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循环嵌套的注意点</a:t>
            </a:r>
            <a:endParaRPr lang="zh-CN" altLang="en-US" dirty="0"/>
          </a:p>
          <a:p>
            <a:pPr lvl="1"/>
            <a:r>
              <a:rPr lang="zh-CN" altLang="en-US" dirty="0" smtClean="0"/>
              <a:t>外</a:t>
            </a:r>
            <a:r>
              <a:rPr lang="zh-CN" altLang="en-US" dirty="0"/>
              <a:t>循环每执行一次，内循环就要执行一个完整的</a:t>
            </a:r>
            <a:r>
              <a:rPr lang="zh-CN" altLang="en-US" dirty="0" smtClean="0"/>
              <a:t>循环</a:t>
            </a:r>
            <a:endParaRPr lang="zh-CN" altLang="en-US" dirty="0"/>
          </a:p>
          <a:p>
            <a:pPr lvl="1"/>
            <a:r>
              <a:rPr lang="zh-CN" altLang="en-US" dirty="0" smtClean="0"/>
              <a:t>可以</a:t>
            </a:r>
            <a:r>
              <a:rPr lang="zh-CN" altLang="en-US" dirty="0"/>
              <a:t>使用不同的循环语句相互嵌套，来解决复杂问题；</a:t>
            </a:r>
            <a:endParaRPr lang="zh-CN" altLang="en-US" dirty="0"/>
          </a:p>
          <a:p>
            <a:pPr lvl="1"/>
            <a:r>
              <a:rPr lang="zh-CN" altLang="en-US" dirty="0" smtClean="0"/>
              <a:t>使用</a:t>
            </a:r>
            <a:r>
              <a:rPr lang="en-US" altLang="zh-CN" dirty="0"/>
              <a:t>break</a:t>
            </a:r>
            <a:r>
              <a:rPr lang="zh-CN" altLang="en-US" dirty="0"/>
              <a:t>语句，只能跳出</a:t>
            </a:r>
            <a:r>
              <a:rPr lang="en-US" altLang="zh-CN" dirty="0"/>
              <a:t>break</a:t>
            </a:r>
            <a:r>
              <a:rPr lang="zh-CN" altLang="en-US" dirty="0"/>
              <a:t>语句所在那层的</a:t>
            </a:r>
            <a:r>
              <a:rPr lang="zh-CN" altLang="en-US" dirty="0" smtClean="0"/>
              <a:t>循环；</a:t>
            </a:r>
            <a:endParaRPr lang="zh-CN" altLang="en-US" dirty="0"/>
          </a:p>
          <a:p>
            <a:pPr lvl="1"/>
            <a:r>
              <a:rPr lang="zh-CN" altLang="en-US" dirty="0" smtClean="0"/>
              <a:t>嵌套循环中注意</a:t>
            </a:r>
            <a:r>
              <a:rPr lang="zh-CN" altLang="en-US" dirty="0"/>
              <a:t>语句的缩进，错误的缩进会使语句属于错误的循环</a:t>
            </a:r>
            <a:r>
              <a:rPr lang="zh-CN" altLang="en-US" dirty="0" smtClean="0"/>
              <a:t>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5-9】</a:t>
            </a:r>
            <a:r>
              <a:rPr lang="zh-CN" altLang="en-US" dirty="0"/>
              <a:t>编制程序，打印如下九九乘法表。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程序</a:t>
            </a:r>
            <a:r>
              <a:rPr lang="zh-CN" altLang="en-US" dirty="0"/>
              <a:t>使用双重循环，定义两个循环变量</a:t>
            </a:r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 smtClean="0"/>
              <a:t>j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i</a:t>
            </a:r>
            <a:r>
              <a:rPr lang="zh-CN" altLang="en-US" dirty="0"/>
              <a:t>用于控制外循环，即控制打印九九乘法表的行</a:t>
            </a:r>
            <a:r>
              <a:rPr lang="zh-CN" altLang="en-US" dirty="0" smtClean="0"/>
              <a:t>数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j</a:t>
            </a:r>
            <a:r>
              <a:rPr lang="zh-CN" altLang="en-US" dirty="0"/>
              <a:t>用于控制内循环，即控制九九乘法表每一行打印的</a:t>
            </a:r>
            <a:r>
              <a:rPr lang="zh-CN" altLang="en-US" dirty="0" smtClean="0"/>
              <a:t>内容</a:t>
            </a:r>
            <a:endParaRPr lang="en-US" altLang="zh-CN" dirty="0" smtClean="0"/>
          </a:p>
          <a:p>
            <a:pPr marL="457200" lvl="1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1746" b="3314"/>
          <a:stretch>
            <a:fillRect/>
          </a:stretch>
        </p:blipFill>
        <p:spPr>
          <a:xfrm>
            <a:off x="1153035" y="3284984"/>
            <a:ext cx="10248896" cy="3056126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5-9</a:t>
            </a:r>
            <a:r>
              <a:rPr lang="en-US" altLang="zh-CN" dirty="0" smtClean="0"/>
              <a:t>】</a:t>
            </a:r>
            <a:r>
              <a:rPr lang="zh-CN" altLang="en-US" dirty="0" smtClean="0"/>
              <a:t>打印</a:t>
            </a:r>
            <a:r>
              <a:rPr lang="zh-CN" altLang="en-US" dirty="0"/>
              <a:t>如下九九乘法表。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628800"/>
            <a:ext cx="10852150" cy="345638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#1.	for </a:t>
            </a:r>
            <a:r>
              <a:rPr lang="en-US" altLang="zh-CN" dirty="0" err="1"/>
              <a:t>i</a:t>
            </a:r>
            <a:r>
              <a:rPr lang="en-US" altLang="zh-CN" dirty="0"/>
              <a:t> in range(1, 10):      #</a:t>
            </a:r>
            <a:r>
              <a:rPr dirty="0"/>
              <a:t>加数</a:t>
            </a:r>
            <a:r>
              <a:rPr lang="en-US" altLang="zh-CN" dirty="0"/>
              <a:t>i</a:t>
            </a:r>
            <a:r>
              <a:rPr dirty="0"/>
              <a:t>，从</a:t>
            </a:r>
            <a:r>
              <a:rPr lang="en-US" altLang="zh-CN" dirty="0"/>
              <a:t>1</a:t>
            </a:r>
            <a:r>
              <a:rPr dirty="0"/>
              <a:t>开始，</a:t>
            </a:r>
            <a:r>
              <a:rPr lang="en-US" altLang="zh-CN" dirty="0"/>
              <a:t>9</a:t>
            </a:r>
            <a:r>
              <a:rPr dirty="0"/>
              <a:t>结束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    for j in range(1, </a:t>
            </a:r>
            <a:r>
              <a:rPr lang="en-US" altLang="zh-CN" dirty="0" err="1"/>
              <a:t>i</a:t>
            </a:r>
            <a:r>
              <a:rPr lang="en-US" altLang="zh-CN" dirty="0"/>
              <a:t> + 1):   #</a:t>
            </a:r>
            <a:r>
              <a:rPr dirty="0"/>
              <a:t>被加数</a:t>
            </a:r>
            <a:r>
              <a:rPr lang="en-US" altLang="zh-CN" dirty="0"/>
              <a:t>j</a:t>
            </a:r>
            <a:r>
              <a:rPr dirty="0"/>
              <a:t>，从</a:t>
            </a:r>
            <a:r>
              <a:rPr lang="en-US" altLang="zh-CN" dirty="0"/>
              <a:t>1</a:t>
            </a:r>
            <a:r>
              <a:rPr dirty="0"/>
              <a:t>开始，</a:t>
            </a:r>
            <a:r>
              <a:rPr lang="en-US" altLang="zh-CN" dirty="0"/>
              <a:t>i</a:t>
            </a:r>
            <a:r>
              <a:rPr dirty="0"/>
              <a:t>结束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        s = </a:t>
            </a:r>
            <a:r>
              <a:rPr lang="en-US" altLang="zh-CN" dirty="0" err="1"/>
              <a:t>str</a:t>
            </a:r>
            <a:r>
              <a:rPr lang="en-US" altLang="zh-CN" dirty="0"/>
              <a:t>(j) + '*' + </a:t>
            </a:r>
            <a:r>
              <a:rPr lang="en-US" altLang="zh-CN" dirty="0" err="1"/>
              <a:t>str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) + '=' + </a:t>
            </a:r>
            <a:r>
              <a:rPr lang="en-US" altLang="zh-CN" dirty="0" err="1"/>
              <a:t>str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 * j)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        print(s, end=' ')      #</a:t>
            </a:r>
            <a:r>
              <a:rPr dirty="0"/>
              <a:t>输出字符串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#5.	    print</a:t>
            </a:r>
            <a:r>
              <a:rPr lang="en-US" altLang="zh-CN" dirty="0" smtClean="0"/>
              <a:t>()                       #</a:t>
            </a:r>
            <a:r>
              <a:rPr dirty="0" smtClean="0"/>
              <a:t>一行输出后换行</a:t>
            </a:r>
            <a:endParaRPr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5-10】</a:t>
            </a:r>
            <a:r>
              <a:rPr lang="zh-CN" altLang="en-US" dirty="0"/>
              <a:t>求</a:t>
            </a:r>
            <a:r>
              <a:rPr lang="en-US" altLang="zh-CN" dirty="0"/>
              <a:t>100</a:t>
            </a:r>
            <a:r>
              <a:rPr lang="zh-CN" altLang="en-US" dirty="0"/>
              <a:t>以内的全部素数。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将找到的素数按</a:t>
            </a:r>
            <a:r>
              <a:rPr lang="zh-CN" altLang="zh-CN" b="1" dirty="0">
                <a:solidFill>
                  <a:srgbClr val="FF0000"/>
                </a:solidFill>
              </a:rPr>
              <a:t>每行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zh-CN" altLang="zh-CN" b="1" dirty="0">
                <a:solidFill>
                  <a:srgbClr val="FF0000"/>
                </a:solidFill>
              </a:rPr>
              <a:t>个</a:t>
            </a:r>
            <a:r>
              <a:rPr lang="zh-CN" altLang="zh-CN" dirty="0"/>
              <a:t>的形式输出在屏幕上</a:t>
            </a:r>
            <a:endParaRPr lang="en-US" altLang="zh-CN" dirty="0" smtClean="0"/>
          </a:p>
          <a:p>
            <a:r>
              <a:rPr lang="zh-CN" altLang="en-US" dirty="0" smtClean="0"/>
              <a:t>程序</a:t>
            </a:r>
            <a:r>
              <a:rPr lang="zh-CN" altLang="en-US" dirty="0"/>
              <a:t>使用二重循环，定义两个循环变量</a:t>
            </a:r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 smtClean="0"/>
              <a:t>j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i</a:t>
            </a:r>
            <a:r>
              <a:rPr lang="zh-CN" altLang="en-US" dirty="0">
                <a:solidFill>
                  <a:srgbClr val="FF0000"/>
                </a:solidFill>
              </a:rPr>
              <a:t>用于控制外循环</a:t>
            </a:r>
            <a:r>
              <a:rPr lang="zh-CN" altLang="en-US" dirty="0"/>
              <a:t>，依次判断</a:t>
            </a:r>
            <a:r>
              <a:rPr lang="en-US" altLang="zh-CN" dirty="0"/>
              <a:t>2</a:t>
            </a:r>
            <a:r>
              <a:rPr lang="zh-CN" altLang="en-US" dirty="0"/>
              <a:t>到</a:t>
            </a:r>
            <a:r>
              <a:rPr lang="en-US" altLang="zh-CN" dirty="0"/>
              <a:t>99</a:t>
            </a:r>
            <a:r>
              <a:rPr lang="zh-CN" altLang="en-US" dirty="0"/>
              <a:t>是否为</a:t>
            </a:r>
            <a:r>
              <a:rPr lang="zh-CN" altLang="en-US" dirty="0" smtClean="0"/>
              <a:t>素数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j</a:t>
            </a:r>
            <a:r>
              <a:rPr lang="zh-CN" altLang="en-US" dirty="0">
                <a:solidFill>
                  <a:srgbClr val="FF0000"/>
                </a:solidFill>
              </a:rPr>
              <a:t>用于控制内循环</a:t>
            </a:r>
            <a:r>
              <a:rPr lang="zh-CN" altLang="en-US" dirty="0"/>
              <a:t>，判断</a:t>
            </a:r>
            <a:r>
              <a:rPr lang="en-US" altLang="zh-CN" dirty="0" err="1"/>
              <a:t>i</a:t>
            </a:r>
            <a:r>
              <a:rPr lang="zh-CN" altLang="en-US" dirty="0"/>
              <a:t>是否能被</a:t>
            </a:r>
            <a:r>
              <a:rPr lang="en-US" altLang="zh-CN" dirty="0"/>
              <a:t>j</a:t>
            </a:r>
            <a:r>
              <a:rPr lang="zh-CN" altLang="en-US" dirty="0"/>
              <a:t>整除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0"/>
            <a:ext cx="10852150" cy="716915"/>
          </a:xfrm>
        </p:spPr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5-10】</a:t>
            </a:r>
            <a:r>
              <a:rPr lang="zh-CN" altLang="en-US" dirty="0"/>
              <a:t>求</a:t>
            </a:r>
            <a:r>
              <a:rPr lang="en-US" altLang="zh-CN" dirty="0"/>
              <a:t>100</a:t>
            </a:r>
            <a:r>
              <a:rPr lang="zh-CN" altLang="en-US" dirty="0"/>
              <a:t>以内的全部素数。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635" y="530225"/>
            <a:ext cx="12192000" cy="632714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700" dirty="0"/>
              <a:t>#1.	n = 0                           #n</a:t>
            </a:r>
            <a:r>
              <a:rPr sz="2700" dirty="0"/>
              <a:t>表示素数个数</a:t>
            </a:r>
            <a:endParaRPr lang="en-US" altLang="zh-CN" sz="27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700">
                <a:sym typeface="+mn-ea"/>
              </a:rPr>
              <a:t>#2.	for </a:t>
            </a:r>
            <a:r>
              <a:rPr lang="en-US" altLang="zh-CN" sz="2700" dirty="0" err="1">
                <a:sym typeface="+mn-ea"/>
              </a:rPr>
              <a:t>i</a:t>
            </a:r>
            <a:r>
              <a:rPr lang="en-US" altLang="zh-CN" sz="2700">
                <a:sym typeface="+mn-ea"/>
              </a:rPr>
              <a:t> in range(2, 100):    #i</a:t>
            </a:r>
            <a:r>
              <a:rPr sz="2700">
                <a:sym typeface="+mn-ea"/>
              </a:rPr>
              <a:t>需要判断的数值，从</a:t>
            </a:r>
            <a:r>
              <a:rPr lang="en-US" altLang="zh-CN" sz="2700">
                <a:sym typeface="+mn-ea"/>
              </a:rPr>
              <a:t>2</a:t>
            </a:r>
            <a:r>
              <a:rPr sz="2700">
                <a:sym typeface="+mn-ea"/>
              </a:rPr>
              <a:t>开始，</a:t>
            </a:r>
            <a:r>
              <a:rPr lang="en-US" altLang="zh-CN" sz="2700">
                <a:sym typeface="+mn-ea"/>
              </a:rPr>
              <a:t>99</a:t>
            </a:r>
            <a:r>
              <a:rPr sz="2700">
                <a:sym typeface="+mn-ea"/>
              </a:rPr>
              <a:t>结束</a:t>
            </a:r>
            <a:endParaRPr lang="en-US" altLang="zh-CN" sz="27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700">
                <a:sym typeface="+mn-ea"/>
              </a:rPr>
              <a:t>#3.	    for j in range(2, </a:t>
            </a:r>
            <a:r>
              <a:rPr lang="en-US" altLang="zh-CN" sz="2700" dirty="0" err="1">
                <a:sym typeface="+mn-ea"/>
              </a:rPr>
              <a:t>i</a:t>
            </a:r>
            <a:r>
              <a:rPr lang="en-US" altLang="zh-CN" sz="2700">
                <a:sym typeface="+mn-ea"/>
              </a:rPr>
              <a:t>):     #j</a:t>
            </a:r>
            <a:r>
              <a:rPr sz="2700">
                <a:sym typeface="+mn-ea"/>
              </a:rPr>
              <a:t>被除数，从</a:t>
            </a:r>
            <a:r>
              <a:rPr lang="en-US" altLang="zh-CN" sz="2700">
                <a:sym typeface="+mn-ea"/>
              </a:rPr>
              <a:t>2</a:t>
            </a:r>
            <a:r>
              <a:rPr sz="2700">
                <a:sym typeface="+mn-ea"/>
              </a:rPr>
              <a:t>开始，</a:t>
            </a:r>
            <a:r>
              <a:rPr lang="en-US" altLang="zh-CN" sz="2700">
                <a:sym typeface="+mn-ea"/>
              </a:rPr>
              <a:t>i-1</a:t>
            </a:r>
            <a:r>
              <a:rPr sz="2700">
                <a:sym typeface="+mn-ea"/>
              </a:rPr>
              <a:t>结束</a:t>
            </a:r>
            <a:endParaRPr lang="en-US" altLang="zh-CN" sz="27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700">
                <a:sym typeface="+mn-ea"/>
              </a:rPr>
              <a:t>#4.	        if </a:t>
            </a:r>
            <a:r>
              <a:rPr lang="en-US" altLang="zh-CN" sz="2700" dirty="0" err="1">
                <a:sym typeface="+mn-ea"/>
              </a:rPr>
              <a:t>i</a:t>
            </a:r>
            <a:r>
              <a:rPr lang="en-US" altLang="zh-CN" sz="2700">
                <a:sym typeface="+mn-ea"/>
              </a:rPr>
              <a:t> % j == 0:          #</a:t>
            </a:r>
            <a:r>
              <a:rPr sz="2700">
                <a:sym typeface="+mn-ea"/>
              </a:rPr>
              <a:t>判断</a:t>
            </a:r>
            <a:r>
              <a:rPr lang="en-US" altLang="zh-CN" sz="2700">
                <a:sym typeface="+mn-ea"/>
              </a:rPr>
              <a:t>i</a:t>
            </a:r>
            <a:r>
              <a:rPr sz="2700">
                <a:sym typeface="+mn-ea"/>
              </a:rPr>
              <a:t>能否整除</a:t>
            </a:r>
            <a:r>
              <a:rPr lang="en-US" altLang="zh-CN" sz="2700">
                <a:sym typeface="+mn-ea"/>
              </a:rPr>
              <a:t>j</a:t>
            </a:r>
            <a:endParaRPr lang="en-US" altLang="zh-CN" sz="27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700">
                <a:sym typeface="+mn-ea"/>
              </a:rPr>
              <a:t>#5.	            break</a:t>
            </a:r>
            <a:r>
              <a:rPr lang="en-US" altLang="zh-CN" sz="2700" dirty="0"/>
              <a:t>                #</a:t>
            </a:r>
            <a:r>
              <a:rPr sz="2700" dirty="0"/>
              <a:t>能整除，</a:t>
            </a:r>
            <a:r>
              <a:rPr lang="en-US" altLang="zh-CN" sz="2700" dirty="0"/>
              <a:t>i</a:t>
            </a:r>
            <a:r>
              <a:rPr sz="2700" dirty="0"/>
              <a:t>不是素数</a:t>
            </a:r>
            <a:endParaRPr lang="en-US" altLang="zh-CN" sz="27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700">
                <a:sym typeface="+mn-ea"/>
              </a:rPr>
              <a:t>#6.	    else:</a:t>
            </a:r>
            <a:endParaRPr lang="en-US" altLang="zh-CN" sz="27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700">
                <a:sym typeface="+mn-ea"/>
              </a:rPr>
              <a:t>#7.	        print(</a:t>
            </a:r>
            <a:r>
              <a:rPr lang="en-US" altLang="zh-CN" sz="2700" dirty="0" err="1">
                <a:sym typeface="+mn-ea"/>
              </a:rPr>
              <a:t>i</a:t>
            </a:r>
            <a:r>
              <a:rPr lang="en-US" altLang="zh-CN" sz="2700">
                <a:sym typeface="+mn-ea"/>
              </a:rPr>
              <a:t>, end='\t')      #</a:t>
            </a:r>
            <a:r>
              <a:rPr sz="2700">
                <a:sym typeface="+mn-ea"/>
              </a:rPr>
              <a:t>找到一个素数，输出它</a:t>
            </a:r>
            <a:endParaRPr lang="en-US" altLang="zh-CN" sz="27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700">
                <a:sym typeface="+mn-ea"/>
              </a:rPr>
              <a:t>#8.	        n += 1      </a:t>
            </a:r>
            <a:r>
              <a:rPr lang="en-US" altLang="zh-CN" sz="2700" smtClean="0">
                <a:solidFill>
                  <a:srgbClr val="FF0000"/>
                </a:solidFill>
                <a:sym typeface="+mn-ea"/>
              </a:rPr>
              <a:t># </a:t>
            </a:r>
            <a:r>
              <a:rPr lang="en-US" altLang="zh-CN" sz="2700">
                <a:solidFill>
                  <a:srgbClr val="FF0000"/>
                </a:solidFill>
                <a:sym typeface="+mn-ea"/>
              </a:rPr>
              <a:t>n</a:t>
            </a:r>
            <a:r>
              <a:rPr sz="2700">
                <a:solidFill>
                  <a:srgbClr val="FF0000"/>
                </a:solidFill>
                <a:sym typeface="+mn-ea"/>
              </a:rPr>
              <a:t>用来记录是否需要换行，每发现一个素数</a:t>
            </a:r>
            <a:r>
              <a:rPr lang="en-US" altLang="zh-CN" sz="2700">
                <a:solidFill>
                  <a:srgbClr val="FF0000"/>
                </a:solidFill>
                <a:sym typeface="+mn-ea"/>
              </a:rPr>
              <a:t>n+1</a:t>
            </a:r>
            <a:endParaRPr lang="en-US" altLang="zh-CN" sz="2700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700">
                <a:sym typeface="+mn-ea"/>
              </a:rPr>
              <a:t>#9.	        if n == 5:	</a:t>
            </a:r>
            <a:r>
              <a:rPr lang="en-US" altLang="zh-CN" sz="2700" smtClean="0">
                <a:solidFill>
                  <a:srgbClr val="FF0000"/>
                </a:solidFill>
                <a:sym typeface="+mn-ea"/>
              </a:rPr>
              <a:t># </a:t>
            </a:r>
            <a:r>
              <a:rPr sz="2700">
                <a:solidFill>
                  <a:srgbClr val="FF0000"/>
                </a:solidFill>
                <a:sym typeface="+mn-ea"/>
              </a:rPr>
              <a:t>若</a:t>
            </a:r>
            <a:r>
              <a:rPr lang="en-US" altLang="zh-CN" sz="2700">
                <a:solidFill>
                  <a:srgbClr val="FF0000"/>
                </a:solidFill>
                <a:sym typeface="+mn-ea"/>
              </a:rPr>
              <a:t>n</a:t>
            </a:r>
            <a:r>
              <a:rPr sz="2700">
                <a:solidFill>
                  <a:srgbClr val="FF0000"/>
                </a:solidFill>
                <a:sym typeface="+mn-ea"/>
              </a:rPr>
              <a:t>值为</a:t>
            </a:r>
            <a:r>
              <a:rPr lang="en-US" altLang="zh-CN" sz="2700" smtClean="0">
                <a:solidFill>
                  <a:srgbClr val="FF0000"/>
                </a:solidFill>
                <a:sym typeface="+mn-ea"/>
              </a:rPr>
              <a:t>5</a:t>
            </a:r>
            <a:r>
              <a:rPr sz="2700" smtClean="0">
                <a:solidFill>
                  <a:srgbClr val="FF0000"/>
                </a:solidFill>
                <a:sym typeface="+mn-ea"/>
              </a:rPr>
              <a:t>则换行</a:t>
            </a:r>
            <a:r>
              <a:rPr sz="2700">
                <a:solidFill>
                  <a:srgbClr val="FF0000"/>
                </a:solidFill>
                <a:sym typeface="+mn-ea"/>
              </a:rPr>
              <a:t>，并将</a:t>
            </a:r>
            <a:r>
              <a:rPr lang="en-US" altLang="zh-CN" sz="2700">
                <a:solidFill>
                  <a:srgbClr val="FF0000"/>
                </a:solidFill>
                <a:sym typeface="+mn-ea"/>
              </a:rPr>
              <a:t>n</a:t>
            </a:r>
            <a:r>
              <a:rPr sz="2700">
                <a:solidFill>
                  <a:srgbClr val="FF0000"/>
                </a:solidFill>
                <a:sym typeface="+mn-ea"/>
              </a:rPr>
              <a:t>清零后，重新计数</a:t>
            </a:r>
            <a:endParaRPr lang="zh-CN" altLang="en-US" sz="2700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700">
                <a:sym typeface="+mn-ea"/>
              </a:rPr>
              <a:t>#10.	            n=0</a:t>
            </a:r>
            <a:endParaRPr lang="en-US" altLang="zh-CN" sz="27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700">
                <a:sym typeface="+mn-ea"/>
              </a:rPr>
              <a:t>#11.	            print</a:t>
            </a:r>
            <a:r>
              <a:rPr lang="en-US" altLang="zh-CN" sz="2700" smtClean="0">
                <a:sym typeface="+mn-ea"/>
              </a:rPr>
              <a:t>()</a:t>
            </a:r>
            <a:endParaRPr lang="en-US" altLang="zh-CN" sz="2700" dirty="0" smtClean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191625" y="6337133"/>
            <a:ext cx="2700000" cy="316800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694430" y="2004060"/>
            <a:ext cx="175768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b="1" dirty="0" err="1">
                <a:solidFill>
                  <a:srgbClr val="FF0000"/>
                </a:solidFill>
                <a:sym typeface="+mn-ea"/>
              </a:rPr>
              <a:t>j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 in range(2, i)</a:t>
            </a:r>
            <a:endParaRPr lang="en-US" altLang="zh-CN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3567430" y="1780540"/>
            <a:ext cx="1754505" cy="815340"/>
          </a:xfrm>
          <a:prstGeom prst="diamond">
            <a:avLst/>
          </a:prstGeom>
          <a:noFill/>
          <a:ln w="222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>
            <a:stCxn id="27" idx="2"/>
            <a:endCxn id="7" idx="0"/>
          </p:cNvCxnSpPr>
          <p:nvPr/>
        </p:nvCxnSpPr>
        <p:spPr>
          <a:xfrm>
            <a:off x="4420870" y="1389380"/>
            <a:ext cx="24130" cy="39116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900805" y="3302635"/>
            <a:ext cx="10083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ym typeface="+mn-ea"/>
              </a:rPr>
              <a:t>i%j == 0</a:t>
            </a:r>
            <a:endParaRPr lang="en-US" altLang="zh-CN" dirty="0">
              <a:sym typeface="+mn-ea"/>
            </a:endParaRPr>
          </a:p>
        </p:txBody>
      </p:sp>
      <p:sp>
        <p:nvSpPr>
          <p:cNvPr id="10" name="菱形 9"/>
          <p:cNvSpPr/>
          <p:nvPr/>
        </p:nvSpPr>
        <p:spPr>
          <a:xfrm>
            <a:off x="3565525" y="3079115"/>
            <a:ext cx="1754505" cy="815340"/>
          </a:xfrm>
          <a:prstGeom prst="diamond">
            <a:avLst/>
          </a:prstGeom>
          <a:noFill/>
          <a:ln w="222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>
            <a:endCxn id="10" idx="0"/>
          </p:cNvCxnSpPr>
          <p:nvPr/>
        </p:nvCxnSpPr>
        <p:spPr>
          <a:xfrm flipH="1">
            <a:off x="4443095" y="2667635"/>
            <a:ext cx="1905" cy="4832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4445000" y="3894455"/>
            <a:ext cx="2540" cy="41465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043045" y="4309110"/>
            <a:ext cx="754380" cy="3683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en-US" dirty="0">
                <a:sym typeface="+mn-ea"/>
              </a:rPr>
              <a:t>break</a:t>
            </a:r>
            <a:endParaRPr lang="en-US" dirty="0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079365" y="5306695"/>
            <a:ext cx="3103880" cy="3683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dirty="0">
                <a:sym typeface="+mn-ea"/>
              </a:rPr>
              <a:t>输出</a:t>
            </a:r>
            <a:r>
              <a:rPr lang="en-US" altLang="zh-CN" dirty="0">
                <a:sym typeface="+mn-ea"/>
              </a:rPr>
              <a:t>i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n</a:t>
            </a:r>
            <a:r>
              <a:rPr lang="zh-CN" altLang="en-US" dirty="0">
                <a:sym typeface="+mn-ea"/>
              </a:rPr>
              <a:t>计数加一，满五换行</a:t>
            </a:r>
            <a:endParaRPr lang="zh-CN" altLang="en-US" dirty="0">
              <a:sym typeface="+mn-ea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5321935" y="2138680"/>
            <a:ext cx="668655" cy="4254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5918835" y="2138680"/>
            <a:ext cx="25400" cy="316801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 flipV="1">
            <a:off x="2771140" y="3486150"/>
            <a:ext cx="794385" cy="127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 flipV="1">
            <a:off x="2750185" y="1634490"/>
            <a:ext cx="20955" cy="185166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2771140" y="1562735"/>
            <a:ext cx="1707515" cy="7175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095115" y="3894455"/>
            <a:ext cx="335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Y</a:t>
            </a:r>
            <a:endParaRPr lang="en-US" altLang="zh-CN" dirty="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95320" y="3173095"/>
            <a:ext cx="347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N</a:t>
            </a:r>
            <a:endParaRPr lang="en-US" altLang="zh-CN" dirty="0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20030" y="1780540"/>
            <a:ext cx="347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N</a:t>
            </a:r>
            <a:endParaRPr lang="en-US" altLang="zh-CN" dirty="0"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130675" y="2541270"/>
            <a:ext cx="335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Y</a:t>
            </a:r>
            <a:endParaRPr lang="en-US" altLang="zh-CN" dirty="0">
              <a:sym typeface="+mn-ea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H="1">
            <a:off x="4478020" y="4677410"/>
            <a:ext cx="635" cy="156654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 flipV="1">
            <a:off x="4511675" y="5514975"/>
            <a:ext cx="542290" cy="88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3695065" y="797560"/>
            <a:ext cx="19862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b="1" dirty="0" err="1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 in range(2, 100)</a:t>
            </a:r>
            <a:endParaRPr lang="en-US" altLang="zh-CN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3543300" y="574040"/>
            <a:ext cx="1754505" cy="815340"/>
          </a:xfrm>
          <a:prstGeom prst="diamond">
            <a:avLst/>
          </a:prstGeom>
          <a:noFill/>
          <a:ln w="222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1631315" y="6235065"/>
            <a:ext cx="2846705" cy="88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 flipV="1">
            <a:off x="1631315" y="260985"/>
            <a:ext cx="20955" cy="598297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1631315" y="281305"/>
            <a:ext cx="2736215" cy="25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endCxn id="27" idx="0"/>
          </p:cNvCxnSpPr>
          <p:nvPr/>
        </p:nvCxnSpPr>
        <p:spPr>
          <a:xfrm flipH="1">
            <a:off x="4420870" y="0"/>
            <a:ext cx="18415" cy="5740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V="1">
            <a:off x="5321935" y="981075"/>
            <a:ext cx="3726180" cy="215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5320030" y="601980"/>
            <a:ext cx="347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N</a:t>
            </a:r>
            <a:endParaRPr lang="en-US" altLang="zh-CN" dirty="0">
              <a:sym typeface="+mn-ea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H="1">
            <a:off x="8975725" y="970280"/>
            <a:ext cx="72390" cy="562737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>
            <a:off x="4439285" y="6574155"/>
            <a:ext cx="4536440" cy="2349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>
            <a:off x="4478655" y="6597650"/>
            <a:ext cx="33020" cy="2603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4573905" y="1266190"/>
            <a:ext cx="335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dirty="0">
                <a:sym typeface="+mn-ea"/>
              </a:rPr>
              <a:t>Y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402080"/>
            <a:ext cx="12191365" cy="326326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882775" y="2292350"/>
            <a:ext cx="857313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5.5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循环结构程序举例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5-11</a:t>
            </a:r>
            <a:r>
              <a:rPr lang="en-US" altLang="zh-CN" dirty="0" smtClean="0"/>
              <a:t>】</a:t>
            </a:r>
            <a:r>
              <a:rPr lang="zh-CN" altLang="en-US" dirty="0" smtClean="0"/>
              <a:t>用</a:t>
            </a:r>
            <a:r>
              <a:rPr lang="zh-CN" altLang="en-US" dirty="0"/>
              <a:t>欧几里德算法求两</a:t>
            </a:r>
            <a:r>
              <a:rPr lang="zh-CN" altLang="en-US" dirty="0" smtClean="0"/>
              <a:t>个数</a:t>
            </a:r>
            <a:r>
              <a:rPr lang="zh-CN" altLang="en-US" dirty="0"/>
              <a:t>的</a:t>
            </a:r>
            <a:r>
              <a:rPr lang="zh-CN" altLang="en-US" dirty="0" smtClean="0"/>
              <a:t>最大公约数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欧几里得算法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假设</a:t>
            </a:r>
            <a:r>
              <a:rPr lang="zh-CN" altLang="en-US" dirty="0"/>
              <a:t>用</a:t>
            </a:r>
            <a:r>
              <a:rPr lang="en-US" altLang="zh-CN" dirty="0" err="1"/>
              <a:t>gcd</a:t>
            </a:r>
            <a:r>
              <a:rPr lang="en-US" altLang="zh-CN" dirty="0"/>
              <a:t>(m, n)</a:t>
            </a:r>
            <a:r>
              <a:rPr lang="zh-CN" altLang="en-US" dirty="0"/>
              <a:t>表示</a:t>
            </a:r>
            <a:r>
              <a:rPr lang="en-US" altLang="zh-CN" dirty="0"/>
              <a:t>m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的最大公约数，则</a:t>
            </a:r>
            <a:r>
              <a:rPr lang="en-US" altLang="zh-CN" dirty="0" err="1"/>
              <a:t>gcd</a:t>
            </a:r>
            <a:r>
              <a:rPr lang="en-US" altLang="zh-CN" dirty="0"/>
              <a:t>(m, n)</a:t>
            </a:r>
            <a:r>
              <a:rPr lang="zh-CN" altLang="en-US" dirty="0"/>
              <a:t>必定等于</a:t>
            </a:r>
            <a:r>
              <a:rPr lang="en-US" altLang="zh-CN" dirty="0" err="1"/>
              <a:t>gcd</a:t>
            </a:r>
            <a:r>
              <a:rPr lang="en-US" altLang="zh-CN" dirty="0"/>
              <a:t>(n, m % n)</a:t>
            </a:r>
            <a:r>
              <a:rPr lang="zh-CN" altLang="en-US" dirty="0" smtClean="0"/>
              <a:t>，直到</a:t>
            </a:r>
            <a:r>
              <a:rPr lang="en-US" altLang="zh-CN" dirty="0"/>
              <a:t>m % n</a:t>
            </a:r>
            <a:r>
              <a:rPr lang="zh-CN" altLang="en-US" dirty="0"/>
              <a:t>的结果为</a:t>
            </a:r>
            <a:r>
              <a:rPr lang="en-US" altLang="zh-CN" dirty="0"/>
              <a:t>0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520" y="3429000"/>
            <a:ext cx="7920880" cy="1575423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5-11</a:t>
            </a:r>
            <a:r>
              <a:rPr lang="en-US" altLang="zh-CN" dirty="0" smtClean="0"/>
              <a:t>】</a:t>
            </a:r>
            <a:r>
              <a:rPr lang="zh-CN" altLang="en-US" dirty="0" smtClean="0"/>
              <a:t>用</a:t>
            </a:r>
            <a:r>
              <a:rPr lang="zh-CN" altLang="en-US" dirty="0"/>
              <a:t>欧几里德算法求两</a:t>
            </a:r>
            <a:r>
              <a:rPr lang="zh-CN" altLang="en-US" dirty="0" smtClean="0"/>
              <a:t>个数</a:t>
            </a:r>
            <a:r>
              <a:rPr lang="zh-CN" altLang="en-US" dirty="0"/>
              <a:t>的</a:t>
            </a:r>
            <a:r>
              <a:rPr lang="zh-CN" altLang="en-US" dirty="0" smtClean="0"/>
              <a:t>最大公约数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12776"/>
            <a:ext cx="10852150" cy="280831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#1.	m, n = </a:t>
            </a:r>
            <a:r>
              <a:rPr lang="en-US" altLang="zh-CN" dirty="0" err="1"/>
              <a:t>eval</a:t>
            </a:r>
            <a:r>
              <a:rPr lang="en-US" altLang="zh-CN" dirty="0"/>
              <a:t>(input("</a:t>
            </a:r>
            <a:r>
              <a:rPr lang="zh-CN" altLang="en-US" dirty="0"/>
              <a:t>请输入一对整数</a:t>
            </a:r>
            <a:r>
              <a:rPr lang="en-US" altLang="zh-CN" dirty="0" err="1"/>
              <a:t>m,n</a:t>
            </a:r>
            <a:r>
              <a:rPr lang="en-US" altLang="zh-CN" dirty="0"/>
              <a:t>:"))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while n: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    m, n = n, m % n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print(m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5-12】</a:t>
            </a:r>
            <a:r>
              <a:rPr lang="zh-CN" altLang="en-US" dirty="0"/>
              <a:t>猜数</a:t>
            </a:r>
            <a:r>
              <a:rPr lang="zh-CN" altLang="en-US" dirty="0" smtClean="0"/>
              <a:t>游戏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随机</a:t>
            </a:r>
            <a:r>
              <a:rPr lang="zh-CN" altLang="en-US" dirty="0"/>
              <a:t>生成</a:t>
            </a:r>
            <a:r>
              <a:rPr lang="en-US" altLang="zh-CN" dirty="0"/>
              <a:t>20</a:t>
            </a:r>
            <a:r>
              <a:rPr lang="zh-CN" altLang="en-US" dirty="0"/>
              <a:t>以内的整数，用户输入整数猜测该数，程序提示输入数是偏大偏小还是正确。</a:t>
            </a:r>
            <a:endParaRPr lang="zh-CN" altLang="en-US" dirty="0"/>
          </a:p>
          <a:p>
            <a:r>
              <a:rPr lang="zh-CN" altLang="en-US" dirty="0" smtClean="0"/>
              <a:t>本题</a:t>
            </a:r>
            <a:r>
              <a:rPr lang="zh-CN" altLang="en-US" dirty="0"/>
              <a:t>要用到随机生成数，需要先导入模块</a:t>
            </a:r>
            <a:r>
              <a:rPr lang="en-US" altLang="zh-CN" dirty="0"/>
              <a:t>random</a:t>
            </a:r>
            <a:r>
              <a:rPr lang="zh-CN" altLang="en-US" dirty="0"/>
              <a:t>，并利用其中的</a:t>
            </a:r>
            <a:r>
              <a:rPr lang="en-US" altLang="zh-CN" dirty="0" err="1"/>
              <a:t>randint</a:t>
            </a:r>
            <a:r>
              <a:rPr lang="en-US" altLang="zh-CN" dirty="0"/>
              <a:t>()</a:t>
            </a:r>
            <a:r>
              <a:rPr lang="zh-CN" altLang="en-US" dirty="0"/>
              <a:t>函数生成指定范围的随机整数。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5-12】</a:t>
            </a:r>
            <a:r>
              <a:rPr lang="zh-CN" altLang="en-US" dirty="0"/>
              <a:t>猜数游戏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5365199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400" dirty="0"/>
              <a:t>#1.	import random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400" dirty="0"/>
              <a:t>#2.	goal = </a:t>
            </a:r>
            <a:r>
              <a:rPr lang="en-US" altLang="zh-CN" sz="2400" dirty="0" err="1"/>
              <a:t>random.randint</a:t>
            </a:r>
            <a:r>
              <a:rPr lang="en-US" altLang="zh-CN" sz="2400" dirty="0"/>
              <a:t>(1, 20)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400" dirty="0"/>
              <a:t>#3.	x =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(input('</a:t>
            </a:r>
            <a:r>
              <a:rPr lang="zh-CN" altLang="en-US" sz="2400" dirty="0"/>
              <a:t>你猜：</a:t>
            </a:r>
            <a:r>
              <a:rPr lang="en-US" altLang="zh-CN" sz="2400" dirty="0"/>
              <a:t>'))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400" dirty="0"/>
              <a:t>#4.	n = 1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400" dirty="0"/>
              <a:t>#5.	while x != goal: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400" dirty="0"/>
              <a:t>#6.	    n += 1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400" dirty="0"/>
              <a:t>#7.	    if x &gt; goal: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400" dirty="0"/>
              <a:t>#8.	        x =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(input('</a:t>
            </a:r>
            <a:r>
              <a:rPr lang="zh-CN" altLang="en-US" sz="2400" dirty="0"/>
              <a:t>偏大！再猜：</a:t>
            </a:r>
            <a:r>
              <a:rPr lang="en-US" altLang="zh-CN" sz="2400" dirty="0"/>
              <a:t>'))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400" dirty="0"/>
              <a:t>#9.	    </a:t>
            </a:r>
            <a:r>
              <a:rPr lang="en-US" altLang="zh-CN" sz="2400" dirty="0" err="1"/>
              <a:t>elif</a:t>
            </a:r>
            <a:r>
              <a:rPr lang="en-US" altLang="zh-CN" sz="2400" dirty="0"/>
              <a:t> x &lt; goal: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400" dirty="0"/>
              <a:t>#10.	        x =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(input('</a:t>
            </a:r>
            <a:r>
              <a:rPr lang="zh-CN" altLang="en-US" sz="2400" dirty="0"/>
              <a:t>偏小！再猜：</a:t>
            </a:r>
            <a:r>
              <a:rPr lang="en-US" altLang="zh-CN" sz="2400" dirty="0"/>
              <a:t>'))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zh-CN" sz="2400" dirty="0"/>
              <a:t>#11.	print('</a:t>
            </a:r>
            <a:r>
              <a:rPr lang="zh-CN" altLang="en-US" sz="2400" dirty="0"/>
              <a:t>恭喜你，猜对了！共猜了</a:t>
            </a:r>
            <a:r>
              <a:rPr lang="en-US" altLang="zh-CN" sz="2400" dirty="0"/>
              <a:t>{}</a:t>
            </a:r>
            <a:r>
              <a:rPr lang="zh-CN" altLang="en-US" sz="2400" dirty="0"/>
              <a:t>次</a:t>
            </a:r>
            <a:r>
              <a:rPr lang="en-US" altLang="zh-CN" sz="2400" dirty="0"/>
              <a:t>'.format(n</a:t>
            </a:r>
            <a:r>
              <a:rPr lang="en-US" altLang="zh-CN" sz="2400" dirty="0" smtClean="0"/>
              <a:t>))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【</a:t>
            </a:r>
            <a:r>
              <a:rPr>
                <a:sym typeface="+mn-ea"/>
              </a:rPr>
              <a:t>例</a:t>
            </a:r>
            <a:r>
              <a:rPr lang="en-US" altLang="zh-CN">
                <a:sym typeface="+mn-ea"/>
              </a:rPr>
              <a:t>5-13】</a:t>
            </a:r>
            <a:r>
              <a:rPr>
                <a:sym typeface="+mn-ea"/>
              </a:rPr>
              <a:t>鱼的问题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b="1">
                <a:ea typeface="华文中宋" panose="02010600040101010101" pitchFamily="2" charset="-122"/>
                <a:sym typeface="+mn-ea"/>
              </a:rPr>
              <a:t>已知，大鱼</a:t>
            </a:r>
            <a:r>
              <a:rPr lang="en-US" altLang="zh-CN" b="1">
                <a:sym typeface="+mn-ea"/>
              </a:rPr>
              <a:t>5</a:t>
            </a:r>
            <a:r>
              <a:rPr b="1">
                <a:ea typeface="华文中宋" panose="02010600040101010101" pitchFamily="2" charset="-122"/>
                <a:sym typeface="+mn-ea"/>
              </a:rPr>
              <a:t>元，中鱼</a:t>
            </a:r>
            <a:r>
              <a:rPr lang="en-US" altLang="zh-CN" b="1">
                <a:sym typeface="+mn-ea"/>
              </a:rPr>
              <a:t>3</a:t>
            </a:r>
            <a:r>
              <a:rPr b="1">
                <a:ea typeface="华文中宋" panose="02010600040101010101" pitchFamily="2" charset="-122"/>
                <a:sym typeface="+mn-ea"/>
              </a:rPr>
              <a:t>元，小鱼一元三条，</a:t>
            </a:r>
            <a:r>
              <a:rPr lang="en-US" altLang="zh-CN" b="1">
                <a:sym typeface="+mn-ea"/>
              </a:rPr>
              <a:t>100</a:t>
            </a:r>
            <a:r>
              <a:rPr b="1">
                <a:ea typeface="华文中宋" panose="02010600040101010101" pitchFamily="2" charset="-122"/>
                <a:sym typeface="+mn-ea"/>
              </a:rPr>
              <a:t>元买一百条鱼，请问大鱼、中鱼、小鱼各多少条？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r>
              <a:rPr lang="zh-CN" altLang="en-US"/>
              <a:t>for i in range(101):</a:t>
            </a:r>
            <a:endParaRPr lang="zh-CN" altLang="en-US"/>
          </a:p>
          <a:p>
            <a:r>
              <a:rPr lang="zh-CN" altLang="en-US"/>
              <a:t>    for j in range(101):</a:t>
            </a:r>
            <a:endParaRPr lang="zh-CN" altLang="en-US"/>
          </a:p>
          <a:p>
            <a:r>
              <a:rPr lang="zh-CN" altLang="en-US"/>
              <a:t>        for k  in range(101):</a:t>
            </a:r>
            <a:endParaRPr lang="zh-CN" altLang="en-US"/>
          </a:p>
          <a:p>
            <a:r>
              <a:rPr lang="zh-CN" altLang="en-US"/>
              <a:t>            if i*5 +j*3 +k/3 ==100 and i+j+k == 100:</a:t>
            </a:r>
            <a:endParaRPr lang="zh-CN" altLang="en-US"/>
          </a:p>
          <a:p>
            <a:r>
              <a:rPr lang="zh-CN" altLang="en-US"/>
              <a:t>                print(i,j,k)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7930" y="2066925"/>
            <a:ext cx="3025140" cy="237236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谢  谢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8"/>
  <p:tag name="KSO_WM_UNIT_SHOW_EDIT_AREA_INDICATION" val="0"/>
  <p:tag name="KSO_WM_TAG_VERSION" val="1.0"/>
  <p:tag name="KSO_WM_BEAUTIFY_FLAG" val="#wm#"/>
  <p:tag name="KSO_WM_TEMPLATE_CATEGORY" val="custom"/>
  <p:tag name="KSO_WM_TEMPLATE_INDEX" val="20202601"/>
  <p:tag name="KSO_WM_TEMPLATE_THUMBS_INDEX" val="1、4、7、8、9、10、11、13、14、15"/>
</p:tagLst>
</file>

<file path=ppt/tags/tag145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46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2601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2601"/>
</p:tagLst>
</file>

<file path=ppt/tags/tag149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50.xml><?xml version="1.0" encoding="utf-8"?>
<p:tagLst xmlns:p="http://schemas.openxmlformats.org/presentationml/2006/main">
  <p:tag name="REFSHAPE" val="486221092"/>
</p:tagLst>
</file>

<file path=ppt/tags/tag151.xml><?xml version="1.0" encoding="utf-8"?>
<p:tagLst xmlns:p="http://schemas.openxmlformats.org/presentationml/2006/main">
  <p:tag name="KSO_WM_UNIT_TABLE_BEAUTIFY" val="smartTable{ee7c0656-b3dd-49c3-a7a4-f444d0b105bd}"/>
</p:tagLst>
</file>

<file path=ppt/tags/tag152.xml><?xml version="1.0" encoding="utf-8"?>
<p:tagLst xmlns:p="http://schemas.openxmlformats.org/presentationml/2006/main">
  <p:tag name="KSO_WM_UNIT_TABLE_BEAUTIFY" val="smartTable{49b6f975-d340-41d6-9f05-4700acd3eac3}"/>
</p:tagLst>
</file>

<file path=ppt/tags/tag153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54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55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56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ags/tag158.xml><?xml version="1.0" encoding="utf-8"?>
<p:tagLst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59.xml><?xml version="1.0" encoding="utf-8"?>
<p:tagLst xmlns:p="http://schemas.openxmlformats.org/presentationml/2006/main">
  <p:tag name="ISPRING_PRESENTATION_TITLE" val="幻灯片 1"/>
</p:tagLst>
</file>

<file path=ppt/theme/theme1.xml><?xml version="1.0" encoding="utf-8"?>
<a:theme xmlns:a="http://schemas.openxmlformats.org/drawingml/2006/main" name="1_Office 主题​​">
  <a:themeElements>
    <a:clrScheme name="自定义 25">
      <a:dk1>
        <a:srgbClr val="000000"/>
      </a:dk1>
      <a:lt1>
        <a:srgbClr val="FFFFFF"/>
      </a:lt1>
      <a:dk2>
        <a:srgbClr val="E9F3FA"/>
      </a:dk2>
      <a:lt2>
        <a:srgbClr val="FFFFFF"/>
      </a:lt2>
      <a:accent1>
        <a:srgbClr val="4472C4"/>
      </a:accent1>
      <a:accent2>
        <a:srgbClr val="2A8DD4"/>
      </a:accent2>
      <a:accent3>
        <a:srgbClr val="2FA1CF"/>
      </a:accent3>
      <a:accent4>
        <a:srgbClr val="33B2B2"/>
      </a:accent4>
      <a:accent5>
        <a:srgbClr val="35BD81"/>
      </a:accent5>
      <a:accent6>
        <a:srgbClr val="59C54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lang="en-US" altLang="zh-CN" dirty="0"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8393</Words>
  <Application>WPS 演示</Application>
  <PresentationFormat>宽屏</PresentationFormat>
  <Paragraphs>965</Paragraphs>
  <Slides>78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78</vt:i4>
      </vt:variant>
    </vt:vector>
  </HeadingPairs>
  <TitlesOfParts>
    <vt:vector size="95" baseType="lpstr">
      <vt:lpstr>Arial</vt:lpstr>
      <vt:lpstr>宋体</vt:lpstr>
      <vt:lpstr>Wingdings</vt:lpstr>
      <vt:lpstr>微软雅黑</vt:lpstr>
      <vt:lpstr>汉仪旗黑-85S</vt:lpstr>
      <vt:lpstr>Viner Hand ITC</vt:lpstr>
      <vt:lpstr>华文中宋</vt:lpstr>
      <vt:lpstr>Wingdings</vt:lpstr>
      <vt:lpstr>华文新魏</vt:lpstr>
      <vt:lpstr>Arial Unicode MS</vt:lpstr>
      <vt:lpstr>黑体</vt:lpstr>
      <vt:lpstr>Wingdings 2</vt:lpstr>
      <vt:lpstr>Verdana</vt:lpstr>
      <vt:lpstr>Times New Roman</vt:lpstr>
      <vt:lpstr>1_Office 主题​​</vt:lpstr>
      <vt:lpstr>Equation.3</vt:lpstr>
      <vt:lpstr>Equation.3</vt:lpstr>
      <vt:lpstr>第5章 循环结构</vt:lpstr>
      <vt:lpstr>目录</vt:lpstr>
      <vt:lpstr>PowerPoint 演示文稿</vt:lpstr>
      <vt:lpstr>PowerPoint 演示文稿</vt:lpstr>
      <vt:lpstr>5.1 while循环结构</vt:lpstr>
      <vt:lpstr>while循环结构</vt:lpstr>
      <vt:lpstr>while循环结构</vt:lpstr>
      <vt:lpstr>基本while语句</vt:lpstr>
      <vt:lpstr>基本while语句</vt:lpstr>
      <vt:lpstr>PowerPoint 演示文稿</vt:lpstr>
      <vt:lpstr>【例5-1】求累加和</vt:lpstr>
      <vt:lpstr>【例5-1】求累加和</vt:lpstr>
      <vt:lpstr>循环变量的变化</vt:lpstr>
      <vt:lpstr>【例5-2】求阶乘</vt:lpstr>
      <vt:lpstr>【例5-2】求阶乘</vt:lpstr>
      <vt:lpstr>循环中，变量的变化 </vt:lpstr>
      <vt:lpstr>PowerPoint 演示文稿</vt:lpstr>
      <vt:lpstr>已知累加值，求和、求差、求积、求商等等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【例5-3】输入一个整数，求它的各位数字之和。 求和在后，下一轮准备在前 </vt:lpstr>
      <vt:lpstr>【例5-3】改写，求和在前，下一轮准备在后</vt:lpstr>
      <vt:lpstr>扩展while语句</vt:lpstr>
      <vt:lpstr>扩展while语句</vt:lpstr>
      <vt:lpstr>【例5-2】求阶乘</vt:lpstr>
      <vt:lpstr>PowerPoint 演示文稿</vt:lpstr>
      <vt:lpstr>5.2 for循环结构</vt:lpstr>
      <vt:lpstr>for循环结构</vt:lpstr>
      <vt:lpstr>for循环结构</vt:lpstr>
      <vt:lpstr>for语句</vt:lpstr>
      <vt:lpstr>range函数的格式</vt:lpstr>
      <vt:lpstr>关于for循环的循环变量</vt:lpstr>
      <vt:lpstr>关于for循环的循环变量</vt:lpstr>
      <vt:lpstr>for循环中序列结构的元素增加或减少</vt:lpstr>
      <vt:lpstr>pop按下标删除列表元素</vt:lpstr>
      <vt:lpstr>for循环中序列结构的元素增加或减少（1）</vt:lpstr>
      <vt:lpstr>append列表末尾添加新元素</vt:lpstr>
      <vt:lpstr>for循环中序列结构的元素增加或减少（2）</vt:lpstr>
      <vt:lpstr>insert() 函数用于将指定对象插入列表的指定位置</vt:lpstr>
      <vt:lpstr>for循环中序列结构的元素增加或减少（3）</vt:lpstr>
      <vt:lpstr>【例5-4】用for语句求1+2+3+…+99+100。</vt:lpstr>
      <vt:lpstr>【例5-5】用for语句求一个整数的各位数字之和。 </vt:lpstr>
      <vt:lpstr>【例5-6】编写程序找出所有三位水仙花数。</vt:lpstr>
      <vt:lpstr>PowerPoint 演示文稿</vt:lpstr>
      <vt:lpstr>5.3 循环控制语句</vt:lpstr>
      <vt:lpstr>5.3.1 break语句</vt:lpstr>
      <vt:lpstr>5.3.1 break语句</vt:lpstr>
      <vt:lpstr>【例5-7】输入一个正整数n，判断它是否为素数。</vt:lpstr>
      <vt:lpstr>5.3.2 continue语句</vt:lpstr>
      <vt:lpstr>【例5-8】改用continue找所有三位水仙花数。</vt:lpstr>
      <vt:lpstr>5.3.2 continue语句 </vt:lpstr>
      <vt:lpstr>用if改写continue语句</vt:lpstr>
      <vt:lpstr>5.3.2 continue语句</vt:lpstr>
      <vt:lpstr>5.3.3 pass语句</vt:lpstr>
      <vt:lpstr>PowerPoint 演示文稿</vt:lpstr>
      <vt:lpstr>5.4 循环的嵌套</vt:lpstr>
      <vt:lpstr>循环嵌套</vt:lpstr>
      <vt:lpstr>循环嵌套</vt:lpstr>
      <vt:lpstr>【例5-9】编制程序，打印如下九九乘法表。</vt:lpstr>
      <vt:lpstr>【例5-9】打印如下九九乘法表。</vt:lpstr>
      <vt:lpstr>【例5-10】求100以内的全部素数。</vt:lpstr>
      <vt:lpstr>【例5-10】求100以内的全部素数。</vt:lpstr>
      <vt:lpstr>PowerPoint 演示文稿</vt:lpstr>
      <vt:lpstr>PowerPoint 演示文稿</vt:lpstr>
      <vt:lpstr>5.5 循环结构程序举例</vt:lpstr>
      <vt:lpstr>【例5-11】用欧几里德算法求两个数的最大公约数</vt:lpstr>
      <vt:lpstr>【例5-11】用欧几里德算法求两个数的最大公约数</vt:lpstr>
      <vt:lpstr>【例5-12】猜数游戏</vt:lpstr>
      <vt:lpstr>【例5-12】猜数游戏</vt:lpstr>
      <vt:lpstr>【例5-13】鱼的问题</vt:lpstr>
      <vt:lpstr>谢  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18662582800</cp:lastModifiedBy>
  <cp:revision>92</cp:revision>
  <dcterms:created xsi:type="dcterms:W3CDTF">2018-10-09T06:59:00Z</dcterms:created>
  <dcterms:modified xsi:type="dcterms:W3CDTF">2020-03-25T10:08:32Z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