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9"/>
  </p:notesMasterIdLst>
  <p:sldIdLst>
    <p:sldId id="256" r:id="rId2"/>
    <p:sldId id="289" r:id="rId3"/>
    <p:sldId id="281" r:id="rId4"/>
    <p:sldId id="290" r:id="rId5"/>
    <p:sldId id="283" r:id="rId6"/>
    <p:sldId id="291" r:id="rId7"/>
    <p:sldId id="293" r:id="rId8"/>
  </p:sldIdLst>
  <p:sldSz cx="12192000" cy="6858000"/>
  <p:notesSz cx="6858000" cy="9144000"/>
  <p:defaultText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B5D826-3421-474E-A6A2-9258637C4F81}" type="datetimeFigureOut">
              <a:rPr lang="zh-CN" altLang="en-US" smtClean="0"/>
              <a:t>2024/4/21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9D91CA-7258-4CBD-A321-AC13C7DCB866}" type="slidenum">
              <a:rPr lang="zh-CN" altLang="en-US" smtClean="0"/>
              <a:t>‹#›</a:t>
            </a:fld>
            <a:endParaRPr lang="zh-CN" altLang="en-US"/>
          </a:p>
        </p:txBody>
      </p:sp>
    </p:spTree>
    <p:extLst>
      <p:ext uri="{BB962C8B-B14F-4D97-AF65-F5344CB8AC3E}">
        <p14:creationId xmlns:p14="http://schemas.microsoft.com/office/powerpoint/2010/main" val="4208390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solidFill>
            <a:srgbClr val="F7F1ED">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5" y="68881"/>
            <a:ext cx="7522234" cy="6652595"/>
          </a:xfrm>
          <a:prstGeom prst="rect">
            <a:avLst/>
          </a:prstGeom>
        </p:spPr>
      </p:pic>
      <p:sp>
        <p:nvSpPr>
          <p:cNvPr id="4"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
        <p:nvSpPr>
          <p:cNvPr id="3" name="KSO_CT2"/>
          <p:cNvSpPr>
            <a:spLocks noGrp="1"/>
          </p:cNvSpPr>
          <p:nvPr>
            <p:ph type="subTitle" idx="1" hasCustomPrompt="1"/>
          </p:nvPr>
        </p:nvSpPr>
        <p:spPr>
          <a:xfrm>
            <a:off x="3698575" y="3456594"/>
            <a:ext cx="4794850" cy="467211"/>
          </a:xfrm>
          <a:noFill/>
        </p:spPr>
        <p:txBody>
          <a:bodyPr>
            <a:noAutofit/>
          </a:bodyPr>
          <a:lstStyle>
            <a:lvl1pPr marL="0" indent="0" algn="ctr">
              <a:buNone/>
              <a:defRPr sz="1800">
                <a:solidFill>
                  <a:schemeClr val="accent3">
                    <a:lumMod val="75000"/>
                  </a:schemeClr>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单击此处添加您的副标题</a:t>
            </a:r>
          </a:p>
        </p:txBody>
      </p:sp>
      <p:sp>
        <p:nvSpPr>
          <p:cNvPr id="7" name="KSO_CT1"/>
          <p:cNvSpPr>
            <a:spLocks noGrp="1"/>
          </p:cNvSpPr>
          <p:nvPr>
            <p:ph type="title" hasCustomPrompt="1"/>
          </p:nvPr>
        </p:nvSpPr>
        <p:spPr>
          <a:xfrm>
            <a:off x="3698575" y="1553537"/>
            <a:ext cx="4794850" cy="1720077"/>
          </a:xfrm>
        </p:spPr>
        <p:txBody>
          <a:bodyPr>
            <a:noAutofit/>
          </a:bodyPr>
          <a:lstStyle>
            <a:lvl1pPr algn="ctr">
              <a:lnSpc>
                <a:spcPct val="100000"/>
              </a:lnSpc>
              <a:defRPr sz="4000" baseline="0">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a:effectLst/>
                <a:latin typeface="Baskerville Old Face" panose="02020602080505020303" pitchFamily="18" charset="0"/>
              </a:defRPr>
            </a:lvl1pPr>
          </a:lstStyle>
          <a:p>
            <a:r>
              <a:rPr lang="zh-CN" altLang="en-US" dirty="0"/>
              <a:t>单击此处</a:t>
            </a:r>
            <a:r>
              <a:rPr lang="en-US" altLang="zh-CN" dirty="0"/>
              <a:t/>
            </a:r>
            <a:br>
              <a:rPr lang="en-US" altLang="zh-CN" dirty="0"/>
            </a:br>
            <a:r>
              <a:rPr lang="zh-CN" altLang="en-US" dirty="0"/>
              <a:t>添加您的标题文字</a:t>
            </a:r>
          </a:p>
        </p:txBody>
      </p:sp>
    </p:spTree>
    <p:extLst>
      <p:ext uri="{BB962C8B-B14F-4D97-AF65-F5344CB8AC3E}">
        <p14:creationId xmlns:p14="http://schemas.microsoft.com/office/powerpoint/2010/main" val="686698756"/>
      </p:ext>
    </p:extLst>
  </p:cSld>
  <p:clrMapOvr>
    <a:masterClrMapping/>
  </p:clrMapOvr>
  <p:extLst>
    <p:ext uri="{DCECCB84-F9BA-43D5-87BE-67443E8EF086}">
      <p15:sldGuideLst xmlns:p15="http://schemas.microsoft.com/office/powerpoint/2012/main">
        <p15:guide id="0" orient="horz" pos="2160">
          <p15:clr>
            <a:srgbClr val="FBAE40"/>
          </p15:clr>
        </p15:guide>
        <p15:guide id="1" pos="4967">
          <p15:clr>
            <a:srgbClr val="FBAE40"/>
          </p15:clr>
        </p15:guide>
        <p15:guide id="2" pos="66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idx="1"/>
          </p:nvPr>
        </p:nvSpPr>
        <p:spPr/>
        <p:txBody>
          <a:bodyPr/>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880555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98675" y="2017768"/>
            <a:ext cx="7994651" cy="1235075"/>
          </a:xfrm>
        </p:spPr>
        <p:txBody>
          <a:bodyPr anchor="b">
            <a:normAutofit/>
          </a:bodyPr>
          <a:lstStyle>
            <a:lvl1pPr algn="ctr">
              <a:defRPr sz="3600">
                <a:solidFill>
                  <a:schemeClr val="accent2">
                    <a:lumMod val="75000"/>
                  </a:schemeClr>
                </a:solidFill>
                <a:effectLst/>
              </a:defRPr>
            </a:lvl1pPr>
          </a:lstStyle>
          <a:p>
            <a:r>
              <a:rPr lang="zh-CN" altLang="en-US" dirty="0"/>
              <a:t>此处添加您的标题</a:t>
            </a:r>
            <a:endParaRPr lang="en-US" dirty="0"/>
          </a:p>
        </p:txBody>
      </p:sp>
      <p:sp>
        <p:nvSpPr>
          <p:cNvPr id="3" name="KSO_ST2"/>
          <p:cNvSpPr>
            <a:spLocks noGrp="1"/>
          </p:cNvSpPr>
          <p:nvPr>
            <p:ph type="body" idx="1" hasCustomPrompt="1"/>
          </p:nvPr>
        </p:nvSpPr>
        <p:spPr>
          <a:xfrm>
            <a:off x="4050893" y="3309993"/>
            <a:ext cx="4090217" cy="357478"/>
          </a:xfrm>
          <a:prstGeom prst="roundRect">
            <a:avLst>
              <a:gd name="adj" fmla="val 50000"/>
            </a:avLst>
          </a:prstGeom>
          <a:solidFill>
            <a:schemeClr val="tx2">
              <a:lumMod val="40000"/>
              <a:lumOff val="60000"/>
            </a:schemeClr>
          </a:solidFill>
        </p:spPr>
        <p:txBody>
          <a:bodyPr anchor="ctr">
            <a:normAutofit/>
          </a:bodyPr>
          <a:lstStyle>
            <a:lvl1pPr marL="0" indent="0" algn="ctr">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110199356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399823" y="1244601"/>
            <a:ext cx="5080000" cy="4932363"/>
          </a:xfrm>
        </p:spPr>
        <p:txBody>
          <a:bodyPr/>
          <a:lstStyle/>
          <a:p>
            <a:pPr lvl="0"/>
            <a:r>
              <a:rPr lang="zh-CN" altLang="en-US"/>
              <a:t>单击此处编辑母版文本样式</a:t>
            </a:r>
          </a:p>
          <a:p>
            <a:pPr lvl="1"/>
            <a:r>
              <a:rPr lang="zh-CN" altLang="en-US"/>
              <a:t>二级</a:t>
            </a:r>
          </a:p>
        </p:txBody>
      </p:sp>
      <p:sp>
        <p:nvSpPr>
          <p:cNvPr id="4" name="KSO_BC2"/>
          <p:cNvSpPr>
            <a:spLocks noGrp="1"/>
          </p:cNvSpPr>
          <p:nvPr>
            <p:ph sz="half" idx="2"/>
          </p:nvPr>
        </p:nvSpPr>
        <p:spPr>
          <a:xfrm>
            <a:off x="6519333" y="1244601"/>
            <a:ext cx="5094116" cy="4932363"/>
          </a:xfrm>
        </p:spPr>
        <p:txBody>
          <a:bodyPr/>
          <a:lstStyle/>
          <a:p>
            <a:pPr lvl="0"/>
            <a:r>
              <a:rPr lang="zh-CN" altLang="en-US"/>
              <a:t>单击此处编辑母版文本样式</a:t>
            </a:r>
          </a:p>
          <a:p>
            <a:pPr lvl="1"/>
            <a:r>
              <a:rPr lang="zh-CN" altLang="en-US"/>
              <a:t>二级</a:t>
            </a:r>
          </a:p>
        </p:txBody>
      </p:sp>
      <p:sp>
        <p:nvSpPr>
          <p:cNvPr id="5"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1839853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9435" y="137636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KSO_BC1"/>
          <p:cNvSpPr>
            <a:spLocks noGrp="1"/>
          </p:cNvSpPr>
          <p:nvPr>
            <p:ph sz="half" idx="2"/>
          </p:nvPr>
        </p:nvSpPr>
        <p:spPr>
          <a:xfrm>
            <a:off x="1099435" y="2200274"/>
            <a:ext cx="5157787" cy="3684588"/>
          </a:xfrm>
        </p:spPr>
        <p:txBody>
          <a:bodyPr/>
          <a:lstStyle/>
          <a:p>
            <a:pPr lvl="0"/>
            <a:r>
              <a:rPr lang="zh-CN" altLang="en-US"/>
              <a:t>单击此处编辑母版文本样式</a:t>
            </a:r>
          </a:p>
          <a:p>
            <a:pPr lvl="1"/>
            <a:r>
              <a:rPr lang="zh-CN" altLang="en-US"/>
              <a:t>二级</a:t>
            </a:r>
          </a:p>
        </p:txBody>
      </p:sp>
      <p:sp>
        <p:nvSpPr>
          <p:cNvPr id="5" name="Text Placeholder 4"/>
          <p:cNvSpPr>
            <a:spLocks noGrp="1"/>
          </p:cNvSpPr>
          <p:nvPr>
            <p:ph type="body" sz="quarter" idx="3"/>
          </p:nvPr>
        </p:nvSpPr>
        <p:spPr>
          <a:xfrm>
            <a:off x="6431846" y="137636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KSO_BC2"/>
          <p:cNvSpPr>
            <a:spLocks noGrp="1"/>
          </p:cNvSpPr>
          <p:nvPr>
            <p:ph sz="quarter" idx="4"/>
          </p:nvPr>
        </p:nvSpPr>
        <p:spPr>
          <a:xfrm>
            <a:off x="6431846" y="2200274"/>
            <a:ext cx="5183188" cy="3684588"/>
          </a:xfrm>
        </p:spPr>
        <p:txBody>
          <a:bodyPr/>
          <a:lstStyle/>
          <a:p>
            <a:pPr lvl="0"/>
            <a:r>
              <a:rPr lang="zh-CN" altLang="en-US"/>
              <a:t>单击此处编辑母版文本样式</a:t>
            </a:r>
          </a:p>
          <a:p>
            <a:pPr lvl="1"/>
            <a:r>
              <a:rPr lang="zh-CN" altLang="en-US"/>
              <a:t>二级</a:t>
            </a:r>
          </a:p>
        </p:txBody>
      </p:sp>
      <p:sp>
        <p:nvSpPr>
          <p:cNvPr id="7"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851362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929858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2670232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0" y="533402"/>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p:cNvSpPr>
          <p:nvPr>
            <p:ph idx="1"/>
          </p:nvPr>
        </p:nvSpPr>
        <p:spPr>
          <a:xfrm>
            <a:off x="5487989" y="1063629"/>
            <a:ext cx="6172200"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p:txBody>
      </p:sp>
      <p:sp>
        <p:nvSpPr>
          <p:cNvPr id="4" name="KSO_BC2"/>
          <p:cNvSpPr>
            <a:spLocks noGrp="1"/>
          </p:cNvSpPr>
          <p:nvPr>
            <p:ph type="body" sz="half" idx="2"/>
          </p:nvPr>
        </p:nvSpPr>
        <p:spPr>
          <a:xfrm>
            <a:off x="1144590" y="213360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578587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5442833"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4144031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105016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0" y="365125"/>
            <a:ext cx="1182511" cy="5811838"/>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2113842" y="365125"/>
            <a:ext cx="7933269" cy="5811838"/>
          </a:xfrm>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3649935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3">
            <a:extLst>
              <a:ext uri="{28A0092B-C50C-407E-A947-70E740481C1C}">
                <a14:useLocalDpi xmlns:a14="http://schemas.microsoft.com/office/drawing/2010/main" val="0"/>
              </a:ext>
            </a:extLst>
          </a:blip>
          <a:srcRect l="-1717" t="433" r="9247" b="30728"/>
          <a:stretch/>
        </p:blipFill>
        <p:spPr>
          <a:xfrm>
            <a:off x="0" y="3667649"/>
            <a:ext cx="12192000" cy="3195372"/>
          </a:xfrm>
          <a:prstGeom prst="rect">
            <a:avLst/>
          </a:prstGeom>
        </p:spPr>
      </p:pic>
      <p:sp>
        <p:nvSpPr>
          <p:cNvPr id="7" name="矩形 6"/>
          <p:cNvSpPr/>
          <p:nvPr/>
        </p:nvSpPr>
        <p:spPr>
          <a:xfrm>
            <a:off x="0" y="1"/>
            <a:ext cx="12192000" cy="6863021"/>
          </a:xfrm>
          <a:prstGeom prst="rect">
            <a:avLst/>
          </a:prstGeom>
          <a:solidFill>
            <a:srgbClr val="F7F1ED">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KSO_BT1"/>
          <p:cNvSpPr>
            <a:spLocks noGrp="1"/>
          </p:cNvSpPr>
          <p:nvPr>
            <p:ph type="title"/>
          </p:nvPr>
        </p:nvSpPr>
        <p:spPr>
          <a:xfrm>
            <a:off x="558798" y="162557"/>
            <a:ext cx="11056060" cy="699594"/>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4" name="KSO_FD"/>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BF24C2-BDE0-4827-AB78-C2004A9D09BE}" type="datetimeFigureOut">
              <a:rPr lang="zh-CN" altLang="en-US" smtClean="0"/>
              <a:t>2024/4/21</a:t>
            </a:fld>
            <a:endParaRPr lang="zh-CN" altLang="en-US"/>
          </a:p>
        </p:txBody>
      </p:sp>
      <p:sp>
        <p:nvSpPr>
          <p:cNvPr id="5" name="KSO_FT"/>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1E858-DF46-4C46-87A3-66271649DAEC}" type="slidenum">
              <a:rPr lang="zh-CN" altLang="en-US" smtClean="0"/>
              <a:t>‹#›</a:t>
            </a:fld>
            <a:endParaRPr lang="zh-CN" altLang="en-US"/>
          </a:p>
        </p:txBody>
      </p:sp>
      <p:sp>
        <p:nvSpPr>
          <p:cNvPr id="3" name="KSO_BC1"/>
          <p:cNvSpPr>
            <a:spLocks noGrp="1"/>
          </p:cNvSpPr>
          <p:nvPr>
            <p:ph type="body" idx="1"/>
          </p:nvPr>
        </p:nvSpPr>
        <p:spPr>
          <a:xfrm>
            <a:off x="558799" y="1096951"/>
            <a:ext cx="11056060" cy="543447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300260419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3200" b="1" i="0" kern="1200" baseline="0">
          <a:solidFill>
            <a:schemeClr val="accent2">
              <a:lumMod val="75000"/>
            </a:schemeClr>
          </a:solidFill>
          <a:effectLst/>
          <a:latin typeface="Arial Black" panose="020B0A04020102020204" pitchFamily="34" charset="0"/>
          <a:ea typeface="微软雅黑" panose="020B0503020204020204" pitchFamily="34" charset="-122"/>
          <a:cs typeface="+mj-cs"/>
        </a:defRPr>
      </a:lvl1pPr>
    </p:titleStyle>
    <p:bodyStyle>
      <a:lvl1pPr marL="357188" indent="-357188" algn="just" defTabSz="914400" rtl="0" eaLnBrk="1" latinLnBrk="0" hangingPunct="1">
        <a:lnSpc>
          <a:spcPct val="110000"/>
        </a:lnSpc>
        <a:spcBef>
          <a:spcPts val="1800"/>
        </a:spcBef>
        <a:spcAft>
          <a:spcPts val="0"/>
        </a:spcAft>
        <a:buClr>
          <a:schemeClr val="accent1"/>
        </a:buClr>
        <a:buSzPct val="100000"/>
        <a:buFontTx/>
        <a:buBlip>
          <a:blip r:embed="rId14"/>
        </a:buBlip>
        <a:defRPr sz="2000" kern="1200" baseline="0">
          <a:solidFill>
            <a:schemeClr val="accent3">
              <a:lumMod val="75000"/>
            </a:schemeClr>
          </a:solidFill>
          <a:latin typeface="Arial" panose="020B0604020202020204" pitchFamily="34" charset="0"/>
          <a:ea typeface="微软雅黑" panose="020B0503020204020204" pitchFamily="34" charset="-122"/>
          <a:cs typeface="+mn-cs"/>
        </a:defRPr>
      </a:lvl1pPr>
      <a:lvl2pPr marL="357188" indent="-357188" algn="just" defTabSz="914400" rtl="0" eaLnBrk="1" latinLnBrk="0" hangingPunct="1">
        <a:lnSpc>
          <a:spcPct val="130000"/>
        </a:lnSpc>
        <a:spcBef>
          <a:spcPts val="0"/>
        </a:spcBef>
        <a:spcAft>
          <a:spcPts val="600"/>
        </a:spcAft>
        <a:buClr>
          <a:schemeClr val="accent2">
            <a:lumMod val="60000"/>
            <a:lumOff val="40000"/>
          </a:schemeClr>
        </a:buClr>
        <a:buFont typeface="幼圆" panose="02010509060101010101" pitchFamily="49" charset="-122"/>
        <a:buChar char=" "/>
        <a:defRPr sz="1600" kern="1200" baseline="0">
          <a:solidFill>
            <a:srgbClr val="686868"/>
          </a:solidFill>
          <a:latin typeface="幼圆" panose="02010509060101010101" pitchFamily="49" charset="-122"/>
          <a:ea typeface="幼圆" panose="020105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slideLayout" Target="../slideLayouts/slideLayout2.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93FCC6A3-D807-44AB-84B8-6CD1003D07C5}"/>
              </a:ext>
            </a:extLst>
          </p:cNvPr>
          <p:cNvSpPr>
            <a:spLocks noGrp="1"/>
          </p:cNvSpPr>
          <p:nvPr>
            <p:ph type="subTitle" idx="1"/>
          </p:nvPr>
        </p:nvSpPr>
        <p:spPr>
          <a:xfrm>
            <a:off x="3790188" y="2517278"/>
            <a:ext cx="4611624" cy="2046111"/>
          </a:xfrm>
        </p:spPr>
        <p:txBody>
          <a:bodyPr/>
          <a:lstStyle/>
          <a:p>
            <a:r>
              <a:rPr lang="en-US" altLang="zh-CN" sz="2000" b="1" dirty="0"/>
              <a:t>Unit 2</a:t>
            </a:r>
          </a:p>
          <a:p>
            <a:r>
              <a:rPr lang="en-US" altLang="zh-CN" sz="2000" b="1" dirty="0"/>
              <a:t> Communication</a:t>
            </a:r>
          </a:p>
          <a:p>
            <a:r>
              <a:rPr lang="en-US" altLang="zh-CN" sz="2000" b="1" dirty="0"/>
              <a:t>and</a:t>
            </a:r>
          </a:p>
          <a:p>
            <a:r>
              <a:rPr lang="en-US" altLang="zh-CN" sz="2000" b="1" dirty="0"/>
              <a:t>Culture</a:t>
            </a:r>
            <a:endParaRPr lang="zh-CN" altLang="en-US" sz="2000" b="1" dirty="0"/>
          </a:p>
        </p:txBody>
      </p:sp>
      <p:sp>
        <p:nvSpPr>
          <p:cNvPr id="2" name="标题 1">
            <a:extLst>
              <a:ext uri="{FF2B5EF4-FFF2-40B4-BE49-F238E27FC236}">
                <a16:creationId xmlns:a16="http://schemas.microsoft.com/office/drawing/2014/main" id="{70F92505-FDDD-4869-B599-5F35BEA095F8}"/>
              </a:ext>
            </a:extLst>
          </p:cNvPr>
          <p:cNvSpPr>
            <a:spLocks noGrp="1"/>
          </p:cNvSpPr>
          <p:nvPr>
            <p:ph type="title"/>
          </p:nvPr>
        </p:nvSpPr>
        <p:spPr>
          <a:xfrm>
            <a:off x="3168776" y="1002543"/>
            <a:ext cx="5854448" cy="1212557"/>
          </a:xfrm>
        </p:spPr>
        <p:txBody>
          <a:bodyPr/>
          <a:lstStyle/>
          <a:p>
            <a:r>
              <a:rPr lang="en-US" altLang="zh-CN" dirty="0"/>
              <a:t>Intercultural Communication</a:t>
            </a:r>
            <a:endParaRPr lang="zh-CN" altLang="en-US" dirty="0"/>
          </a:p>
        </p:txBody>
      </p:sp>
    </p:spTree>
    <p:extLst>
      <p:ext uri="{BB962C8B-B14F-4D97-AF65-F5344CB8AC3E}">
        <p14:creationId xmlns:p14="http://schemas.microsoft.com/office/powerpoint/2010/main" val="173099048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C0D7F-EDC4-4B12-93AE-9F05B8822B6C}"/>
              </a:ext>
            </a:extLst>
          </p:cNvPr>
          <p:cNvSpPr>
            <a:spLocks noGrp="1"/>
          </p:cNvSpPr>
          <p:nvPr>
            <p:ph type="title"/>
          </p:nvPr>
        </p:nvSpPr>
        <p:spPr>
          <a:xfrm>
            <a:off x="575095" y="337465"/>
            <a:ext cx="11052465" cy="398182"/>
          </a:xfrm>
        </p:spPr>
        <p:txBody>
          <a:bodyPr>
            <a:normAutofit fontScale="90000"/>
          </a:bodyPr>
          <a:lstStyle/>
          <a:p>
            <a:r>
              <a:rPr lang="en-US" altLang="zh-CN" sz="2400" b="1" dirty="0">
                <a:latin typeface="Arial" panose="020B0604020202020204" pitchFamily="34" charset="0"/>
                <a:cs typeface="Arial" panose="020B0604020202020204" pitchFamily="34" charset="0"/>
              </a:rPr>
              <a:t>Communication</a:t>
            </a:r>
            <a:endParaRPr lang="zh-CN" altLang="en-US" sz="2400" b="1" dirty="0">
              <a:latin typeface="Arial" panose="020B0604020202020204" pitchFamily="34" charset="0"/>
              <a:cs typeface="Arial" panose="020B0604020202020204" pitchFamily="34" charset="0"/>
            </a:endParaRPr>
          </a:p>
        </p:txBody>
      </p:sp>
      <p:sp>
        <p:nvSpPr>
          <p:cNvPr id="6" name="矩形 5">
            <a:extLst>
              <a:ext uri="{FF2B5EF4-FFF2-40B4-BE49-F238E27FC236}">
                <a16:creationId xmlns:a16="http://schemas.microsoft.com/office/drawing/2014/main" id="{34463B60-D55B-4AA0-B606-CAA7441E0BEA}"/>
              </a:ext>
            </a:extLst>
          </p:cNvPr>
          <p:cNvSpPr/>
          <p:nvPr/>
        </p:nvSpPr>
        <p:spPr>
          <a:xfrm>
            <a:off x="389923" y="638940"/>
            <a:ext cx="745845" cy="5957348"/>
          </a:xfrm>
          <a:prstGeom prst="rect">
            <a:avLst/>
          </a:prstGeom>
          <a:noFill/>
        </p:spPr>
        <p:txBody>
          <a:bodyPr vert="wordArtVertRtl" wrap="square" lIns="91440" tIns="45720" rIns="91440" bIns="45720">
            <a:spAutoFit/>
          </a:bodyPr>
          <a:lstStyle/>
          <a:p>
            <a:pPr algn="ctr"/>
            <a:r>
              <a:rPr lang="en-US" altLang="zh-CN" sz="3600" b="0" cap="none" spc="0" dirty="0">
                <a:ln w="0"/>
                <a:solidFill>
                  <a:schemeClr val="tx1"/>
                </a:solidFill>
                <a:effectLst>
                  <a:outerShdw blurRad="38100" dist="19050" dir="2700000" algn="tl" rotWithShape="0">
                    <a:schemeClr val="dk1">
                      <a:alpha val="40000"/>
                    </a:schemeClr>
                  </a:outerShdw>
                </a:effectLst>
              </a:rPr>
              <a:t>CONTEXT</a:t>
            </a:r>
            <a:endParaRPr lang="zh-CN" altLang="en-US" sz="3600" b="0" cap="none" spc="0" dirty="0">
              <a:ln w="0"/>
              <a:solidFill>
                <a:schemeClr val="tx1"/>
              </a:solidFill>
              <a:effectLst>
                <a:outerShdw blurRad="38100" dist="19050" dir="2700000" algn="tl" rotWithShape="0">
                  <a:schemeClr val="dk1">
                    <a:alpha val="40000"/>
                  </a:schemeClr>
                </a:outerShdw>
              </a:effectLst>
            </a:endParaRPr>
          </a:p>
        </p:txBody>
      </p:sp>
      <p:sp>
        <p:nvSpPr>
          <p:cNvPr id="7" name="矩形 6">
            <a:extLst>
              <a:ext uri="{FF2B5EF4-FFF2-40B4-BE49-F238E27FC236}">
                <a16:creationId xmlns:a16="http://schemas.microsoft.com/office/drawing/2014/main" id="{4BA7A886-4DD3-4959-82D2-848EF1B9FCB5}"/>
              </a:ext>
            </a:extLst>
          </p:cNvPr>
          <p:cNvSpPr/>
          <p:nvPr/>
        </p:nvSpPr>
        <p:spPr>
          <a:xfrm>
            <a:off x="10955547" y="700036"/>
            <a:ext cx="745845" cy="5957348"/>
          </a:xfrm>
          <a:prstGeom prst="rect">
            <a:avLst/>
          </a:prstGeom>
          <a:noFill/>
        </p:spPr>
        <p:txBody>
          <a:bodyPr vert="wordArtVertRtl" wrap="square" lIns="91440" tIns="45720" rIns="91440" bIns="45720">
            <a:spAutoFit/>
          </a:bodyPr>
          <a:lstStyle/>
          <a:p>
            <a:pPr algn="ctr"/>
            <a:r>
              <a:rPr lang="en-US" altLang="zh-CN" sz="3600" b="0" cap="none" spc="0" dirty="0">
                <a:ln w="0"/>
                <a:solidFill>
                  <a:schemeClr val="tx1"/>
                </a:solidFill>
                <a:effectLst>
                  <a:outerShdw blurRad="38100" dist="19050" dir="2700000" algn="tl" rotWithShape="0">
                    <a:schemeClr val="dk1">
                      <a:alpha val="40000"/>
                    </a:schemeClr>
                  </a:outerShdw>
                </a:effectLst>
              </a:rPr>
              <a:t>CONTEXT</a:t>
            </a:r>
            <a:endParaRPr lang="zh-CN" altLang="en-US" sz="3600" b="0" cap="none" spc="0" dirty="0">
              <a:ln w="0"/>
              <a:solidFill>
                <a:schemeClr val="tx1"/>
              </a:solidFill>
              <a:effectLst>
                <a:outerShdw blurRad="38100" dist="19050" dir="2700000" algn="tl" rotWithShape="0">
                  <a:schemeClr val="dk1">
                    <a:alpha val="40000"/>
                  </a:schemeClr>
                </a:outerShdw>
              </a:effectLst>
            </a:endParaRPr>
          </a:p>
        </p:txBody>
      </p:sp>
      <p:grpSp>
        <p:nvGrpSpPr>
          <p:cNvPr id="8" name="组合 7">
            <a:extLst>
              <a:ext uri="{FF2B5EF4-FFF2-40B4-BE49-F238E27FC236}">
                <a16:creationId xmlns:a16="http://schemas.microsoft.com/office/drawing/2014/main" id="{CF3C589A-9256-4F9E-88DF-1F7E78E1CFC6}"/>
              </a:ext>
            </a:extLst>
          </p:cNvPr>
          <p:cNvGrpSpPr/>
          <p:nvPr/>
        </p:nvGrpSpPr>
        <p:grpSpPr>
          <a:xfrm>
            <a:off x="758186" y="837992"/>
            <a:ext cx="1329269" cy="379828"/>
            <a:chOff x="372922" y="858129"/>
            <a:chExt cx="1329269" cy="379828"/>
          </a:xfrm>
        </p:grpSpPr>
        <p:cxnSp>
          <p:nvCxnSpPr>
            <p:cNvPr id="9" name="直接连接符 8">
              <a:extLst>
                <a:ext uri="{FF2B5EF4-FFF2-40B4-BE49-F238E27FC236}">
                  <a16:creationId xmlns:a16="http://schemas.microsoft.com/office/drawing/2014/main" id="{B43EC6A5-0A8F-4870-9FBC-5A7BABA262BB}"/>
                </a:ext>
              </a:extLst>
            </p:cNvPr>
            <p:cNvCxnSpPr/>
            <p:nvPr/>
          </p:nvCxnSpPr>
          <p:spPr>
            <a:xfrm flipV="1">
              <a:off x="372922" y="858129"/>
              <a:ext cx="0" cy="379828"/>
            </a:xfrm>
            <a:prstGeom prst="line">
              <a:avLst/>
            </a:prstGeom>
            <a:ln w="19050"/>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C7B096E9-9D19-47AB-8DAB-1321959F7C08}"/>
                </a:ext>
              </a:extLst>
            </p:cNvPr>
            <p:cNvCxnSpPr>
              <a:cxnSpLocks/>
            </p:cNvCxnSpPr>
            <p:nvPr/>
          </p:nvCxnSpPr>
          <p:spPr>
            <a:xfrm>
              <a:off x="372922" y="858129"/>
              <a:ext cx="13292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DB985A93-4D8A-464D-BB1E-5382BD300824}"/>
              </a:ext>
            </a:extLst>
          </p:cNvPr>
          <p:cNvGrpSpPr/>
          <p:nvPr/>
        </p:nvGrpSpPr>
        <p:grpSpPr>
          <a:xfrm rot="10800000">
            <a:off x="9999200" y="5570766"/>
            <a:ext cx="1329269" cy="379828"/>
            <a:chOff x="372922" y="858129"/>
            <a:chExt cx="1329269" cy="379828"/>
          </a:xfrm>
        </p:grpSpPr>
        <p:cxnSp>
          <p:nvCxnSpPr>
            <p:cNvPr id="12" name="直接连接符 11">
              <a:extLst>
                <a:ext uri="{FF2B5EF4-FFF2-40B4-BE49-F238E27FC236}">
                  <a16:creationId xmlns:a16="http://schemas.microsoft.com/office/drawing/2014/main" id="{5C2D04AE-D738-4170-B04F-BACD348598A5}"/>
                </a:ext>
              </a:extLst>
            </p:cNvPr>
            <p:cNvCxnSpPr/>
            <p:nvPr/>
          </p:nvCxnSpPr>
          <p:spPr>
            <a:xfrm flipV="1">
              <a:off x="372922" y="858129"/>
              <a:ext cx="0" cy="379828"/>
            </a:xfrm>
            <a:prstGeom prst="line">
              <a:avLst/>
            </a:prstGeom>
            <a:ln w="1905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80C053AA-0E2D-4241-9FB3-A1AEA00E6838}"/>
                </a:ext>
              </a:extLst>
            </p:cNvPr>
            <p:cNvCxnSpPr>
              <a:cxnSpLocks/>
            </p:cNvCxnSpPr>
            <p:nvPr/>
          </p:nvCxnSpPr>
          <p:spPr>
            <a:xfrm>
              <a:off x="372922" y="858129"/>
              <a:ext cx="13292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4F704A49-E315-412F-8B6D-DE2525E575B8}"/>
              </a:ext>
            </a:extLst>
          </p:cNvPr>
          <p:cNvGrpSpPr/>
          <p:nvPr/>
        </p:nvGrpSpPr>
        <p:grpSpPr>
          <a:xfrm>
            <a:off x="758186" y="5570766"/>
            <a:ext cx="1427743" cy="379828"/>
            <a:chOff x="372922" y="5605975"/>
            <a:chExt cx="1427743" cy="379828"/>
          </a:xfrm>
        </p:grpSpPr>
        <p:cxnSp>
          <p:nvCxnSpPr>
            <p:cNvPr id="15" name="直接连接符 14">
              <a:extLst>
                <a:ext uri="{FF2B5EF4-FFF2-40B4-BE49-F238E27FC236}">
                  <a16:creationId xmlns:a16="http://schemas.microsoft.com/office/drawing/2014/main" id="{6C43D480-C69A-40FE-9850-F5467074F96C}"/>
                </a:ext>
              </a:extLst>
            </p:cNvPr>
            <p:cNvCxnSpPr/>
            <p:nvPr/>
          </p:nvCxnSpPr>
          <p:spPr>
            <a:xfrm>
              <a:off x="372922" y="5605975"/>
              <a:ext cx="0" cy="379828"/>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2C59D192-960D-4762-A9A8-F4E8C686F9EE}"/>
                </a:ext>
              </a:extLst>
            </p:cNvPr>
            <p:cNvCxnSpPr>
              <a:cxnSpLocks/>
            </p:cNvCxnSpPr>
            <p:nvPr/>
          </p:nvCxnSpPr>
          <p:spPr>
            <a:xfrm>
              <a:off x="372922" y="5985803"/>
              <a:ext cx="1427743"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7" name="组合 16">
            <a:extLst>
              <a:ext uri="{FF2B5EF4-FFF2-40B4-BE49-F238E27FC236}">
                <a16:creationId xmlns:a16="http://schemas.microsoft.com/office/drawing/2014/main" id="{AEEB687F-73A8-40C3-BA0A-5DA67CCEF7B9}"/>
              </a:ext>
            </a:extLst>
          </p:cNvPr>
          <p:cNvGrpSpPr/>
          <p:nvPr/>
        </p:nvGrpSpPr>
        <p:grpSpPr>
          <a:xfrm rot="10800000">
            <a:off x="9871395" y="980135"/>
            <a:ext cx="1427743" cy="379828"/>
            <a:chOff x="372922" y="5605975"/>
            <a:chExt cx="1427743" cy="379828"/>
          </a:xfrm>
        </p:grpSpPr>
        <p:cxnSp>
          <p:nvCxnSpPr>
            <p:cNvPr id="18" name="直接连接符 17">
              <a:extLst>
                <a:ext uri="{FF2B5EF4-FFF2-40B4-BE49-F238E27FC236}">
                  <a16:creationId xmlns:a16="http://schemas.microsoft.com/office/drawing/2014/main" id="{EDBE68C9-1A73-4F52-B03B-4C4C5145BDD8}"/>
                </a:ext>
              </a:extLst>
            </p:cNvPr>
            <p:cNvCxnSpPr/>
            <p:nvPr/>
          </p:nvCxnSpPr>
          <p:spPr>
            <a:xfrm>
              <a:off x="372922" y="5605975"/>
              <a:ext cx="0" cy="379828"/>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直接连接符 18">
              <a:extLst>
                <a:ext uri="{FF2B5EF4-FFF2-40B4-BE49-F238E27FC236}">
                  <a16:creationId xmlns:a16="http://schemas.microsoft.com/office/drawing/2014/main" id="{3E7648AB-6FE1-4EC9-9DC0-50AF9BFE9F6E}"/>
                </a:ext>
              </a:extLst>
            </p:cNvPr>
            <p:cNvCxnSpPr>
              <a:cxnSpLocks/>
            </p:cNvCxnSpPr>
            <p:nvPr/>
          </p:nvCxnSpPr>
          <p:spPr>
            <a:xfrm>
              <a:off x="372922" y="5985803"/>
              <a:ext cx="1427743"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20" name="矩形 19">
            <a:extLst>
              <a:ext uri="{FF2B5EF4-FFF2-40B4-BE49-F238E27FC236}">
                <a16:creationId xmlns:a16="http://schemas.microsoft.com/office/drawing/2014/main" id="{B23F6E43-FCA8-4F7A-85AC-A99213F250DC}"/>
              </a:ext>
            </a:extLst>
          </p:cNvPr>
          <p:cNvSpPr/>
          <p:nvPr/>
        </p:nvSpPr>
        <p:spPr>
          <a:xfrm>
            <a:off x="1008360" y="2724678"/>
            <a:ext cx="1014471" cy="83604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cs typeface="Times New Roman" panose="02020603050405020304" pitchFamily="18" charset="0"/>
              </a:rPr>
              <a:t>Sender</a:t>
            </a:r>
            <a:endParaRPr lang="zh-CN" altLang="en-US" sz="2000" dirty="0">
              <a:solidFill>
                <a:schemeClr val="tx1"/>
              </a:solidFill>
              <a:latin typeface="Times New Roman" panose="02020603050405020304" pitchFamily="18" charset="0"/>
              <a:cs typeface="Times New Roman" panose="02020603050405020304" pitchFamily="18" charset="0"/>
            </a:endParaRPr>
          </a:p>
        </p:txBody>
      </p:sp>
      <p:cxnSp>
        <p:nvCxnSpPr>
          <p:cNvPr id="21" name="直接箭头连接符 20">
            <a:extLst>
              <a:ext uri="{FF2B5EF4-FFF2-40B4-BE49-F238E27FC236}">
                <a16:creationId xmlns:a16="http://schemas.microsoft.com/office/drawing/2014/main" id="{97FEBB4E-CABB-4D1B-AF8F-DB912DD561D7}"/>
              </a:ext>
            </a:extLst>
          </p:cNvPr>
          <p:cNvCxnSpPr>
            <a:cxnSpLocks/>
          </p:cNvCxnSpPr>
          <p:nvPr/>
        </p:nvCxnSpPr>
        <p:spPr>
          <a:xfrm>
            <a:off x="2048164" y="3161252"/>
            <a:ext cx="30979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275CEDC9-BE4B-4F5D-88EF-61D340620205}"/>
              </a:ext>
            </a:extLst>
          </p:cNvPr>
          <p:cNvSpPr/>
          <p:nvPr/>
        </p:nvSpPr>
        <p:spPr>
          <a:xfrm>
            <a:off x="2375851" y="2742732"/>
            <a:ext cx="1277092" cy="81591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cs typeface="Times New Roman" panose="02020603050405020304" pitchFamily="18" charset="0"/>
              </a:rPr>
              <a:t>Encoding</a:t>
            </a:r>
            <a:endParaRPr lang="zh-CN" altLang="en-US" sz="2000" dirty="0">
              <a:solidFill>
                <a:schemeClr val="tx1"/>
              </a:solidFill>
              <a:latin typeface="Times New Roman" panose="02020603050405020304" pitchFamily="18" charset="0"/>
              <a:cs typeface="Times New Roman" panose="02020603050405020304" pitchFamily="18" charset="0"/>
            </a:endParaRPr>
          </a:p>
        </p:txBody>
      </p:sp>
      <p:cxnSp>
        <p:nvCxnSpPr>
          <p:cNvPr id="23" name="直接箭头连接符 22">
            <a:extLst>
              <a:ext uri="{FF2B5EF4-FFF2-40B4-BE49-F238E27FC236}">
                <a16:creationId xmlns:a16="http://schemas.microsoft.com/office/drawing/2014/main" id="{225A8360-ED22-44B1-BC45-F9B978B25273}"/>
              </a:ext>
            </a:extLst>
          </p:cNvPr>
          <p:cNvCxnSpPr>
            <a:cxnSpLocks/>
            <a:stCxn id="22" idx="3"/>
            <a:endCxn id="24" idx="1"/>
          </p:cNvCxnSpPr>
          <p:nvPr/>
        </p:nvCxnSpPr>
        <p:spPr>
          <a:xfrm flipV="1">
            <a:off x="3652943" y="3148540"/>
            <a:ext cx="293228" cy="21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E8F1EAFD-2403-4BE2-B342-BA632AAA6B66}"/>
              </a:ext>
            </a:extLst>
          </p:cNvPr>
          <p:cNvSpPr/>
          <p:nvPr/>
        </p:nvSpPr>
        <p:spPr>
          <a:xfrm>
            <a:off x="3946171" y="2740581"/>
            <a:ext cx="1121036" cy="81591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cs typeface="Times New Roman" panose="02020603050405020304" pitchFamily="18" charset="0"/>
              </a:rPr>
              <a:t>Message</a:t>
            </a:r>
            <a:endParaRPr lang="zh-CN" altLang="en-US" sz="2000" dirty="0">
              <a:solidFill>
                <a:schemeClr val="tx1"/>
              </a:solidFill>
              <a:latin typeface="Times New Roman" panose="02020603050405020304" pitchFamily="18" charset="0"/>
              <a:cs typeface="Times New Roman" panose="02020603050405020304" pitchFamily="18" charset="0"/>
            </a:endParaRPr>
          </a:p>
        </p:txBody>
      </p:sp>
      <p:cxnSp>
        <p:nvCxnSpPr>
          <p:cNvPr id="25" name="直接箭头连接符 24">
            <a:extLst>
              <a:ext uri="{FF2B5EF4-FFF2-40B4-BE49-F238E27FC236}">
                <a16:creationId xmlns:a16="http://schemas.microsoft.com/office/drawing/2014/main" id="{0DF65A98-4E2C-4AAE-99E6-AE28D5887B84}"/>
              </a:ext>
            </a:extLst>
          </p:cNvPr>
          <p:cNvCxnSpPr>
            <a:cxnSpLocks/>
          </p:cNvCxnSpPr>
          <p:nvPr/>
        </p:nvCxnSpPr>
        <p:spPr>
          <a:xfrm>
            <a:off x="5068650" y="3179284"/>
            <a:ext cx="34402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A5E63D0F-47BB-445A-B2B5-ED534C666795}"/>
              </a:ext>
            </a:extLst>
          </p:cNvPr>
          <p:cNvSpPr/>
          <p:nvPr/>
        </p:nvSpPr>
        <p:spPr>
          <a:xfrm>
            <a:off x="5400289" y="2753292"/>
            <a:ext cx="1098621" cy="81591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cs typeface="Times New Roman" panose="02020603050405020304" pitchFamily="18" charset="0"/>
              </a:rPr>
              <a:t>Channel</a:t>
            </a:r>
            <a:endParaRPr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27" name="矩形 26">
            <a:extLst>
              <a:ext uri="{FF2B5EF4-FFF2-40B4-BE49-F238E27FC236}">
                <a16:creationId xmlns:a16="http://schemas.microsoft.com/office/drawing/2014/main" id="{719FF040-01F2-45F2-83D8-C6731C6C67D0}"/>
              </a:ext>
            </a:extLst>
          </p:cNvPr>
          <p:cNvSpPr/>
          <p:nvPr/>
        </p:nvSpPr>
        <p:spPr>
          <a:xfrm>
            <a:off x="5412675" y="1603696"/>
            <a:ext cx="1086236" cy="81591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cs typeface="Times New Roman" panose="02020603050405020304" pitchFamily="18" charset="0"/>
              </a:rPr>
              <a:t>Noise</a:t>
            </a:r>
            <a:endParaRPr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28" name="矩形 27">
            <a:extLst>
              <a:ext uri="{FF2B5EF4-FFF2-40B4-BE49-F238E27FC236}">
                <a16:creationId xmlns:a16="http://schemas.microsoft.com/office/drawing/2014/main" id="{32D6B096-72DD-461B-81B0-31B3ACE7CF87}"/>
              </a:ext>
            </a:extLst>
          </p:cNvPr>
          <p:cNvSpPr/>
          <p:nvPr/>
        </p:nvSpPr>
        <p:spPr>
          <a:xfrm>
            <a:off x="5240625" y="3950710"/>
            <a:ext cx="1315240" cy="81591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cs typeface="Times New Roman" panose="02020603050405020304" pitchFamily="18" charset="0"/>
              </a:rPr>
              <a:t>Feedback</a:t>
            </a:r>
            <a:endParaRPr lang="zh-CN" altLang="en-US" sz="2000" dirty="0">
              <a:solidFill>
                <a:schemeClr val="tx1"/>
              </a:solidFill>
              <a:latin typeface="Times New Roman" panose="02020603050405020304" pitchFamily="18" charset="0"/>
              <a:cs typeface="Times New Roman" panose="02020603050405020304" pitchFamily="18" charset="0"/>
            </a:endParaRPr>
          </a:p>
        </p:txBody>
      </p:sp>
      <p:cxnSp>
        <p:nvCxnSpPr>
          <p:cNvPr id="29" name="直接箭头连接符 28">
            <a:extLst>
              <a:ext uri="{FF2B5EF4-FFF2-40B4-BE49-F238E27FC236}">
                <a16:creationId xmlns:a16="http://schemas.microsoft.com/office/drawing/2014/main" id="{6E3062A0-E364-4858-BB3B-A6531F342612}"/>
              </a:ext>
            </a:extLst>
          </p:cNvPr>
          <p:cNvCxnSpPr>
            <a:cxnSpLocks/>
            <a:stCxn id="26" idx="3"/>
            <a:endCxn id="30" idx="1"/>
          </p:cNvCxnSpPr>
          <p:nvPr/>
        </p:nvCxnSpPr>
        <p:spPr>
          <a:xfrm>
            <a:off x="6498910" y="3161252"/>
            <a:ext cx="312051"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1F32BA0F-6889-4970-B03B-0A4F31FFABC4}"/>
              </a:ext>
            </a:extLst>
          </p:cNvPr>
          <p:cNvSpPr/>
          <p:nvPr/>
        </p:nvSpPr>
        <p:spPr>
          <a:xfrm>
            <a:off x="6810961" y="2753294"/>
            <a:ext cx="1098621" cy="81591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cs typeface="Times New Roman" panose="02020603050405020304" pitchFamily="18" charset="0"/>
              </a:rPr>
              <a:t>Receiver</a:t>
            </a:r>
            <a:endParaRPr lang="zh-CN" altLang="en-US" sz="2000" dirty="0">
              <a:solidFill>
                <a:schemeClr val="tx1"/>
              </a:solidFill>
              <a:latin typeface="Times New Roman" panose="02020603050405020304" pitchFamily="18" charset="0"/>
              <a:cs typeface="Times New Roman" panose="02020603050405020304" pitchFamily="18" charset="0"/>
            </a:endParaRPr>
          </a:p>
        </p:txBody>
      </p:sp>
      <p:cxnSp>
        <p:nvCxnSpPr>
          <p:cNvPr id="31" name="直接箭头连接符 30">
            <a:extLst>
              <a:ext uri="{FF2B5EF4-FFF2-40B4-BE49-F238E27FC236}">
                <a16:creationId xmlns:a16="http://schemas.microsoft.com/office/drawing/2014/main" id="{E1A6E8C8-EC37-4647-8C09-A89DB5E5A70B}"/>
              </a:ext>
            </a:extLst>
          </p:cNvPr>
          <p:cNvCxnSpPr>
            <a:cxnSpLocks/>
          </p:cNvCxnSpPr>
          <p:nvPr/>
        </p:nvCxnSpPr>
        <p:spPr>
          <a:xfrm>
            <a:off x="7909582" y="3179284"/>
            <a:ext cx="336248"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2AE20346-6195-439D-AA61-0419610786B8}"/>
              </a:ext>
            </a:extLst>
          </p:cNvPr>
          <p:cNvSpPr/>
          <p:nvPr/>
        </p:nvSpPr>
        <p:spPr>
          <a:xfrm>
            <a:off x="8245830" y="2777393"/>
            <a:ext cx="1297808" cy="81591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cs typeface="Times New Roman" panose="02020603050405020304" pitchFamily="18" charset="0"/>
              </a:rPr>
              <a:t>Decoding</a:t>
            </a:r>
            <a:endParaRPr lang="zh-CN" altLang="en-US" sz="2000" dirty="0">
              <a:solidFill>
                <a:schemeClr val="tx1"/>
              </a:solidFill>
              <a:latin typeface="Times New Roman" panose="02020603050405020304" pitchFamily="18" charset="0"/>
              <a:cs typeface="Times New Roman" panose="02020603050405020304" pitchFamily="18" charset="0"/>
            </a:endParaRPr>
          </a:p>
        </p:txBody>
      </p:sp>
      <p:cxnSp>
        <p:nvCxnSpPr>
          <p:cNvPr id="33" name="直接箭头连接符 32">
            <a:extLst>
              <a:ext uri="{FF2B5EF4-FFF2-40B4-BE49-F238E27FC236}">
                <a16:creationId xmlns:a16="http://schemas.microsoft.com/office/drawing/2014/main" id="{057520BE-776C-4AC7-A60F-EED48B26981D}"/>
              </a:ext>
            </a:extLst>
          </p:cNvPr>
          <p:cNvCxnSpPr>
            <a:cxnSpLocks/>
          </p:cNvCxnSpPr>
          <p:nvPr/>
        </p:nvCxnSpPr>
        <p:spPr>
          <a:xfrm>
            <a:off x="9551686" y="3179284"/>
            <a:ext cx="379828"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92E8215A-5BDB-427B-80C8-6D4633087F79}"/>
              </a:ext>
            </a:extLst>
          </p:cNvPr>
          <p:cNvSpPr/>
          <p:nvPr/>
        </p:nvSpPr>
        <p:spPr>
          <a:xfrm>
            <a:off x="9931514" y="2744810"/>
            <a:ext cx="1171274" cy="81591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tx1"/>
                </a:solidFill>
                <a:latin typeface="Times New Roman" panose="02020603050405020304" pitchFamily="18" charset="0"/>
                <a:cs typeface="Times New Roman" panose="02020603050405020304" pitchFamily="18" charset="0"/>
              </a:rPr>
              <a:t>Receiver</a:t>
            </a:r>
          </a:p>
          <a:p>
            <a:r>
              <a:rPr lang="en-US" altLang="zh-CN" sz="2000" dirty="0">
                <a:solidFill>
                  <a:schemeClr val="tx1"/>
                </a:solidFill>
                <a:latin typeface="Times New Roman" panose="02020603050405020304" pitchFamily="18" charset="0"/>
                <a:cs typeface="Times New Roman" panose="02020603050405020304" pitchFamily="18" charset="0"/>
              </a:rPr>
              <a:t>Response</a:t>
            </a:r>
            <a:endParaRPr lang="zh-CN" altLang="en-US" sz="2000" dirty="0">
              <a:solidFill>
                <a:schemeClr val="tx1"/>
              </a:solidFill>
              <a:latin typeface="Times New Roman" panose="02020603050405020304" pitchFamily="18" charset="0"/>
              <a:cs typeface="Times New Roman" panose="02020603050405020304" pitchFamily="18" charset="0"/>
            </a:endParaRPr>
          </a:p>
        </p:txBody>
      </p:sp>
      <p:grpSp>
        <p:nvGrpSpPr>
          <p:cNvPr id="35" name="组合 34">
            <a:extLst>
              <a:ext uri="{FF2B5EF4-FFF2-40B4-BE49-F238E27FC236}">
                <a16:creationId xmlns:a16="http://schemas.microsoft.com/office/drawing/2014/main" id="{4D4C8B1A-3D60-40D7-B70F-30DC3E9E6BDB}"/>
              </a:ext>
            </a:extLst>
          </p:cNvPr>
          <p:cNvGrpSpPr/>
          <p:nvPr/>
        </p:nvGrpSpPr>
        <p:grpSpPr>
          <a:xfrm rot="10800000">
            <a:off x="6555866" y="3658773"/>
            <a:ext cx="3959733" cy="815916"/>
            <a:chOff x="372922" y="858129"/>
            <a:chExt cx="1329269" cy="379828"/>
          </a:xfrm>
        </p:grpSpPr>
        <p:cxnSp>
          <p:nvCxnSpPr>
            <p:cNvPr id="36" name="直接连接符 35">
              <a:extLst>
                <a:ext uri="{FF2B5EF4-FFF2-40B4-BE49-F238E27FC236}">
                  <a16:creationId xmlns:a16="http://schemas.microsoft.com/office/drawing/2014/main" id="{94AEA4F7-82FA-44AE-8871-5DEE215661D0}"/>
                </a:ext>
              </a:extLst>
            </p:cNvPr>
            <p:cNvCxnSpPr/>
            <p:nvPr/>
          </p:nvCxnSpPr>
          <p:spPr>
            <a:xfrm flipV="1">
              <a:off x="372922" y="858129"/>
              <a:ext cx="0" cy="379828"/>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EF7B81A1-1498-4017-A258-D92F5E57FD54}"/>
                </a:ext>
              </a:extLst>
            </p:cNvPr>
            <p:cNvCxnSpPr>
              <a:cxnSpLocks/>
            </p:cNvCxnSpPr>
            <p:nvPr/>
          </p:nvCxnSpPr>
          <p:spPr>
            <a:xfrm>
              <a:off x="372922" y="858129"/>
              <a:ext cx="1329269" cy="0"/>
            </a:xfrm>
            <a:prstGeom prst="line">
              <a:avLst/>
            </a:prstGeom>
            <a:ln/>
          </p:spPr>
          <p:style>
            <a:lnRef idx="1">
              <a:schemeClr val="accent1"/>
            </a:lnRef>
            <a:fillRef idx="0">
              <a:schemeClr val="accent1"/>
            </a:fillRef>
            <a:effectRef idx="0">
              <a:schemeClr val="accent1"/>
            </a:effectRef>
            <a:fontRef idx="minor">
              <a:schemeClr val="tx1"/>
            </a:fontRef>
          </p:style>
        </p:cxnSp>
      </p:grpSp>
      <p:cxnSp>
        <p:nvCxnSpPr>
          <p:cNvPr id="38" name="直接箭头连接符 37">
            <a:extLst>
              <a:ext uri="{FF2B5EF4-FFF2-40B4-BE49-F238E27FC236}">
                <a16:creationId xmlns:a16="http://schemas.microsoft.com/office/drawing/2014/main" id="{3B298C5C-9AB9-4C75-AC90-B88B1E608F3B}"/>
              </a:ext>
            </a:extLst>
          </p:cNvPr>
          <p:cNvCxnSpPr>
            <a:cxnSpLocks/>
          </p:cNvCxnSpPr>
          <p:nvPr/>
        </p:nvCxnSpPr>
        <p:spPr>
          <a:xfrm flipV="1">
            <a:off x="1370711" y="3593311"/>
            <a:ext cx="0" cy="881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D740D17F-3693-476C-93AE-F76FB0ACDA04}"/>
              </a:ext>
            </a:extLst>
          </p:cNvPr>
          <p:cNvCxnSpPr>
            <a:cxnSpLocks/>
          </p:cNvCxnSpPr>
          <p:nvPr/>
        </p:nvCxnSpPr>
        <p:spPr>
          <a:xfrm>
            <a:off x="1346828" y="4474689"/>
            <a:ext cx="389379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149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par>
                          <p:cTn id="9" fill="hold">
                            <p:stCondLst>
                              <p:cond delay="0"/>
                            </p:stCondLst>
                            <p:childTnLst>
                              <p:par>
                                <p:cTn id="10" presetID="20" presetClass="entr" presetSubtype="0"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edge">
                                      <p:cBhvr>
                                        <p:cTn id="12" dur="2000"/>
                                        <p:tgtEl>
                                          <p:spTgt spid="8"/>
                                        </p:tgtEl>
                                      </p:cBhvr>
                                    </p:animEffect>
                                  </p:childTnLst>
                                </p:cTn>
                              </p:par>
                              <p:par>
                                <p:cTn id="13" presetID="2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edge">
                                      <p:cBhvr>
                                        <p:cTn id="15" dur="2000"/>
                                        <p:tgtEl>
                                          <p:spTgt spid="14"/>
                                        </p:tgtEl>
                                      </p:cBhvr>
                                    </p:animEffect>
                                  </p:childTnLst>
                                </p:cTn>
                              </p:par>
                              <p:par>
                                <p:cTn id="16" presetID="2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edge">
                                      <p:cBhvr>
                                        <p:cTn id="18" dur="2000"/>
                                        <p:tgtEl>
                                          <p:spTgt spid="17"/>
                                        </p:tgtEl>
                                      </p:cBhvr>
                                    </p:animEffect>
                                  </p:childTnLst>
                                </p:cTn>
                              </p:par>
                              <p:par>
                                <p:cTn id="19" presetID="2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edge">
                                      <p:cBhvr>
                                        <p:cTn id="21" dur="20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1000"/>
                                        <p:tgtEl>
                                          <p:spTgt spid="20"/>
                                        </p:tgtEl>
                                      </p:cBhvr>
                                    </p:animEffect>
                                    <p:anim calcmode="lin" valueType="num">
                                      <p:cBhvr>
                                        <p:cTn id="27" dur="1000" fill="hold"/>
                                        <p:tgtEl>
                                          <p:spTgt spid="20"/>
                                        </p:tgtEl>
                                        <p:attrNameLst>
                                          <p:attrName>ppt_x</p:attrName>
                                        </p:attrNameLst>
                                      </p:cBhvr>
                                      <p:tavLst>
                                        <p:tav tm="0">
                                          <p:val>
                                            <p:strVal val="#ppt_x"/>
                                          </p:val>
                                        </p:tav>
                                        <p:tav tm="100000">
                                          <p:val>
                                            <p:strVal val="#ppt_x"/>
                                          </p:val>
                                        </p:tav>
                                      </p:tavLst>
                                    </p:anim>
                                    <p:anim calcmode="lin" valueType="num">
                                      <p:cBhvr>
                                        <p:cTn id="28" dur="1000" fill="hold"/>
                                        <p:tgtEl>
                                          <p:spTgt spid="20"/>
                                        </p:tgtEl>
                                        <p:attrNameLst>
                                          <p:attrName>ppt_y</p:attrName>
                                        </p:attrNameLst>
                                      </p:cBhvr>
                                      <p:tavLst>
                                        <p:tav tm="0">
                                          <p:val>
                                            <p:strVal val="#ppt_y+.1"/>
                                          </p:val>
                                        </p:tav>
                                        <p:tav tm="100000">
                                          <p:val>
                                            <p:strVal val="#ppt_y"/>
                                          </p:val>
                                        </p:tav>
                                      </p:tavLst>
                                    </p:anim>
                                  </p:childTnLst>
                                </p:cTn>
                              </p:par>
                            </p:childTnLst>
                          </p:cTn>
                        </p:par>
                        <p:par>
                          <p:cTn id="29" fill="hold">
                            <p:stCondLst>
                              <p:cond delay="1000"/>
                            </p:stCondLst>
                            <p:childTnLst>
                              <p:par>
                                <p:cTn id="30" presetID="17" presetClass="entr" presetSubtype="10" fill="hold" nodeType="after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p:cTn id="32" dur="500" fill="hold"/>
                                        <p:tgtEl>
                                          <p:spTgt spid="21"/>
                                        </p:tgtEl>
                                        <p:attrNameLst>
                                          <p:attrName>ppt_w</p:attrName>
                                        </p:attrNameLst>
                                      </p:cBhvr>
                                      <p:tavLst>
                                        <p:tav tm="0">
                                          <p:val>
                                            <p:fltVal val="0"/>
                                          </p:val>
                                        </p:tav>
                                        <p:tav tm="100000">
                                          <p:val>
                                            <p:strVal val="#ppt_w"/>
                                          </p:val>
                                        </p:tav>
                                      </p:tavLst>
                                    </p:anim>
                                    <p:anim calcmode="lin" valueType="num">
                                      <p:cBhvr>
                                        <p:cTn id="33" dur="500" fill="hold"/>
                                        <p:tgtEl>
                                          <p:spTgt spid="21"/>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1000"/>
                                        <p:tgtEl>
                                          <p:spTgt spid="22"/>
                                        </p:tgtEl>
                                      </p:cBhvr>
                                    </p:animEffect>
                                    <p:anim calcmode="lin" valueType="num">
                                      <p:cBhvr>
                                        <p:cTn id="39" dur="1000" fill="hold"/>
                                        <p:tgtEl>
                                          <p:spTgt spid="22"/>
                                        </p:tgtEl>
                                        <p:attrNameLst>
                                          <p:attrName>ppt_x</p:attrName>
                                        </p:attrNameLst>
                                      </p:cBhvr>
                                      <p:tavLst>
                                        <p:tav tm="0">
                                          <p:val>
                                            <p:strVal val="#ppt_x"/>
                                          </p:val>
                                        </p:tav>
                                        <p:tav tm="100000">
                                          <p:val>
                                            <p:strVal val="#ppt_x"/>
                                          </p:val>
                                        </p:tav>
                                      </p:tavLst>
                                    </p:anim>
                                    <p:anim calcmode="lin" valueType="num">
                                      <p:cBhvr>
                                        <p:cTn id="40" dur="1000" fill="hold"/>
                                        <p:tgtEl>
                                          <p:spTgt spid="22"/>
                                        </p:tgtEl>
                                        <p:attrNameLst>
                                          <p:attrName>ppt_y</p:attrName>
                                        </p:attrNameLst>
                                      </p:cBhvr>
                                      <p:tavLst>
                                        <p:tav tm="0">
                                          <p:val>
                                            <p:strVal val="#ppt_y+.1"/>
                                          </p:val>
                                        </p:tav>
                                        <p:tav tm="100000">
                                          <p:val>
                                            <p:strVal val="#ppt_y"/>
                                          </p:val>
                                        </p:tav>
                                      </p:tavLst>
                                    </p:anim>
                                  </p:childTnLst>
                                </p:cTn>
                              </p:par>
                            </p:childTnLst>
                          </p:cTn>
                        </p:par>
                        <p:par>
                          <p:cTn id="41" fill="hold">
                            <p:stCondLst>
                              <p:cond delay="1000"/>
                            </p:stCondLst>
                            <p:childTnLst>
                              <p:par>
                                <p:cTn id="42" presetID="17" presetClass="entr" presetSubtype="10" fill="hold" nodeType="afterEffect">
                                  <p:stCondLst>
                                    <p:cond delay="0"/>
                                  </p:stCondLst>
                                  <p:childTnLst>
                                    <p:set>
                                      <p:cBhvr>
                                        <p:cTn id="43" dur="1" fill="hold">
                                          <p:stCondLst>
                                            <p:cond delay="0"/>
                                          </p:stCondLst>
                                        </p:cTn>
                                        <p:tgtEl>
                                          <p:spTgt spid="23"/>
                                        </p:tgtEl>
                                        <p:attrNameLst>
                                          <p:attrName>style.visibility</p:attrName>
                                        </p:attrNameLst>
                                      </p:cBhvr>
                                      <p:to>
                                        <p:strVal val="visible"/>
                                      </p:to>
                                    </p:set>
                                    <p:anim calcmode="lin" valueType="num">
                                      <p:cBhvr>
                                        <p:cTn id="44" dur="500" fill="hold"/>
                                        <p:tgtEl>
                                          <p:spTgt spid="23"/>
                                        </p:tgtEl>
                                        <p:attrNameLst>
                                          <p:attrName>ppt_w</p:attrName>
                                        </p:attrNameLst>
                                      </p:cBhvr>
                                      <p:tavLst>
                                        <p:tav tm="0">
                                          <p:val>
                                            <p:fltVal val="0"/>
                                          </p:val>
                                        </p:tav>
                                        <p:tav tm="100000">
                                          <p:val>
                                            <p:strVal val="#ppt_w"/>
                                          </p:val>
                                        </p:tav>
                                      </p:tavLst>
                                    </p:anim>
                                    <p:anim calcmode="lin" valueType="num">
                                      <p:cBhvr>
                                        <p:cTn id="45"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1000"/>
                                        <p:tgtEl>
                                          <p:spTgt spid="24"/>
                                        </p:tgtEl>
                                      </p:cBhvr>
                                    </p:animEffect>
                                    <p:anim calcmode="lin" valueType="num">
                                      <p:cBhvr>
                                        <p:cTn id="51" dur="1000" fill="hold"/>
                                        <p:tgtEl>
                                          <p:spTgt spid="24"/>
                                        </p:tgtEl>
                                        <p:attrNameLst>
                                          <p:attrName>ppt_x</p:attrName>
                                        </p:attrNameLst>
                                      </p:cBhvr>
                                      <p:tavLst>
                                        <p:tav tm="0">
                                          <p:val>
                                            <p:strVal val="#ppt_x"/>
                                          </p:val>
                                        </p:tav>
                                        <p:tav tm="100000">
                                          <p:val>
                                            <p:strVal val="#ppt_x"/>
                                          </p:val>
                                        </p:tav>
                                      </p:tavLst>
                                    </p:anim>
                                    <p:anim calcmode="lin" valueType="num">
                                      <p:cBhvr>
                                        <p:cTn id="52" dur="1000" fill="hold"/>
                                        <p:tgtEl>
                                          <p:spTgt spid="24"/>
                                        </p:tgtEl>
                                        <p:attrNameLst>
                                          <p:attrName>ppt_y</p:attrName>
                                        </p:attrNameLst>
                                      </p:cBhvr>
                                      <p:tavLst>
                                        <p:tav tm="0">
                                          <p:val>
                                            <p:strVal val="#ppt_y+.1"/>
                                          </p:val>
                                        </p:tav>
                                        <p:tav tm="100000">
                                          <p:val>
                                            <p:strVal val="#ppt_y"/>
                                          </p:val>
                                        </p:tav>
                                      </p:tavLst>
                                    </p:anim>
                                  </p:childTnLst>
                                </p:cTn>
                              </p:par>
                            </p:childTnLst>
                          </p:cTn>
                        </p:par>
                        <p:par>
                          <p:cTn id="53" fill="hold">
                            <p:stCondLst>
                              <p:cond delay="1000"/>
                            </p:stCondLst>
                            <p:childTnLst>
                              <p:par>
                                <p:cTn id="54" presetID="17" presetClass="entr" presetSubtype="10" fill="hold" nodeType="afterEffect">
                                  <p:stCondLst>
                                    <p:cond delay="0"/>
                                  </p:stCondLst>
                                  <p:childTnLst>
                                    <p:set>
                                      <p:cBhvr>
                                        <p:cTn id="55" dur="1" fill="hold">
                                          <p:stCondLst>
                                            <p:cond delay="0"/>
                                          </p:stCondLst>
                                        </p:cTn>
                                        <p:tgtEl>
                                          <p:spTgt spid="25"/>
                                        </p:tgtEl>
                                        <p:attrNameLst>
                                          <p:attrName>style.visibility</p:attrName>
                                        </p:attrNameLst>
                                      </p:cBhvr>
                                      <p:to>
                                        <p:strVal val="visible"/>
                                      </p:to>
                                    </p:set>
                                    <p:anim calcmode="lin" valueType="num">
                                      <p:cBhvr>
                                        <p:cTn id="56" dur="500" fill="hold"/>
                                        <p:tgtEl>
                                          <p:spTgt spid="25"/>
                                        </p:tgtEl>
                                        <p:attrNameLst>
                                          <p:attrName>ppt_w</p:attrName>
                                        </p:attrNameLst>
                                      </p:cBhvr>
                                      <p:tavLst>
                                        <p:tav tm="0">
                                          <p:val>
                                            <p:fltVal val="0"/>
                                          </p:val>
                                        </p:tav>
                                        <p:tav tm="100000">
                                          <p:val>
                                            <p:strVal val="#ppt_w"/>
                                          </p:val>
                                        </p:tav>
                                      </p:tavLst>
                                    </p:anim>
                                    <p:anim calcmode="lin" valueType="num">
                                      <p:cBhvr>
                                        <p:cTn id="57" dur="500" fill="hold"/>
                                        <p:tgtEl>
                                          <p:spTgt spid="25"/>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1000"/>
                                        <p:tgtEl>
                                          <p:spTgt spid="26"/>
                                        </p:tgtEl>
                                      </p:cBhvr>
                                    </p:animEffect>
                                    <p:anim calcmode="lin" valueType="num">
                                      <p:cBhvr>
                                        <p:cTn id="63" dur="1000" fill="hold"/>
                                        <p:tgtEl>
                                          <p:spTgt spid="26"/>
                                        </p:tgtEl>
                                        <p:attrNameLst>
                                          <p:attrName>ppt_x</p:attrName>
                                        </p:attrNameLst>
                                      </p:cBhvr>
                                      <p:tavLst>
                                        <p:tav tm="0">
                                          <p:val>
                                            <p:strVal val="#ppt_x"/>
                                          </p:val>
                                        </p:tav>
                                        <p:tav tm="100000">
                                          <p:val>
                                            <p:strVal val="#ppt_x"/>
                                          </p:val>
                                        </p:tav>
                                      </p:tavLst>
                                    </p:anim>
                                    <p:anim calcmode="lin" valueType="num">
                                      <p:cBhvr>
                                        <p:cTn id="64" dur="1000" fill="hold"/>
                                        <p:tgtEl>
                                          <p:spTgt spid="2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1000"/>
                                        <p:tgtEl>
                                          <p:spTgt spid="30"/>
                                        </p:tgtEl>
                                      </p:cBhvr>
                                    </p:animEffect>
                                    <p:anim calcmode="lin" valueType="num">
                                      <p:cBhvr>
                                        <p:cTn id="68" dur="1000" fill="hold"/>
                                        <p:tgtEl>
                                          <p:spTgt spid="30"/>
                                        </p:tgtEl>
                                        <p:attrNameLst>
                                          <p:attrName>ppt_x</p:attrName>
                                        </p:attrNameLst>
                                      </p:cBhvr>
                                      <p:tavLst>
                                        <p:tav tm="0">
                                          <p:val>
                                            <p:strVal val="#ppt_x"/>
                                          </p:val>
                                        </p:tav>
                                        <p:tav tm="100000">
                                          <p:val>
                                            <p:strVal val="#ppt_x"/>
                                          </p:val>
                                        </p:tav>
                                      </p:tavLst>
                                    </p:anim>
                                    <p:anim calcmode="lin" valueType="num">
                                      <p:cBhvr>
                                        <p:cTn id="69" dur="1000" fill="hold"/>
                                        <p:tgtEl>
                                          <p:spTgt spid="30"/>
                                        </p:tgtEl>
                                        <p:attrNameLst>
                                          <p:attrName>ppt_y</p:attrName>
                                        </p:attrNameLst>
                                      </p:cBhvr>
                                      <p:tavLst>
                                        <p:tav tm="0">
                                          <p:val>
                                            <p:strVal val="#ppt_y+.1"/>
                                          </p:val>
                                        </p:tav>
                                        <p:tav tm="100000">
                                          <p:val>
                                            <p:strVal val="#ppt_y"/>
                                          </p:val>
                                        </p:tav>
                                      </p:tavLst>
                                    </p:anim>
                                  </p:childTnLst>
                                </p:cTn>
                              </p:par>
                              <p:par>
                                <p:cTn id="70" presetID="17" presetClass="entr" presetSubtype="10" fill="hold" nodeType="withEffect">
                                  <p:stCondLst>
                                    <p:cond delay="0"/>
                                  </p:stCondLst>
                                  <p:childTnLst>
                                    <p:set>
                                      <p:cBhvr>
                                        <p:cTn id="71" dur="1" fill="hold">
                                          <p:stCondLst>
                                            <p:cond delay="0"/>
                                          </p:stCondLst>
                                        </p:cTn>
                                        <p:tgtEl>
                                          <p:spTgt spid="29"/>
                                        </p:tgtEl>
                                        <p:attrNameLst>
                                          <p:attrName>style.visibility</p:attrName>
                                        </p:attrNameLst>
                                      </p:cBhvr>
                                      <p:to>
                                        <p:strVal val="visible"/>
                                      </p:to>
                                    </p:set>
                                    <p:anim calcmode="lin" valueType="num">
                                      <p:cBhvr>
                                        <p:cTn id="72" dur="500" fill="hold"/>
                                        <p:tgtEl>
                                          <p:spTgt spid="29"/>
                                        </p:tgtEl>
                                        <p:attrNameLst>
                                          <p:attrName>ppt_w</p:attrName>
                                        </p:attrNameLst>
                                      </p:cBhvr>
                                      <p:tavLst>
                                        <p:tav tm="0">
                                          <p:val>
                                            <p:fltVal val="0"/>
                                          </p:val>
                                        </p:tav>
                                        <p:tav tm="100000">
                                          <p:val>
                                            <p:strVal val="#ppt_w"/>
                                          </p:val>
                                        </p:tav>
                                      </p:tavLst>
                                    </p:anim>
                                    <p:anim calcmode="lin" valueType="num">
                                      <p:cBhvr>
                                        <p:cTn id="73" dur="500"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1000"/>
                                        <p:tgtEl>
                                          <p:spTgt spid="27"/>
                                        </p:tgtEl>
                                      </p:cBhvr>
                                    </p:animEffect>
                                    <p:anim calcmode="lin" valueType="num">
                                      <p:cBhvr>
                                        <p:cTn id="79" dur="1000" fill="hold"/>
                                        <p:tgtEl>
                                          <p:spTgt spid="27"/>
                                        </p:tgtEl>
                                        <p:attrNameLst>
                                          <p:attrName>ppt_x</p:attrName>
                                        </p:attrNameLst>
                                      </p:cBhvr>
                                      <p:tavLst>
                                        <p:tav tm="0">
                                          <p:val>
                                            <p:strVal val="#ppt_x"/>
                                          </p:val>
                                        </p:tav>
                                        <p:tav tm="100000">
                                          <p:val>
                                            <p:strVal val="#ppt_x"/>
                                          </p:val>
                                        </p:tav>
                                      </p:tavLst>
                                    </p:anim>
                                    <p:anim calcmode="lin" valueType="num">
                                      <p:cBhvr>
                                        <p:cTn id="80" dur="1000" fill="hold"/>
                                        <p:tgtEl>
                                          <p:spTgt spid="27"/>
                                        </p:tgtEl>
                                        <p:attrNameLst>
                                          <p:attrName>ppt_y</p:attrName>
                                        </p:attrNameLst>
                                      </p:cBhvr>
                                      <p:tavLst>
                                        <p:tav tm="0">
                                          <p:val>
                                            <p:strVal val="#ppt_y+.1"/>
                                          </p:val>
                                        </p:tav>
                                        <p:tav tm="100000">
                                          <p:val>
                                            <p:strVal val="#ppt_y"/>
                                          </p:val>
                                        </p:tav>
                                      </p:tavLst>
                                    </p:anim>
                                  </p:childTnLst>
                                </p:cTn>
                              </p:par>
                            </p:childTnLst>
                          </p:cTn>
                        </p:par>
                        <p:par>
                          <p:cTn id="81" fill="hold">
                            <p:stCondLst>
                              <p:cond delay="1000"/>
                            </p:stCondLst>
                            <p:childTnLst>
                              <p:par>
                                <p:cTn id="82" presetID="17" presetClass="entr" presetSubtype="10" fill="hold" nodeType="afterEffect">
                                  <p:stCondLst>
                                    <p:cond delay="0"/>
                                  </p:stCondLst>
                                  <p:childTnLst>
                                    <p:set>
                                      <p:cBhvr>
                                        <p:cTn id="83" dur="1" fill="hold">
                                          <p:stCondLst>
                                            <p:cond delay="0"/>
                                          </p:stCondLst>
                                        </p:cTn>
                                        <p:tgtEl>
                                          <p:spTgt spid="31"/>
                                        </p:tgtEl>
                                        <p:attrNameLst>
                                          <p:attrName>style.visibility</p:attrName>
                                        </p:attrNameLst>
                                      </p:cBhvr>
                                      <p:to>
                                        <p:strVal val="visible"/>
                                      </p:to>
                                    </p:set>
                                    <p:anim calcmode="lin" valueType="num">
                                      <p:cBhvr>
                                        <p:cTn id="84" dur="500" fill="hold"/>
                                        <p:tgtEl>
                                          <p:spTgt spid="31"/>
                                        </p:tgtEl>
                                        <p:attrNameLst>
                                          <p:attrName>ppt_w</p:attrName>
                                        </p:attrNameLst>
                                      </p:cBhvr>
                                      <p:tavLst>
                                        <p:tav tm="0">
                                          <p:val>
                                            <p:fltVal val="0"/>
                                          </p:val>
                                        </p:tav>
                                        <p:tav tm="100000">
                                          <p:val>
                                            <p:strVal val="#ppt_w"/>
                                          </p:val>
                                        </p:tav>
                                      </p:tavLst>
                                    </p:anim>
                                    <p:anim calcmode="lin" valueType="num">
                                      <p:cBhvr>
                                        <p:cTn id="85" dur="500" fill="hold"/>
                                        <p:tgtEl>
                                          <p:spTgt spid="31"/>
                                        </p:tgtEl>
                                        <p:attrNameLst>
                                          <p:attrName>ppt_h</p:attrName>
                                        </p:attrNameLst>
                                      </p:cBhvr>
                                      <p:tavLst>
                                        <p:tav tm="0">
                                          <p:val>
                                            <p:strVal val="#ppt_h"/>
                                          </p:val>
                                        </p:tav>
                                        <p:tav tm="100000">
                                          <p:val>
                                            <p:strVal val="#ppt_h"/>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grpId="0" nodeType="click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1000"/>
                                        <p:tgtEl>
                                          <p:spTgt spid="32"/>
                                        </p:tgtEl>
                                      </p:cBhvr>
                                    </p:animEffect>
                                    <p:anim calcmode="lin" valueType="num">
                                      <p:cBhvr>
                                        <p:cTn id="91" dur="1000" fill="hold"/>
                                        <p:tgtEl>
                                          <p:spTgt spid="32"/>
                                        </p:tgtEl>
                                        <p:attrNameLst>
                                          <p:attrName>ppt_x</p:attrName>
                                        </p:attrNameLst>
                                      </p:cBhvr>
                                      <p:tavLst>
                                        <p:tav tm="0">
                                          <p:val>
                                            <p:strVal val="#ppt_x"/>
                                          </p:val>
                                        </p:tav>
                                        <p:tav tm="100000">
                                          <p:val>
                                            <p:strVal val="#ppt_x"/>
                                          </p:val>
                                        </p:tav>
                                      </p:tavLst>
                                    </p:anim>
                                    <p:anim calcmode="lin" valueType="num">
                                      <p:cBhvr>
                                        <p:cTn id="92" dur="1000" fill="hold"/>
                                        <p:tgtEl>
                                          <p:spTgt spid="32"/>
                                        </p:tgtEl>
                                        <p:attrNameLst>
                                          <p:attrName>ppt_y</p:attrName>
                                        </p:attrNameLst>
                                      </p:cBhvr>
                                      <p:tavLst>
                                        <p:tav tm="0">
                                          <p:val>
                                            <p:strVal val="#ppt_y+.1"/>
                                          </p:val>
                                        </p:tav>
                                        <p:tav tm="100000">
                                          <p:val>
                                            <p:strVal val="#ppt_y"/>
                                          </p:val>
                                        </p:tav>
                                      </p:tavLst>
                                    </p:anim>
                                  </p:childTnLst>
                                </p:cTn>
                              </p:par>
                            </p:childTnLst>
                          </p:cTn>
                        </p:par>
                        <p:par>
                          <p:cTn id="93" fill="hold">
                            <p:stCondLst>
                              <p:cond delay="1000"/>
                            </p:stCondLst>
                            <p:childTnLst>
                              <p:par>
                                <p:cTn id="94" presetID="17" presetClass="entr" presetSubtype="10" fill="hold" nodeType="afterEffect">
                                  <p:stCondLst>
                                    <p:cond delay="0"/>
                                  </p:stCondLst>
                                  <p:childTnLst>
                                    <p:set>
                                      <p:cBhvr>
                                        <p:cTn id="95" dur="1" fill="hold">
                                          <p:stCondLst>
                                            <p:cond delay="0"/>
                                          </p:stCondLst>
                                        </p:cTn>
                                        <p:tgtEl>
                                          <p:spTgt spid="33"/>
                                        </p:tgtEl>
                                        <p:attrNameLst>
                                          <p:attrName>style.visibility</p:attrName>
                                        </p:attrNameLst>
                                      </p:cBhvr>
                                      <p:to>
                                        <p:strVal val="visible"/>
                                      </p:to>
                                    </p:set>
                                    <p:anim calcmode="lin" valueType="num">
                                      <p:cBhvr>
                                        <p:cTn id="96" dur="500" fill="hold"/>
                                        <p:tgtEl>
                                          <p:spTgt spid="33"/>
                                        </p:tgtEl>
                                        <p:attrNameLst>
                                          <p:attrName>ppt_w</p:attrName>
                                        </p:attrNameLst>
                                      </p:cBhvr>
                                      <p:tavLst>
                                        <p:tav tm="0">
                                          <p:val>
                                            <p:fltVal val="0"/>
                                          </p:val>
                                        </p:tav>
                                        <p:tav tm="100000">
                                          <p:val>
                                            <p:strVal val="#ppt_w"/>
                                          </p:val>
                                        </p:tav>
                                      </p:tavLst>
                                    </p:anim>
                                    <p:anim calcmode="lin" valueType="num">
                                      <p:cBhvr>
                                        <p:cTn id="97" dur="500" fill="hold"/>
                                        <p:tgtEl>
                                          <p:spTgt spid="33"/>
                                        </p:tgtEl>
                                        <p:attrNameLst>
                                          <p:attrName>ppt_h</p:attrName>
                                        </p:attrNameLst>
                                      </p:cBhvr>
                                      <p:tavLst>
                                        <p:tav tm="0">
                                          <p:val>
                                            <p:strVal val="#ppt_h"/>
                                          </p:val>
                                        </p:tav>
                                        <p:tav tm="100000">
                                          <p:val>
                                            <p:strVal val="#ppt_h"/>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grpId="0" nodeType="click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1000"/>
                                        <p:tgtEl>
                                          <p:spTgt spid="34"/>
                                        </p:tgtEl>
                                      </p:cBhvr>
                                    </p:animEffect>
                                    <p:anim calcmode="lin" valueType="num">
                                      <p:cBhvr>
                                        <p:cTn id="103" dur="1000" fill="hold"/>
                                        <p:tgtEl>
                                          <p:spTgt spid="34"/>
                                        </p:tgtEl>
                                        <p:attrNameLst>
                                          <p:attrName>ppt_x</p:attrName>
                                        </p:attrNameLst>
                                      </p:cBhvr>
                                      <p:tavLst>
                                        <p:tav tm="0">
                                          <p:val>
                                            <p:strVal val="#ppt_x"/>
                                          </p:val>
                                        </p:tav>
                                        <p:tav tm="100000">
                                          <p:val>
                                            <p:strVal val="#ppt_x"/>
                                          </p:val>
                                        </p:tav>
                                      </p:tavLst>
                                    </p:anim>
                                    <p:anim calcmode="lin" valueType="num">
                                      <p:cBhvr>
                                        <p:cTn id="104"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17" presetClass="entr" presetSubtype="10" fill="hold" nodeType="clickEffect">
                                  <p:stCondLst>
                                    <p:cond delay="0"/>
                                  </p:stCondLst>
                                  <p:childTnLst>
                                    <p:set>
                                      <p:cBhvr>
                                        <p:cTn id="108" dur="1" fill="hold">
                                          <p:stCondLst>
                                            <p:cond delay="0"/>
                                          </p:stCondLst>
                                        </p:cTn>
                                        <p:tgtEl>
                                          <p:spTgt spid="35"/>
                                        </p:tgtEl>
                                        <p:attrNameLst>
                                          <p:attrName>style.visibility</p:attrName>
                                        </p:attrNameLst>
                                      </p:cBhvr>
                                      <p:to>
                                        <p:strVal val="visible"/>
                                      </p:to>
                                    </p:set>
                                    <p:anim calcmode="lin" valueType="num">
                                      <p:cBhvr>
                                        <p:cTn id="109" dur="500" fill="hold"/>
                                        <p:tgtEl>
                                          <p:spTgt spid="35"/>
                                        </p:tgtEl>
                                        <p:attrNameLst>
                                          <p:attrName>ppt_w</p:attrName>
                                        </p:attrNameLst>
                                      </p:cBhvr>
                                      <p:tavLst>
                                        <p:tav tm="0">
                                          <p:val>
                                            <p:fltVal val="0"/>
                                          </p:val>
                                        </p:tav>
                                        <p:tav tm="100000">
                                          <p:val>
                                            <p:strVal val="#ppt_w"/>
                                          </p:val>
                                        </p:tav>
                                      </p:tavLst>
                                    </p:anim>
                                    <p:anim calcmode="lin" valueType="num">
                                      <p:cBhvr>
                                        <p:cTn id="110" dur="500" fill="hold"/>
                                        <p:tgtEl>
                                          <p:spTgt spid="35"/>
                                        </p:tgtEl>
                                        <p:attrNameLst>
                                          <p:attrName>ppt_h</p:attrName>
                                        </p:attrNameLst>
                                      </p:cBhvr>
                                      <p:tavLst>
                                        <p:tav tm="0">
                                          <p:val>
                                            <p:strVal val="#ppt_h"/>
                                          </p:val>
                                        </p:tav>
                                        <p:tav tm="100000">
                                          <p:val>
                                            <p:strVal val="#ppt_h"/>
                                          </p:val>
                                        </p:tav>
                                      </p:tavLst>
                                    </p:anim>
                                  </p:childTnLst>
                                </p:cTn>
                              </p:par>
                              <p:par>
                                <p:cTn id="111" presetID="42" presetClass="entr" presetSubtype="0" fill="hold" grpId="0" nodeType="withEffect">
                                  <p:stCondLst>
                                    <p:cond delay="0"/>
                                  </p:stCondLst>
                                  <p:childTnLst>
                                    <p:set>
                                      <p:cBhvr>
                                        <p:cTn id="112" dur="1" fill="hold">
                                          <p:stCondLst>
                                            <p:cond delay="0"/>
                                          </p:stCondLst>
                                        </p:cTn>
                                        <p:tgtEl>
                                          <p:spTgt spid="28"/>
                                        </p:tgtEl>
                                        <p:attrNameLst>
                                          <p:attrName>style.visibility</p:attrName>
                                        </p:attrNameLst>
                                      </p:cBhvr>
                                      <p:to>
                                        <p:strVal val="visible"/>
                                      </p:to>
                                    </p:set>
                                    <p:animEffect transition="in" filter="fade">
                                      <p:cBhvr>
                                        <p:cTn id="113" dur="1000"/>
                                        <p:tgtEl>
                                          <p:spTgt spid="28"/>
                                        </p:tgtEl>
                                      </p:cBhvr>
                                    </p:animEffect>
                                    <p:anim calcmode="lin" valueType="num">
                                      <p:cBhvr>
                                        <p:cTn id="114" dur="1000" fill="hold"/>
                                        <p:tgtEl>
                                          <p:spTgt spid="28"/>
                                        </p:tgtEl>
                                        <p:attrNameLst>
                                          <p:attrName>ppt_x</p:attrName>
                                        </p:attrNameLst>
                                      </p:cBhvr>
                                      <p:tavLst>
                                        <p:tav tm="0">
                                          <p:val>
                                            <p:strVal val="#ppt_x"/>
                                          </p:val>
                                        </p:tav>
                                        <p:tav tm="100000">
                                          <p:val>
                                            <p:strVal val="#ppt_x"/>
                                          </p:val>
                                        </p:tav>
                                      </p:tavLst>
                                    </p:anim>
                                    <p:anim calcmode="lin" valueType="num">
                                      <p:cBhvr>
                                        <p:cTn id="115" dur="1000" fill="hold"/>
                                        <p:tgtEl>
                                          <p:spTgt spid="28"/>
                                        </p:tgtEl>
                                        <p:attrNameLst>
                                          <p:attrName>ppt_y</p:attrName>
                                        </p:attrNameLst>
                                      </p:cBhvr>
                                      <p:tavLst>
                                        <p:tav tm="0">
                                          <p:val>
                                            <p:strVal val="#ppt_y+.1"/>
                                          </p:val>
                                        </p:tav>
                                        <p:tav tm="100000">
                                          <p:val>
                                            <p:strVal val="#ppt_y"/>
                                          </p:val>
                                        </p:tav>
                                      </p:tavLst>
                                    </p:anim>
                                  </p:childTnLst>
                                </p:cTn>
                              </p:par>
                              <p:par>
                                <p:cTn id="116" presetID="17" presetClass="entr" presetSubtype="10" fill="hold" nodeType="withEffect">
                                  <p:stCondLst>
                                    <p:cond delay="0"/>
                                  </p:stCondLst>
                                  <p:childTnLst>
                                    <p:set>
                                      <p:cBhvr>
                                        <p:cTn id="117" dur="1" fill="hold">
                                          <p:stCondLst>
                                            <p:cond delay="0"/>
                                          </p:stCondLst>
                                        </p:cTn>
                                        <p:tgtEl>
                                          <p:spTgt spid="39"/>
                                        </p:tgtEl>
                                        <p:attrNameLst>
                                          <p:attrName>style.visibility</p:attrName>
                                        </p:attrNameLst>
                                      </p:cBhvr>
                                      <p:to>
                                        <p:strVal val="visible"/>
                                      </p:to>
                                    </p:set>
                                    <p:anim calcmode="lin" valueType="num">
                                      <p:cBhvr>
                                        <p:cTn id="118" dur="500" fill="hold"/>
                                        <p:tgtEl>
                                          <p:spTgt spid="39"/>
                                        </p:tgtEl>
                                        <p:attrNameLst>
                                          <p:attrName>ppt_w</p:attrName>
                                        </p:attrNameLst>
                                      </p:cBhvr>
                                      <p:tavLst>
                                        <p:tav tm="0">
                                          <p:val>
                                            <p:fltVal val="0"/>
                                          </p:val>
                                        </p:tav>
                                        <p:tav tm="100000">
                                          <p:val>
                                            <p:strVal val="#ppt_w"/>
                                          </p:val>
                                        </p:tav>
                                      </p:tavLst>
                                    </p:anim>
                                    <p:anim calcmode="lin" valueType="num">
                                      <p:cBhvr>
                                        <p:cTn id="119" dur="500" fill="hold"/>
                                        <p:tgtEl>
                                          <p:spTgt spid="39"/>
                                        </p:tgtEl>
                                        <p:attrNameLst>
                                          <p:attrName>ppt_h</p:attrName>
                                        </p:attrNameLst>
                                      </p:cBhvr>
                                      <p:tavLst>
                                        <p:tav tm="0">
                                          <p:val>
                                            <p:strVal val="#ppt_h"/>
                                          </p:val>
                                        </p:tav>
                                        <p:tav tm="100000">
                                          <p:val>
                                            <p:strVal val="#ppt_h"/>
                                          </p:val>
                                        </p:tav>
                                      </p:tavLst>
                                    </p:anim>
                                  </p:childTnLst>
                                </p:cTn>
                              </p:par>
                              <p:par>
                                <p:cTn id="120" presetID="17" presetClass="entr" presetSubtype="10" fill="hold" nodeType="withEffect">
                                  <p:stCondLst>
                                    <p:cond delay="0"/>
                                  </p:stCondLst>
                                  <p:childTnLst>
                                    <p:set>
                                      <p:cBhvr>
                                        <p:cTn id="121" dur="1" fill="hold">
                                          <p:stCondLst>
                                            <p:cond delay="0"/>
                                          </p:stCondLst>
                                        </p:cTn>
                                        <p:tgtEl>
                                          <p:spTgt spid="38"/>
                                        </p:tgtEl>
                                        <p:attrNameLst>
                                          <p:attrName>style.visibility</p:attrName>
                                        </p:attrNameLst>
                                      </p:cBhvr>
                                      <p:to>
                                        <p:strVal val="visible"/>
                                      </p:to>
                                    </p:set>
                                    <p:anim calcmode="lin" valueType="num">
                                      <p:cBhvr>
                                        <p:cTn id="122" dur="500" fill="hold"/>
                                        <p:tgtEl>
                                          <p:spTgt spid="38"/>
                                        </p:tgtEl>
                                        <p:attrNameLst>
                                          <p:attrName>ppt_w</p:attrName>
                                        </p:attrNameLst>
                                      </p:cBhvr>
                                      <p:tavLst>
                                        <p:tav tm="0">
                                          <p:val>
                                            <p:fltVal val="0"/>
                                          </p:val>
                                        </p:tav>
                                        <p:tav tm="100000">
                                          <p:val>
                                            <p:strVal val="#ppt_w"/>
                                          </p:val>
                                        </p:tav>
                                      </p:tavLst>
                                    </p:anim>
                                    <p:anim calcmode="lin" valueType="num">
                                      <p:cBhvr>
                                        <p:cTn id="123" dur="500" fill="hold"/>
                                        <p:tgtEl>
                                          <p:spTgt spid="3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0" grpId="0" animBg="1"/>
      <p:bldP spid="22" grpId="0" animBg="1"/>
      <p:bldP spid="24" grpId="0" animBg="1"/>
      <p:bldP spid="26" grpId="0" animBg="1"/>
      <p:bldP spid="27" grpId="0" animBg="1"/>
      <p:bldP spid="28" grpId="0" animBg="1"/>
      <p:bldP spid="30" grpId="0" animBg="1"/>
      <p:bldP spid="32" grpId="0" animBg="1"/>
      <p:bldP spid="3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02D283D-6135-4599-B3C4-438387B59651}"/>
              </a:ext>
            </a:extLst>
          </p:cNvPr>
          <p:cNvSpPr txBox="1"/>
          <p:nvPr/>
        </p:nvSpPr>
        <p:spPr>
          <a:xfrm>
            <a:off x="530087" y="388132"/>
            <a:ext cx="6096000" cy="522451"/>
          </a:xfrm>
          <a:prstGeom prst="rect">
            <a:avLst/>
          </a:prstGeom>
          <a:noFill/>
        </p:spPr>
        <p:txBody>
          <a:bodyPr wrap="square">
            <a:spAutoFit/>
          </a:bodyPr>
          <a:lstStyle/>
          <a:p>
            <a:pPr>
              <a:lnSpc>
                <a:spcPct val="130000"/>
              </a:lnSpc>
              <a:defRPr/>
            </a:pPr>
            <a:r>
              <a:rPr lang="en-US" altLang="zh-CN" sz="2400" kern="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Culture and Its Components</a:t>
            </a:r>
            <a:endParaRPr lang="zh-CN" altLang="en-US" sz="2400" kern="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pic>
        <p:nvPicPr>
          <p:cNvPr id="5" name="Picture 14" descr="claes">
            <a:extLst>
              <a:ext uri="{FF2B5EF4-FFF2-40B4-BE49-F238E27FC236}">
                <a16:creationId xmlns:a16="http://schemas.microsoft.com/office/drawing/2014/main" id="{45570E2D-616D-47E5-A8EF-26F8D211E9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394" b="2456"/>
          <a:stretch/>
        </p:blipFill>
        <p:spPr>
          <a:xfrm>
            <a:off x="242343" y="1642533"/>
            <a:ext cx="5588614" cy="3756313"/>
          </a:xfrm>
          <a:prstGeom prst="rect">
            <a:avLst/>
          </a:prstGeom>
          <a:noFill/>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14" descr="claes 2">
            <a:extLst>
              <a:ext uri="{FF2B5EF4-FFF2-40B4-BE49-F238E27FC236}">
                <a16:creationId xmlns:a16="http://schemas.microsoft.com/office/drawing/2014/main" id="{99147BB4-748E-47FE-88CF-C34A0C8273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238"/>
          <a:stretch/>
        </p:blipFill>
        <p:spPr>
          <a:xfrm>
            <a:off x="5830957" y="1642533"/>
            <a:ext cx="5839955" cy="3756313"/>
          </a:xfrm>
          <a:prstGeom prst="rect">
            <a:avLst/>
          </a:prstGeom>
          <a:noFill/>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440333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36688C-0401-40C9-B3CB-A4A261273873}"/>
              </a:ext>
            </a:extLst>
          </p:cNvPr>
          <p:cNvSpPr>
            <a:spLocks noGrp="1"/>
          </p:cNvSpPr>
          <p:nvPr>
            <p:ph type="title"/>
          </p:nvPr>
        </p:nvSpPr>
        <p:spPr/>
        <p:txBody>
          <a:bodyPr>
            <a:normAutofit/>
          </a:bodyPr>
          <a:lstStyle/>
          <a:p>
            <a:r>
              <a:rPr lang="en-US" altLang="zh-CN" dirty="0">
                <a:latin typeface="Arial" panose="020B0604020202020204" pitchFamily="34" charset="0"/>
                <a:cs typeface="Arial" panose="020B0604020202020204" pitchFamily="34" charset="0"/>
              </a:rPr>
              <a:t>Communication &amp; Culture</a:t>
            </a:r>
            <a:endParaRPr lang="zh-CN" altLang="en-US" dirty="0">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25941877-6B21-4705-851C-4E3A182F2F66}"/>
              </a:ext>
            </a:extLst>
          </p:cNvPr>
          <p:cNvSpPr>
            <a:spLocks noGrp="1"/>
          </p:cNvSpPr>
          <p:nvPr>
            <p:ph idx="1"/>
          </p:nvPr>
        </p:nvSpPr>
        <p:spPr/>
        <p:txBody>
          <a:bodyPr/>
          <a:lstStyle/>
          <a:p>
            <a:r>
              <a:rPr lang="en-US" altLang="zh-CN" dirty="0"/>
              <a:t>“Culture is communication and communication is culture.”     ---Edward T. Hall</a:t>
            </a:r>
          </a:p>
          <a:p>
            <a:r>
              <a:rPr lang="en-US" altLang="zh-CN" dirty="0"/>
              <a:t>1. Culture is everything and everywhere.</a:t>
            </a:r>
          </a:p>
          <a:p>
            <a:r>
              <a:rPr lang="en-US" altLang="zh-CN" dirty="0"/>
              <a:t>2. Culture is both teacher and textbook.</a:t>
            </a:r>
          </a:p>
          <a:p>
            <a:r>
              <a:rPr lang="en-US" altLang="zh-CN" dirty="0"/>
              <a:t>3. Communication and culture are inseparable and culture is the foundation of communication.</a:t>
            </a:r>
          </a:p>
          <a:p>
            <a:r>
              <a:rPr lang="en-US" altLang="zh-CN" dirty="0"/>
              <a:t>4. It is through communication that culture is passed down, created, and modified from one generation to the next. And culture also affects communication. It has influence on the ways and results of communication.</a:t>
            </a:r>
          </a:p>
          <a:p>
            <a:pPr marL="0" indent="0">
              <a:buNone/>
            </a:pPr>
            <a:endParaRPr lang="zh-CN" altLang="en-US" dirty="0"/>
          </a:p>
        </p:txBody>
      </p:sp>
    </p:spTree>
    <p:extLst>
      <p:ext uri="{BB962C8B-B14F-4D97-AF65-F5344CB8AC3E}">
        <p14:creationId xmlns:p14="http://schemas.microsoft.com/office/powerpoint/2010/main" val="4176546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H_Other_1">
            <a:extLst>
              <a:ext uri="{FF2B5EF4-FFF2-40B4-BE49-F238E27FC236}">
                <a16:creationId xmlns:a16="http://schemas.microsoft.com/office/drawing/2014/main" id="{26B23C6F-079B-48B1-9C00-5DF68A3D7777}"/>
              </a:ext>
            </a:extLst>
          </p:cNvPr>
          <p:cNvSpPr>
            <a:spLocks/>
          </p:cNvSpPr>
          <p:nvPr>
            <p:custDataLst>
              <p:tags r:id="rId1"/>
            </p:custDataLst>
          </p:nvPr>
        </p:nvSpPr>
        <p:spPr bwMode="auto">
          <a:xfrm>
            <a:off x="6079926" y="3056438"/>
            <a:ext cx="453650" cy="3241091"/>
          </a:xfrm>
          <a:custGeom>
            <a:avLst/>
            <a:gdLst/>
            <a:ahLst/>
            <a:cxnLst>
              <a:cxn ang="0">
                <a:pos x="524" y="0"/>
              </a:cxn>
              <a:cxn ang="0">
                <a:pos x="530" y="2"/>
              </a:cxn>
              <a:cxn ang="0">
                <a:pos x="511" y="46"/>
              </a:cxn>
              <a:cxn ang="0">
                <a:pos x="492" y="105"/>
              </a:cxn>
              <a:cxn ang="0">
                <a:pos x="469" y="177"/>
              </a:cxn>
              <a:cxn ang="0">
                <a:pos x="446" y="263"/>
              </a:cxn>
              <a:cxn ang="0">
                <a:pos x="420" y="364"/>
              </a:cxn>
              <a:cxn ang="0">
                <a:pos x="393" y="478"/>
              </a:cxn>
              <a:cxn ang="0">
                <a:pos x="366" y="604"/>
              </a:cxn>
              <a:cxn ang="0">
                <a:pos x="338" y="743"/>
              </a:cxn>
              <a:cxn ang="0">
                <a:pos x="311" y="896"/>
              </a:cxn>
              <a:cxn ang="0">
                <a:pos x="282" y="1060"/>
              </a:cxn>
              <a:cxn ang="0">
                <a:pos x="254" y="1239"/>
              </a:cxn>
              <a:cxn ang="0">
                <a:pos x="227" y="1429"/>
              </a:cxn>
              <a:cxn ang="0">
                <a:pos x="200" y="1631"/>
              </a:cxn>
              <a:cxn ang="0">
                <a:pos x="172" y="1847"/>
              </a:cxn>
              <a:cxn ang="0">
                <a:pos x="147" y="2072"/>
              </a:cxn>
              <a:cxn ang="0">
                <a:pos x="122" y="2312"/>
              </a:cxn>
              <a:cxn ang="0">
                <a:pos x="101" y="2562"/>
              </a:cxn>
              <a:cxn ang="0">
                <a:pos x="80" y="2823"/>
              </a:cxn>
              <a:cxn ang="0">
                <a:pos x="61" y="3097"/>
              </a:cxn>
              <a:cxn ang="0">
                <a:pos x="44" y="3381"/>
              </a:cxn>
              <a:cxn ang="0">
                <a:pos x="29" y="3675"/>
              </a:cxn>
              <a:cxn ang="0">
                <a:pos x="19" y="3980"/>
              </a:cxn>
              <a:cxn ang="0">
                <a:pos x="10" y="4298"/>
              </a:cxn>
              <a:cxn ang="0">
                <a:pos x="6" y="4624"/>
              </a:cxn>
              <a:cxn ang="0">
                <a:pos x="0" y="4624"/>
              </a:cxn>
              <a:cxn ang="0">
                <a:pos x="4" y="4298"/>
              </a:cxn>
              <a:cxn ang="0">
                <a:pos x="12" y="3980"/>
              </a:cxn>
              <a:cxn ang="0">
                <a:pos x="23" y="3675"/>
              </a:cxn>
              <a:cxn ang="0">
                <a:pos x="37" y="3381"/>
              </a:cxn>
              <a:cxn ang="0">
                <a:pos x="54" y="3095"/>
              </a:cxn>
              <a:cxn ang="0">
                <a:pos x="73" y="2823"/>
              </a:cxn>
              <a:cxn ang="0">
                <a:pos x="94" y="2560"/>
              </a:cxn>
              <a:cxn ang="0">
                <a:pos x="115" y="2310"/>
              </a:cxn>
              <a:cxn ang="0">
                <a:pos x="141" y="2072"/>
              </a:cxn>
              <a:cxn ang="0">
                <a:pos x="166" y="1845"/>
              </a:cxn>
              <a:cxn ang="0">
                <a:pos x="193" y="1631"/>
              </a:cxn>
              <a:cxn ang="0">
                <a:pos x="221" y="1429"/>
              </a:cxn>
              <a:cxn ang="0">
                <a:pos x="248" y="1237"/>
              </a:cxn>
              <a:cxn ang="0">
                <a:pos x="275" y="1058"/>
              </a:cxn>
              <a:cxn ang="0">
                <a:pos x="305" y="894"/>
              </a:cxn>
              <a:cxn ang="0">
                <a:pos x="332" y="741"/>
              </a:cxn>
              <a:cxn ang="0">
                <a:pos x="359" y="602"/>
              </a:cxn>
              <a:cxn ang="0">
                <a:pos x="387" y="476"/>
              </a:cxn>
              <a:cxn ang="0">
                <a:pos x="414" y="362"/>
              </a:cxn>
              <a:cxn ang="0">
                <a:pos x="439" y="261"/>
              </a:cxn>
              <a:cxn ang="0">
                <a:pos x="463" y="175"/>
              </a:cxn>
              <a:cxn ang="0">
                <a:pos x="486" y="103"/>
              </a:cxn>
              <a:cxn ang="0">
                <a:pos x="505" y="44"/>
              </a:cxn>
              <a:cxn ang="0">
                <a:pos x="524" y="0"/>
              </a:cxn>
            </a:cxnLst>
            <a:rect l="0" t="0" r="r" b="b"/>
            <a:pathLst>
              <a:path w="530" h="4624">
                <a:moveTo>
                  <a:pt x="524" y="0"/>
                </a:moveTo>
                <a:lnTo>
                  <a:pt x="530" y="2"/>
                </a:lnTo>
                <a:lnTo>
                  <a:pt x="511" y="46"/>
                </a:lnTo>
                <a:lnTo>
                  <a:pt x="492" y="105"/>
                </a:lnTo>
                <a:lnTo>
                  <a:pt x="469" y="177"/>
                </a:lnTo>
                <a:lnTo>
                  <a:pt x="446" y="263"/>
                </a:lnTo>
                <a:lnTo>
                  <a:pt x="420" y="364"/>
                </a:lnTo>
                <a:lnTo>
                  <a:pt x="393" y="478"/>
                </a:lnTo>
                <a:lnTo>
                  <a:pt x="366" y="604"/>
                </a:lnTo>
                <a:lnTo>
                  <a:pt x="338" y="743"/>
                </a:lnTo>
                <a:lnTo>
                  <a:pt x="311" y="896"/>
                </a:lnTo>
                <a:lnTo>
                  <a:pt x="282" y="1060"/>
                </a:lnTo>
                <a:lnTo>
                  <a:pt x="254" y="1239"/>
                </a:lnTo>
                <a:lnTo>
                  <a:pt x="227" y="1429"/>
                </a:lnTo>
                <a:lnTo>
                  <a:pt x="200" y="1631"/>
                </a:lnTo>
                <a:lnTo>
                  <a:pt x="172" y="1847"/>
                </a:lnTo>
                <a:lnTo>
                  <a:pt x="147" y="2072"/>
                </a:lnTo>
                <a:lnTo>
                  <a:pt x="122" y="2312"/>
                </a:lnTo>
                <a:lnTo>
                  <a:pt x="101" y="2562"/>
                </a:lnTo>
                <a:lnTo>
                  <a:pt x="80" y="2823"/>
                </a:lnTo>
                <a:lnTo>
                  <a:pt x="61" y="3097"/>
                </a:lnTo>
                <a:lnTo>
                  <a:pt x="44" y="3381"/>
                </a:lnTo>
                <a:lnTo>
                  <a:pt x="29" y="3675"/>
                </a:lnTo>
                <a:lnTo>
                  <a:pt x="19" y="3980"/>
                </a:lnTo>
                <a:lnTo>
                  <a:pt x="10" y="4298"/>
                </a:lnTo>
                <a:lnTo>
                  <a:pt x="6" y="4624"/>
                </a:lnTo>
                <a:lnTo>
                  <a:pt x="0" y="4624"/>
                </a:lnTo>
                <a:lnTo>
                  <a:pt x="4" y="4298"/>
                </a:lnTo>
                <a:lnTo>
                  <a:pt x="12" y="3980"/>
                </a:lnTo>
                <a:lnTo>
                  <a:pt x="23" y="3675"/>
                </a:lnTo>
                <a:lnTo>
                  <a:pt x="37" y="3381"/>
                </a:lnTo>
                <a:lnTo>
                  <a:pt x="54" y="3095"/>
                </a:lnTo>
                <a:lnTo>
                  <a:pt x="73" y="2823"/>
                </a:lnTo>
                <a:lnTo>
                  <a:pt x="94" y="2560"/>
                </a:lnTo>
                <a:lnTo>
                  <a:pt x="115" y="2310"/>
                </a:lnTo>
                <a:lnTo>
                  <a:pt x="141" y="2072"/>
                </a:lnTo>
                <a:lnTo>
                  <a:pt x="166" y="1845"/>
                </a:lnTo>
                <a:lnTo>
                  <a:pt x="193" y="1631"/>
                </a:lnTo>
                <a:lnTo>
                  <a:pt x="221" y="1429"/>
                </a:lnTo>
                <a:lnTo>
                  <a:pt x="248" y="1237"/>
                </a:lnTo>
                <a:lnTo>
                  <a:pt x="275" y="1058"/>
                </a:lnTo>
                <a:lnTo>
                  <a:pt x="305" y="894"/>
                </a:lnTo>
                <a:lnTo>
                  <a:pt x="332" y="741"/>
                </a:lnTo>
                <a:lnTo>
                  <a:pt x="359" y="602"/>
                </a:lnTo>
                <a:lnTo>
                  <a:pt x="387" y="476"/>
                </a:lnTo>
                <a:lnTo>
                  <a:pt x="414" y="362"/>
                </a:lnTo>
                <a:lnTo>
                  <a:pt x="439" y="261"/>
                </a:lnTo>
                <a:lnTo>
                  <a:pt x="463" y="175"/>
                </a:lnTo>
                <a:lnTo>
                  <a:pt x="486" y="103"/>
                </a:lnTo>
                <a:lnTo>
                  <a:pt x="505" y="44"/>
                </a:lnTo>
                <a:lnTo>
                  <a:pt x="524" y="0"/>
                </a:lnTo>
                <a:close/>
              </a:path>
            </a:pathLst>
          </a:custGeom>
          <a:solidFill>
            <a:srgbClr val="000000"/>
          </a:solidFill>
          <a:ln w="0">
            <a:solidFill>
              <a:schemeClr val="tx1">
                <a:lumMod val="65000"/>
                <a:lumOff val="35000"/>
              </a:schemeClr>
            </a:solidFill>
            <a:prstDash val="solid"/>
            <a:round/>
            <a:headEnd/>
            <a:tailEnd/>
          </a:ln>
        </p:spPr>
        <p:txBody>
          <a:bodyPr/>
          <a:lstStyle/>
          <a:p>
            <a:pPr>
              <a:defRPr/>
            </a:pPr>
            <a:endParaRPr lang="en-US" kern="0" dirty="0">
              <a:solidFill>
                <a:srgbClr val="FAFAFA"/>
              </a:solidFill>
            </a:endParaRPr>
          </a:p>
        </p:txBody>
      </p:sp>
      <p:sp>
        <p:nvSpPr>
          <p:cNvPr id="5" name="MH_Other_2">
            <a:extLst>
              <a:ext uri="{FF2B5EF4-FFF2-40B4-BE49-F238E27FC236}">
                <a16:creationId xmlns:a16="http://schemas.microsoft.com/office/drawing/2014/main" id="{BDD343BE-70CC-40EE-AD1A-542CF1396158}"/>
              </a:ext>
            </a:extLst>
          </p:cNvPr>
          <p:cNvSpPr>
            <a:spLocks/>
          </p:cNvSpPr>
          <p:nvPr>
            <p:custDataLst>
              <p:tags r:id="rId2"/>
            </p:custDataLst>
          </p:nvPr>
        </p:nvSpPr>
        <p:spPr bwMode="auto">
          <a:xfrm>
            <a:off x="5601270" y="5354522"/>
            <a:ext cx="484012" cy="943007"/>
          </a:xfrm>
          <a:custGeom>
            <a:avLst/>
            <a:gdLst/>
            <a:ahLst/>
            <a:cxnLst>
              <a:cxn ang="0">
                <a:pos x="4" y="0"/>
              </a:cxn>
              <a:cxn ang="0">
                <a:pos x="42" y="45"/>
              </a:cxn>
              <a:cxn ang="0">
                <a:pos x="86" y="95"/>
              </a:cxn>
              <a:cxn ang="0">
                <a:pos x="138" y="154"/>
              </a:cxn>
              <a:cxn ang="0">
                <a:pos x="193" y="219"/>
              </a:cxn>
              <a:cxn ang="0">
                <a:pos x="254" y="293"/>
              </a:cxn>
              <a:cxn ang="0">
                <a:pos x="315" y="373"/>
              </a:cxn>
              <a:cxn ang="0">
                <a:pos x="378" y="461"/>
              </a:cxn>
              <a:cxn ang="0">
                <a:pos x="441" y="554"/>
              </a:cxn>
              <a:cxn ang="0">
                <a:pos x="503" y="655"/>
              </a:cxn>
              <a:cxn ang="0">
                <a:pos x="561" y="760"/>
              </a:cxn>
              <a:cxn ang="0">
                <a:pos x="618" y="871"/>
              </a:cxn>
              <a:cxn ang="0">
                <a:pos x="667" y="989"/>
              </a:cxn>
              <a:cxn ang="0">
                <a:pos x="711" y="1111"/>
              </a:cxn>
              <a:cxn ang="0">
                <a:pos x="747" y="1239"/>
              </a:cxn>
              <a:cxn ang="0">
                <a:pos x="774" y="1372"/>
              </a:cxn>
              <a:cxn ang="0">
                <a:pos x="768" y="1372"/>
              </a:cxn>
              <a:cxn ang="0">
                <a:pos x="740" y="1239"/>
              </a:cxn>
              <a:cxn ang="0">
                <a:pos x="704" y="1113"/>
              </a:cxn>
              <a:cxn ang="0">
                <a:pos x="660" y="989"/>
              </a:cxn>
              <a:cxn ang="0">
                <a:pos x="612" y="873"/>
              </a:cxn>
              <a:cxn ang="0">
                <a:pos x="557" y="762"/>
              </a:cxn>
              <a:cxn ang="0">
                <a:pos x="498" y="657"/>
              </a:cxn>
              <a:cxn ang="0">
                <a:pos x="435" y="556"/>
              </a:cxn>
              <a:cxn ang="0">
                <a:pos x="374" y="463"/>
              </a:cxn>
              <a:cxn ang="0">
                <a:pos x="311" y="377"/>
              </a:cxn>
              <a:cxn ang="0">
                <a:pos x="248" y="297"/>
              </a:cxn>
              <a:cxn ang="0">
                <a:pos x="189" y="223"/>
              </a:cxn>
              <a:cxn ang="0">
                <a:pos x="134" y="158"/>
              </a:cxn>
              <a:cxn ang="0">
                <a:pos x="82" y="99"/>
              </a:cxn>
              <a:cxn ang="0">
                <a:pos x="37" y="49"/>
              </a:cxn>
              <a:cxn ang="0">
                <a:pos x="0" y="5"/>
              </a:cxn>
              <a:cxn ang="0">
                <a:pos x="4" y="0"/>
              </a:cxn>
            </a:cxnLst>
            <a:rect l="0" t="0" r="r" b="b"/>
            <a:pathLst>
              <a:path w="774" h="1372">
                <a:moveTo>
                  <a:pt x="4" y="0"/>
                </a:moveTo>
                <a:lnTo>
                  <a:pt x="42" y="45"/>
                </a:lnTo>
                <a:lnTo>
                  <a:pt x="86" y="95"/>
                </a:lnTo>
                <a:lnTo>
                  <a:pt x="138" y="154"/>
                </a:lnTo>
                <a:lnTo>
                  <a:pt x="193" y="219"/>
                </a:lnTo>
                <a:lnTo>
                  <a:pt x="254" y="293"/>
                </a:lnTo>
                <a:lnTo>
                  <a:pt x="315" y="373"/>
                </a:lnTo>
                <a:lnTo>
                  <a:pt x="378" y="461"/>
                </a:lnTo>
                <a:lnTo>
                  <a:pt x="441" y="554"/>
                </a:lnTo>
                <a:lnTo>
                  <a:pt x="503" y="655"/>
                </a:lnTo>
                <a:lnTo>
                  <a:pt x="561" y="760"/>
                </a:lnTo>
                <a:lnTo>
                  <a:pt x="618" y="871"/>
                </a:lnTo>
                <a:lnTo>
                  <a:pt x="667" y="989"/>
                </a:lnTo>
                <a:lnTo>
                  <a:pt x="711" y="1111"/>
                </a:lnTo>
                <a:lnTo>
                  <a:pt x="747" y="1239"/>
                </a:lnTo>
                <a:lnTo>
                  <a:pt x="774" y="1372"/>
                </a:lnTo>
                <a:lnTo>
                  <a:pt x="768" y="1372"/>
                </a:lnTo>
                <a:lnTo>
                  <a:pt x="740" y="1239"/>
                </a:lnTo>
                <a:lnTo>
                  <a:pt x="704" y="1113"/>
                </a:lnTo>
                <a:lnTo>
                  <a:pt x="660" y="989"/>
                </a:lnTo>
                <a:lnTo>
                  <a:pt x="612" y="873"/>
                </a:lnTo>
                <a:lnTo>
                  <a:pt x="557" y="762"/>
                </a:lnTo>
                <a:lnTo>
                  <a:pt x="498" y="657"/>
                </a:lnTo>
                <a:lnTo>
                  <a:pt x="435" y="556"/>
                </a:lnTo>
                <a:lnTo>
                  <a:pt x="374" y="463"/>
                </a:lnTo>
                <a:lnTo>
                  <a:pt x="311" y="377"/>
                </a:lnTo>
                <a:lnTo>
                  <a:pt x="248" y="297"/>
                </a:lnTo>
                <a:lnTo>
                  <a:pt x="189" y="223"/>
                </a:lnTo>
                <a:lnTo>
                  <a:pt x="134" y="158"/>
                </a:lnTo>
                <a:lnTo>
                  <a:pt x="82" y="99"/>
                </a:lnTo>
                <a:lnTo>
                  <a:pt x="37" y="49"/>
                </a:lnTo>
                <a:lnTo>
                  <a:pt x="0" y="5"/>
                </a:lnTo>
                <a:lnTo>
                  <a:pt x="4" y="0"/>
                </a:lnTo>
                <a:close/>
              </a:path>
            </a:pathLst>
          </a:custGeom>
          <a:solidFill>
            <a:srgbClr val="000000"/>
          </a:solidFill>
          <a:ln w="0">
            <a:solidFill>
              <a:schemeClr val="tx1">
                <a:lumMod val="65000"/>
                <a:lumOff val="35000"/>
              </a:schemeClr>
            </a:solidFill>
            <a:prstDash val="solid"/>
            <a:round/>
            <a:headEnd/>
            <a:tailEnd/>
          </a:ln>
        </p:spPr>
        <p:txBody>
          <a:bodyPr/>
          <a:lstStyle/>
          <a:p>
            <a:pPr>
              <a:defRPr/>
            </a:pPr>
            <a:endParaRPr lang="en-US" kern="0" dirty="0">
              <a:solidFill>
                <a:srgbClr val="FAFAFA"/>
              </a:solidFill>
            </a:endParaRPr>
          </a:p>
        </p:txBody>
      </p:sp>
      <p:sp>
        <p:nvSpPr>
          <p:cNvPr id="6" name="MH_Other_3">
            <a:extLst>
              <a:ext uri="{FF2B5EF4-FFF2-40B4-BE49-F238E27FC236}">
                <a16:creationId xmlns:a16="http://schemas.microsoft.com/office/drawing/2014/main" id="{53BAF147-1F38-4C71-B41A-B5C0BC36A7C0}"/>
              </a:ext>
            </a:extLst>
          </p:cNvPr>
          <p:cNvSpPr>
            <a:spLocks/>
          </p:cNvSpPr>
          <p:nvPr>
            <p:custDataLst>
              <p:tags r:id="rId3"/>
            </p:custDataLst>
          </p:nvPr>
        </p:nvSpPr>
        <p:spPr bwMode="auto">
          <a:xfrm>
            <a:off x="5508397" y="4330290"/>
            <a:ext cx="576886" cy="1967239"/>
          </a:xfrm>
          <a:custGeom>
            <a:avLst/>
            <a:gdLst/>
            <a:ahLst/>
            <a:cxnLst>
              <a:cxn ang="0">
                <a:pos x="4" y="0"/>
              </a:cxn>
              <a:cxn ang="0">
                <a:pos x="67" y="158"/>
              </a:cxn>
              <a:cxn ang="0">
                <a:pos x="136" y="322"/>
              </a:cxn>
              <a:cxn ang="0">
                <a:pos x="210" y="492"/>
              </a:cxn>
              <a:cxn ang="0">
                <a:pos x="284" y="671"/>
              </a:cxn>
              <a:cxn ang="0">
                <a:pos x="359" y="854"/>
              </a:cxn>
              <a:cxn ang="0">
                <a:pos x="435" y="1045"/>
              </a:cxn>
              <a:cxn ang="0">
                <a:pos x="511" y="1241"/>
              </a:cxn>
              <a:cxn ang="0">
                <a:pos x="582" y="1443"/>
              </a:cxn>
              <a:cxn ang="0">
                <a:pos x="652" y="1649"/>
              </a:cxn>
              <a:cxn ang="0">
                <a:pos x="715" y="1862"/>
              </a:cxn>
              <a:cxn ang="0">
                <a:pos x="772" y="2080"/>
              </a:cxn>
              <a:cxn ang="0">
                <a:pos x="822" y="2301"/>
              </a:cxn>
              <a:cxn ang="0">
                <a:pos x="864" y="2531"/>
              </a:cxn>
              <a:cxn ang="0">
                <a:pos x="896" y="2762"/>
              </a:cxn>
              <a:cxn ang="0">
                <a:pos x="890" y="2762"/>
              </a:cxn>
              <a:cxn ang="0">
                <a:pos x="858" y="2531"/>
              </a:cxn>
              <a:cxn ang="0">
                <a:pos x="816" y="2303"/>
              </a:cxn>
              <a:cxn ang="0">
                <a:pos x="765" y="2080"/>
              </a:cxn>
              <a:cxn ang="0">
                <a:pos x="709" y="1864"/>
              </a:cxn>
              <a:cxn ang="0">
                <a:pos x="646" y="1651"/>
              </a:cxn>
              <a:cxn ang="0">
                <a:pos x="578" y="1445"/>
              </a:cxn>
              <a:cxn ang="0">
                <a:pos x="505" y="1243"/>
              </a:cxn>
              <a:cxn ang="0">
                <a:pos x="431" y="1048"/>
              </a:cxn>
              <a:cxn ang="0">
                <a:pos x="355" y="858"/>
              </a:cxn>
              <a:cxn ang="0">
                <a:pos x="279" y="673"/>
              </a:cxn>
              <a:cxn ang="0">
                <a:pos x="206" y="496"/>
              </a:cxn>
              <a:cxn ang="0">
                <a:pos x="132" y="324"/>
              </a:cxn>
              <a:cxn ang="0">
                <a:pos x="63" y="160"/>
              </a:cxn>
              <a:cxn ang="0">
                <a:pos x="0" y="2"/>
              </a:cxn>
              <a:cxn ang="0">
                <a:pos x="4" y="0"/>
              </a:cxn>
            </a:cxnLst>
            <a:rect l="0" t="0" r="r" b="b"/>
            <a:pathLst>
              <a:path w="896" h="2762">
                <a:moveTo>
                  <a:pt x="4" y="0"/>
                </a:moveTo>
                <a:lnTo>
                  <a:pt x="67" y="158"/>
                </a:lnTo>
                <a:lnTo>
                  <a:pt x="136" y="322"/>
                </a:lnTo>
                <a:lnTo>
                  <a:pt x="210" y="492"/>
                </a:lnTo>
                <a:lnTo>
                  <a:pt x="284" y="671"/>
                </a:lnTo>
                <a:lnTo>
                  <a:pt x="359" y="854"/>
                </a:lnTo>
                <a:lnTo>
                  <a:pt x="435" y="1045"/>
                </a:lnTo>
                <a:lnTo>
                  <a:pt x="511" y="1241"/>
                </a:lnTo>
                <a:lnTo>
                  <a:pt x="582" y="1443"/>
                </a:lnTo>
                <a:lnTo>
                  <a:pt x="652" y="1649"/>
                </a:lnTo>
                <a:lnTo>
                  <a:pt x="715" y="1862"/>
                </a:lnTo>
                <a:lnTo>
                  <a:pt x="772" y="2080"/>
                </a:lnTo>
                <a:lnTo>
                  <a:pt x="822" y="2301"/>
                </a:lnTo>
                <a:lnTo>
                  <a:pt x="864" y="2531"/>
                </a:lnTo>
                <a:lnTo>
                  <a:pt x="896" y="2762"/>
                </a:lnTo>
                <a:lnTo>
                  <a:pt x="890" y="2762"/>
                </a:lnTo>
                <a:lnTo>
                  <a:pt x="858" y="2531"/>
                </a:lnTo>
                <a:lnTo>
                  <a:pt x="816" y="2303"/>
                </a:lnTo>
                <a:lnTo>
                  <a:pt x="765" y="2080"/>
                </a:lnTo>
                <a:lnTo>
                  <a:pt x="709" y="1864"/>
                </a:lnTo>
                <a:lnTo>
                  <a:pt x="646" y="1651"/>
                </a:lnTo>
                <a:lnTo>
                  <a:pt x="578" y="1445"/>
                </a:lnTo>
                <a:lnTo>
                  <a:pt x="505" y="1243"/>
                </a:lnTo>
                <a:lnTo>
                  <a:pt x="431" y="1048"/>
                </a:lnTo>
                <a:lnTo>
                  <a:pt x="355" y="858"/>
                </a:lnTo>
                <a:lnTo>
                  <a:pt x="279" y="673"/>
                </a:lnTo>
                <a:lnTo>
                  <a:pt x="206" y="496"/>
                </a:lnTo>
                <a:lnTo>
                  <a:pt x="132" y="324"/>
                </a:lnTo>
                <a:lnTo>
                  <a:pt x="63" y="160"/>
                </a:lnTo>
                <a:lnTo>
                  <a:pt x="0" y="2"/>
                </a:lnTo>
                <a:lnTo>
                  <a:pt x="4" y="0"/>
                </a:lnTo>
                <a:close/>
              </a:path>
            </a:pathLst>
          </a:custGeom>
          <a:solidFill>
            <a:srgbClr val="000000"/>
          </a:solidFill>
          <a:ln w="0">
            <a:solidFill>
              <a:schemeClr val="tx1">
                <a:lumMod val="65000"/>
                <a:lumOff val="35000"/>
              </a:schemeClr>
            </a:solidFill>
            <a:prstDash val="solid"/>
            <a:round/>
            <a:headEnd/>
            <a:tailEnd/>
          </a:ln>
        </p:spPr>
        <p:txBody>
          <a:bodyPr/>
          <a:lstStyle/>
          <a:p>
            <a:pPr>
              <a:defRPr/>
            </a:pPr>
            <a:endParaRPr lang="en-US" kern="0" dirty="0">
              <a:solidFill>
                <a:srgbClr val="FAFAFA"/>
              </a:solidFill>
            </a:endParaRPr>
          </a:p>
        </p:txBody>
      </p:sp>
      <p:cxnSp>
        <p:nvCxnSpPr>
          <p:cNvPr id="7" name="MH_Other_4">
            <a:extLst>
              <a:ext uri="{FF2B5EF4-FFF2-40B4-BE49-F238E27FC236}">
                <a16:creationId xmlns:a16="http://schemas.microsoft.com/office/drawing/2014/main" id="{A37CE1E8-F1C1-4951-B147-0A7A3D7F6E1C}"/>
              </a:ext>
            </a:extLst>
          </p:cNvPr>
          <p:cNvCxnSpPr>
            <a:cxnSpLocks noChangeShapeType="1"/>
          </p:cNvCxnSpPr>
          <p:nvPr>
            <p:custDataLst>
              <p:tags r:id="rId4"/>
            </p:custDataLst>
          </p:nvPr>
        </p:nvCxnSpPr>
        <p:spPr bwMode="auto">
          <a:xfrm>
            <a:off x="4302829" y="2634463"/>
            <a:ext cx="1094834" cy="3962"/>
          </a:xfrm>
          <a:prstGeom prst="line">
            <a:avLst/>
          </a:prstGeom>
          <a:noFill/>
          <a:ln w="19050" algn="ctr">
            <a:solidFill>
              <a:srgbClr val="B2B2B2"/>
            </a:solidFill>
            <a:prstDash val="sysDash"/>
            <a:round/>
            <a:headEnd/>
            <a:tailEnd/>
          </a:ln>
          <a:extLst>
            <a:ext uri="{909E8E84-426E-40DD-AFC4-6F175D3DCCD1}">
              <a14:hiddenFill xmlns:a14="http://schemas.microsoft.com/office/drawing/2010/main">
                <a:noFill/>
              </a14:hiddenFill>
            </a:ext>
          </a:extLst>
        </p:spPr>
      </p:cxnSp>
      <p:cxnSp>
        <p:nvCxnSpPr>
          <p:cNvPr id="8" name="MH_Other_5">
            <a:extLst>
              <a:ext uri="{FF2B5EF4-FFF2-40B4-BE49-F238E27FC236}">
                <a16:creationId xmlns:a16="http://schemas.microsoft.com/office/drawing/2014/main" id="{4BAC9F82-A4E5-4866-959F-7B0D67FD9D90}"/>
              </a:ext>
            </a:extLst>
          </p:cNvPr>
          <p:cNvCxnSpPr>
            <a:cxnSpLocks noChangeShapeType="1"/>
          </p:cNvCxnSpPr>
          <p:nvPr>
            <p:custDataLst>
              <p:tags r:id="rId5"/>
            </p:custDataLst>
          </p:nvPr>
        </p:nvCxnSpPr>
        <p:spPr bwMode="auto">
          <a:xfrm>
            <a:off x="4302830" y="4892925"/>
            <a:ext cx="405428" cy="3962"/>
          </a:xfrm>
          <a:prstGeom prst="line">
            <a:avLst/>
          </a:prstGeom>
          <a:noFill/>
          <a:ln w="19050" algn="ctr">
            <a:solidFill>
              <a:srgbClr val="B2B2B2"/>
            </a:solidFill>
            <a:prstDash val="sysDash"/>
            <a:round/>
            <a:headEnd/>
            <a:tailEnd/>
          </a:ln>
          <a:extLst>
            <a:ext uri="{909E8E84-426E-40DD-AFC4-6F175D3DCCD1}">
              <a14:hiddenFill xmlns:a14="http://schemas.microsoft.com/office/drawing/2010/main">
                <a:noFill/>
              </a14:hiddenFill>
            </a:ext>
          </a:extLst>
        </p:spPr>
      </p:cxnSp>
      <p:cxnSp>
        <p:nvCxnSpPr>
          <p:cNvPr id="9" name="MH_Other_6">
            <a:extLst>
              <a:ext uri="{FF2B5EF4-FFF2-40B4-BE49-F238E27FC236}">
                <a16:creationId xmlns:a16="http://schemas.microsoft.com/office/drawing/2014/main" id="{CB5C6F80-A103-4DD5-A10F-C225648B9E04}"/>
              </a:ext>
            </a:extLst>
          </p:cNvPr>
          <p:cNvCxnSpPr>
            <a:cxnSpLocks noChangeShapeType="1"/>
          </p:cNvCxnSpPr>
          <p:nvPr>
            <p:custDataLst>
              <p:tags r:id="rId6"/>
            </p:custDataLst>
          </p:nvPr>
        </p:nvCxnSpPr>
        <p:spPr bwMode="auto">
          <a:xfrm>
            <a:off x="4302830" y="3771617"/>
            <a:ext cx="405428" cy="1982"/>
          </a:xfrm>
          <a:prstGeom prst="line">
            <a:avLst/>
          </a:prstGeom>
          <a:noFill/>
          <a:ln w="19050" algn="ctr">
            <a:solidFill>
              <a:srgbClr val="B2B2B2"/>
            </a:solidFill>
            <a:prstDash val="sysDash"/>
            <a:round/>
            <a:headEnd/>
            <a:tailEnd/>
          </a:ln>
          <a:extLst>
            <a:ext uri="{909E8E84-426E-40DD-AFC4-6F175D3DCCD1}">
              <a14:hiddenFill xmlns:a14="http://schemas.microsoft.com/office/drawing/2010/main">
                <a:noFill/>
              </a14:hiddenFill>
            </a:ext>
          </a:extLst>
        </p:spPr>
      </p:cxnSp>
      <p:cxnSp>
        <p:nvCxnSpPr>
          <p:cNvPr id="10" name="MH_Other_7">
            <a:extLst>
              <a:ext uri="{FF2B5EF4-FFF2-40B4-BE49-F238E27FC236}">
                <a16:creationId xmlns:a16="http://schemas.microsoft.com/office/drawing/2014/main" id="{CA7FA470-AC85-40DB-9115-B21BDF8CDDBD}"/>
              </a:ext>
            </a:extLst>
          </p:cNvPr>
          <p:cNvCxnSpPr>
            <a:cxnSpLocks noChangeShapeType="1"/>
          </p:cNvCxnSpPr>
          <p:nvPr>
            <p:custDataLst>
              <p:tags r:id="rId7"/>
            </p:custDataLst>
          </p:nvPr>
        </p:nvCxnSpPr>
        <p:spPr bwMode="auto">
          <a:xfrm>
            <a:off x="7437306" y="4169821"/>
            <a:ext cx="444720" cy="1980"/>
          </a:xfrm>
          <a:prstGeom prst="line">
            <a:avLst/>
          </a:prstGeom>
          <a:noFill/>
          <a:ln w="19050" algn="ctr">
            <a:solidFill>
              <a:srgbClr val="B2B2B2"/>
            </a:solidFill>
            <a:prstDash val="sysDash"/>
            <a:round/>
            <a:headEnd/>
            <a:tailEnd/>
          </a:ln>
          <a:extLst>
            <a:ext uri="{909E8E84-426E-40DD-AFC4-6F175D3DCCD1}">
              <a14:hiddenFill xmlns:a14="http://schemas.microsoft.com/office/drawing/2010/main">
                <a:noFill/>
              </a14:hiddenFill>
            </a:ext>
          </a:extLst>
        </p:spPr>
      </p:cxnSp>
      <p:cxnSp>
        <p:nvCxnSpPr>
          <p:cNvPr id="11" name="MH_Other_8">
            <a:extLst>
              <a:ext uri="{FF2B5EF4-FFF2-40B4-BE49-F238E27FC236}">
                <a16:creationId xmlns:a16="http://schemas.microsoft.com/office/drawing/2014/main" id="{B6441DE1-4F91-46C7-A2A3-AD5CDE1463C0}"/>
              </a:ext>
            </a:extLst>
          </p:cNvPr>
          <p:cNvCxnSpPr>
            <a:cxnSpLocks noChangeShapeType="1"/>
          </p:cNvCxnSpPr>
          <p:nvPr>
            <p:custDataLst>
              <p:tags r:id="rId8"/>
            </p:custDataLst>
          </p:nvPr>
        </p:nvCxnSpPr>
        <p:spPr bwMode="auto">
          <a:xfrm>
            <a:off x="7517675" y="2341258"/>
            <a:ext cx="364349" cy="1982"/>
          </a:xfrm>
          <a:prstGeom prst="line">
            <a:avLst/>
          </a:prstGeom>
          <a:noFill/>
          <a:ln w="19050" algn="ctr">
            <a:solidFill>
              <a:srgbClr val="B2B2B2"/>
            </a:solidFill>
            <a:prstDash val="sysDash"/>
            <a:round/>
            <a:headEnd/>
            <a:tailEnd/>
          </a:ln>
          <a:extLst>
            <a:ext uri="{909E8E84-426E-40DD-AFC4-6F175D3DCCD1}">
              <a14:hiddenFill xmlns:a14="http://schemas.microsoft.com/office/drawing/2010/main">
                <a:noFill/>
              </a14:hiddenFill>
            </a:ext>
          </a:extLst>
        </p:spPr>
      </p:cxnSp>
      <p:sp>
        <p:nvSpPr>
          <p:cNvPr id="12" name="MH_Other_9">
            <a:extLst>
              <a:ext uri="{FF2B5EF4-FFF2-40B4-BE49-F238E27FC236}">
                <a16:creationId xmlns:a16="http://schemas.microsoft.com/office/drawing/2014/main" id="{9E053953-2F0C-4DE5-A0B5-CE066892B1B8}"/>
              </a:ext>
            </a:extLst>
          </p:cNvPr>
          <p:cNvSpPr>
            <a:spLocks/>
          </p:cNvSpPr>
          <p:nvPr>
            <p:custDataLst>
              <p:tags r:id="rId9"/>
            </p:custDataLst>
          </p:nvPr>
        </p:nvSpPr>
        <p:spPr bwMode="auto">
          <a:xfrm>
            <a:off x="5956690" y="3319926"/>
            <a:ext cx="125022" cy="2977604"/>
          </a:xfrm>
          <a:custGeom>
            <a:avLst/>
            <a:gdLst/>
            <a:ahLst/>
            <a:cxnLst>
              <a:cxn ang="0">
                <a:pos x="0" y="0"/>
              </a:cxn>
              <a:cxn ang="0">
                <a:pos x="6" y="0"/>
              </a:cxn>
              <a:cxn ang="0">
                <a:pos x="13" y="36"/>
              </a:cxn>
              <a:cxn ang="0">
                <a:pos x="17" y="86"/>
              </a:cxn>
              <a:cxn ang="0">
                <a:pos x="23" y="152"/>
              </a:cxn>
              <a:cxn ang="0">
                <a:pos x="28" y="230"/>
              </a:cxn>
              <a:cxn ang="0">
                <a:pos x="34" y="320"/>
              </a:cxn>
              <a:cxn ang="0">
                <a:pos x="38" y="423"/>
              </a:cxn>
              <a:cxn ang="0">
                <a:pos x="42" y="537"/>
              </a:cxn>
              <a:cxn ang="0">
                <a:pos x="49" y="659"/>
              </a:cxn>
              <a:cxn ang="0">
                <a:pos x="53" y="791"/>
              </a:cxn>
              <a:cxn ang="0">
                <a:pos x="57" y="934"/>
              </a:cxn>
              <a:cxn ang="0">
                <a:pos x="63" y="1082"/>
              </a:cxn>
              <a:cxn ang="0">
                <a:pos x="67" y="1237"/>
              </a:cxn>
              <a:cxn ang="0">
                <a:pos x="72" y="1397"/>
              </a:cxn>
              <a:cxn ang="0">
                <a:pos x="76" y="1563"/>
              </a:cxn>
              <a:cxn ang="0">
                <a:pos x="82" y="1734"/>
              </a:cxn>
              <a:cxn ang="0">
                <a:pos x="95" y="2083"/>
              </a:cxn>
              <a:cxn ang="0">
                <a:pos x="99" y="2260"/>
              </a:cxn>
              <a:cxn ang="0">
                <a:pos x="112" y="2617"/>
              </a:cxn>
              <a:cxn ang="0">
                <a:pos x="118" y="2794"/>
              </a:cxn>
              <a:cxn ang="0">
                <a:pos x="124" y="2968"/>
              </a:cxn>
              <a:cxn ang="0">
                <a:pos x="131" y="3141"/>
              </a:cxn>
              <a:cxn ang="0">
                <a:pos x="139" y="3309"/>
              </a:cxn>
              <a:cxn ang="0">
                <a:pos x="145" y="3473"/>
              </a:cxn>
              <a:cxn ang="0">
                <a:pos x="154" y="3633"/>
              </a:cxn>
              <a:cxn ang="0">
                <a:pos x="162" y="3785"/>
              </a:cxn>
              <a:cxn ang="0">
                <a:pos x="171" y="3932"/>
              </a:cxn>
              <a:cxn ang="0">
                <a:pos x="179" y="4069"/>
              </a:cxn>
              <a:cxn ang="0">
                <a:pos x="187" y="4199"/>
              </a:cxn>
              <a:cxn ang="0">
                <a:pos x="198" y="4319"/>
              </a:cxn>
              <a:cxn ang="0">
                <a:pos x="192" y="4319"/>
              </a:cxn>
              <a:cxn ang="0">
                <a:pos x="181" y="4199"/>
              </a:cxn>
              <a:cxn ang="0">
                <a:pos x="173" y="4071"/>
              </a:cxn>
              <a:cxn ang="0">
                <a:pos x="164" y="3932"/>
              </a:cxn>
              <a:cxn ang="0">
                <a:pos x="156" y="3785"/>
              </a:cxn>
              <a:cxn ang="0">
                <a:pos x="147" y="3633"/>
              </a:cxn>
              <a:cxn ang="0">
                <a:pos x="139" y="3473"/>
              </a:cxn>
              <a:cxn ang="0">
                <a:pos x="133" y="3309"/>
              </a:cxn>
              <a:cxn ang="0">
                <a:pos x="124" y="3141"/>
              </a:cxn>
              <a:cxn ang="0">
                <a:pos x="118" y="2968"/>
              </a:cxn>
              <a:cxn ang="0">
                <a:pos x="112" y="2794"/>
              </a:cxn>
              <a:cxn ang="0">
                <a:pos x="105" y="2617"/>
              </a:cxn>
              <a:cxn ang="0">
                <a:pos x="99" y="2438"/>
              </a:cxn>
              <a:cxn ang="0">
                <a:pos x="95" y="2262"/>
              </a:cxn>
              <a:cxn ang="0">
                <a:pos x="89" y="2083"/>
              </a:cxn>
              <a:cxn ang="0">
                <a:pos x="76" y="1734"/>
              </a:cxn>
              <a:cxn ang="0">
                <a:pos x="72" y="1563"/>
              </a:cxn>
              <a:cxn ang="0">
                <a:pos x="67" y="1397"/>
              </a:cxn>
              <a:cxn ang="0">
                <a:pos x="63" y="1237"/>
              </a:cxn>
              <a:cxn ang="0">
                <a:pos x="57" y="1082"/>
              </a:cxn>
              <a:cxn ang="0">
                <a:pos x="53" y="932"/>
              </a:cxn>
              <a:cxn ang="0">
                <a:pos x="46" y="791"/>
              </a:cxn>
              <a:cxn ang="0">
                <a:pos x="42" y="659"/>
              </a:cxn>
              <a:cxn ang="0">
                <a:pos x="38" y="535"/>
              </a:cxn>
              <a:cxn ang="0">
                <a:pos x="32" y="421"/>
              </a:cxn>
              <a:cxn ang="0">
                <a:pos x="28" y="320"/>
              </a:cxn>
              <a:cxn ang="0">
                <a:pos x="23" y="230"/>
              </a:cxn>
              <a:cxn ang="0">
                <a:pos x="17" y="150"/>
              </a:cxn>
              <a:cxn ang="0">
                <a:pos x="11" y="86"/>
              </a:cxn>
              <a:cxn ang="0">
                <a:pos x="6" y="36"/>
              </a:cxn>
              <a:cxn ang="0">
                <a:pos x="0" y="0"/>
              </a:cxn>
            </a:cxnLst>
            <a:rect l="0" t="0" r="r" b="b"/>
            <a:pathLst>
              <a:path w="198" h="4319">
                <a:moveTo>
                  <a:pt x="0" y="0"/>
                </a:moveTo>
                <a:lnTo>
                  <a:pt x="6" y="0"/>
                </a:lnTo>
                <a:lnTo>
                  <a:pt x="13" y="36"/>
                </a:lnTo>
                <a:lnTo>
                  <a:pt x="17" y="86"/>
                </a:lnTo>
                <a:lnTo>
                  <a:pt x="23" y="152"/>
                </a:lnTo>
                <a:lnTo>
                  <a:pt x="28" y="230"/>
                </a:lnTo>
                <a:lnTo>
                  <a:pt x="34" y="320"/>
                </a:lnTo>
                <a:lnTo>
                  <a:pt x="38" y="423"/>
                </a:lnTo>
                <a:lnTo>
                  <a:pt x="42" y="537"/>
                </a:lnTo>
                <a:lnTo>
                  <a:pt x="49" y="659"/>
                </a:lnTo>
                <a:lnTo>
                  <a:pt x="53" y="791"/>
                </a:lnTo>
                <a:lnTo>
                  <a:pt x="57" y="934"/>
                </a:lnTo>
                <a:lnTo>
                  <a:pt x="63" y="1082"/>
                </a:lnTo>
                <a:lnTo>
                  <a:pt x="67" y="1237"/>
                </a:lnTo>
                <a:lnTo>
                  <a:pt x="72" y="1397"/>
                </a:lnTo>
                <a:lnTo>
                  <a:pt x="76" y="1563"/>
                </a:lnTo>
                <a:lnTo>
                  <a:pt x="82" y="1734"/>
                </a:lnTo>
                <a:lnTo>
                  <a:pt x="95" y="2083"/>
                </a:lnTo>
                <a:lnTo>
                  <a:pt x="99" y="2260"/>
                </a:lnTo>
                <a:lnTo>
                  <a:pt x="112" y="2617"/>
                </a:lnTo>
                <a:lnTo>
                  <a:pt x="118" y="2794"/>
                </a:lnTo>
                <a:lnTo>
                  <a:pt x="124" y="2968"/>
                </a:lnTo>
                <a:lnTo>
                  <a:pt x="131" y="3141"/>
                </a:lnTo>
                <a:lnTo>
                  <a:pt x="139" y="3309"/>
                </a:lnTo>
                <a:lnTo>
                  <a:pt x="145" y="3473"/>
                </a:lnTo>
                <a:lnTo>
                  <a:pt x="154" y="3633"/>
                </a:lnTo>
                <a:lnTo>
                  <a:pt x="162" y="3785"/>
                </a:lnTo>
                <a:lnTo>
                  <a:pt x="171" y="3932"/>
                </a:lnTo>
                <a:lnTo>
                  <a:pt x="179" y="4069"/>
                </a:lnTo>
                <a:lnTo>
                  <a:pt x="187" y="4199"/>
                </a:lnTo>
                <a:lnTo>
                  <a:pt x="198" y="4319"/>
                </a:lnTo>
                <a:lnTo>
                  <a:pt x="192" y="4319"/>
                </a:lnTo>
                <a:lnTo>
                  <a:pt x="181" y="4199"/>
                </a:lnTo>
                <a:lnTo>
                  <a:pt x="173" y="4071"/>
                </a:lnTo>
                <a:lnTo>
                  <a:pt x="164" y="3932"/>
                </a:lnTo>
                <a:lnTo>
                  <a:pt x="156" y="3785"/>
                </a:lnTo>
                <a:lnTo>
                  <a:pt x="147" y="3633"/>
                </a:lnTo>
                <a:lnTo>
                  <a:pt x="139" y="3473"/>
                </a:lnTo>
                <a:lnTo>
                  <a:pt x="133" y="3309"/>
                </a:lnTo>
                <a:lnTo>
                  <a:pt x="124" y="3141"/>
                </a:lnTo>
                <a:lnTo>
                  <a:pt x="118" y="2968"/>
                </a:lnTo>
                <a:lnTo>
                  <a:pt x="112" y="2794"/>
                </a:lnTo>
                <a:lnTo>
                  <a:pt x="105" y="2617"/>
                </a:lnTo>
                <a:lnTo>
                  <a:pt x="99" y="2438"/>
                </a:lnTo>
                <a:lnTo>
                  <a:pt x="95" y="2262"/>
                </a:lnTo>
                <a:lnTo>
                  <a:pt x="89" y="2083"/>
                </a:lnTo>
                <a:lnTo>
                  <a:pt x="76" y="1734"/>
                </a:lnTo>
                <a:lnTo>
                  <a:pt x="72" y="1563"/>
                </a:lnTo>
                <a:lnTo>
                  <a:pt x="67" y="1397"/>
                </a:lnTo>
                <a:lnTo>
                  <a:pt x="63" y="1237"/>
                </a:lnTo>
                <a:lnTo>
                  <a:pt x="57" y="1082"/>
                </a:lnTo>
                <a:lnTo>
                  <a:pt x="53" y="932"/>
                </a:lnTo>
                <a:lnTo>
                  <a:pt x="46" y="791"/>
                </a:lnTo>
                <a:lnTo>
                  <a:pt x="42" y="659"/>
                </a:lnTo>
                <a:lnTo>
                  <a:pt x="38" y="535"/>
                </a:lnTo>
                <a:lnTo>
                  <a:pt x="32" y="421"/>
                </a:lnTo>
                <a:lnTo>
                  <a:pt x="28" y="320"/>
                </a:lnTo>
                <a:lnTo>
                  <a:pt x="23" y="230"/>
                </a:lnTo>
                <a:lnTo>
                  <a:pt x="17" y="150"/>
                </a:lnTo>
                <a:lnTo>
                  <a:pt x="11" y="86"/>
                </a:lnTo>
                <a:lnTo>
                  <a:pt x="6" y="36"/>
                </a:lnTo>
                <a:lnTo>
                  <a:pt x="0" y="0"/>
                </a:lnTo>
                <a:close/>
              </a:path>
            </a:pathLst>
          </a:custGeom>
          <a:solidFill>
            <a:srgbClr val="000000"/>
          </a:solidFill>
          <a:ln w="0">
            <a:solidFill>
              <a:schemeClr val="tx1">
                <a:lumMod val="65000"/>
                <a:lumOff val="35000"/>
              </a:schemeClr>
            </a:solidFill>
            <a:prstDash val="solid"/>
            <a:round/>
            <a:headEnd/>
            <a:tailEnd/>
          </a:ln>
        </p:spPr>
        <p:txBody>
          <a:bodyPr/>
          <a:lstStyle/>
          <a:p>
            <a:pPr>
              <a:defRPr/>
            </a:pPr>
            <a:endParaRPr lang="en-US" kern="0" dirty="0">
              <a:solidFill>
                <a:srgbClr val="FAFAFA"/>
              </a:solidFill>
            </a:endParaRPr>
          </a:p>
        </p:txBody>
      </p:sp>
      <p:sp>
        <p:nvSpPr>
          <p:cNvPr id="13" name="MH_Other_10">
            <a:extLst>
              <a:ext uri="{FF2B5EF4-FFF2-40B4-BE49-F238E27FC236}">
                <a16:creationId xmlns:a16="http://schemas.microsoft.com/office/drawing/2014/main" id="{B5731D53-8BC7-40B3-BF29-ACE92391E32D}"/>
              </a:ext>
            </a:extLst>
          </p:cNvPr>
          <p:cNvSpPr>
            <a:spLocks/>
          </p:cNvSpPr>
          <p:nvPr>
            <p:custDataLst>
              <p:tags r:id="rId10"/>
            </p:custDataLst>
          </p:nvPr>
        </p:nvSpPr>
        <p:spPr bwMode="auto">
          <a:xfrm>
            <a:off x="5083324" y="1354667"/>
            <a:ext cx="1294868" cy="1909787"/>
          </a:xfrm>
          <a:custGeom>
            <a:avLst/>
            <a:gdLst/>
            <a:ahLst/>
            <a:cxnLst>
              <a:cxn ang="0">
                <a:pos x="1126" y="9"/>
              </a:cxn>
              <a:cxn ang="0">
                <a:pos x="1330" y="55"/>
              </a:cxn>
              <a:cxn ang="0">
                <a:pos x="1520" y="143"/>
              </a:cxn>
              <a:cxn ang="0">
                <a:pos x="1686" y="267"/>
              </a:cxn>
              <a:cxn ang="0">
                <a:pos x="1825" y="425"/>
              </a:cxn>
              <a:cxn ang="0">
                <a:pos x="1930" y="610"/>
              </a:cxn>
              <a:cxn ang="0">
                <a:pos x="1997" y="821"/>
              </a:cxn>
              <a:cxn ang="0">
                <a:pos x="2016" y="993"/>
              </a:cxn>
              <a:cxn ang="0">
                <a:pos x="2010" y="1176"/>
              </a:cxn>
              <a:cxn ang="0">
                <a:pos x="1978" y="1361"/>
              </a:cxn>
              <a:cxn ang="0">
                <a:pos x="1930" y="1546"/>
              </a:cxn>
              <a:cxn ang="0">
                <a:pos x="1865" y="1730"/>
              </a:cxn>
              <a:cxn ang="0">
                <a:pos x="1753" y="1992"/>
              </a:cxn>
              <a:cxn ang="0">
                <a:pos x="1671" y="2152"/>
              </a:cxn>
              <a:cxn ang="0">
                <a:pos x="1591" y="2300"/>
              </a:cxn>
              <a:cxn ang="0">
                <a:pos x="1517" y="2426"/>
              </a:cxn>
              <a:cxn ang="0">
                <a:pos x="1450" y="2531"/>
              </a:cxn>
              <a:cxn ang="0">
                <a:pos x="1397" y="2611"/>
              </a:cxn>
              <a:cxn ang="0">
                <a:pos x="1364" y="2661"/>
              </a:cxn>
              <a:cxn ang="0">
                <a:pos x="1351" y="2678"/>
              </a:cxn>
              <a:cxn ang="0">
                <a:pos x="1332" y="2666"/>
              </a:cxn>
              <a:cxn ang="0">
                <a:pos x="1275" y="2630"/>
              </a:cxn>
              <a:cxn ang="0">
                <a:pos x="1189" y="2573"/>
              </a:cxn>
              <a:cxn ang="0">
                <a:pos x="1080" y="2495"/>
              </a:cxn>
              <a:cxn ang="0">
                <a:pos x="954" y="2401"/>
              </a:cxn>
              <a:cxn ang="0">
                <a:pos x="815" y="2289"/>
              </a:cxn>
              <a:cxn ang="0">
                <a:pos x="672" y="2165"/>
              </a:cxn>
              <a:cxn ang="0">
                <a:pos x="526" y="2028"/>
              </a:cxn>
              <a:cxn ang="0">
                <a:pos x="390" y="1881"/>
              </a:cxn>
              <a:cxn ang="0">
                <a:pos x="263" y="1725"/>
              </a:cxn>
              <a:cxn ang="0">
                <a:pos x="156" y="1563"/>
              </a:cxn>
              <a:cxn ang="0">
                <a:pos x="74" y="1395"/>
              </a:cxn>
              <a:cxn ang="0">
                <a:pos x="21" y="1227"/>
              </a:cxn>
              <a:cxn ang="0">
                <a:pos x="0" y="1008"/>
              </a:cxn>
              <a:cxn ang="0">
                <a:pos x="23" y="795"/>
              </a:cxn>
              <a:cxn ang="0">
                <a:pos x="91" y="596"/>
              </a:cxn>
              <a:cxn ang="0">
                <a:pos x="194" y="415"/>
              </a:cxn>
              <a:cxn ang="0">
                <a:pos x="333" y="261"/>
              </a:cxn>
              <a:cxn ang="0">
                <a:pos x="501" y="137"/>
              </a:cxn>
              <a:cxn ang="0">
                <a:pos x="697" y="49"/>
              </a:cxn>
              <a:cxn ang="0">
                <a:pos x="914" y="5"/>
              </a:cxn>
            </a:cxnLst>
            <a:rect l="0" t="0" r="r" b="b"/>
            <a:pathLst>
              <a:path w="2016" h="2678">
                <a:moveTo>
                  <a:pt x="1021" y="0"/>
                </a:moveTo>
                <a:lnTo>
                  <a:pt x="1126" y="9"/>
                </a:lnTo>
                <a:lnTo>
                  <a:pt x="1229" y="26"/>
                </a:lnTo>
                <a:lnTo>
                  <a:pt x="1330" y="55"/>
                </a:lnTo>
                <a:lnTo>
                  <a:pt x="1427" y="95"/>
                </a:lnTo>
                <a:lnTo>
                  <a:pt x="1520" y="143"/>
                </a:lnTo>
                <a:lnTo>
                  <a:pt x="1606" y="200"/>
                </a:lnTo>
                <a:lnTo>
                  <a:pt x="1686" y="267"/>
                </a:lnTo>
                <a:lnTo>
                  <a:pt x="1759" y="343"/>
                </a:lnTo>
                <a:lnTo>
                  <a:pt x="1825" y="425"/>
                </a:lnTo>
                <a:lnTo>
                  <a:pt x="1881" y="514"/>
                </a:lnTo>
                <a:lnTo>
                  <a:pt x="1930" y="610"/>
                </a:lnTo>
                <a:lnTo>
                  <a:pt x="1970" y="713"/>
                </a:lnTo>
                <a:lnTo>
                  <a:pt x="1997" y="821"/>
                </a:lnTo>
                <a:lnTo>
                  <a:pt x="2010" y="907"/>
                </a:lnTo>
                <a:lnTo>
                  <a:pt x="2016" y="993"/>
                </a:lnTo>
                <a:lnTo>
                  <a:pt x="2016" y="1084"/>
                </a:lnTo>
                <a:lnTo>
                  <a:pt x="2010" y="1176"/>
                </a:lnTo>
                <a:lnTo>
                  <a:pt x="1997" y="1267"/>
                </a:lnTo>
                <a:lnTo>
                  <a:pt x="1978" y="1361"/>
                </a:lnTo>
                <a:lnTo>
                  <a:pt x="1955" y="1454"/>
                </a:lnTo>
                <a:lnTo>
                  <a:pt x="1930" y="1546"/>
                </a:lnTo>
                <a:lnTo>
                  <a:pt x="1898" y="1639"/>
                </a:lnTo>
                <a:lnTo>
                  <a:pt x="1865" y="1730"/>
                </a:lnTo>
                <a:lnTo>
                  <a:pt x="1829" y="1820"/>
                </a:lnTo>
                <a:lnTo>
                  <a:pt x="1753" y="1992"/>
                </a:lnTo>
                <a:lnTo>
                  <a:pt x="1713" y="2074"/>
                </a:lnTo>
                <a:lnTo>
                  <a:pt x="1671" y="2152"/>
                </a:lnTo>
                <a:lnTo>
                  <a:pt x="1631" y="2228"/>
                </a:lnTo>
                <a:lnTo>
                  <a:pt x="1591" y="2300"/>
                </a:lnTo>
                <a:lnTo>
                  <a:pt x="1553" y="2365"/>
                </a:lnTo>
                <a:lnTo>
                  <a:pt x="1517" y="2426"/>
                </a:lnTo>
                <a:lnTo>
                  <a:pt x="1482" y="2480"/>
                </a:lnTo>
                <a:lnTo>
                  <a:pt x="1450" y="2531"/>
                </a:lnTo>
                <a:lnTo>
                  <a:pt x="1423" y="2575"/>
                </a:lnTo>
                <a:lnTo>
                  <a:pt x="1397" y="2611"/>
                </a:lnTo>
                <a:lnTo>
                  <a:pt x="1379" y="2640"/>
                </a:lnTo>
                <a:lnTo>
                  <a:pt x="1364" y="2661"/>
                </a:lnTo>
                <a:lnTo>
                  <a:pt x="1355" y="2674"/>
                </a:lnTo>
                <a:lnTo>
                  <a:pt x="1351" y="2678"/>
                </a:lnTo>
                <a:lnTo>
                  <a:pt x="1347" y="2676"/>
                </a:lnTo>
                <a:lnTo>
                  <a:pt x="1332" y="2666"/>
                </a:lnTo>
                <a:lnTo>
                  <a:pt x="1307" y="2651"/>
                </a:lnTo>
                <a:lnTo>
                  <a:pt x="1275" y="2630"/>
                </a:lnTo>
                <a:lnTo>
                  <a:pt x="1235" y="2605"/>
                </a:lnTo>
                <a:lnTo>
                  <a:pt x="1189" y="2573"/>
                </a:lnTo>
                <a:lnTo>
                  <a:pt x="1139" y="2537"/>
                </a:lnTo>
                <a:lnTo>
                  <a:pt x="1080" y="2495"/>
                </a:lnTo>
                <a:lnTo>
                  <a:pt x="1019" y="2449"/>
                </a:lnTo>
                <a:lnTo>
                  <a:pt x="954" y="2401"/>
                </a:lnTo>
                <a:lnTo>
                  <a:pt x="886" y="2346"/>
                </a:lnTo>
                <a:lnTo>
                  <a:pt x="815" y="2289"/>
                </a:lnTo>
                <a:lnTo>
                  <a:pt x="743" y="2228"/>
                </a:lnTo>
                <a:lnTo>
                  <a:pt x="672" y="2165"/>
                </a:lnTo>
                <a:lnTo>
                  <a:pt x="598" y="2098"/>
                </a:lnTo>
                <a:lnTo>
                  <a:pt x="526" y="2028"/>
                </a:lnTo>
                <a:lnTo>
                  <a:pt x="457" y="1955"/>
                </a:lnTo>
                <a:lnTo>
                  <a:pt x="390" y="1881"/>
                </a:lnTo>
                <a:lnTo>
                  <a:pt x="324" y="1803"/>
                </a:lnTo>
                <a:lnTo>
                  <a:pt x="263" y="1725"/>
                </a:lnTo>
                <a:lnTo>
                  <a:pt x="207" y="1643"/>
                </a:lnTo>
                <a:lnTo>
                  <a:pt x="156" y="1563"/>
                </a:lnTo>
                <a:lnTo>
                  <a:pt x="112" y="1479"/>
                </a:lnTo>
                <a:lnTo>
                  <a:pt x="74" y="1395"/>
                </a:lnTo>
                <a:lnTo>
                  <a:pt x="42" y="1311"/>
                </a:lnTo>
                <a:lnTo>
                  <a:pt x="21" y="1227"/>
                </a:lnTo>
                <a:lnTo>
                  <a:pt x="5" y="1117"/>
                </a:lnTo>
                <a:lnTo>
                  <a:pt x="0" y="1008"/>
                </a:lnTo>
                <a:lnTo>
                  <a:pt x="7" y="901"/>
                </a:lnTo>
                <a:lnTo>
                  <a:pt x="23" y="795"/>
                </a:lnTo>
                <a:lnTo>
                  <a:pt x="53" y="692"/>
                </a:lnTo>
                <a:lnTo>
                  <a:pt x="91" y="596"/>
                </a:lnTo>
                <a:lnTo>
                  <a:pt x="137" y="503"/>
                </a:lnTo>
                <a:lnTo>
                  <a:pt x="194" y="415"/>
                </a:lnTo>
                <a:lnTo>
                  <a:pt x="259" y="335"/>
                </a:lnTo>
                <a:lnTo>
                  <a:pt x="333" y="261"/>
                </a:lnTo>
                <a:lnTo>
                  <a:pt x="413" y="194"/>
                </a:lnTo>
                <a:lnTo>
                  <a:pt x="501" y="137"/>
                </a:lnTo>
                <a:lnTo>
                  <a:pt x="596" y="89"/>
                </a:lnTo>
                <a:lnTo>
                  <a:pt x="697" y="49"/>
                </a:lnTo>
                <a:lnTo>
                  <a:pt x="804" y="21"/>
                </a:lnTo>
                <a:lnTo>
                  <a:pt x="914" y="5"/>
                </a:lnTo>
                <a:lnTo>
                  <a:pt x="1021" y="0"/>
                </a:lnTo>
                <a:close/>
              </a:path>
            </a:pathLst>
          </a:custGeom>
          <a:solidFill>
            <a:schemeClr val="accent2"/>
          </a:solidFill>
          <a:ln w="9525" cap="flat" cmpd="sng" algn="ctr">
            <a:noFill/>
            <a:prstDash val="solid"/>
            <a:headEnd/>
            <a:tailEnd/>
          </a:ln>
          <a:effectLst/>
        </p:spPr>
        <p:txBody>
          <a:bodyPr anchor="ctr"/>
          <a:lstStyle/>
          <a:p>
            <a:pPr algn="ctr">
              <a:defRPr/>
            </a:pPr>
            <a:r>
              <a:rPr lang="en-US" sz="2800" kern="0" dirty="0">
                <a:solidFill>
                  <a:srgbClr val="FAFAFA"/>
                </a:solidFill>
                <a:latin typeface="Bodoni MT Black" panose="02070A03080606020203" pitchFamily="18" charset="0"/>
              </a:rPr>
              <a:t>3</a:t>
            </a:r>
          </a:p>
        </p:txBody>
      </p:sp>
      <p:sp>
        <p:nvSpPr>
          <p:cNvPr id="14" name="MH_Other_11">
            <a:extLst>
              <a:ext uri="{FF2B5EF4-FFF2-40B4-BE49-F238E27FC236}">
                <a16:creationId xmlns:a16="http://schemas.microsoft.com/office/drawing/2014/main" id="{3AF98404-2682-4E41-B5F3-33FE978383A6}"/>
              </a:ext>
            </a:extLst>
          </p:cNvPr>
          <p:cNvSpPr>
            <a:spLocks/>
          </p:cNvSpPr>
          <p:nvPr>
            <p:custDataLst>
              <p:tags r:id="rId11"/>
            </p:custDataLst>
          </p:nvPr>
        </p:nvSpPr>
        <p:spPr bwMode="auto">
          <a:xfrm>
            <a:off x="6540721" y="1689476"/>
            <a:ext cx="1110908" cy="1341209"/>
          </a:xfrm>
          <a:custGeom>
            <a:avLst/>
            <a:gdLst/>
            <a:ahLst/>
            <a:cxnLst>
              <a:cxn ang="0">
                <a:pos x="1012" y="6"/>
              </a:cxn>
              <a:cxn ang="0">
                <a:pos x="1189" y="48"/>
              </a:cxn>
              <a:cxn ang="0">
                <a:pos x="1355" y="130"/>
              </a:cxn>
              <a:cxn ang="0">
                <a:pos x="1503" y="252"/>
              </a:cxn>
              <a:cxn ang="0">
                <a:pos x="1616" y="399"/>
              </a:cxn>
              <a:cxn ang="0">
                <a:pos x="1690" y="566"/>
              </a:cxn>
              <a:cxn ang="0">
                <a:pos x="1724" y="742"/>
              </a:cxn>
              <a:cxn ang="0">
                <a:pos x="1719" y="925"/>
              </a:cxn>
              <a:cxn ang="0">
                <a:pos x="1675" y="1102"/>
              </a:cxn>
              <a:cxn ang="0">
                <a:pos x="1591" y="1272"/>
              </a:cxn>
              <a:cxn ang="0">
                <a:pos x="1471" y="1415"/>
              </a:cxn>
              <a:cxn ang="0">
                <a:pos x="1324" y="1531"/>
              </a:cxn>
              <a:cxn ang="0">
                <a:pos x="1151" y="1626"/>
              </a:cxn>
              <a:cxn ang="0">
                <a:pos x="964" y="1702"/>
              </a:cxn>
              <a:cxn ang="0">
                <a:pos x="770" y="1763"/>
              </a:cxn>
              <a:cxn ang="0">
                <a:pos x="583" y="1807"/>
              </a:cxn>
              <a:cxn ang="0">
                <a:pos x="406" y="1840"/>
              </a:cxn>
              <a:cxn ang="0">
                <a:pos x="255" y="1861"/>
              </a:cxn>
              <a:cxn ang="0">
                <a:pos x="133" y="1874"/>
              </a:cxn>
              <a:cxn ang="0">
                <a:pos x="55" y="1880"/>
              </a:cxn>
              <a:cxn ang="0">
                <a:pos x="26" y="1882"/>
              </a:cxn>
              <a:cxn ang="0">
                <a:pos x="23" y="1857"/>
              </a:cxn>
              <a:cxn ang="0">
                <a:pos x="15" y="1784"/>
              </a:cxn>
              <a:cxn ang="0">
                <a:pos x="7" y="1670"/>
              </a:cxn>
              <a:cxn ang="0">
                <a:pos x="0" y="1527"/>
              </a:cxn>
              <a:cxn ang="0">
                <a:pos x="2" y="1270"/>
              </a:cxn>
              <a:cxn ang="0">
                <a:pos x="15" y="1081"/>
              </a:cxn>
              <a:cxn ang="0">
                <a:pos x="40" y="890"/>
              </a:cxn>
              <a:cxn ang="0">
                <a:pos x="80" y="702"/>
              </a:cxn>
              <a:cxn ang="0">
                <a:pos x="141" y="528"/>
              </a:cxn>
              <a:cxn ang="0">
                <a:pos x="221" y="372"/>
              </a:cxn>
              <a:cxn ang="0">
                <a:pos x="337" y="233"/>
              </a:cxn>
              <a:cxn ang="0">
                <a:pos x="486" y="117"/>
              </a:cxn>
              <a:cxn ang="0">
                <a:pos x="655" y="42"/>
              </a:cxn>
              <a:cxn ang="0">
                <a:pos x="831" y="4"/>
              </a:cxn>
            </a:cxnLst>
            <a:rect l="0" t="0" r="r" b="b"/>
            <a:pathLst>
              <a:path w="1728" h="1882">
                <a:moveTo>
                  <a:pt x="922" y="0"/>
                </a:moveTo>
                <a:lnTo>
                  <a:pt x="1012" y="6"/>
                </a:lnTo>
                <a:lnTo>
                  <a:pt x="1103" y="21"/>
                </a:lnTo>
                <a:lnTo>
                  <a:pt x="1189" y="48"/>
                </a:lnTo>
                <a:lnTo>
                  <a:pt x="1275" y="84"/>
                </a:lnTo>
                <a:lnTo>
                  <a:pt x="1355" y="130"/>
                </a:lnTo>
                <a:lnTo>
                  <a:pt x="1433" y="187"/>
                </a:lnTo>
                <a:lnTo>
                  <a:pt x="1503" y="252"/>
                </a:lnTo>
                <a:lnTo>
                  <a:pt x="1564" y="324"/>
                </a:lnTo>
                <a:lnTo>
                  <a:pt x="1616" y="399"/>
                </a:lnTo>
                <a:lnTo>
                  <a:pt x="1656" y="481"/>
                </a:lnTo>
                <a:lnTo>
                  <a:pt x="1690" y="566"/>
                </a:lnTo>
                <a:lnTo>
                  <a:pt x="1711" y="654"/>
                </a:lnTo>
                <a:lnTo>
                  <a:pt x="1724" y="742"/>
                </a:lnTo>
                <a:lnTo>
                  <a:pt x="1728" y="835"/>
                </a:lnTo>
                <a:lnTo>
                  <a:pt x="1719" y="925"/>
                </a:lnTo>
                <a:lnTo>
                  <a:pt x="1703" y="1014"/>
                </a:lnTo>
                <a:lnTo>
                  <a:pt x="1675" y="1102"/>
                </a:lnTo>
                <a:lnTo>
                  <a:pt x="1637" y="1188"/>
                </a:lnTo>
                <a:lnTo>
                  <a:pt x="1591" y="1272"/>
                </a:lnTo>
                <a:lnTo>
                  <a:pt x="1532" y="1350"/>
                </a:lnTo>
                <a:lnTo>
                  <a:pt x="1471" y="1415"/>
                </a:lnTo>
                <a:lnTo>
                  <a:pt x="1400" y="1476"/>
                </a:lnTo>
                <a:lnTo>
                  <a:pt x="1324" y="1531"/>
                </a:lnTo>
                <a:lnTo>
                  <a:pt x="1240" y="1582"/>
                </a:lnTo>
                <a:lnTo>
                  <a:pt x="1151" y="1626"/>
                </a:lnTo>
                <a:lnTo>
                  <a:pt x="1059" y="1666"/>
                </a:lnTo>
                <a:lnTo>
                  <a:pt x="964" y="1702"/>
                </a:lnTo>
                <a:lnTo>
                  <a:pt x="867" y="1733"/>
                </a:lnTo>
                <a:lnTo>
                  <a:pt x="770" y="1763"/>
                </a:lnTo>
                <a:lnTo>
                  <a:pt x="676" y="1786"/>
                </a:lnTo>
                <a:lnTo>
                  <a:pt x="583" y="1807"/>
                </a:lnTo>
                <a:lnTo>
                  <a:pt x="493" y="1826"/>
                </a:lnTo>
                <a:lnTo>
                  <a:pt x="406" y="1840"/>
                </a:lnTo>
                <a:lnTo>
                  <a:pt x="326" y="1851"/>
                </a:lnTo>
                <a:lnTo>
                  <a:pt x="255" y="1861"/>
                </a:lnTo>
                <a:lnTo>
                  <a:pt x="190" y="1868"/>
                </a:lnTo>
                <a:lnTo>
                  <a:pt x="133" y="1874"/>
                </a:lnTo>
                <a:lnTo>
                  <a:pt x="89" y="1878"/>
                </a:lnTo>
                <a:lnTo>
                  <a:pt x="55" y="1880"/>
                </a:lnTo>
                <a:lnTo>
                  <a:pt x="32" y="1882"/>
                </a:lnTo>
                <a:lnTo>
                  <a:pt x="26" y="1882"/>
                </a:lnTo>
                <a:lnTo>
                  <a:pt x="26" y="1876"/>
                </a:lnTo>
                <a:lnTo>
                  <a:pt x="23" y="1857"/>
                </a:lnTo>
                <a:lnTo>
                  <a:pt x="19" y="1826"/>
                </a:lnTo>
                <a:lnTo>
                  <a:pt x="15" y="1784"/>
                </a:lnTo>
                <a:lnTo>
                  <a:pt x="11" y="1731"/>
                </a:lnTo>
                <a:lnTo>
                  <a:pt x="7" y="1670"/>
                </a:lnTo>
                <a:lnTo>
                  <a:pt x="5" y="1603"/>
                </a:lnTo>
                <a:lnTo>
                  <a:pt x="0" y="1527"/>
                </a:lnTo>
                <a:lnTo>
                  <a:pt x="0" y="1359"/>
                </a:lnTo>
                <a:lnTo>
                  <a:pt x="2" y="1270"/>
                </a:lnTo>
                <a:lnTo>
                  <a:pt x="7" y="1176"/>
                </a:lnTo>
                <a:lnTo>
                  <a:pt x="15" y="1081"/>
                </a:lnTo>
                <a:lnTo>
                  <a:pt x="26" y="986"/>
                </a:lnTo>
                <a:lnTo>
                  <a:pt x="40" y="890"/>
                </a:lnTo>
                <a:lnTo>
                  <a:pt x="59" y="795"/>
                </a:lnTo>
                <a:lnTo>
                  <a:pt x="80" y="702"/>
                </a:lnTo>
                <a:lnTo>
                  <a:pt x="108" y="614"/>
                </a:lnTo>
                <a:lnTo>
                  <a:pt x="141" y="528"/>
                </a:lnTo>
                <a:lnTo>
                  <a:pt x="179" y="448"/>
                </a:lnTo>
                <a:lnTo>
                  <a:pt x="221" y="372"/>
                </a:lnTo>
                <a:lnTo>
                  <a:pt x="272" y="305"/>
                </a:lnTo>
                <a:lnTo>
                  <a:pt x="337" y="233"/>
                </a:lnTo>
                <a:lnTo>
                  <a:pt x="411" y="170"/>
                </a:lnTo>
                <a:lnTo>
                  <a:pt x="486" y="117"/>
                </a:lnTo>
                <a:lnTo>
                  <a:pt x="568" y="75"/>
                </a:lnTo>
                <a:lnTo>
                  <a:pt x="655" y="42"/>
                </a:lnTo>
                <a:lnTo>
                  <a:pt x="743" y="19"/>
                </a:lnTo>
                <a:lnTo>
                  <a:pt x="831" y="4"/>
                </a:lnTo>
                <a:lnTo>
                  <a:pt x="922" y="0"/>
                </a:lnTo>
                <a:close/>
              </a:path>
            </a:pathLst>
          </a:custGeom>
          <a:solidFill>
            <a:schemeClr val="accent1">
              <a:lumMod val="60000"/>
              <a:lumOff val="40000"/>
            </a:schemeClr>
          </a:solidFill>
          <a:ln w="9525" cap="flat" cmpd="sng" algn="ctr">
            <a:noFill/>
            <a:prstDash val="solid"/>
            <a:headEnd/>
            <a:tailEnd/>
          </a:ln>
          <a:effectLst/>
        </p:spPr>
        <p:txBody>
          <a:bodyPr anchor="ctr"/>
          <a:lstStyle/>
          <a:p>
            <a:pPr algn="ctr">
              <a:defRPr/>
            </a:pPr>
            <a:r>
              <a:rPr lang="en-US" sz="2800" kern="0" dirty="0">
                <a:solidFill>
                  <a:srgbClr val="FAFAFA"/>
                </a:solidFill>
                <a:latin typeface="Bodoni MT Black" panose="02070A03080606020203" pitchFamily="18" charset="0"/>
              </a:rPr>
              <a:t>4</a:t>
            </a:r>
          </a:p>
        </p:txBody>
      </p:sp>
      <p:sp>
        <p:nvSpPr>
          <p:cNvPr id="15" name="MH_Other_12">
            <a:extLst>
              <a:ext uri="{FF2B5EF4-FFF2-40B4-BE49-F238E27FC236}">
                <a16:creationId xmlns:a16="http://schemas.microsoft.com/office/drawing/2014/main" id="{CA97E5B7-C107-4EC9-B89A-5095912AB450}"/>
              </a:ext>
            </a:extLst>
          </p:cNvPr>
          <p:cNvSpPr>
            <a:spLocks/>
          </p:cNvSpPr>
          <p:nvPr>
            <p:custDataLst>
              <p:tags r:id="rId12"/>
            </p:custDataLst>
          </p:nvPr>
        </p:nvSpPr>
        <p:spPr bwMode="auto">
          <a:xfrm>
            <a:off x="6079925" y="4873114"/>
            <a:ext cx="428646" cy="1424416"/>
          </a:xfrm>
          <a:custGeom>
            <a:avLst/>
            <a:gdLst/>
            <a:ahLst/>
            <a:cxnLst>
              <a:cxn ang="0">
                <a:pos x="660" y="0"/>
              </a:cxn>
              <a:cxn ang="0">
                <a:pos x="667" y="2"/>
              </a:cxn>
              <a:cxn ang="0">
                <a:pos x="652" y="40"/>
              </a:cxn>
              <a:cxn ang="0">
                <a:pos x="635" y="88"/>
              </a:cxn>
              <a:cxn ang="0">
                <a:pos x="612" y="147"/>
              </a:cxn>
              <a:cxn ang="0">
                <a:pos x="589" y="216"/>
              </a:cxn>
              <a:cxn ang="0">
                <a:pos x="561" y="296"/>
              </a:cxn>
              <a:cxn ang="0">
                <a:pos x="532" y="385"/>
              </a:cxn>
              <a:cxn ang="0">
                <a:pos x="500" y="482"/>
              </a:cxn>
              <a:cxn ang="0">
                <a:pos x="467" y="587"/>
              </a:cxn>
              <a:cxn ang="0">
                <a:pos x="433" y="698"/>
              </a:cxn>
              <a:cxn ang="0">
                <a:pos x="399" y="816"/>
              </a:cxn>
              <a:cxn ang="0">
                <a:pos x="364" y="938"/>
              </a:cxn>
              <a:cxn ang="0">
                <a:pos x="328" y="1066"/>
              </a:cxn>
              <a:cxn ang="0">
                <a:pos x="290" y="1197"/>
              </a:cxn>
              <a:cxn ang="0">
                <a:pos x="256" y="1333"/>
              </a:cxn>
              <a:cxn ang="0">
                <a:pos x="221" y="1470"/>
              </a:cxn>
              <a:cxn ang="0">
                <a:pos x="189" y="1611"/>
              </a:cxn>
              <a:cxn ang="0">
                <a:pos x="155" y="1752"/>
              </a:cxn>
              <a:cxn ang="0">
                <a:pos x="126" y="1895"/>
              </a:cxn>
              <a:cxn ang="0">
                <a:pos x="99" y="2036"/>
              </a:cxn>
              <a:cxn ang="0">
                <a:pos x="73" y="2177"/>
              </a:cxn>
              <a:cxn ang="0">
                <a:pos x="52" y="2318"/>
              </a:cxn>
              <a:cxn ang="0">
                <a:pos x="33" y="2457"/>
              </a:cxn>
              <a:cxn ang="0">
                <a:pos x="16" y="2591"/>
              </a:cxn>
              <a:cxn ang="0">
                <a:pos x="6" y="2724"/>
              </a:cxn>
              <a:cxn ang="0">
                <a:pos x="0" y="2724"/>
              </a:cxn>
              <a:cxn ang="0">
                <a:pos x="10" y="2591"/>
              </a:cxn>
              <a:cxn ang="0">
                <a:pos x="27" y="2457"/>
              </a:cxn>
              <a:cxn ang="0">
                <a:pos x="46" y="2318"/>
              </a:cxn>
              <a:cxn ang="0">
                <a:pos x="67" y="2177"/>
              </a:cxn>
              <a:cxn ang="0">
                <a:pos x="92" y="2036"/>
              </a:cxn>
              <a:cxn ang="0">
                <a:pos x="151" y="1750"/>
              </a:cxn>
              <a:cxn ang="0">
                <a:pos x="183" y="1609"/>
              </a:cxn>
              <a:cxn ang="0">
                <a:pos x="216" y="1468"/>
              </a:cxn>
              <a:cxn ang="0">
                <a:pos x="250" y="1331"/>
              </a:cxn>
              <a:cxn ang="0">
                <a:pos x="286" y="1195"/>
              </a:cxn>
              <a:cxn ang="0">
                <a:pos x="322" y="1064"/>
              </a:cxn>
              <a:cxn ang="0">
                <a:pos x="357" y="936"/>
              </a:cxn>
              <a:cxn ang="0">
                <a:pos x="393" y="814"/>
              </a:cxn>
              <a:cxn ang="0">
                <a:pos x="427" y="696"/>
              </a:cxn>
              <a:cxn ang="0">
                <a:pos x="463" y="585"/>
              </a:cxn>
              <a:cxn ang="0">
                <a:pos x="494" y="479"/>
              </a:cxn>
              <a:cxn ang="0">
                <a:pos x="526" y="383"/>
              </a:cxn>
              <a:cxn ang="0">
                <a:pos x="555" y="294"/>
              </a:cxn>
              <a:cxn ang="0">
                <a:pos x="582" y="214"/>
              </a:cxn>
              <a:cxn ang="0">
                <a:pos x="606" y="145"/>
              </a:cxn>
              <a:cxn ang="0">
                <a:pos x="629" y="86"/>
              </a:cxn>
              <a:cxn ang="0">
                <a:pos x="646" y="38"/>
              </a:cxn>
              <a:cxn ang="0">
                <a:pos x="660" y="0"/>
              </a:cxn>
            </a:cxnLst>
            <a:rect l="0" t="0" r="r" b="b"/>
            <a:pathLst>
              <a:path w="667" h="2724">
                <a:moveTo>
                  <a:pt x="660" y="0"/>
                </a:moveTo>
                <a:lnTo>
                  <a:pt x="667" y="2"/>
                </a:lnTo>
                <a:lnTo>
                  <a:pt x="652" y="40"/>
                </a:lnTo>
                <a:lnTo>
                  <a:pt x="635" y="88"/>
                </a:lnTo>
                <a:lnTo>
                  <a:pt x="612" y="147"/>
                </a:lnTo>
                <a:lnTo>
                  <a:pt x="589" y="216"/>
                </a:lnTo>
                <a:lnTo>
                  <a:pt x="561" y="296"/>
                </a:lnTo>
                <a:lnTo>
                  <a:pt x="532" y="385"/>
                </a:lnTo>
                <a:lnTo>
                  <a:pt x="500" y="482"/>
                </a:lnTo>
                <a:lnTo>
                  <a:pt x="467" y="587"/>
                </a:lnTo>
                <a:lnTo>
                  <a:pt x="433" y="698"/>
                </a:lnTo>
                <a:lnTo>
                  <a:pt x="399" y="816"/>
                </a:lnTo>
                <a:lnTo>
                  <a:pt x="364" y="938"/>
                </a:lnTo>
                <a:lnTo>
                  <a:pt x="328" y="1066"/>
                </a:lnTo>
                <a:lnTo>
                  <a:pt x="290" y="1197"/>
                </a:lnTo>
                <a:lnTo>
                  <a:pt x="256" y="1333"/>
                </a:lnTo>
                <a:lnTo>
                  <a:pt x="221" y="1470"/>
                </a:lnTo>
                <a:lnTo>
                  <a:pt x="189" y="1611"/>
                </a:lnTo>
                <a:lnTo>
                  <a:pt x="155" y="1752"/>
                </a:lnTo>
                <a:lnTo>
                  <a:pt x="126" y="1895"/>
                </a:lnTo>
                <a:lnTo>
                  <a:pt x="99" y="2036"/>
                </a:lnTo>
                <a:lnTo>
                  <a:pt x="73" y="2177"/>
                </a:lnTo>
                <a:lnTo>
                  <a:pt x="52" y="2318"/>
                </a:lnTo>
                <a:lnTo>
                  <a:pt x="33" y="2457"/>
                </a:lnTo>
                <a:lnTo>
                  <a:pt x="16" y="2591"/>
                </a:lnTo>
                <a:lnTo>
                  <a:pt x="6" y="2724"/>
                </a:lnTo>
                <a:lnTo>
                  <a:pt x="0" y="2724"/>
                </a:lnTo>
                <a:lnTo>
                  <a:pt x="10" y="2591"/>
                </a:lnTo>
                <a:lnTo>
                  <a:pt x="27" y="2457"/>
                </a:lnTo>
                <a:lnTo>
                  <a:pt x="46" y="2318"/>
                </a:lnTo>
                <a:lnTo>
                  <a:pt x="67" y="2177"/>
                </a:lnTo>
                <a:lnTo>
                  <a:pt x="92" y="2036"/>
                </a:lnTo>
                <a:lnTo>
                  <a:pt x="151" y="1750"/>
                </a:lnTo>
                <a:lnTo>
                  <a:pt x="183" y="1609"/>
                </a:lnTo>
                <a:lnTo>
                  <a:pt x="216" y="1468"/>
                </a:lnTo>
                <a:lnTo>
                  <a:pt x="250" y="1331"/>
                </a:lnTo>
                <a:lnTo>
                  <a:pt x="286" y="1195"/>
                </a:lnTo>
                <a:lnTo>
                  <a:pt x="322" y="1064"/>
                </a:lnTo>
                <a:lnTo>
                  <a:pt x="357" y="936"/>
                </a:lnTo>
                <a:lnTo>
                  <a:pt x="393" y="814"/>
                </a:lnTo>
                <a:lnTo>
                  <a:pt x="427" y="696"/>
                </a:lnTo>
                <a:lnTo>
                  <a:pt x="463" y="585"/>
                </a:lnTo>
                <a:lnTo>
                  <a:pt x="494" y="479"/>
                </a:lnTo>
                <a:lnTo>
                  <a:pt x="526" y="383"/>
                </a:lnTo>
                <a:lnTo>
                  <a:pt x="555" y="294"/>
                </a:lnTo>
                <a:lnTo>
                  <a:pt x="582" y="214"/>
                </a:lnTo>
                <a:lnTo>
                  <a:pt x="606" y="145"/>
                </a:lnTo>
                <a:lnTo>
                  <a:pt x="629" y="86"/>
                </a:lnTo>
                <a:lnTo>
                  <a:pt x="646" y="38"/>
                </a:lnTo>
                <a:lnTo>
                  <a:pt x="660" y="0"/>
                </a:lnTo>
                <a:close/>
              </a:path>
            </a:pathLst>
          </a:custGeom>
          <a:solidFill>
            <a:srgbClr val="000000"/>
          </a:solidFill>
          <a:ln w="0">
            <a:solidFill>
              <a:schemeClr val="tx1">
                <a:lumMod val="65000"/>
                <a:lumOff val="35000"/>
              </a:schemeClr>
            </a:solidFill>
            <a:prstDash val="solid"/>
            <a:round/>
            <a:headEnd/>
            <a:tailEnd/>
          </a:ln>
        </p:spPr>
        <p:txBody>
          <a:bodyPr/>
          <a:lstStyle/>
          <a:p>
            <a:pPr>
              <a:defRPr/>
            </a:pPr>
            <a:endParaRPr lang="en-US" kern="0" dirty="0">
              <a:solidFill>
                <a:srgbClr val="FAFAFA"/>
              </a:solidFill>
            </a:endParaRPr>
          </a:p>
        </p:txBody>
      </p:sp>
      <p:sp>
        <p:nvSpPr>
          <p:cNvPr id="16" name="MH_Other_13">
            <a:extLst>
              <a:ext uri="{FF2B5EF4-FFF2-40B4-BE49-F238E27FC236}">
                <a16:creationId xmlns:a16="http://schemas.microsoft.com/office/drawing/2014/main" id="{89F89FAF-0DA9-4AF3-BED1-3E16E1140B71}"/>
              </a:ext>
            </a:extLst>
          </p:cNvPr>
          <p:cNvSpPr>
            <a:spLocks/>
          </p:cNvSpPr>
          <p:nvPr>
            <p:custDataLst>
              <p:tags r:id="rId13"/>
            </p:custDataLst>
          </p:nvPr>
        </p:nvSpPr>
        <p:spPr bwMode="auto">
          <a:xfrm flipH="1">
            <a:off x="4581449" y="2975214"/>
            <a:ext cx="1035895" cy="1382812"/>
          </a:xfrm>
          <a:custGeom>
            <a:avLst/>
            <a:gdLst/>
            <a:ahLst/>
            <a:cxnLst>
              <a:cxn ang="0">
                <a:pos x="888" y="0"/>
              </a:cxn>
              <a:cxn ang="0">
                <a:pos x="1063" y="33"/>
              </a:cxn>
              <a:cxn ang="0">
                <a:pos x="1231" y="109"/>
              </a:cxn>
              <a:cxn ang="0">
                <a:pos x="1376" y="221"/>
              </a:cxn>
              <a:cxn ang="0">
                <a:pos x="1488" y="359"/>
              </a:cxn>
              <a:cxn ang="0">
                <a:pos x="1566" y="515"/>
              </a:cxn>
              <a:cxn ang="0">
                <a:pos x="1608" y="685"/>
              </a:cxn>
              <a:cxn ang="0">
                <a:pos x="1610" y="862"/>
              </a:cxn>
              <a:cxn ang="0">
                <a:pos x="1574" y="1039"/>
              </a:cxn>
              <a:cxn ang="0">
                <a:pos x="1498" y="1209"/>
              </a:cxn>
              <a:cxn ang="0">
                <a:pos x="1395" y="1344"/>
              </a:cxn>
              <a:cxn ang="0">
                <a:pos x="1265" y="1464"/>
              </a:cxn>
              <a:cxn ang="0">
                <a:pos x="1113" y="1569"/>
              </a:cxn>
              <a:cxn ang="0">
                <a:pos x="949" y="1659"/>
              </a:cxn>
              <a:cxn ang="0">
                <a:pos x="781" y="1737"/>
              </a:cxn>
              <a:cxn ang="0">
                <a:pos x="617" y="1803"/>
              </a:cxn>
              <a:cxn ang="0">
                <a:pos x="463" y="1853"/>
              </a:cxn>
              <a:cxn ang="0">
                <a:pos x="331" y="1893"/>
              </a:cxn>
              <a:cxn ang="0">
                <a:pos x="225" y="1920"/>
              </a:cxn>
              <a:cxn ang="0">
                <a:pos x="158" y="1935"/>
              </a:cxn>
              <a:cxn ang="0">
                <a:pos x="133" y="1941"/>
              </a:cxn>
              <a:cxn ang="0">
                <a:pos x="127" y="1916"/>
              </a:cxn>
              <a:cxn ang="0">
                <a:pos x="108" y="1847"/>
              </a:cxn>
              <a:cxn ang="0">
                <a:pos x="85" y="1742"/>
              </a:cxn>
              <a:cxn ang="0">
                <a:pos x="57" y="1605"/>
              </a:cxn>
              <a:cxn ang="0">
                <a:pos x="32" y="1445"/>
              </a:cxn>
              <a:cxn ang="0">
                <a:pos x="11" y="1268"/>
              </a:cxn>
              <a:cxn ang="0">
                <a:pos x="0" y="1083"/>
              </a:cxn>
              <a:cxn ang="0">
                <a:pos x="5" y="896"/>
              </a:cxn>
              <a:cxn ang="0">
                <a:pos x="24" y="715"/>
              </a:cxn>
              <a:cxn ang="0">
                <a:pos x="68" y="545"/>
              </a:cxn>
              <a:cxn ang="0">
                <a:pos x="135" y="395"/>
              </a:cxn>
              <a:cxn ang="0">
                <a:pos x="249" y="248"/>
              </a:cxn>
              <a:cxn ang="0">
                <a:pos x="388" y="132"/>
              </a:cxn>
              <a:cxn ang="0">
                <a:pos x="543" y="50"/>
              </a:cxn>
              <a:cxn ang="0">
                <a:pos x="714" y="6"/>
              </a:cxn>
            </a:cxnLst>
            <a:rect l="0" t="0" r="r" b="b"/>
            <a:pathLst>
              <a:path w="1614" h="1941">
                <a:moveTo>
                  <a:pt x="802" y="0"/>
                </a:moveTo>
                <a:lnTo>
                  <a:pt x="888" y="0"/>
                </a:lnTo>
                <a:lnTo>
                  <a:pt x="977" y="12"/>
                </a:lnTo>
                <a:lnTo>
                  <a:pt x="1063" y="33"/>
                </a:lnTo>
                <a:lnTo>
                  <a:pt x="1149" y="67"/>
                </a:lnTo>
                <a:lnTo>
                  <a:pt x="1231" y="109"/>
                </a:lnTo>
                <a:lnTo>
                  <a:pt x="1307" y="162"/>
                </a:lnTo>
                <a:lnTo>
                  <a:pt x="1376" y="221"/>
                </a:lnTo>
                <a:lnTo>
                  <a:pt x="1437" y="288"/>
                </a:lnTo>
                <a:lnTo>
                  <a:pt x="1488" y="359"/>
                </a:lnTo>
                <a:lnTo>
                  <a:pt x="1532" y="435"/>
                </a:lnTo>
                <a:lnTo>
                  <a:pt x="1566" y="515"/>
                </a:lnTo>
                <a:lnTo>
                  <a:pt x="1591" y="599"/>
                </a:lnTo>
                <a:lnTo>
                  <a:pt x="1608" y="685"/>
                </a:lnTo>
                <a:lnTo>
                  <a:pt x="1614" y="774"/>
                </a:lnTo>
                <a:lnTo>
                  <a:pt x="1610" y="862"/>
                </a:lnTo>
                <a:lnTo>
                  <a:pt x="1597" y="953"/>
                </a:lnTo>
                <a:lnTo>
                  <a:pt x="1574" y="1039"/>
                </a:lnTo>
                <a:lnTo>
                  <a:pt x="1543" y="1125"/>
                </a:lnTo>
                <a:lnTo>
                  <a:pt x="1498" y="1209"/>
                </a:lnTo>
                <a:lnTo>
                  <a:pt x="1452" y="1279"/>
                </a:lnTo>
                <a:lnTo>
                  <a:pt x="1395" y="1344"/>
                </a:lnTo>
                <a:lnTo>
                  <a:pt x="1334" y="1405"/>
                </a:lnTo>
                <a:lnTo>
                  <a:pt x="1265" y="1464"/>
                </a:lnTo>
                <a:lnTo>
                  <a:pt x="1191" y="1519"/>
                </a:lnTo>
                <a:lnTo>
                  <a:pt x="1113" y="1569"/>
                </a:lnTo>
                <a:lnTo>
                  <a:pt x="1033" y="1615"/>
                </a:lnTo>
                <a:lnTo>
                  <a:pt x="949" y="1659"/>
                </a:lnTo>
                <a:lnTo>
                  <a:pt x="865" y="1699"/>
                </a:lnTo>
                <a:lnTo>
                  <a:pt x="781" y="1737"/>
                </a:lnTo>
                <a:lnTo>
                  <a:pt x="699" y="1771"/>
                </a:lnTo>
                <a:lnTo>
                  <a:pt x="617" y="1803"/>
                </a:lnTo>
                <a:lnTo>
                  <a:pt x="539" y="1830"/>
                </a:lnTo>
                <a:lnTo>
                  <a:pt x="463" y="1853"/>
                </a:lnTo>
                <a:lnTo>
                  <a:pt x="394" y="1874"/>
                </a:lnTo>
                <a:lnTo>
                  <a:pt x="331" y="1893"/>
                </a:lnTo>
                <a:lnTo>
                  <a:pt x="274" y="1908"/>
                </a:lnTo>
                <a:lnTo>
                  <a:pt x="225" y="1920"/>
                </a:lnTo>
                <a:lnTo>
                  <a:pt x="188" y="1929"/>
                </a:lnTo>
                <a:lnTo>
                  <a:pt x="158" y="1935"/>
                </a:lnTo>
                <a:lnTo>
                  <a:pt x="139" y="1939"/>
                </a:lnTo>
                <a:lnTo>
                  <a:pt x="133" y="1941"/>
                </a:lnTo>
                <a:lnTo>
                  <a:pt x="131" y="1935"/>
                </a:lnTo>
                <a:lnTo>
                  <a:pt x="127" y="1916"/>
                </a:lnTo>
                <a:lnTo>
                  <a:pt x="118" y="1887"/>
                </a:lnTo>
                <a:lnTo>
                  <a:pt x="108" y="1847"/>
                </a:lnTo>
                <a:lnTo>
                  <a:pt x="97" y="1798"/>
                </a:lnTo>
                <a:lnTo>
                  <a:pt x="85" y="1742"/>
                </a:lnTo>
                <a:lnTo>
                  <a:pt x="70" y="1676"/>
                </a:lnTo>
                <a:lnTo>
                  <a:pt x="57" y="1605"/>
                </a:lnTo>
                <a:lnTo>
                  <a:pt x="45" y="1527"/>
                </a:lnTo>
                <a:lnTo>
                  <a:pt x="32" y="1445"/>
                </a:lnTo>
                <a:lnTo>
                  <a:pt x="21" y="1359"/>
                </a:lnTo>
                <a:lnTo>
                  <a:pt x="11" y="1268"/>
                </a:lnTo>
                <a:lnTo>
                  <a:pt x="5" y="1176"/>
                </a:lnTo>
                <a:lnTo>
                  <a:pt x="0" y="1083"/>
                </a:lnTo>
                <a:lnTo>
                  <a:pt x="0" y="988"/>
                </a:lnTo>
                <a:lnTo>
                  <a:pt x="5" y="896"/>
                </a:lnTo>
                <a:lnTo>
                  <a:pt x="11" y="803"/>
                </a:lnTo>
                <a:lnTo>
                  <a:pt x="24" y="715"/>
                </a:lnTo>
                <a:lnTo>
                  <a:pt x="42" y="629"/>
                </a:lnTo>
                <a:lnTo>
                  <a:pt x="68" y="545"/>
                </a:lnTo>
                <a:lnTo>
                  <a:pt x="97" y="467"/>
                </a:lnTo>
                <a:lnTo>
                  <a:pt x="135" y="395"/>
                </a:lnTo>
                <a:lnTo>
                  <a:pt x="188" y="317"/>
                </a:lnTo>
                <a:lnTo>
                  <a:pt x="249" y="248"/>
                </a:lnTo>
                <a:lnTo>
                  <a:pt x="314" y="185"/>
                </a:lnTo>
                <a:lnTo>
                  <a:pt x="388" y="132"/>
                </a:lnTo>
                <a:lnTo>
                  <a:pt x="463" y="86"/>
                </a:lnTo>
                <a:lnTo>
                  <a:pt x="543" y="50"/>
                </a:lnTo>
                <a:lnTo>
                  <a:pt x="627" y="25"/>
                </a:lnTo>
                <a:lnTo>
                  <a:pt x="714" y="6"/>
                </a:lnTo>
                <a:lnTo>
                  <a:pt x="802" y="0"/>
                </a:lnTo>
                <a:close/>
              </a:path>
            </a:pathLst>
          </a:custGeom>
          <a:solidFill>
            <a:schemeClr val="accent2">
              <a:lumMod val="60000"/>
              <a:lumOff val="40000"/>
            </a:schemeClr>
          </a:solidFill>
          <a:ln w="0">
            <a:noFill/>
            <a:prstDash val="solid"/>
            <a:round/>
            <a:headEnd/>
            <a:tailEnd/>
          </a:ln>
          <a:effectLst/>
        </p:spPr>
        <p:txBody>
          <a:bodyPr anchor="ctr"/>
          <a:lstStyle/>
          <a:p>
            <a:pPr algn="ctr">
              <a:defRPr/>
            </a:pPr>
            <a:r>
              <a:rPr lang="en-US" sz="2800" kern="0" dirty="0">
                <a:solidFill>
                  <a:srgbClr val="FAFAFA"/>
                </a:solidFill>
                <a:latin typeface="Bodoni MT Black" panose="02070A03080606020203" pitchFamily="18" charset="0"/>
              </a:rPr>
              <a:t>2</a:t>
            </a:r>
          </a:p>
        </p:txBody>
      </p:sp>
      <p:sp>
        <p:nvSpPr>
          <p:cNvPr id="17" name="MH_Other_14">
            <a:extLst>
              <a:ext uri="{FF2B5EF4-FFF2-40B4-BE49-F238E27FC236}">
                <a16:creationId xmlns:a16="http://schemas.microsoft.com/office/drawing/2014/main" id="{48605E54-AB52-4438-B43B-D0AD3A8C37AC}"/>
              </a:ext>
            </a:extLst>
          </p:cNvPr>
          <p:cNvSpPr>
            <a:spLocks/>
          </p:cNvSpPr>
          <p:nvPr>
            <p:custDataLst>
              <p:tags r:id="rId14"/>
            </p:custDataLst>
          </p:nvPr>
        </p:nvSpPr>
        <p:spPr bwMode="auto">
          <a:xfrm flipH="1">
            <a:off x="6369262" y="3260491"/>
            <a:ext cx="1173418" cy="1616583"/>
          </a:xfrm>
          <a:custGeom>
            <a:avLst/>
            <a:gdLst/>
            <a:ahLst/>
            <a:cxnLst>
              <a:cxn ang="0">
                <a:pos x="955" y="0"/>
              </a:cxn>
              <a:cxn ang="0">
                <a:pos x="1138" y="32"/>
              </a:cxn>
              <a:cxn ang="0">
                <a:pos x="1313" y="101"/>
              </a:cxn>
              <a:cxn ang="0">
                <a:pos x="1471" y="205"/>
              </a:cxn>
              <a:cxn ang="0">
                <a:pos x="1608" y="341"/>
              </a:cxn>
              <a:cxn ang="0">
                <a:pos x="1715" y="507"/>
              </a:cxn>
              <a:cxn ang="0">
                <a:pos x="1778" y="672"/>
              </a:cxn>
              <a:cxn ang="0">
                <a:pos x="1814" y="852"/>
              </a:cxn>
              <a:cxn ang="0">
                <a:pos x="1829" y="1044"/>
              </a:cxn>
              <a:cxn ang="0">
                <a:pos x="1822" y="1240"/>
              </a:cxn>
              <a:cxn ang="0">
                <a:pos x="1803" y="1433"/>
              </a:cxn>
              <a:cxn ang="0">
                <a:pos x="1772" y="1620"/>
              </a:cxn>
              <a:cxn ang="0">
                <a:pos x="1734" y="1795"/>
              </a:cxn>
              <a:cxn ang="0">
                <a:pos x="1694" y="1951"/>
              </a:cxn>
              <a:cxn ang="0">
                <a:pos x="1656" y="2081"/>
              </a:cxn>
              <a:cxn ang="0">
                <a:pos x="1624" y="2182"/>
              </a:cxn>
              <a:cxn ang="0">
                <a:pos x="1601" y="2247"/>
              </a:cxn>
              <a:cxn ang="0">
                <a:pos x="1593" y="2270"/>
              </a:cxn>
              <a:cxn ang="0">
                <a:pos x="1570" y="2264"/>
              </a:cxn>
              <a:cxn ang="0">
                <a:pos x="1502" y="2243"/>
              </a:cxn>
              <a:cxn ang="0">
                <a:pos x="1401" y="2207"/>
              </a:cxn>
              <a:cxn ang="0">
                <a:pos x="1273" y="2159"/>
              </a:cxn>
              <a:cxn ang="0">
                <a:pos x="1124" y="2098"/>
              </a:cxn>
              <a:cxn ang="0">
                <a:pos x="960" y="2024"/>
              </a:cxn>
              <a:cxn ang="0">
                <a:pos x="791" y="1938"/>
              </a:cxn>
              <a:cxn ang="0">
                <a:pos x="623" y="1839"/>
              </a:cxn>
              <a:cxn ang="0">
                <a:pos x="461" y="1728"/>
              </a:cxn>
              <a:cxn ang="0">
                <a:pos x="316" y="1606"/>
              </a:cxn>
              <a:cxn ang="0">
                <a:pos x="192" y="1473"/>
              </a:cxn>
              <a:cxn ang="0">
                <a:pos x="99" y="1328"/>
              </a:cxn>
              <a:cxn ang="0">
                <a:pos x="27" y="1143"/>
              </a:cxn>
              <a:cxn ang="0">
                <a:pos x="0" y="951"/>
              </a:cxn>
              <a:cxn ang="0">
                <a:pos x="9" y="764"/>
              </a:cxn>
              <a:cxn ang="0">
                <a:pos x="57" y="581"/>
              </a:cxn>
              <a:cxn ang="0">
                <a:pos x="139" y="415"/>
              </a:cxn>
              <a:cxn ang="0">
                <a:pos x="257" y="268"/>
              </a:cxn>
              <a:cxn ang="0">
                <a:pos x="404" y="146"/>
              </a:cxn>
              <a:cxn ang="0">
                <a:pos x="581" y="55"/>
              </a:cxn>
              <a:cxn ang="0">
                <a:pos x="766" y="9"/>
              </a:cxn>
            </a:cxnLst>
            <a:rect l="0" t="0" r="r" b="b"/>
            <a:pathLst>
              <a:path w="1829" h="2270">
                <a:moveTo>
                  <a:pt x="861" y="0"/>
                </a:moveTo>
                <a:lnTo>
                  <a:pt x="955" y="0"/>
                </a:lnTo>
                <a:lnTo>
                  <a:pt x="1048" y="13"/>
                </a:lnTo>
                <a:lnTo>
                  <a:pt x="1138" y="32"/>
                </a:lnTo>
                <a:lnTo>
                  <a:pt x="1229" y="61"/>
                </a:lnTo>
                <a:lnTo>
                  <a:pt x="1313" y="101"/>
                </a:lnTo>
                <a:lnTo>
                  <a:pt x="1395" y="148"/>
                </a:lnTo>
                <a:lnTo>
                  <a:pt x="1471" y="205"/>
                </a:lnTo>
                <a:lnTo>
                  <a:pt x="1542" y="268"/>
                </a:lnTo>
                <a:lnTo>
                  <a:pt x="1608" y="341"/>
                </a:lnTo>
                <a:lnTo>
                  <a:pt x="1664" y="421"/>
                </a:lnTo>
                <a:lnTo>
                  <a:pt x="1715" y="507"/>
                </a:lnTo>
                <a:lnTo>
                  <a:pt x="1751" y="587"/>
                </a:lnTo>
                <a:lnTo>
                  <a:pt x="1778" y="672"/>
                </a:lnTo>
                <a:lnTo>
                  <a:pt x="1799" y="760"/>
                </a:lnTo>
                <a:lnTo>
                  <a:pt x="1814" y="852"/>
                </a:lnTo>
                <a:lnTo>
                  <a:pt x="1824" y="947"/>
                </a:lnTo>
                <a:lnTo>
                  <a:pt x="1829" y="1044"/>
                </a:lnTo>
                <a:lnTo>
                  <a:pt x="1826" y="1141"/>
                </a:lnTo>
                <a:lnTo>
                  <a:pt x="1822" y="1240"/>
                </a:lnTo>
                <a:lnTo>
                  <a:pt x="1814" y="1336"/>
                </a:lnTo>
                <a:lnTo>
                  <a:pt x="1803" y="1433"/>
                </a:lnTo>
                <a:lnTo>
                  <a:pt x="1789" y="1528"/>
                </a:lnTo>
                <a:lnTo>
                  <a:pt x="1772" y="1620"/>
                </a:lnTo>
                <a:lnTo>
                  <a:pt x="1753" y="1711"/>
                </a:lnTo>
                <a:lnTo>
                  <a:pt x="1734" y="1795"/>
                </a:lnTo>
                <a:lnTo>
                  <a:pt x="1715" y="1875"/>
                </a:lnTo>
                <a:lnTo>
                  <a:pt x="1694" y="1951"/>
                </a:lnTo>
                <a:lnTo>
                  <a:pt x="1675" y="2020"/>
                </a:lnTo>
                <a:lnTo>
                  <a:pt x="1656" y="2081"/>
                </a:lnTo>
                <a:lnTo>
                  <a:pt x="1639" y="2136"/>
                </a:lnTo>
                <a:lnTo>
                  <a:pt x="1624" y="2182"/>
                </a:lnTo>
                <a:lnTo>
                  <a:pt x="1612" y="2220"/>
                </a:lnTo>
                <a:lnTo>
                  <a:pt x="1601" y="2247"/>
                </a:lnTo>
                <a:lnTo>
                  <a:pt x="1595" y="2264"/>
                </a:lnTo>
                <a:lnTo>
                  <a:pt x="1593" y="2270"/>
                </a:lnTo>
                <a:lnTo>
                  <a:pt x="1587" y="2268"/>
                </a:lnTo>
                <a:lnTo>
                  <a:pt x="1570" y="2264"/>
                </a:lnTo>
                <a:lnTo>
                  <a:pt x="1540" y="2253"/>
                </a:lnTo>
                <a:lnTo>
                  <a:pt x="1502" y="2243"/>
                </a:lnTo>
                <a:lnTo>
                  <a:pt x="1456" y="2226"/>
                </a:lnTo>
                <a:lnTo>
                  <a:pt x="1401" y="2207"/>
                </a:lnTo>
                <a:lnTo>
                  <a:pt x="1340" y="2184"/>
                </a:lnTo>
                <a:lnTo>
                  <a:pt x="1273" y="2159"/>
                </a:lnTo>
                <a:lnTo>
                  <a:pt x="1202" y="2129"/>
                </a:lnTo>
                <a:lnTo>
                  <a:pt x="1124" y="2098"/>
                </a:lnTo>
                <a:lnTo>
                  <a:pt x="1044" y="2062"/>
                </a:lnTo>
                <a:lnTo>
                  <a:pt x="960" y="2024"/>
                </a:lnTo>
                <a:lnTo>
                  <a:pt x="875" y="1982"/>
                </a:lnTo>
                <a:lnTo>
                  <a:pt x="791" y="1938"/>
                </a:lnTo>
                <a:lnTo>
                  <a:pt x="705" y="1890"/>
                </a:lnTo>
                <a:lnTo>
                  <a:pt x="623" y="1839"/>
                </a:lnTo>
                <a:lnTo>
                  <a:pt x="541" y="1784"/>
                </a:lnTo>
                <a:lnTo>
                  <a:pt x="461" y="1728"/>
                </a:lnTo>
                <a:lnTo>
                  <a:pt x="385" y="1669"/>
                </a:lnTo>
                <a:lnTo>
                  <a:pt x="316" y="1606"/>
                </a:lnTo>
                <a:lnTo>
                  <a:pt x="250" y="1540"/>
                </a:lnTo>
                <a:lnTo>
                  <a:pt x="192" y="1473"/>
                </a:lnTo>
                <a:lnTo>
                  <a:pt x="141" y="1401"/>
                </a:lnTo>
                <a:lnTo>
                  <a:pt x="99" y="1328"/>
                </a:lnTo>
                <a:lnTo>
                  <a:pt x="59" y="1235"/>
                </a:lnTo>
                <a:lnTo>
                  <a:pt x="27" y="1143"/>
                </a:lnTo>
                <a:lnTo>
                  <a:pt x="9" y="1046"/>
                </a:lnTo>
                <a:lnTo>
                  <a:pt x="0" y="951"/>
                </a:lnTo>
                <a:lnTo>
                  <a:pt x="0" y="857"/>
                </a:lnTo>
                <a:lnTo>
                  <a:pt x="9" y="764"/>
                </a:lnTo>
                <a:lnTo>
                  <a:pt x="27" y="672"/>
                </a:lnTo>
                <a:lnTo>
                  <a:pt x="57" y="581"/>
                </a:lnTo>
                <a:lnTo>
                  <a:pt x="95" y="497"/>
                </a:lnTo>
                <a:lnTo>
                  <a:pt x="139" y="415"/>
                </a:lnTo>
                <a:lnTo>
                  <a:pt x="194" y="337"/>
                </a:lnTo>
                <a:lnTo>
                  <a:pt x="257" y="268"/>
                </a:lnTo>
                <a:lnTo>
                  <a:pt x="326" y="202"/>
                </a:lnTo>
                <a:lnTo>
                  <a:pt x="404" y="146"/>
                </a:lnTo>
                <a:lnTo>
                  <a:pt x="490" y="95"/>
                </a:lnTo>
                <a:lnTo>
                  <a:pt x="581" y="55"/>
                </a:lnTo>
                <a:lnTo>
                  <a:pt x="673" y="26"/>
                </a:lnTo>
                <a:lnTo>
                  <a:pt x="766" y="9"/>
                </a:lnTo>
                <a:lnTo>
                  <a:pt x="861" y="0"/>
                </a:lnTo>
                <a:close/>
              </a:path>
            </a:pathLst>
          </a:custGeom>
          <a:solidFill>
            <a:srgbClr val="92D050"/>
          </a:solidFill>
          <a:ln w="9525" cap="flat" cmpd="sng" algn="ctr">
            <a:noFill/>
            <a:prstDash val="solid"/>
            <a:headEnd/>
            <a:tailEnd/>
          </a:ln>
          <a:effectLst/>
        </p:spPr>
        <p:txBody>
          <a:bodyPr anchor="ctr"/>
          <a:lstStyle/>
          <a:p>
            <a:pPr algn="ctr">
              <a:defRPr/>
            </a:pPr>
            <a:r>
              <a:rPr lang="en-US" sz="2800" kern="0" dirty="0">
                <a:solidFill>
                  <a:srgbClr val="FAFAFA"/>
                </a:solidFill>
                <a:latin typeface="Bodoni MT Black" panose="02070A03080606020203" pitchFamily="18" charset="0"/>
              </a:rPr>
              <a:t>5</a:t>
            </a:r>
          </a:p>
        </p:txBody>
      </p:sp>
      <p:sp>
        <p:nvSpPr>
          <p:cNvPr id="18" name="MH_Other_15">
            <a:extLst>
              <a:ext uri="{FF2B5EF4-FFF2-40B4-BE49-F238E27FC236}">
                <a16:creationId xmlns:a16="http://schemas.microsoft.com/office/drawing/2014/main" id="{07C8218E-A6D1-43D2-96F0-C626776A9D49}"/>
              </a:ext>
            </a:extLst>
          </p:cNvPr>
          <p:cNvSpPr>
            <a:spLocks/>
          </p:cNvSpPr>
          <p:nvPr>
            <p:custDataLst>
              <p:tags r:id="rId15"/>
            </p:custDataLst>
          </p:nvPr>
        </p:nvSpPr>
        <p:spPr bwMode="auto">
          <a:xfrm>
            <a:off x="4624314" y="4431326"/>
            <a:ext cx="1000174" cy="996496"/>
          </a:xfrm>
          <a:custGeom>
            <a:avLst/>
            <a:gdLst/>
            <a:ahLst/>
            <a:cxnLst>
              <a:cxn ang="0">
                <a:pos x="709" y="0"/>
              </a:cxn>
              <a:cxn ang="0">
                <a:pos x="869" y="29"/>
              </a:cxn>
              <a:cxn ang="0">
                <a:pos x="1019" y="99"/>
              </a:cxn>
              <a:cxn ang="0">
                <a:pos x="1151" y="202"/>
              </a:cxn>
              <a:cxn ang="0">
                <a:pos x="1256" y="334"/>
              </a:cxn>
              <a:cxn ang="0">
                <a:pos x="1343" y="490"/>
              </a:cxn>
              <a:cxn ang="0">
                <a:pos x="1410" y="660"/>
              </a:cxn>
              <a:cxn ang="0">
                <a:pos x="1463" y="833"/>
              </a:cxn>
              <a:cxn ang="0">
                <a:pos x="1503" y="997"/>
              </a:cxn>
              <a:cxn ang="0">
                <a:pos x="1530" y="1142"/>
              </a:cxn>
              <a:cxn ang="0">
                <a:pos x="1547" y="1260"/>
              </a:cxn>
              <a:cxn ang="0">
                <a:pos x="1555" y="1338"/>
              </a:cxn>
              <a:cxn ang="0">
                <a:pos x="1557" y="1365"/>
              </a:cxn>
              <a:cxn ang="0">
                <a:pos x="1532" y="1369"/>
              </a:cxn>
              <a:cxn ang="0">
                <a:pos x="1460" y="1378"/>
              </a:cxn>
              <a:cxn ang="0">
                <a:pos x="1351" y="1388"/>
              </a:cxn>
              <a:cxn ang="0">
                <a:pos x="1214" y="1397"/>
              </a:cxn>
              <a:cxn ang="0">
                <a:pos x="1057" y="1399"/>
              </a:cxn>
              <a:cxn ang="0">
                <a:pos x="888" y="1390"/>
              </a:cxn>
              <a:cxn ang="0">
                <a:pos x="716" y="1371"/>
              </a:cxn>
              <a:cxn ang="0">
                <a:pos x="547" y="1336"/>
              </a:cxn>
              <a:cxn ang="0">
                <a:pos x="394" y="1279"/>
              </a:cxn>
              <a:cxn ang="0">
                <a:pos x="263" y="1199"/>
              </a:cxn>
              <a:cxn ang="0">
                <a:pos x="143" y="1079"/>
              </a:cxn>
              <a:cxn ang="0">
                <a:pos x="59" y="940"/>
              </a:cxn>
              <a:cxn ang="0">
                <a:pos x="11" y="789"/>
              </a:cxn>
              <a:cxn ang="0">
                <a:pos x="0" y="629"/>
              </a:cxn>
              <a:cxn ang="0">
                <a:pos x="28" y="471"/>
              </a:cxn>
              <a:cxn ang="0">
                <a:pos x="93" y="322"/>
              </a:cxn>
              <a:cxn ang="0">
                <a:pos x="198" y="189"/>
              </a:cxn>
              <a:cxn ang="0">
                <a:pos x="326" y="90"/>
              </a:cxn>
              <a:cxn ang="0">
                <a:pos x="474" y="27"/>
              </a:cxn>
              <a:cxn ang="0">
                <a:pos x="629" y="0"/>
              </a:cxn>
            </a:cxnLst>
            <a:rect l="0" t="0" r="r" b="b"/>
            <a:pathLst>
              <a:path w="1557" h="1399">
                <a:moveTo>
                  <a:pt x="629" y="0"/>
                </a:moveTo>
                <a:lnTo>
                  <a:pt x="709" y="0"/>
                </a:lnTo>
                <a:lnTo>
                  <a:pt x="789" y="10"/>
                </a:lnTo>
                <a:lnTo>
                  <a:pt x="869" y="29"/>
                </a:lnTo>
                <a:lnTo>
                  <a:pt x="945" y="59"/>
                </a:lnTo>
                <a:lnTo>
                  <a:pt x="1019" y="99"/>
                </a:lnTo>
                <a:lnTo>
                  <a:pt x="1090" y="147"/>
                </a:lnTo>
                <a:lnTo>
                  <a:pt x="1151" y="202"/>
                </a:lnTo>
                <a:lnTo>
                  <a:pt x="1206" y="265"/>
                </a:lnTo>
                <a:lnTo>
                  <a:pt x="1256" y="334"/>
                </a:lnTo>
                <a:lnTo>
                  <a:pt x="1303" y="410"/>
                </a:lnTo>
                <a:lnTo>
                  <a:pt x="1343" y="490"/>
                </a:lnTo>
                <a:lnTo>
                  <a:pt x="1378" y="574"/>
                </a:lnTo>
                <a:lnTo>
                  <a:pt x="1410" y="660"/>
                </a:lnTo>
                <a:lnTo>
                  <a:pt x="1439" y="746"/>
                </a:lnTo>
                <a:lnTo>
                  <a:pt x="1463" y="833"/>
                </a:lnTo>
                <a:lnTo>
                  <a:pt x="1484" y="915"/>
                </a:lnTo>
                <a:lnTo>
                  <a:pt x="1503" y="997"/>
                </a:lnTo>
                <a:lnTo>
                  <a:pt x="1517" y="1073"/>
                </a:lnTo>
                <a:lnTo>
                  <a:pt x="1530" y="1142"/>
                </a:lnTo>
                <a:lnTo>
                  <a:pt x="1538" y="1205"/>
                </a:lnTo>
                <a:lnTo>
                  <a:pt x="1547" y="1260"/>
                </a:lnTo>
                <a:lnTo>
                  <a:pt x="1551" y="1304"/>
                </a:lnTo>
                <a:lnTo>
                  <a:pt x="1555" y="1338"/>
                </a:lnTo>
                <a:lnTo>
                  <a:pt x="1557" y="1359"/>
                </a:lnTo>
                <a:lnTo>
                  <a:pt x="1557" y="1365"/>
                </a:lnTo>
                <a:lnTo>
                  <a:pt x="1551" y="1365"/>
                </a:lnTo>
                <a:lnTo>
                  <a:pt x="1532" y="1369"/>
                </a:lnTo>
                <a:lnTo>
                  <a:pt x="1500" y="1373"/>
                </a:lnTo>
                <a:lnTo>
                  <a:pt x="1460" y="1378"/>
                </a:lnTo>
                <a:lnTo>
                  <a:pt x="1410" y="1382"/>
                </a:lnTo>
                <a:lnTo>
                  <a:pt x="1351" y="1388"/>
                </a:lnTo>
                <a:lnTo>
                  <a:pt x="1286" y="1392"/>
                </a:lnTo>
                <a:lnTo>
                  <a:pt x="1214" y="1397"/>
                </a:lnTo>
                <a:lnTo>
                  <a:pt x="1139" y="1399"/>
                </a:lnTo>
                <a:lnTo>
                  <a:pt x="1057" y="1399"/>
                </a:lnTo>
                <a:lnTo>
                  <a:pt x="972" y="1397"/>
                </a:lnTo>
                <a:lnTo>
                  <a:pt x="888" y="1390"/>
                </a:lnTo>
                <a:lnTo>
                  <a:pt x="802" y="1382"/>
                </a:lnTo>
                <a:lnTo>
                  <a:pt x="716" y="1371"/>
                </a:lnTo>
                <a:lnTo>
                  <a:pt x="631" y="1354"/>
                </a:lnTo>
                <a:lnTo>
                  <a:pt x="547" y="1336"/>
                </a:lnTo>
                <a:lnTo>
                  <a:pt x="469" y="1310"/>
                </a:lnTo>
                <a:lnTo>
                  <a:pt x="394" y="1279"/>
                </a:lnTo>
                <a:lnTo>
                  <a:pt x="326" y="1241"/>
                </a:lnTo>
                <a:lnTo>
                  <a:pt x="263" y="1199"/>
                </a:lnTo>
                <a:lnTo>
                  <a:pt x="200" y="1142"/>
                </a:lnTo>
                <a:lnTo>
                  <a:pt x="143" y="1079"/>
                </a:lnTo>
                <a:lnTo>
                  <a:pt x="97" y="1012"/>
                </a:lnTo>
                <a:lnTo>
                  <a:pt x="59" y="940"/>
                </a:lnTo>
                <a:lnTo>
                  <a:pt x="30" y="864"/>
                </a:lnTo>
                <a:lnTo>
                  <a:pt x="11" y="789"/>
                </a:lnTo>
                <a:lnTo>
                  <a:pt x="0" y="709"/>
                </a:lnTo>
                <a:lnTo>
                  <a:pt x="0" y="629"/>
                </a:lnTo>
                <a:lnTo>
                  <a:pt x="9" y="549"/>
                </a:lnTo>
                <a:lnTo>
                  <a:pt x="28" y="471"/>
                </a:lnTo>
                <a:lnTo>
                  <a:pt x="55" y="395"/>
                </a:lnTo>
                <a:lnTo>
                  <a:pt x="93" y="322"/>
                </a:lnTo>
                <a:lnTo>
                  <a:pt x="141" y="252"/>
                </a:lnTo>
                <a:lnTo>
                  <a:pt x="198" y="189"/>
                </a:lnTo>
                <a:lnTo>
                  <a:pt x="259" y="136"/>
                </a:lnTo>
                <a:lnTo>
                  <a:pt x="326" y="90"/>
                </a:lnTo>
                <a:lnTo>
                  <a:pt x="398" y="54"/>
                </a:lnTo>
                <a:lnTo>
                  <a:pt x="474" y="27"/>
                </a:lnTo>
                <a:lnTo>
                  <a:pt x="549" y="8"/>
                </a:lnTo>
                <a:lnTo>
                  <a:pt x="629" y="0"/>
                </a:lnTo>
                <a:close/>
              </a:path>
            </a:pathLst>
          </a:custGeom>
          <a:solidFill>
            <a:schemeClr val="accent1"/>
          </a:solidFill>
          <a:ln w="0">
            <a:noFill/>
            <a:prstDash val="solid"/>
            <a:round/>
            <a:headEnd/>
            <a:tailEnd/>
          </a:ln>
          <a:effectLst/>
        </p:spPr>
        <p:txBody>
          <a:bodyPr anchor="ctr"/>
          <a:lstStyle/>
          <a:p>
            <a:pPr algn="ctr">
              <a:defRPr/>
            </a:pPr>
            <a:r>
              <a:rPr lang="en-US" sz="2800" kern="0" dirty="0">
                <a:solidFill>
                  <a:srgbClr val="FAFAFA"/>
                </a:solidFill>
                <a:latin typeface="Bodoni MT Black" panose="02070A03080606020203" pitchFamily="18" charset="0"/>
              </a:rPr>
              <a:t>1</a:t>
            </a:r>
          </a:p>
        </p:txBody>
      </p:sp>
      <p:sp>
        <p:nvSpPr>
          <p:cNvPr id="19" name="MH_SubTitle_3">
            <a:extLst>
              <a:ext uri="{FF2B5EF4-FFF2-40B4-BE49-F238E27FC236}">
                <a16:creationId xmlns:a16="http://schemas.microsoft.com/office/drawing/2014/main" id="{50856490-1A3E-4A05-995A-47DEE371A665}"/>
              </a:ext>
            </a:extLst>
          </p:cNvPr>
          <p:cNvSpPr txBox="1">
            <a:spLocks noChangeArrowheads="1"/>
          </p:cNvSpPr>
          <p:nvPr>
            <p:custDataLst>
              <p:tags r:id="rId16"/>
            </p:custDataLst>
          </p:nvPr>
        </p:nvSpPr>
        <p:spPr bwMode="auto">
          <a:xfrm>
            <a:off x="1313972" y="2009682"/>
            <a:ext cx="3443197" cy="1172929"/>
          </a:xfrm>
          <a:prstGeom prst="rect">
            <a:avLst/>
          </a:prstGeom>
          <a:noFill/>
          <a:ln w="9525">
            <a:noFill/>
            <a:miter lim="800000"/>
            <a:headEnd/>
            <a:tailEnd/>
          </a:ln>
        </p:spPr>
        <p:txBody>
          <a:bodyPr lIns="90000" anchor="ctr">
            <a:noAutofit/>
          </a:bodyPr>
          <a:lstStyle/>
          <a:p>
            <a:pPr algn="ctr">
              <a:lnSpc>
                <a:spcPct val="110000"/>
              </a:lnSpc>
              <a:defRPr/>
            </a:pPr>
            <a:r>
              <a:rPr lang="en-US" altLang="zh-CN" sz="2800" kern="0" dirty="0">
                <a:solidFill>
                  <a:srgbClr val="00B050"/>
                </a:solidFill>
                <a:latin typeface="Times New Roman" panose="02020603050405020304" pitchFamily="18" charset="0"/>
                <a:cs typeface="Times New Roman" panose="02020603050405020304" pitchFamily="18" charset="0"/>
              </a:rPr>
              <a:t>Intergroup boundary regulation</a:t>
            </a:r>
          </a:p>
        </p:txBody>
      </p:sp>
      <p:sp>
        <p:nvSpPr>
          <p:cNvPr id="20" name="MH_SubTitle_2">
            <a:extLst>
              <a:ext uri="{FF2B5EF4-FFF2-40B4-BE49-F238E27FC236}">
                <a16:creationId xmlns:a16="http://schemas.microsoft.com/office/drawing/2014/main" id="{1A68D968-9EC7-46F8-9C3B-632F024208F4}"/>
              </a:ext>
            </a:extLst>
          </p:cNvPr>
          <p:cNvSpPr txBox="1">
            <a:spLocks noChangeArrowheads="1"/>
          </p:cNvSpPr>
          <p:nvPr>
            <p:custDataLst>
              <p:tags r:id="rId17"/>
            </p:custDataLst>
          </p:nvPr>
        </p:nvSpPr>
        <p:spPr bwMode="auto">
          <a:xfrm>
            <a:off x="1678562" y="3378487"/>
            <a:ext cx="2588116" cy="814235"/>
          </a:xfrm>
          <a:prstGeom prst="rect">
            <a:avLst/>
          </a:prstGeom>
          <a:noFill/>
          <a:ln w="9525">
            <a:noFill/>
            <a:miter lim="800000"/>
            <a:headEnd/>
            <a:tailEnd/>
          </a:ln>
        </p:spPr>
        <p:txBody>
          <a:bodyPr anchor="ctr">
            <a:noAutofit/>
          </a:bodyPr>
          <a:lstStyle/>
          <a:p>
            <a:pPr algn="r">
              <a:lnSpc>
                <a:spcPct val="110000"/>
              </a:lnSpc>
              <a:defRPr/>
            </a:pPr>
            <a:r>
              <a:rPr lang="en-US" altLang="zh-CN" sz="2800" kern="0" dirty="0">
                <a:solidFill>
                  <a:srgbClr val="00B050"/>
                </a:solidFill>
                <a:latin typeface="Times New Roman" panose="02020603050405020304" pitchFamily="18" charset="0"/>
                <a:cs typeface="Times New Roman" panose="02020603050405020304" pitchFamily="18" charset="0"/>
              </a:rPr>
              <a:t>Group inclusion</a:t>
            </a:r>
          </a:p>
        </p:txBody>
      </p:sp>
      <p:sp>
        <p:nvSpPr>
          <p:cNvPr id="21" name="MH_SubTitle_1">
            <a:extLst>
              <a:ext uri="{FF2B5EF4-FFF2-40B4-BE49-F238E27FC236}">
                <a16:creationId xmlns:a16="http://schemas.microsoft.com/office/drawing/2014/main" id="{80FB9C22-ED00-4440-8FDA-385BB4CD4170}"/>
              </a:ext>
            </a:extLst>
          </p:cNvPr>
          <p:cNvSpPr txBox="1">
            <a:spLocks noChangeArrowheads="1"/>
          </p:cNvSpPr>
          <p:nvPr>
            <p:custDataLst>
              <p:tags r:id="rId18"/>
            </p:custDataLst>
          </p:nvPr>
        </p:nvSpPr>
        <p:spPr bwMode="auto">
          <a:xfrm>
            <a:off x="1678562" y="4476278"/>
            <a:ext cx="2638865" cy="814235"/>
          </a:xfrm>
          <a:prstGeom prst="rect">
            <a:avLst/>
          </a:prstGeom>
          <a:noFill/>
          <a:ln w="9525">
            <a:noFill/>
            <a:miter lim="800000"/>
            <a:headEnd/>
            <a:tailEnd/>
          </a:ln>
        </p:spPr>
        <p:txBody>
          <a:bodyPr anchor="ctr">
            <a:noAutofit/>
          </a:bodyPr>
          <a:lstStyle/>
          <a:p>
            <a:pPr algn="ctr">
              <a:lnSpc>
                <a:spcPct val="110000"/>
              </a:lnSpc>
              <a:defRPr/>
            </a:pPr>
            <a:r>
              <a:rPr lang="en-US" altLang="zh-CN" sz="2800" kern="0" dirty="0">
                <a:solidFill>
                  <a:srgbClr val="00B050"/>
                </a:solidFill>
                <a:latin typeface="Times New Roman" panose="02020603050405020304" pitchFamily="18" charset="0"/>
                <a:cs typeface="Times New Roman" panose="02020603050405020304" pitchFamily="18" charset="0"/>
              </a:rPr>
              <a:t>Identity meaning</a:t>
            </a:r>
            <a:endParaRPr lang="en-US" altLang="zh-CN" sz="28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MH_SubTitle_4">
            <a:extLst>
              <a:ext uri="{FF2B5EF4-FFF2-40B4-BE49-F238E27FC236}">
                <a16:creationId xmlns:a16="http://schemas.microsoft.com/office/drawing/2014/main" id="{23B25171-D796-4980-AFF6-1E74E9826100}"/>
              </a:ext>
            </a:extLst>
          </p:cNvPr>
          <p:cNvSpPr txBox="1">
            <a:spLocks noChangeArrowheads="1"/>
          </p:cNvSpPr>
          <p:nvPr>
            <p:custDataLst>
              <p:tags r:id="rId19"/>
            </p:custDataLst>
          </p:nvPr>
        </p:nvSpPr>
        <p:spPr bwMode="auto">
          <a:xfrm>
            <a:off x="7882024" y="1934140"/>
            <a:ext cx="3310232" cy="814235"/>
          </a:xfrm>
          <a:prstGeom prst="rect">
            <a:avLst/>
          </a:prstGeom>
          <a:noFill/>
          <a:ln w="9525">
            <a:noFill/>
            <a:miter lim="800000"/>
            <a:headEnd/>
            <a:tailEnd/>
          </a:ln>
        </p:spPr>
        <p:txBody>
          <a:bodyPr anchor="ctr">
            <a:noAutofit/>
          </a:bodyPr>
          <a:lstStyle/>
          <a:p>
            <a:pPr algn="ctr">
              <a:lnSpc>
                <a:spcPct val="110000"/>
              </a:lnSpc>
              <a:defRPr/>
            </a:pPr>
            <a:r>
              <a:rPr lang="en-US" altLang="zh-CN" sz="2800" kern="0" dirty="0">
                <a:solidFill>
                  <a:srgbClr val="00B050"/>
                </a:solidFill>
                <a:latin typeface="Times New Roman" panose="02020603050405020304" pitchFamily="18" charset="0"/>
                <a:cs typeface="Times New Roman" panose="02020603050405020304" pitchFamily="18" charset="0"/>
              </a:rPr>
              <a:t>Ecological adaptation</a:t>
            </a:r>
          </a:p>
        </p:txBody>
      </p:sp>
      <p:sp>
        <p:nvSpPr>
          <p:cNvPr id="23" name="MH_SubTitle_5">
            <a:extLst>
              <a:ext uri="{FF2B5EF4-FFF2-40B4-BE49-F238E27FC236}">
                <a16:creationId xmlns:a16="http://schemas.microsoft.com/office/drawing/2014/main" id="{D232B3C7-D358-43AA-8A84-D2B8D11CC5CC}"/>
              </a:ext>
            </a:extLst>
          </p:cNvPr>
          <p:cNvSpPr txBox="1">
            <a:spLocks noChangeArrowheads="1"/>
          </p:cNvSpPr>
          <p:nvPr>
            <p:custDataLst>
              <p:tags r:id="rId20"/>
            </p:custDataLst>
          </p:nvPr>
        </p:nvSpPr>
        <p:spPr bwMode="auto">
          <a:xfrm>
            <a:off x="7882024" y="3762703"/>
            <a:ext cx="3785720" cy="814236"/>
          </a:xfrm>
          <a:prstGeom prst="rect">
            <a:avLst/>
          </a:prstGeom>
          <a:noFill/>
          <a:ln w="9525">
            <a:noFill/>
            <a:miter lim="800000"/>
            <a:headEnd/>
            <a:tailEnd/>
          </a:ln>
        </p:spPr>
        <p:txBody>
          <a:bodyPr anchor="ctr">
            <a:noAutofit/>
          </a:bodyPr>
          <a:lstStyle/>
          <a:p>
            <a:pPr>
              <a:lnSpc>
                <a:spcPct val="110000"/>
              </a:lnSpc>
              <a:defRPr/>
            </a:pPr>
            <a:r>
              <a:rPr lang="en-US" altLang="zh-CN" sz="2800" kern="0" dirty="0">
                <a:solidFill>
                  <a:srgbClr val="00B050"/>
                </a:solidFill>
                <a:latin typeface="Times New Roman" panose="02020603050405020304" pitchFamily="18" charset="0"/>
                <a:cs typeface="Times New Roman" panose="02020603050405020304" pitchFamily="18" charset="0"/>
              </a:rPr>
              <a:t>Cultural communication</a:t>
            </a:r>
          </a:p>
        </p:txBody>
      </p:sp>
      <p:sp>
        <p:nvSpPr>
          <p:cNvPr id="24" name="MH_Other_16">
            <a:extLst>
              <a:ext uri="{FF2B5EF4-FFF2-40B4-BE49-F238E27FC236}">
                <a16:creationId xmlns:a16="http://schemas.microsoft.com/office/drawing/2014/main" id="{3670683E-1003-46D6-95A6-34A838822CD2}"/>
              </a:ext>
            </a:extLst>
          </p:cNvPr>
          <p:cNvSpPr/>
          <p:nvPr>
            <p:custDataLst>
              <p:tags r:id="rId21"/>
            </p:custDataLst>
          </p:nvPr>
        </p:nvSpPr>
        <p:spPr>
          <a:xfrm rot="20783383">
            <a:off x="5903108" y="3250587"/>
            <a:ext cx="107162" cy="9509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AFAFA"/>
              </a:solidFill>
            </a:endParaRPr>
          </a:p>
        </p:txBody>
      </p:sp>
      <p:sp>
        <p:nvSpPr>
          <p:cNvPr id="25" name="MH_Other_17">
            <a:extLst>
              <a:ext uri="{FF2B5EF4-FFF2-40B4-BE49-F238E27FC236}">
                <a16:creationId xmlns:a16="http://schemas.microsoft.com/office/drawing/2014/main" id="{C109A923-18F2-4E1A-9214-F0CBF8AEC7A4}"/>
              </a:ext>
            </a:extLst>
          </p:cNvPr>
          <p:cNvSpPr/>
          <p:nvPr>
            <p:custDataLst>
              <p:tags r:id="rId22"/>
            </p:custDataLst>
          </p:nvPr>
        </p:nvSpPr>
        <p:spPr>
          <a:xfrm>
            <a:off x="5956690" y="1546834"/>
            <a:ext cx="291123" cy="871687"/>
          </a:xfrm>
          <a:custGeom>
            <a:avLst/>
            <a:gdLst>
              <a:gd name="connsiteX0" fmla="*/ 0 w 315318"/>
              <a:gd name="connsiteY0" fmla="*/ 0 h 561975"/>
              <a:gd name="connsiteX1" fmla="*/ 266700 w 315318"/>
              <a:gd name="connsiteY1" fmla="*/ 228600 h 561975"/>
              <a:gd name="connsiteX2" fmla="*/ 314325 w 315318"/>
              <a:gd name="connsiteY2" fmla="*/ 561975 h 561975"/>
              <a:gd name="connsiteX0" fmla="*/ 0 w 315318"/>
              <a:gd name="connsiteY0" fmla="*/ 0 h 561975"/>
              <a:gd name="connsiteX1" fmla="*/ 266700 w 315318"/>
              <a:gd name="connsiteY1" fmla="*/ 228600 h 561975"/>
              <a:gd name="connsiteX2" fmla="*/ 314325 w 315318"/>
              <a:gd name="connsiteY2" fmla="*/ 561975 h 561975"/>
              <a:gd name="connsiteX0" fmla="*/ 0 w 319289"/>
              <a:gd name="connsiteY0" fmla="*/ 0 h 561975"/>
              <a:gd name="connsiteX1" fmla="*/ 266700 w 319289"/>
              <a:gd name="connsiteY1" fmla="*/ 228600 h 561975"/>
              <a:gd name="connsiteX2" fmla="*/ 314325 w 319289"/>
              <a:gd name="connsiteY2" fmla="*/ 561975 h 561975"/>
              <a:gd name="connsiteX0" fmla="*/ 0 w 244780"/>
              <a:gd name="connsiteY0" fmla="*/ 0 h 504825"/>
              <a:gd name="connsiteX1" fmla="*/ 193675 w 244780"/>
              <a:gd name="connsiteY1" fmla="*/ 171450 h 504825"/>
              <a:gd name="connsiteX2" fmla="*/ 241300 w 244780"/>
              <a:gd name="connsiteY2" fmla="*/ 504825 h 504825"/>
              <a:gd name="connsiteX0" fmla="*/ 0 w 244780"/>
              <a:gd name="connsiteY0" fmla="*/ 0 h 504825"/>
              <a:gd name="connsiteX1" fmla="*/ 193675 w 244780"/>
              <a:gd name="connsiteY1" fmla="*/ 171450 h 504825"/>
              <a:gd name="connsiteX2" fmla="*/ 241300 w 244780"/>
              <a:gd name="connsiteY2"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4088"/>
              <a:gd name="connsiteY0" fmla="*/ 0 h 504825"/>
              <a:gd name="connsiteX1" fmla="*/ 241300 w 244088"/>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495300"/>
              <a:gd name="connsiteX1" fmla="*/ 241300 w 241300"/>
              <a:gd name="connsiteY1" fmla="*/ 495300 h 495300"/>
              <a:gd name="connsiteX0" fmla="*/ 0 w 219075"/>
              <a:gd name="connsiteY0" fmla="*/ 0 h 698500"/>
              <a:gd name="connsiteX1" fmla="*/ 219075 w 219075"/>
              <a:gd name="connsiteY1" fmla="*/ 698500 h 698500"/>
              <a:gd name="connsiteX0" fmla="*/ 0 w 258218"/>
              <a:gd name="connsiteY0" fmla="*/ 0 h 698500"/>
              <a:gd name="connsiteX1" fmla="*/ 219075 w 258218"/>
              <a:gd name="connsiteY1" fmla="*/ 698500 h 698500"/>
            </a:gdLst>
            <a:ahLst/>
            <a:cxnLst>
              <a:cxn ang="0">
                <a:pos x="connsiteX0" y="connsiteY0"/>
              </a:cxn>
              <a:cxn ang="0">
                <a:pos x="connsiteX1" y="connsiteY1"/>
              </a:cxn>
            </a:cxnLst>
            <a:rect l="l" t="t" r="r" b="b"/>
            <a:pathLst>
              <a:path w="258218" h="698500">
                <a:moveTo>
                  <a:pt x="0" y="0"/>
                </a:moveTo>
                <a:cubicBezTo>
                  <a:pt x="201083" y="88900"/>
                  <a:pt x="325967" y="304800"/>
                  <a:pt x="219075" y="698500"/>
                </a:cubicBezTo>
              </a:path>
            </a:pathLst>
          </a:custGeom>
          <a:noFill/>
          <a:ln w="571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AFAFA"/>
              </a:solidFill>
            </a:endParaRPr>
          </a:p>
        </p:txBody>
      </p:sp>
      <p:sp>
        <p:nvSpPr>
          <p:cNvPr id="26" name="MH_Other_18">
            <a:extLst>
              <a:ext uri="{FF2B5EF4-FFF2-40B4-BE49-F238E27FC236}">
                <a16:creationId xmlns:a16="http://schemas.microsoft.com/office/drawing/2014/main" id="{F5CD48DB-EC84-4489-B421-A0FFA5F06135}"/>
              </a:ext>
            </a:extLst>
          </p:cNvPr>
          <p:cNvSpPr/>
          <p:nvPr>
            <p:custDataLst>
              <p:tags r:id="rId23"/>
            </p:custDataLst>
          </p:nvPr>
        </p:nvSpPr>
        <p:spPr>
          <a:xfrm rot="20964383">
            <a:off x="5258355" y="3139645"/>
            <a:ext cx="210751" cy="631973"/>
          </a:xfrm>
          <a:custGeom>
            <a:avLst/>
            <a:gdLst>
              <a:gd name="connsiteX0" fmla="*/ 0 w 315318"/>
              <a:gd name="connsiteY0" fmla="*/ 0 h 561975"/>
              <a:gd name="connsiteX1" fmla="*/ 266700 w 315318"/>
              <a:gd name="connsiteY1" fmla="*/ 228600 h 561975"/>
              <a:gd name="connsiteX2" fmla="*/ 314325 w 315318"/>
              <a:gd name="connsiteY2" fmla="*/ 561975 h 561975"/>
              <a:gd name="connsiteX0" fmla="*/ 0 w 315318"/>
              <a:gd name="connsiteY0" fmla="*/ 0 h 561975"/>
              <a:gd name="connsiteX1" fmla="*/ 266700 w 315318"/>
              <a:gd name="connsiteY1" fmla="*/ 228600 h 561975"/>
              <a:gd name="connsiteX2" fmla="*/ 314325 w 315318"/>
              <a:gd name="connsiteY2" fmla="*/ 561975 h 561975"/>
              <a:gd name="connsiteX0" fmla="*/ 0 w 319289"/>
              <a:gd name="connsiteY0" fmla="*/ 0 h 561975"/>
              <a:gd name="connsiteX1" fmla="*/ 266700 w 319289"/>
              <a:gd name="connsiteY1" fmla="*/ 228600 h 561975"/>
              <a:gd name="connsiteX2" fmla="*/ 314325 w 319289"/>
              <a:gd name="connsiteY2" fmla="*/ 561975 h 561975"/>
              <a:gd name="connsiteX0" fmla="*/ 0 w 244780"/>
              <a:gd name="connsiteY0" fmla="*/ 0 h 504825"/>
              <a:gd name="connsiteX1" fmla="*/ 193675 w 244780"/>
              <a:gd name="connsiteY1" fmla="*/ 171450 h 504825"/>
              <a:gd name="connsiteX2" fmla="*/ 241300 w 244780"/>
              <a:gd name="connsiteY2" fmla="*/ 504825 h 504825"/>
              <a:gd name="connsiteX0" fmla="*/ 0 w 244780"/>
              <a:gd name="connsiteY0" fmla="*/ 0 h 504825"/>
              <a:gd name="connsiteX1" fmla="*/ 193675 w 244780"/>
              <a:gd name="connsiteY1" fmla="*/ 171450 h 504825"/>
              <a:gd name="connsiteX2" fmla="*/ 241300 w 244780"/>
              <a:gd name="connsiteY2"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4088"/>
              <a:gd name="connsiteY0" fmla="*/ 0 h 504825"/>
              <a:gd name="connsiteX1" fmla="*/ 241300 w 244088"/>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495300"/>
              <a:gd name="connsiteX1" fmla="*/ 241300 w 241300"/>
              <a:gd name="connsiteY1" fmla="*/ 495300 h 495300"/>
              <a:gd name="connsiteX0" fmla="*/ 0 w 219075"/>
              <a:gd name="connsiteY0" fmla="*/ 0 h 698500"/>
              <a:gd name="connsiteX1" fmla="*/ 219075 w 219075"/>
              <a:gd name="connsiteY1" fmla="*/ 698500 h 698500"/>
              <a:gd name="connsiteX0" fmla="*/ 0 w 258218"/>
              <a:gd name="connsiteY0" fmla="*/ 0 h 698500"/>
              <a:gd name="connsiteX1" fmla="*/ 219075 w 258218"/>
              <a:gd name="connsiteY1" fmla="*/ 698500 h 698500"/>
            </a:gdLst>
            <a:ahLst/>
            <a:cxnLst>
              <a:cxn ang="0">
                <a:pos x="connsiteX0" y="connsiteY0"/>
              </a:cxn>
              <a:cxn ang="0">
                <a:pos x="connsiteX1" y="connsiteY1"/>
              </a:cxn>
            </a:cxnLst>
            <a:rect l="l" t="t" r="r" b="b"/>
            <a:pathLst>
              <a:path w="258218" h="698500">
                <a:moveTo>
                  <a:pt x="0" y="0"/>
                </a:moveTo>
                <a:cubicBezTo>
                  <a:pt x="201083" y="88900"/>
                  <a:pt x="325967" y="304800"/>
                  <a:pt x="219075" y="698500"/>
                </a:cubicBezTo>
              </a:path>
            </a:pathLst>
          </a:custGeom>
          <a:noFill/>
          <a:ln w="3810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AFAFA"/>
              </a:solidFill>
            </a:endParaRPr>
          </a:p>
        </p:txBody>
      </p:sp>
      <p:sp>
        <p:nvSpPr>
          <p:cNvPr id="27" name="MH_Other_19">
            <a:extLst>
              <a:ext uri="{FF2B5EF4-FFF2-40B4-BE49-F238E27FC236}">
                <a16:creationId xmlns:a16="http://schemas.microsoft.com/office/drawing/2014/main" id="{B3315C1C-F70A-4986-A2BE-552694C689F2}"/>
              </a:ext>
            </a:extLst>
          </p:cNvPr>
          <p:cNvSpPr/>
          <p:nvPr>
            <p:custDataLst>
              <p:tags r:id="rId24"/>
            </p:custDataLst>
          </p:nvPr>
        </p:nvSpPr>
        <p:spPr>
          <a:xfrm rot="19603546">
            <a:off x="5170838" y="4437271"/>
            <a:ext cx="208966" cy="629992"/>
          </a:xfrm>
          <a:custGeom>
            <a:avLst/>
            <a:gdLst>
              <a:gd name="connsiteX0" fmla="*/ 0 w 315318"/>
              <a:gd name="connsiteY0" fmla="*/ 0 h 561975"/>
              <a:gd name="connsiteX1" fmla="*/ 266700 w 315318"/>
              <a:gd name="connsiteY1" fmla="*/ 228600 h 561975"/>
              <a:gd name="connsiteX2" fmla="*/ 314325 w 315318"/>
              <a:gd name="connsiteY2" fmla="*/ 561975 h 561975"/>
              <a:gd name="connsiteX0" fmla="*/ 0 w 315318"/>
              <a:gd name="connsiteY0" fmla="*/ 0 h 561975"/>
              <a:gd name="connsiteX1" fmla="*/ 266700 w 315318"/>
              <a:gd name="connsiteY1" fmla="*/ 228600 h 561975"/>
              <a:gd name="connsiteX2" fmla="*/ 314325 w 315318"/>
              <a:gd name="connsiteY2" fmla="*/ 561975 h 561975"/>
              <a:gd name="connsiteX0" fmla="*/ 0 w 319289"/>
              <a:gd name="connsiteY0" fmla="*/ 0 h 561975"/>
              <a:gd name="connsiteX1" fmla="*/ 266700 w 319289"/>
              <a:gd name="connsiteY1" fmla="*/ 228600 h 561975"/>
              <a:gd name="connsiteX2" fmla="*/ 314325 w 319289"/>
              <a:gd name="connsiteY2" fmla="*/ 561975 h 561975"/>
              <a:gd name="connsiteX0" fmla="*/ 0 w 244780"/>
              <a:gd name="connsiteY0" fmla="*/ 0 h 504825"/>
              <a:gd name="connsiteX1" fmla="*/ 193675 w 244780"/>
              <a:gd name="connsiteY1" fmla="*/ 171450 h 504825"/>
              <a:gd name="connsiteX2" fmla="*/ 241300 w 244780"/>
              <a:gd name="connsiteY2" fmla="*/ 504825 h 504825"/>
              <a:gd name="connsiteX0" fmla="*/ 0 w 244780"/>
              <a:gd name="connsiteY0" fmla="*/ 0 h 504825"/>
              <a:gd name="connsiteX1" fmla="*/ 193675 w 244780"/>
              <a:gd name="connsiteY1" fmla="*/ 171450 h 504825"/>
              <a:gd name="connsiteX2" fmla="*/ 241300 w 244780"/>
              <a:gd name="connsiteY2"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4088"/>
              <a:gd name="connsiteY0" fmla="*/ 0 h 504825"/>
              <a:gd name="connsiteX1" fmla="*/ 241300 w 244088"/>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495300"/>
              <a:gd name="connsiteX1" fmla="*/ 241300 w 241300"/>
              <a:gd name="connsiteY1" fmla="*/ 495300 h 495300"/>
              <a:gd name="connsiteX0" fmla="*/ 0 w 219075"/>
              <a:gd name="connsiteY0" fmla="*/ 0 h 698500"/>
              <a:gd name="connsiteX1" fmla="*/ 219075 w 219075"/>
              <a:gd name="connsiteY1" fmla="*/ 698500 h 698500"/>
              <a:gd name="connsiteX0" fmla="*/ 0 w 258218"/>
              <a:gd name="connsiteY0" fmla="*/ 0 h 698500"/>
              <a:gd name="connsiteX1" fmla="*/ 219075 w 258218"/>
              <a:gd name="connsiteY1" fmla="*/ 698500 h 698500"/>
            </a:gdLst>
            <a:ahLst/>
            <a:cxnLst>
              <a:cxn ang="0">
                <a:pos x="connsiteX0" y="connsiteY0"/>
              </a:cxn>
              <a:cxn ang="0">
                <a:pos x="connsiteX1" y="connsiteY1"/>
              </a:cxn>
            </a:cxnLst>
            <a:rect l="l" t="t" r="r" b="b"/>
            <a:pathLst>
              <a:path w="258218" h="698500">
                <a:moveTo>
                  <a:pt x="0" y="0"/>
                </a:moveTo>
                <a:cubicBezTo>
                  <a:pt x="201083" y="88900"/>
                  <a:pt x="325967" y="304800"/>
                  <a:pt x="219075" y="698500"/>
                </a:cubicBezTo>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AFAFA"/>
              </a:solidFill>
            </a:endParaRPr>
          </a:p>
        </p:txBody>
      </p:sp>
      <p:sp>
        <p:nvSpPr>
          <p:cNvPr id="28" name="MH_Other_20">
            <a:extLst>
              <a:ext uri="{FF2B5EF4-FFF2-40B4-BE49-F238E27FC236}">
                <a16:creationId xmlns:a16="http://schemas.microsoft.com/office/drawing/2014/main" id="{AE0025F4-EE68-4763-B38C-93E206BA2C96}"/>
              </a:ext>
            </a:extLst>
          </p:cNvPr>
          <p:cNvSpPr/>
          <p:nvPr>
            <p:custDataLst>
              <p:tags r:id="rId25"/>
            </p:custDataLst>
          </p:nvPr>
        </p:nvSpPr>
        <p:spPr>
          <a:xfrm rot="1173429" flipH="1">
            <a:off x="6735397" y="1792492"/>
            <a:ext cx="217895" cy="649803"/>
          </a:xfrm>
          <a:custGeom>
            <a:avLst/>
            <a:gdLst>
              <a:gd name="connsiteX0" fmla="*/ 0 w 315318"/>
              <a:gd name="connsiteY0" fmla="*/ 0 h 561975"/>
              <a:gd name="connsiteX1" fmla="*/ 266700 w 315318"/>
              <a:gd name="connsiteY1" fmla="*/ 228600 h 561975"/>
              <a:gd name="connsiteX2" fmla="*/ 314325 w 315318"/>
              <a:gd name="connsiteY2" fmla="*/ 561975 h 561975"/>
              <a:gd name="connsiteX0" fmla="*/ 0 w 315318"/>
              <a:gd name="connsiteY0" fmla="*/ 0 h 561975"/>
              <a:gd name="connsiteX1" fmla="*/ 266700 w 315318"/>
              <a:gd name="connsiteY1" fmla="*/ 228600 h 561975"/>
              <a:gd name="connsiteX2" fmla="*/ 314325 w 315318"/>
              <a:gd name="connsiteY2" fmla="*/ 561975 h 561975"/>
              <a:gd name="connsiteX0" fmla="*/ 0 w 319289"/>
              <a:gd name="connsiteY0" fmla="*/ 0 h 561975"/>
              <a:gd name="connsiteX1" fmla="*/ 266700 w 319289"/>
              <a:gd name="connsiteY1" fmla="*/ 228600 h 561975"/>
              <a:gd name="connsiteX2" fmla="*/ 314325 w 319289"/>
              <a:gd name="connsiteY2" fmla="*/ 561975 h 561975"/>
              <a:gd name="connsiteX0" fmla="*/ 0 w 244780"/>
              <a:gd name="connsiteY0" fmla="*/ 0 h 504825"/>
              <a:gd name="connsiteX1" fmla="*/ 193675 w 244780"/>
              <a:gd name="connsiteY1" fmla="*/ 171450 h 504825"/>
              <a:gd name="connsiteX2" fmla="*/ 241300 w 244780"/>
              <a:gd name="connsiteY2" fmla="*/ 504825 h 504825"/>
              <a:gd name="connsiteX0" fmla="*/ 0 w 244780"/>
              <a:gd name="connsiteY0" fmla="*/ 0 h 504825"/>
              <a:gd name="connsiteX1" fmla="*/ 193675 w 244780"/>
              <a:gd name="connsiteY1" fmla="*/ 171450 h 504825"/>
              <a:gd name="connsiteX2" fmla="*/ 241300 w 244780"/>
              <a:gd name="connsiteY2"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4088"/>
              <a:gd name="connsiteY0" fmla="*/ 0 h 504825"/>
              <a:gd name="connsiteX1" fmla="*/ 241300 w 244088"/>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495300"/>
              <a:gd name="connsiteX1" fmla="*/ 241300 w 241300"/>
              <a:gd name="connsiteY1" fmla="*/ 495300 h 495300"/>
              <a:gd name="connsiteX0" fmla="*/ 0 w 219075"/>
              <a:gd name="connsiteY0" fmla="*/ 0 h 698500"/>
              <a:gd name="connsiteX1" fmla="*/ 219075 w 219075"/>
              <a:gd name="connsiteY1" fmla="*/ 698500 h 698500"/>
              <a:gd name="connsiteX0" fmla="*/ 0 w 258218"/>
              <a:gd name="connsiteY0" fmla="*/ 0 h 698500"/>
              <a:gd name="connsiteX1" fmla="*/ 219075 w 258218"/>
              <a:gd name="connsiteY1" fmla="*/ 698500 h 698500"/>
            </a:gdLst>
            <a:ahLst/>
            <a:cxnLst>
              <a:cxn ang="0">
                <a:pos x="connsiteX0" y="connsiteY0"/>
              </a:cxn>
              <a:cxn ang="0">
                <a:pos x="connsiteX1" y="connsiteY1"/>
              </a:cxn>
            </a:cxnLst>
            <a:rect l="l" t="t" r="r" b="b"/>
            <a:pathLst>
              <a:path w="258218" h="698500">
                <a:moveTo>
                  <a:pt x="0" y="0"/>
                </a:moveTo>
                <a:cubicBezTo>
                  <a:pt x="201083" y="88900"/>
                  <a:pt x="325967" y="304800"/>
                  <a:pt x="219075" y="698500"/>
                </a:cubicBezTo>
              </a:path>
            </a:pathLst>
          </a:custGeom>
          <a:noFill/>
          <a:ln w="3810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AFAFA"/>
              </a:solidFill>
            </a:endParaRPr>
          </a:p>
        </p:txBody>
      </p:sp>
      <p:sp>
        <p:nvSpPr>
          <p:cNvPr id="29" name="MH_Other_21">
            <a:extLst>
              <a:ext uri="{FF2B5EF4-FFF2-40B4-BE49-F238E27FC236}">
                <a16:creationId xmlns:a16="http://schemas.microsoft.com/office/drawing/2014/main" id="{E4181BDF-DBC1-4BF5-8209-31B14CE5C1A1}"/>
              </a:ext>
            </a:extLst>
          </p:cNvPr>
          <p:cNvSpPr/>
          <p:nvPr>
            <p:custDataLst>
              <p:tags r:id="rId26"/>
            </p:custDataLst>
          </p:nvPr>
        </p:nvSpPr>
        <p:spPr>
          <a:xfrm rot="1173429" flipH="1">
            <a:off x="6580012" y="3343698"/>
            <a:ext cx="242899" cy="731029"/>
          </a:xfrm>
          <a:custGeom>
            <a:avLst/>
            <a:gdLst>
              <a:gd name="connsiteX0" fmla="*/ 0 w 315318"/>
              <a:gd name="connsiteY0" fmla="*/ 0 h 561975"/>
              <a:gd name="connsiteX1" fmla="*/ 266700 w 315318"/>
              <a:gd name="connsiteY1" fmla="*/ 228600 h 561975"/>
              <a:gd name="connsiteX2" fmla="*/ 314325 w 315318"/>
              <a:gd name="connsiteY2" fmla="*/ 561975 h 561975"/>
              <a:gd name="connsiteX0" fmla="*/ 0 w 315318"/>
              <a:gd name="connsiteY0" fmla="*/ 0 h 561975"/>
              <a:gd name="connsiteX1" fmla="*/ 266700 w 315318"/>
              <a:gd name="connsiteY1" fmla="*/ 228600 h 561975"/>
              <a:gd name="connsiteX2" fmla="*/ 314325 w 315318"/>
              <a:gd name="connsiteY2" fmla="*/ 561975 h 561975"/>
              <a:gd name="connsiteX0" fmla="*/ 0 w 319289"/>
              <a:gd name="connsiteY0" fmla="*/ 0 h 561975"/>
              <a:gd name="connsiteX1" fmla="*/ 266700 w 319289"/>
              <a:gd name="connsiteY1" fmla="*/ 228600 h 561975"/>
              <a:gd name="connsiteX2" fmla="*/ 314325 w 319289"/>
              <a:gd name="connsiteY2" fmla="*/ 561975 h 561975"/>
              <a:gd name="connsiteX0" fmla="*/ 0 w 244780"/>
              <a:gd name="connsiteY0" fmla="*/ 0 h 504825"/>
              <a:gd name="connsiteX1" fmla="*/ 193675 w 244780"/>
              <a:gd name="connsiteY1" fmla="*/ 171450 h 504825"/>
              <a:gd name="connsiteX2" fmla="*/ 241300 w 244780"/>
              <a:gd name="connsiteY2" fmla="*/ 504825 h 504825"/>
              <a:gd name="connsiteX0" fmla="*/ 0 w 244780"/>
              <a:gd name="connsiteY0" fmla="*/ 0 h 504825"/>
              <a:gd name="connsiteX1" fmla="*/ 193675 w 244780"/>
              <a:gd name="connsiteY1" fmla="*/ 171450 h 504825"/>
              <a:gd name="connsiteX2" fmla="*/ 241300 w 244780"/>
              <a:gd name="connsiteY2"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4088"/>
              <a:gd name="connsiteY0" fmla="*/ 0 h 504825"/>
              <a:gd name="connsiteX1" fmla="*/ 241300 w 244088"/>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504825"/>
              <a:gd name="connsiteX1" fmla="*/ 241300 w 241300"/>
              <a:gd name="connsiteY1" fmla="*/ 504825 h 504825"/>
              <a:gd name="connsiteX0" fmla="*/ 0 w 241300"/>
              <a:gd name="connsiteY0" fmla="*/ 0 h 495300"/>
              <a:gd name="connsiteX1" fmla="*/ 241300 w 241300"/>
              <a:gd name="connsiteY1" fmla="*/ 495300 h 495300"/>
              <a:gd name="connsiteX0" fmla="*/ 0 w 219075"/>
              <a:gd name="connsiteY0" fmla="*/ 0 h 698500"/>
              <a:gd name="connsiteX1" fmla="*/ 219075 w 219075"/>
              <a:gd name="connsiteY1" fmla="*/ 698500 h 698500"/>
              <a:gd name="connsiteX0" fmla="*/ 0 w 258218"/>
              <a:gd name="connsiteY0" fmla="*/ 0 h 698500"/>
              <a:gd name="connsiteX1" fmla="*/ 219075 w 258218"/>
              <a:gd name="connsiteY1" fmla="*/ 698500 h 698500"/>
            </a:gdLst>
            <a:ahLst/>
            <a:cxnLst>
              <a:cxn ang="0">
                <a:pos x="connsiteX0" y="connsiteY0"/>
              </a:cxn>
              <a:cxn ang="0">
                <a:pos x="connsiteX1" y="connsiteY1"/>
              </a:cxn>
            </a:cxnLst>
            <a:rect l="l" t="t" r="r" b="b"/>
            <a:pathLst>
              <a:path w="258218" h="698500">
                <a:moveTo>
                  <a:pt x="0" y="0"/>
                </a:moveTo>
                <a:cubicBezTo>
                  <a:pt x="201083" y="88900"/>
                  <a:pt x="325967" y="304800"/>
                  <a:pt x="219075" y="698500"/>
                </a:cubicBezTo>
              </a:path>
            </a:pathLst>
          </a:custGeom>
          <a:noFill/>
          <a:ln w="571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AFAFA"/>
              </a:solidFill>
            </a:endParaRPr>
          </a:p>
        </p:txBody>
      </p:sp>
      <p:sp>
        <p:nvSpPr>
          <p:cNvPr id="30" name="MH_Other_22">
            <a:extLst>
              <a:ext uri="{FF2B5EF4-FFF2-40B4-BE49-F238E27FC236}">
                <a16:creationId xmlns:a16="http://schemas.microsoft.com/office/drawing/2014/main" id="{21C69E33-8F57-4BF8-B5C5-97455C73279A}"/>
              </a:ext>
            </a:extLst>
          </p:cNvPr>
          <p:cNvSpPr/>
          <p:nvPr>
            <p:custDataLst>
              <p:tags r:id="rId27"/>
            </p:custDataLst>
          </p:nvPr>
        </p:nvSpPr>
        <p:spPr>
          <a:xfrm rot="19691507">
            <a:off x="5494110" y="4332272"/>
            <a:ext cx="103589" cy="89149"/>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AFAFA"/>
              </a:solidFill>
            </a:endParaRPr>
          </a:p>
        </p:txBody>
      </p:sp>
      <p:sp>
        <p:nvSpPr>
          <p:cNvPr id="31" name="MH_Other_23">
            <a:extLst>
              <a:ext uri="{FF2B5EF4-FFF2-40B4-BE49-F238E27FC236}">
                <a16:creationId xmlns:a16="http://schemas.microsoft.com/office/drawing/2014/main" id="{82E87584-8946-4E4E-AEB7-55859C266687}"/>
              </a:ext>
            </a:extLst>
          </p:cNvPr>
          <p:cNvSpPr/>
          <p:nvPr>
            <p:custDataLst>
              <p:tags r:id="rId28"/>
            </p:custDataLst>
          </p:nvPr>
        </p:nvSpPr>
        <p:spPr>
          <a:xfrm rot="18108256">
            <a:off x="5587674" y="5359804"/>
            <a:ext cx="112922" cy="7858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AFAFA"/>
              </a:solidFill>
            </a:endParaRPr>
          </a:p>
        </p:txBody>
      </p:sp>
      <p:sp>
        <p:nvSpPr>
          <p:cNvPr id="32" name="MH_Other_24">
            <a:extLst>
              <a:ext uri="{FF2B5EF4-FFF2-40B4-BE49-F238E27FC236}">
                <a16:creationId xmlns:a16="http://schemas.microsoft.com/office/drawing/2014/main" id="{977A64E7-5927-496C-9AB5-B56FEED14F04}"/>
              </a:ext>
            </a:extLst>
          </p:cNvPr>
          <p:cNvSpPr/>
          <p:nvPr>
            <p:custDataLst>
              <p:tags r:id="rId29"/>
            </p:custDataLst>
          </p:nvPr>
        </p:nvSpPr>
        <p:spPr>
          <a:xfrm rot="1502139">
            <a:off x="6456776" y="4845377"/>
            <a:ext cx="107162" cy="9509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AFAFA"/>
              </a:solidFill>
            </a:endParaRPr>
          </a:p>
        </p:txBody>
      </p:sp>
      <p:sp>
        <p:nvSpPr>
          <p:cNvPr id="33" name="MH_Other_25">
            <a:extLst>
              <a:ext uri="{FF2B5EF4-FFF2-40B4-BE49-F238E27FC236}">
                <a16:creationId xmlns:a16="http://schemas.microsoft.com/office/drawing/2014/main" id="{771B5CC7-3FC3-4959-8B94-98A701D68C38}"/>
              </a:ext>
            </a:extLst>
          </p:cNvPr>
          <p:cNvSpPr/>
          <p:nvPr>
            <p:custDataLst>
              <p:tags r:id="rId30"/>
            </p:custDataLst>
          </p:nvPr>
        </p:nvSpPr>
        <p:spPr>
          <a:xfrm rot="2162262">
            <a:off x="6501427" y="3016818"/>
            <a:ext cx="92873" cy="81225"/>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AFAFA"/>
              </a:solidFill>
            </a:endParaRPr>
          </a:p>
        </p:txBody>
      </p:sp>
      <p:sp>
        <p:nvSpPr>
          <p:cNvPr id="34" name="文本框 33">
            <a:extLst>
              <a:ext uri="{FF2B5EF4-FFF2-40B4-BE49-F238E27FC236}">
                <a16:creationId xmlns:a16="http://schemas.microsoft.com/office/drawing/2014/main" id="{E956670A-7363-47D5-99A7-9132178766DD}"/>
              </a:ext>
            </a:extLst>
          </p:cNvPr>
          <p:cNvSpPr txBox="1"/>
          <p:nvPr/>
        </p:nvSpPr>
        <p:spPr>
          <a:xfrm>
            <a:off x="1046439" y="575481"/>
            <a:ext cx="4731026" cy="584775"/>
          </a:xfrm>
          <a:prstGeom prst="rect">
            <a:avLst/>
          </a:prstGeom>
          <a:noFill/>
          <a:ln w="28575">
            <a:noFill/>
          </a:ln>
        </p:spPr>
        <p:txBody>
          <a:bodyPr wrap="square" rtlCol="0">
            <a:spAutoFit/>
          </a:bodyPr>
          <a:lstStyle/>
          <a:p>
            <a:pPr>
              <a:buClr>
                <a:srgbClr val="C00000"/>
              </a:buClr>
            </a:pPr>
            <a:r>
              <a:rPr lang="en-US" altLang="zh-CN" sz="3200" dirty="0">
                <a:latin typeface="Times New Roman" panose="02020603050405020304" pitchFamily="18" charset="0"/>
                <a:cs typeface="Times New Roman" panose="02020603050405020304" pitchFamily="18" charset="0"/>
              </a:rPr>
              <a:t>Functions of Culture</a:t>
            </a:r>
          </a:p>
        </p:txBody>
      </p:sp>
    </p:spTree>
    <p:extLst>
      <p:ext uri="{BB962C8B-B14F-4D97-AF65-F5344CB8AC3E}">
        <p14:creationId xmlns:p14="http://schemas.microsoft.com/office/powerpoint/2010/main" val="1142341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 calcmode="lin" valueType="num">
                                      <p:cBhvr>
                                        <p:cTn id="14" dur="500" fill="hold"/>
                                        <p:tgtEl>
                                          <p:spTgt spid="20"/>
                                        </p:tgtEl>
                                        <p:attrNameLst>
                                          <p:attrName>ppt_w</p:attrName>
                                        </p:attrNameLst>
                                      </p:cBhvr>
                                      <p:tavLst>
                                        <p:tav tm="0">
                                          <p:val>
                                            <p:fltVal val="0"/>
                                          </p:val>
                                        </p:tav>
                                        <p:tav tm="100000">
                                          <p:val>
                                            <p:strVal val="#ppt_w"/>
                                          </p:val>
                                        </p:tav>
                                      </p:tavLst>
                                    </p:anim>
                                    <p:anim calcmode="lin" valueType="num">
                                      <p:cBhvr>
                                        <p:cTn id="15" dur="500" fill="hold"/>
                                        <p:tgtEl>
                                          <p:spTgt spid="20"/>
                                        </p:tgtEl>
                                        <p:attrNameLst>
                                          <p:attrName>ppt_h</p:attrName>
                                        </p:attrNameLst>
                                      </p:cBhvr>
                                      <p:tavLst>
                                        <p:tav tm="0">
                                          <p:val>
                                            <p:fltVal val="0"/>
                                          </p:val>
                                        </p:tav>
                                        <p:tav tm="100000">
                                          <p:val>
                                            <p:strVal val="#ppt_h"/>
                                          </p:val>
                                        </p:tav>
                                      </p:tavLst>
                                    </p:anim>
                                    <p:animEffect transition="in" filter="fad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ppt_w</p:attrName>
                                        </p:attrNameLst>
                                      </p:cBhvr>
                                      <p:tavLst>
                                        <p:tav tm="0">
                                          <p:val>
                                            <p:fltVal val="0"/>
                                          </p:val>
                                        </p:tav>
                                        <p:tav tm="100000">
                                          <p:val>
                                            <p:strVal val="#ppt_w"/>
                                          </p:val>
                                        </p:tav>
                                      </p:tavLst>
                                    </p:anim>
                                    <p:anim calcmode="lin" valueType="num">
                                      <p:cBhvr>
                                        <p:cTn id="22" dur="500" fill="hold"/>
                                        <p:tgtEl>
                                          <p:spTgt spid="19"/>
                                        </p:tgtEl>
                                        <p:attrNameLst>
                                          <p:attrName>ppt_h</p:attrName>
                                        </p:attrNameLst>
                                      </p:cBhvr>
                                      <p:tavLst>
                                        <p:tav tm="0">
                                          <p:val>
                                            <p:fltVal val="0"/>
                                          </p:val>
                                        </p:tav>
                                        <p:tav tm="100000">
                                          <p:val>
                                            <p:strVal val="#ppt_h"/>
                                          </p:val>
                                        </p:tav>
                                      </p:tavLst>
                                    </p:anim>
                                    <p:animEffect transition="in" filter="fade">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 calcmode="lin" valueType="num">
                                      <p:cBhvr>
                                        <p:cTn id="28" dur="500" fill="hold"/>
                                        <p:tgtEl>
                                          <p:spTgt spid="22"/>
                                        </p:tgtEl>
                                        <p:attrNameLst>
                                          <p:attrName>ppt_w</p:attrName>
                                        </p:attrNameLst>
                                      </p:cBhvr>
                                      <p:tavLst>
                                        <p:tav tm="0">
                                          <p:val>
                                            <p:fltVal val="0"/>
                                          </p:val>
                                        </p:tav>
                                        <p:tav tm="100000">
                                          <p:val>
                                            <p:strVal val="#ppt_w"/>
                                          </p:val>
                                        </p:tav>
                                      </p:tavLst>
                                    </p:anim>
                                    <p:anim calcmode="lin" valueType="num">
                                      <p:cBhvr>
                                        <p:cTn id="29" dur="500" fill="hold"/>
                                        <p:tgtEl>
                                          <p:spTgt spid="22"/>
                                        </p:tgtEl>
                                        <p:attrNameLst>
                                          <p:attrName>ppt_h</p:attrName>
                                        </p:attrNameLst>
                                      </p:cBhvr>
                                      <p:tavLst>
                                        <p:tav tm="0">
                                          <p:val>
                                            <p:fltVal val="0"/>
                                          </p:val>
                                        </p:tav>
                                        <p:tav tm="100000">
                                          <p:val>
                                            <p:strVal val="#ppt_h"/>
                                          </p:val>
                                        </p:tav>
                                      </p:tavLst>
                                    </p:anim>
                                    <p:animEffect transition="in" filter="fade">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p:cTn id="35" dur="500" fill="hold"/>
                                        <p:tgtEl>
                                          <p:spTgt spid="23"/>
                                        </p:tgtEl>
                                        <p:attrNameLst>
                                          <p:attrName>ppt_w</p:attrName>
                                        </p:attrNameLst>
                                      </p:cBhvr>
                                      <p:tavLst>
                                        <p:tav tm="0">
                                          <p:val>
                                            <p:fltVal val="0"/>
                                          </p:val>
                                        </p:tav>
                                        <p:tav tm="100000">
                                          <p:val>
                                            <p:strVal val="#ppt_w"/>
                                          </p:val>
                                        </p:tav>
                                      </p:tavLst>
                                    </p:anim>
                                    <p:anim calcmode="lin" valueType="num">
                                      <p:cBhvr>
                                        <p:cTn id="36" dur="500" fill="hold"/>
                                        <p:tgtEl>
                                          <p:spTgt spid="23"/>
                                        </p:tgtEl>
                                        <p:attrNameLst>
                                          <p:attrName>ppt_h</p:attrName>
                                        </p:attrNameLst>
                                      </p:cBhvr>
                                      <p:tavLst>
                                        <p:tav tm="0">
                                          <p:val>
                                            <p:fltVal val="0"/>
                                          </p:val>
                                        </p:tav>
                                        <p:tav tm="100000">
                                          <p:val>
                                            <p:strVal val="#ppt_h"/>
                                          </p:val>
                                        </p:tav>
                                      </p:tavLst>
                                    </p:anim>
                                    <p:animEffect transition="in" filter="fade">
                                      <p:cBhvr>
                                        <p:cTn id="3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64D7C9-7725-4E55-846E-07D79FB60869}"/>
              </a:ext>
            </a:extLst>
          </p:cNvPr>
          <p:cNvSpPr txBox="1"/>
          <p:nvPr/>
        </p:nvSpPr>
        <p:spPr>
          <a:xfrm>
            <a:off x="1036009" y="788523"/>
            <a:ext cx="8632924" cy="1953868"/>
          </a:xfrm>
          <a:prstGeom prst="rect">
            <a:avLst/>
          </a:prstGeom>
          <a:noFill/>
        </p:spPr>
        <p:txBody>
          <a:bodyPr wrap="square" rtlCol="0">
            <a:spAutoFit/>
          </a:bodyPr>
          <a:lstStyle/>
          <a:p>
            <a:pPr>
              <a:lnSpc>
                <a:spcPct val="150000"/>
              </a:lnSpc>
            </a:pP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Ethnocentrism:  </a:t>
            </a:r>
            <a:r>
              <a:rPr lang="en-US" altLang="zh-CN" sz="2800" dirty="0">
                <a:latin typeface="Times New Roman" panose="02020603050405020304" pitchFamily="18" charset="0"/>
                <a:cs typeface="Times New Roman" panose="02020603050405020304" pitchFamily="18" charset="0"/>
              </a:rPr>
              <a:t>our tendency to consider our own cultural practices as superior and consider other cultural practices as inferior</a:t>
            </a:r>
          </a:p>
        </p:txBody>
      </p:sp>
      <p:pic>
        <p:nvPicPr>
          <p:cNvPr id="5" name="图片 4">
            <a:extLst>
              <a:ext uri="{FF2B5EF4-FFF2-40B4-BE49-F238E27FC236}">
                <a16:creationId xmlns:a16="http://schemas.microsoft.com/office/drawing/2014/main" id="{6FC47962-614A-4AD1-BFA3-73CF6689676A}"/>
              </a:ext>
            </a:extLst>
          </p:cNvPr>
          <p:cNvPicPr>
            <a:picLocks noChangeAspect="1"/>
          </p:cNvPicPr>
          <p:nvPr/>
        </p:nvPicPr>
        <p:blipFill rotWithShape="1">
          <a:blip r:embed="rId2">
            <a:extLst>
              <a:ext uri="{28A0092B-C50C-407E-A947-70E740481C1C}">
                <a14:useLocalDpi xmlns:a14="http://schemas.microsoft.com/office/drawing/2010/main" val="0"/>
              </a:ext>
            </a:extLst>
          </a:blip>
          <a:srcRect b="8761"/>
          <a:stretch/>
        </p:blipFill>
        <p:spPr>
          <a:xfrm>
            <a:off x="1159934" y="3070881"/>
            <a:ext cx="4360333" cy="2482483"/>
          </a:xfrm>
          <a:prstGeom prst="rect">
            <a:avLst/>
          </a:prstGeom>
        </p:spPr>
      </p:pic>
    </p:spTree>
    <p:extLst>
      <p:ext uri="{BB962C8B-B14F-4D97-AF65-F5344CB8AC3E}">
        <p14:creationId xmlns:p14="http://schemas.microsoft.com/office/powerpoint/2010/main" val="1695723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DFFC8C3-1ADA-4117-8B41-4F7C3F90E041}"/>
              </a:ext>
            </a:extLst>
          </p:cNvPr>
          <p:cNvSpPr>
            <a:spLocks noGrp="1"/>
          </p:cNvSpPr>
          <p:nvPr>
            <p:ph idx="1"/>
          </p:nvPr>
        </p:nvSpPr>
        <p:spPr>
          <a:xfrm>
            <a:off x="558798" y="636104"/>
            <a:ext cx="11142871" cy="5895325"/>
          </a:xfrm>
        </p:spPr>
        <p:txBody>
          <a:bodyPr/>
          <a:lstStyle/>
          <a:p>
            <a:pPr algn="just"/>
            <a:r>
              <a:rPr lang="en-US" altLang="zh-CN" b="1" kern="100" dirty="0">
                <a:effectLst/>
                <a:ea typeface="宋体" panose="02010600030101010101" pitchFamily="2" charset="-122"/>
                <a:cs typeface="Arial" panose="020B0604020202020204" pitchFamily="34" charset="0"/>
              </a:rPr>
              <a:t>Part Three Exercises</a:t>
            </a:r>
            <a:endParaRPr lang="zh-CN" altLang="zh-CN" kern="100" dirty="0">
              <a:effectLst/>
              <a:ea typeface="宋体" panose="02010600030101010101" pitchFamily="2" charset="-122"/>
              <a:cs typeface="Arial" panose="020B0604020202020204" pitchFamily="34" charset="0"/>
            </a:endParaRPr>
          </a:p>
          <a:p>
            <a:pPr algn="just"/>
            <a:r>
              <a:rPr lang="en-US" altLang="zh-CN" b="1" kern="0" dirty="0">
                <a:solidFill>
                  <a:srgbClr val="333333"/>
                </a:solidFill>
                <a:effectLst/>
                <a:ea typeface="宋体" panose="02010600030101010101" pitchFamily="2" charset="-122"/>
                <a:cs typeface="Arial" panose="020B0604020202020204" pitchFamily="34" charset="0"/>
              </a:rPr>
              <a:t>Section A Culture Quiz</a:t>
            </a:r>
            <a:endParaRPr lang="zh-CN" altLang="zh-CN" kern="100" dirty="0">
              <a:effectLst/>
              <a:ea typeface="宋体" panose="02010600030101010101" pitchFamily="2" charset="-122"/>
              <a:cs typeface="Arial" panose="020B0604020202020204" pitchFamily="34" charset="0"/>
            </a:endParaRPr>
          </a:p>
          <a:p>
            <a:pPr indent="0" algn="just">
              <a:buNone/>
            </a:pPr>
            <a:r>
              <a:rPr lang="en-US" altLang="zh-CN" kern="100" dirty="0">
                <a:effectLst/>
                <a:ea typeface="宋体" panose="02010600030101010101" pitchFamily="2" charset="-122"/>
                <a:cs typeface="Arial" panose="020B0604020202020204" pitchFamily="34" charset="0"/>
              </a:rPr>
              <a:t>1. </a:t>
            </a:r>
            <a:r>
              <a:rPr lang="en-US" altLang="zh-CN" kern="0" dirty="0">
                <a:effectLst/>
                <a:ea typeface="宋体" panose="02010600030101010101" pitchFamily="2" charset="-122"/>
                <a:cs typeface="Arial" panose="020B0604020202020204" pitchFamily="34" charset="0"/>
              </a:rPr>
              <a:t>Watch the video </a:t>
            </a:r>
            <a:r>
              <a:rPr lang="en-US" altLang="zh-CN" i="1" kern="0" dirty="0">
                <a:effectLst/>
                <a:ea typeface="宋体" panose="02010600030101010101" pitchFamily="2" charset="-122"/>
                <a:cs typeface="Arial" panose="020B0604020202020204" pitchFamily="34" charset="0"/>
              </a:rPr>
              <a:t>Collectivism-Individualism Through Dance</a:t>
            </a:r>
            <a:r>
              <a:rPr lang="en-US" altLang="zh-CN" kern="0" dirty="0">
                <a:effectLst/>
                <a:ea typeface="宋体" panose="02010600030101010101" pitchFamily="2" charset="-122"/>
                <a:cs typeface="Arial" panose="020B0604020202020204" pitchFamily="34" charset="0"/>
              </a:rPr>
              <a:t> to learn some differences between me-culture and we-culture and fill in the following blanks, and then explain why the student and the teacher have their different opinions on the same answer in the exam.</a:t>
            </a:r>
            <a:endParaRPr lang="zh-CN" altLang="zh-CN" kern="100" dirty="0">
              <a:effectLst/>
              <a:ea typeface="宋体" panose="02010600030101010101" pitchFamily="2" charset="-122"/>
              <a:cs typeface="Arial" panose="020B0604020202020204" pitchFamily="34" charset="0"/>
            </a:endParaRPr>
          </a:p>
          <a:p>
            <a:pPr indent="0" algn="just">
              <a:buNone/>
            </a:pPr>
            <a:r>
              <a:rPr lang="en-US" altLang="zh-CN" b="1" kern="100" dirty="0">
                <a:effectLst/>
                <a:ea typeface="宋体" panose="02010600030101010101" pitchFamily="2" charset="-122"/>
                <a:cs typeface="Arial" panose="020B0604020202020204" pitchFamily="34" charset="0"/>
              </a:rPr>
              <a:t>Me-culture</a:t>
            </a:r>
            <a:r>
              <a:rPr lang="en-US" altLang="zh-CN" kern="100" dirty="0">
                <a:effectLst/>
                <a:ea typeface="宋体" panose="02010600030101010101" pitchFamily="2" charset="-122"/>
                <a:cs typeface="Arial" panose="020B0604020202020204" pitchFamily="34" charset="0"/>
              </a:rPr>
              <a:t> means individualistic culture which plays individual first. People from individualistic cultures like the United States and Western Europe are more likely to value uniqueness over harmony, expression over agreement, and to define themselves as unique or different from the group.</a:t>
            </a:r>
            <a:endParaRPr lang="en-US" altLang="zh-CN" kern="100" dirty="0">
              <a:ea typeface="宋体" panose="02010600030101010101" pitchFamily="2" charset="-122"/>
              <a:cs typeface="Arial" panose="020B0604020202020204" pitchFamily="34" charset="0"/>
            </a:endParaRPr>
          </a:p>
          <a:p>
            <a:pPr indent="0" algn="just">
              <a:buNone/>
            </a:pPr>
            <a:r>
              <a:rPr lang="en-US" altLang="zh-CN" b="1" kern="100" dirty="0">
                <a:effectLst/>
                <a:ea typeface="宋体" panose="02010600030101010101" pitchFamily="2" charset="-122"/>
                <a:cs typeface="Arial" panose="020B0604020202020204" pitchFamily="34" charset="0"/>
              </a:rPr>
              <a:t>We-culture</a:t>
            </a:r>
            <a:r>
              <a:rPr lang="en-US" altLang="zh-CN" kern="100" dirty="0">
                <a:effectLst/>
                <a:ea typeface="宋体" panose="02010600030101010101" pitchFamily="2" charset="-122"/>
                <a:cs typeface="Arial" panose="020B0604020202020204" pitchFamily="34" charset="0"/>
              </a:rPr>
              <a:t> means collectivist culture which plays group first. People from collectivist cultures are more likely to value social harmony over individuality. Relative to people in an individualistic culture, they are more likely to endorse behaviors that increase group cohesion and interdependence.</a:t>
            </a:r>
            <a:endParaRPr lang="zh-CN" altLang="zh-CN" kern="100" dirty="0">
              <a:effectLst/>
              <a:ea typeface="宋体" panose="02010600030101010101" pitchFamily="2" charset="-122"/>
              <a:cs typeface="Arial" panose="020B0604020202020204" pitchFamily="34" charset="0"/>
            </a:endParaRPr>
          </a:p>
          <a:p>
            <a:endParaRPr lang="zh-CN" altLang="en-US" dirty="0"/>
          </a:p>
        </p:txBody>
      </p:sp>
    </p:spTree>
    <p:extLst>
      <p:ext uri="{BB962C8B-B14F-4D97-AF65-F5344CB8AC3E}">
        <p14:creationId xmlns:p14="http://schemas.microsoft.com/office/powerpoint/2010/main" val="38146531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2"/>
</p:tagLst>
</file>

<file path=ppt/tags/tag3.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3"/>
</p:tagLst>
</file>

<file path=ppt/tags/tag4.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4"/>
</p:tagLst>
</file>

<file path=ppt/tags/tag5.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5"/>
</p:tagLst>
</file>

<file path=ppt/tags/tag6.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6"/>
</p:tagLst>
</file>

<file path=ppt/tags/tag7.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7"/>
</p:tagLst>
</file>

<file path=ppt/tags/tag8.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8"/>
</p:tagLst>
</file>

<file path=ppt/tags/tag9.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9"/>
</p:tagLst>
</file>

<file path=ppt/tags/tag10.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10"/>
</p:tagLst>
</file>

<file path=ppt/tags/tag11.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11"/>
</p:tagLst>
</file>

<file path=ppt/tags/tag12.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12"/>
</p:tagLst>
</file>

<file path=ppt/tags/tag13.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13"/>
</p:tagLst>
</file>

<file path=ppt/tags/tag14.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14"/>
</p:tagLst>
</file>

<file path=ppt/tags/tag15.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15"/>
</p:tagLst>
</file>

<file path=ppt/tags/tag16.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SubTitle"/>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SubTitle"/>
  <p:tag name="MH_ORDER" val="2"/>
</p:tagLst>
</file>

<file path=ppt/tags/tag18.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SubTitle"/>
  <p:tag name="MH_ORDER" val="1"/>
</p:tagLst>
</file>

<file path=ppt/tags/tag19.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SubTitle"/>
  <p:tag name="MH_ORDER" val="4"/>
</p:tagLst>
</file>

<file path=ppt/tags/tag20.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SubTitle"/>
  <p:tag name="MH_ORDER" val="5"/>
</p:tagLst>
</file>

<file path=ppt/tags/tag21.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16"/>
</p:tagLst>
</file>

<file path=ppt/tags/tag22.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17"/>
</p:tagLst>
</file>

<file path=ppt/tags/tag23.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18"/>
</p:tagLst>
</file>

<file path=ppt/tags/tag24.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19"/>
</p:tagLst>
</file>

<file path=ppt/tags/tag25.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20"/>
</p:tagLst>
</file>

<file path=ppt/tags/tag26.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21"/>
</p:tagLst>
</file>

<file path=ppt/tags/tag27.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22"/>
</p:tagLst>
</file>

<file path=ppt/tags/tag28.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23"/>
</p:tagLst>
</file>

<file path=ppt/tags/tag29.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24"/>
</p:tagLst>
</file>

<file path=ppt/tags/tag30.xml><?xml version="1.0" encoding="utf-8"?>
<p:tagLst xmlns:a="http://schemas.openxmlformats.org/drawingml/2006/main" xmlns:r="http://schemas.openxmlformats.org/officeDocument/2006/relationships" xmlns:p="http://schemas.openxmlformats.org/presentationml/2006/main">
  <p:tag name="MH" val="20190722144516"/>
  <p:tag name="MH_LIBRARY" val="GRAPHIC"/>
  <p:tag name="MH_TYPE" val="Other"/>
  <p:tag name="MH_ORDER" val="25"/>
</p:tagLst>
</file>

<file path=ppt/theme/theme1.xml><?xml version="1.0" encoding="utf-8"?>
<a:theme xmlns:a="http://schemas.openxmlformats.org/drawingml/2006/main" name="A000120140530A99PPBG">
  <a:themeElements>
    <a:clrScheme name="自定义 1">
      <a:dk1>
        <a:srgbClr val="3F3F3F"/>
      </a:dk1>
      <a:lt1>
        <a:sysClr val="window" lastClr="FFFFFF"/>
      </a:lt1>
      <a:dk2>
        <a:srgbClr val="39302A"/>
      </a:dk2>
      <a:lt2>
        <a:srgbClr val="FFFFFF"/>
      </a:lt2>
      <a:accent1>
        <a:srgbClr val="ECB61C"/>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自定义 2">
      <a:majorFont>
        <a:latin typeface="Baskerville Old Face"/>
        <a:ea typeface="微软雅黑"/>
        <a:cs typeface=""/>
      </a:majorFont>
      <a:minorFont>
        <a:latin typeface="Calibri"/>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A000120140627A30KPBG</Template>
  <TotalTime>937</TotalTime>
  <Words>293</Words>
  <Application>Microsoft Office PowerPoint</Application>
  <PresentationFormat>宽屏</PresentationFormat>
  <Paragraphs>42</Paragraphs>
  <Slides>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vt:i4>
      </vt:variant>
    </vt:vector>
  </HeadingPairs>
  <TitlesOfParts>
    <vt:vector size="18" baseType="lpstr">
      <vt:lpstr>等线</vt:lpstr>
      <vt:lpstr>宋体</vt:lpstr>
      <vt:lpstr>微软雅黑</vt:lpstr>
      <vt:lpstr>幼圆</vt:lpstr>
      <vt:lpstr>Arial</vt:lpstr>
      <vt:lpstr>Arial Black</vt:lpstr>
      <vt:lpstr>Baskerville Old Face</vt:lpstr>
      <vt:lpstr>Bodoni MT Black</vt:lpstr>
      <vt:lpstr>Calibri</vt:lpstr>
      <vt:lpstr>Times New Roman</vt:lpstr>
      <vt:lpstr>A000120140530A99PPBG</vt:lpstr>
      <vt:lpstr>Intercultural Communication</vt:lpstr>
      <vt:lpstr>Communication</vt:lpstr>
      <vt:lpstr>PowerPoint 演示文稿</vt:lpstr>
      <vt:lpstr>Communication &amp; Culture</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Intercultural Communication</dc:title>
  <dc:creator>Vivian</dc:creator>
  <cp:lastModifiedBy>user</cp:lastModifiedBy>
  <cp:revision>56</cp:revision>
  <dcterms:created xsi:type="dcterms:W3CDTF">2021-03-02T01:33:03Z</dcterms:created>
  <dcterms:modified xsi:type="dcterms:W3CDTF">2024-04-21T12:51:42Z</dcterms:modified>
</cp:coreProperties>
</file>