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8"/>
  </p:notesMasterIdLst>
  <p:sldIdLst>
    <p:sldId id="256" r:id="rId2"/>
    <p:sldId id="287" r:id="rId3"/>
    <p:sldId id="290" r:id="rId4"/>
    <p:sldId id="291" r:id="rId5"/>
    <p:sldId id="293" r:id="rId6"/>
    <p:sldId id="289" r:id="rId7"/>
  </p:sldIdLst>
  <p:sldSz cx="12192000" cy="6858000"/>
  <p:notesSz cx="6858000" cy="9144000"/>
  <p:defaultText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B5D826-3421-474E-A6A2-9258637C4F81}" type="datetimeFigureOut">
              <a:rPr lang="zh-CN" altLang="en-US" smtClean="0"/>
              <a:t>2024/4/21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9D91CA-7258-4CBD-A321-AC13C7DCB866}" type="slidenum">
              <a:rPr lang="zh-CN" altLang="en-US" smtClean="0"/>
              <a:t>‹#›</a:t>
            </a:fld>
            <a:endParaRPr lang="zh-CN" altLang="en-US"/>
          </a:p>
        </p:txBody>
      </p:sp>
    </p:spTree>
    <p:extLst>
      <p:ext uri="{BB962C8B-B14F-4D97-AF65-F5344CB8AC3E}">
        <p14:creationId xmlns:p14="http://schemas.microsoft.com/office/powerpoint/2010/main" val="4208390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a:extLst>
              <a:ext uri="{FF2B5EF4-FFF2-40B4-BE49-F238E27FC236}">
                <a16:creationId xmlns:a16="http://schemas.microsoft.com/office/drawing/2014/main" id="{135EF65C-54DA-4473-A61C-431879018D4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a:extLst>
              <a:ext uri="{FF2B5EF4-FFF2-40B4-BE49-F238E27FC236}">
                <a16:creationId xmlns:a16="http://schemas.microsoft.com/office/drawing/2014/main" id="{39AB1736-D39C-4724-86B0-114C4DC5A7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模板来自于 </a:t>
            </a:r>
            <a:r>
              <a:rPr lang="en-US" altLang="zh-CN"/>
              <a:t>http://meihua.docer.com/</a:t>
            </a:r>
          </a:p>
        </p:txBody>
      </p:sp>
      <p:sp>
        <p:nvSpPr>
          <p:cNvPr id="4100" name="灯片编号占位符 3">
            <a:extLst>
              <a:ext uri="{FF2B5EF4-FFF2-40B4-BE49-F238E27FC236}">
                <a16:creationId xmlns:a16="http://schemas.microsoft.com/office/drawing/2014/main" id="{54B5C3DA-CF00-4D81-A735-7C6BB46FF0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fld id="{2B25172E-6247-45ED-B63B-DDB1D705074B}" type="slidenum">
              <a:rPr lang="zh-CN" altLang="en-US">
                <a:latin typeface="Calibri" panose="020F0502020204030204" pitchFamily="34" charset="0"/>
              </a:rPr>
              <a:pPr/>
              <a:t>2</a:t>
            </a:fld>
            <a:endParaRPr lang="zh-CN"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solidFill>
            <a:srgbClr val="F7F1ED">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5" y="68881"/>
            <a:ext cx="7522234" cy="6652595"/>
          </a:xfrm>
          <a:prstGeom prst="rect">
            <a:avLst/>
          </a:prstGeom>
        </p:spPr>
      </p:pic>
      <p:sp>
        <p:nvSpPr>
          <p:cNvPr id="4"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
        <p:nvSpPr>
          <p:cNvPr id="3" name="KSO_CT2"/>
          <p:cNvSpPr>
            <a:spLocks noGrp="1"/>
          </p:cNvSpPr>
          <p:nvPr>
            <p:ph type="subTitle" idx="1" hasCustomPrompt="1"/>
          </p:nvPr>
        </p:nvSpPr>
        <p:spPr>
          <a:xfrm>
            <a:off x="3698575" y="3456594"/>
            <a:ext cx="4794850" cy="467211"/>
          </a:xfrm>
          <a:noFill/>
        </p:spPr>
        <p:txBody>
          <a:bodyPr>
            <a:noAutofit/>
          </a:bodyPr>
          <a:lstStyle>
            <a:lvl1pPr marL="0" indent="0" algn="ctr">
              <a:buNone/>
              <a:defRPr sz="1800">
                <a:solidFill>
                  <a:schemeClr val="accent3">
                    <a:lumMod val="75000"/>
                  </a:schemeClr>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3698575" y="1553537"/>
            <a:ext cx="4794850" cy="1720077"/>
          </a:xfrm>
        </p:spPr>
        <p:txBody>
          <a:bodyPr>
            <a:noAutofit/>
          </a:bodyPr>
          <a:lstStyle>
            <a:lvl1pPr algn="ctr">
              <a:lnSpc>
                <a:spcPct val="100000"/>
              </a:lnSpc>
              <a:defRPr sz="4000" baseline="0">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a:effectLst/>
                <a:latin typeface="Baskerville Old Face" panose="02020602080505020303" pitchFamily="18" charset="0"/>
              </a:defRPr>
            </a:lvl1pPr>
          </a:lstStyle>
          <a:p>
            <a:r>
              <a:rPr lang="zh-CN" altLang="en-US" dirty="0"/>
              <a:t>单击此处</a:t>
            </a:r>
            <a:r>
              <a:rPr lang="en-US" altLang="zh-CN" dirty="0"/>
              <a:t/>
            </a:r>
            <a:br>
              <a:rPr lang="en-US" altLang="zh-CN" dirty="0"/>
            </a:br>
            <a:r>
              <a:rPr lang="zh-CN" altLang="en-US" dirty="0"/>
              <a:t>添加您的标题文字</a:t>
            </a:r>
          </a:p>
        </p:txBody>
      </p:sp>
    </p:spTree>
    <p:extLst>
      <p:ext uri="{BB962C8B-B14F-4D97-AF65-F5344CB8AC3E}">
        <p14:creationId xmlns:p14="http://schemas.microsoft.com/office/powerpoint/2010/main" val="686698756"/>
      </p:ext>
    </p:extLst>
  </p:cSld>
  <p:clrMapOvr>
    <a:masterClrMapping/>
  </p:clrMapOvr>
  <p:extLst>
    <p:ext uri="{DCECCB84-F9BA-43D5-87BE-67443E8EF086}">
      <p15:sldGuideLst xmlns:p15="http://schemas.microsoft.com/office/powerpoint/2012/main">
        <p15:guide id="0" orient="horz" pos="2160">
          <p15:clr>
            <a:srgbClr val="FBAE40"/>
          </p15:clr>
        </p15:guide>
        <p15:guide id="1" pos="4967">
          <p15:clr>
            <a:srgbClr val="FBAE40"/>
          </p15:clr>
        </p15:guide>
        <p15:guide id="2" pos="66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880555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98675" y="2017768"/>
            <a:ext cx="7994651" cy="1235075"/>
          </a:xfrm>
        </p:spPr>
        <p:txBody>
          <a:bodyPr anchor="b">
            <a:normAutofit/>
          </a:bodyPr>
          <a:lstStyle>
            <a:lvl1pPr algn="ctr">
              <a:defRPr sz="3600">
                <a:solidFill>
                  <a:schemeClr val="accent2">
                    <a:lumMod val="75000"/>
                  </a:schemeClr>
                </a:solidFill>
                <a:effectLst/>
              </a:defRPr>
            </a:lvl1pPr>
          </a:lstStyle>
          <a:p>
            <a:r>
              <a:rPr lang="zh-CN" altLang="en-US" dirty="0"/>
              <a:t>此处添加您的标题</a:t>
            </a:r>
            <a:endParaRPr lang="en-US" dirty="0"/>
          </a:p>
        </p:txBody>
      </p:sp>
      <p:sp>
        <p:nvSpPr>
          <p:cNvPr id="3" name="KSO_ST2"/>
          <p:cNvSpPr>
            <a:spLocks noGrp="1"/>
          </p:cNvSpPr>
          <p:nvPr>
            <p:ph type="body" idx="1" hasCustomPrompt="1"/>
          </p:nvPr>
        </p:nvSpPr>
        <p:spPr>
          <a:xfrm>
            <a:off x="4050893" y="3309993"/>
            <a:ext cx="4090217" cy="357478"/>
          </a:xfrm>
          <a:prstGeom prst="roundRect">
            <a:avLst>
              <a:gd name="adj" fmla="val 50000"/>
            </a:avLst>
          </a:prstGeom>
          <a:solidFill>
            <a:schemeClr val="tx2">
              <a:lumMod val="40000"/>
              <a:lumOff val="60000"/>
            </a:schemeClr>
          </a:solidFill>
        </p:spPr>
        <p:txBody>
          <a:bodyPr anchor="ctr">
            <a:normAutofit/>
          </a:bodyPr>
          <a:lstStyle>
            <a:lvl1pPr marL="0" indent="0" algn="ctr">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11019935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1839853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851362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929858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2670232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578587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4144031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105016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88BF24C2-BDE0-4827-AB78-C2004A9D09BE}" type="datetimeFigureOut">
              <a:rPr lang="zh-CN" altLang="en-US" smtClean="0"/>
              <a:t>2024/4/21</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D281E858-DF46-4C46-87A3-66271649DAEC}" type="slidenum">
              <a:rPr lang="zh-CN" altLang="en-US" smtClean="0"/>
              <a:t>‹#›</a:t>
            </a:fld>
            <a:endParaRPr lang="zh-CN" altLang="en-US"/>
          </a:p>
        </p:txBody>
      </p:sp>
    </p:spTree>
    <p:extLst>
      <p:ext uri="{BB962C8B-B14F-4D97-AF65-F5344CB8AC3E}">
        <p14:creationId xmlns:p14="http://schemas.microsoft.com/office/powerpoint/2010/main" val="3649935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3">
            <a:extLst>
              <a:ext uri="{28A0092B-C50C-407E-A947-70E740481C1C}">
                <a14:useLocalDpi xmlns:a14="http://schemas.microsoft.com/office/drawing/2010/main" val="0"/>
              </a:ext>
            </a:extLst>
          </a:blip>
          <a:srcRect l="-1717" t="433" r="9247" b="30728"/>
          <a:stretch/>
        </p:blipFill>
        <p:spPr>
          <a:xfrm>
            <a:off x="0" y="3667649"/>
            <a:ext cx="12192000" cy="3195372"/>
          </a:xfrm>
          <a:prstGeom prst="rect">
            <a:avLst/>
          </a:prstGeom>
        </p:spPr>
      </p:pic>
      <p:sp>
        <p:nvSpPr>
          <p:cNvPr id="7" name="矩形 6"/>
          <p:cNvSpPr/>
          <p:nvPr/>
        </p:nvSpPr>
        <p:spPr>
          <a:xfrm>
            <a:off x="0" y="1"/>
            <a:ext cx="12192000" cy="6863021"/>
          </a:xfrm>
          <a:prstGeom prst="rect">
            <a:avLst/>
          </a:prstGeom>
          <a:solidFill>
            <a:srgbClr val="F7F1ED">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KSO_BT1"/>
          <p:cNvSpPr>
            <a:spLocks noGrp="1"/>
          </p:cNvSpPr>
          <p:nvPr>
            <p:ph type="title"/>
          </p:nvPr>
        </p:nvSpPr>
        <p:spPr>
          <a:xfrm>
            <a:off x="558798" y="162557"/>
            <a:ext cx="11056060"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BF24C2-BDE0-4827-AB78-C2004A9D09BE}" type="datetimeFigureOut">
              <a:rPr lang="zh-CN" altLang="en-US" smtClean="0"/>
              <a:t>2024/4/21</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1E858-DF46-4C46-87A3-66271649DAEC}" type="slidenum">
              <a:rPr lang="zh-CN" altLang="en-US" smtClean="0"/>
              <a:t>‹#›</a:t>
            </a:fld>
            <a:endParaRPr lang="zh-CN" altLang="en-US"/>
          </a:p>
        </p:txBody>
      </p:sp>
      <p:sp>
        <p:nvSpPr>
          <p:cNvPr id="3" name="KSO_BC1"/>
          <p:cNvSpPr>
            <a:spLocks noGrp="1"/>
          </p:cNvSpPr>
          <p:nvPr>
            <p:ph type="body" idx="1"/>
          </p:nvPr>
        </p:nvSpPr>
        <p:spPr>
          <a:xfrm>
            <a:off x="558799" y="1096951"/>
            <a:ext cx="11056060" cy="543447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300260419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3200" b="1" i="0" kern="1200" baseline="0">
          <a:solidFill>
            <a:schemeClr val="accent2">
              <a:lumMod val="75000"/>
            </a:schemeClr>
          </a:solidFill>
          <a:effectLst/>
          <a:latin typeface="Arial Black" panose="020B0A04020102020204" pitchFamily="34" charset="0"/>
          <a:ea typeface="微软雅黑" panose="020B0503020204020204" pitchFamily="34" charset="-122"/>
          <a:cs typeface="+mj-cs"/>
        </a:defRPr>
      </a:lvl1pPr>
    </p:titleStyle>
    <p:bodyStyle>
      <a:lvl1pPr marL="357188" indent="-357188" algn="just" defTabSz="914400" rtl="0" eaLnBrk="1" latinLnBrk="0" hangingPunct="1">
        <a:lnSpc>
          <a:spcPct val="110000"/>
        </a:lnSpc>
        <a:spcBef>
          <a:spcPts val="1800"/>
        </a:spcBef>
        <a:spcAft>
          <a:spcPts val="0"/>
        </a:spcAft>
        <a:buClr>
          <a:schemeClr val="accent1"/>
        </a:buClr>
        <a:buSzPct val="100000"/>
        <a:buFontTx/>
        <a:buBlip>
          <a:blip r:embed="rId14"/>
        </a:buBlip>
        <a:defRPr sz="2000" kern="1200" baseline="0">
          <a:solidFill>
            <a:schemeClr val="accent3">
              <a:lumMod val="75000"/>
            </a:schemeClr>
          </a:solidFill>
          <a:latin typeface="Arial" panose="020B0604020202020204" pitchFamily="34" charset="0"/>
          <a:ea typeface="微软雅黑" panose="020B0503020204020204" pitchFamily="34" charset="-122"/>
          <a:cs typeface="+mn-cs"/>
        </a:defRPr>
      </a:lvl1pPr>
      <a:lvl2pPr marL="357188" indent="-357188" algn="just" defTabSz="914400" rtl="0" eaLnBrk="1" latinLnBrk="0" hangingPunct="1">
        <a:lnSpc>
          <a:spcPct val="130000"/>
        </a:lnSpc>
        <a:spcBef>
          <a:spcPts val="0"/>
        </a:spcBef>
        <a:spcAft>
          <a:spcPts val="600"/>
        </a:spcAft>
        <a:buClr>
          <a:schemeClr val="accent2">
            <a:lumMod val="60000"/>
            <a:lumOff val="40000"/>
          </a:schemeClr>
        </a:buClr>
        <a:buFont typeface="幼圆" panose="02010509060101010101" pitchFamily="49" charset="-122"/>
        <a:buChar char=" "/>
        <a:defRPr sz="1600" kern="1200" baseline="0">
          <a:solidFill>
            <a:srgbClr val="686868"/>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3FCC6A3-D807-44AB-84B8-6CD1003D07C5}"/>
              </a:ext>
            </a:extLst>
          </p:cNvPr>
          <p:cNvSpPr>
            <a:spLocks noGrp="1"/>
          </p:cNvSpPr>
          <p:nvPr>
            <p:ph type="subTitle" idx="1"/>
          </p:nvPr>
        </p:nvSpPr>
        <p:spPr>
          <a:xfrm>
            <a:off x="3790188" y="2517278"/>
            <a:ext cx="4611624" cy="2046111"/>
          </a:xfrm>
        </p:spPr>
        <p:txBody>
          <a:bodyPr/>
          <a:lstStyle/>
          <a:p>
            <a:r>
              <a:rPr lang="en-US" altLang="zh-CN" sz="2000" b="1" dirty="0"/>
              <a:t>Unit 1</a:t>
            </a:r>
          </a:p>
          <a:p>
            <a:r>
              <a:rPr lang="en-US" altLang="zh-CN" sz="2000" b="1" dirty="0"/>
              <a:t>Globalization and Intercultural Communication</a:t>
            </a:r>
            <a:endParaRPr lang="zh-CN" altLang="en-US" sz="2000" b="1" dirty="0"/>
          </a:p>
        </p:txBody>
      </p:sp>
      <p:sp>
        <p:nvSpPr>
          <p:cNvPr id="2" name="标题 1">
            <a:extLst>
              <a:ext uri="{FF2B5EF4-FFF2-40B4-BE49-F238E27FC236}">
                <a16:creationId xmlns:a16="http://schemas.microsoft.com/office/drawing/2014/main" id="{70F92505-FDDD-4869-B599-5F35BEA095F8}"/>
              </a:ext>
            </a:extLst>
          </p:cNvPr>
          <p:cNvSpPr>
            <a:spLocks noGrp="1"/>
          </p:cNvSpPr>
          <p:nvPr>
            <p:ph type="title"/>
          </p:nvPr>
        </p:nvSpPr>
        <p:spPr>
          <a:xfrm>
            <a:off x="3168776" y="1002543"/>
            <a:ext cx="5854448" cy="1212557"/>
          </a:xfrm>
        </p:spPr>
        <p:txBody>
          <a:bodyPr/>
          <a:lstStyle/>
          <a:p>
            <a:r>
              <a:rPr lang="en-US" altLang="zh-CN" dirty="0"/>
              <a:t>Intercultural Communication</a:t>
            </a:r>
            <a:endParaRPr lang="zh-CN" altLang="en-US" dirty="0"/>
          </a:p>
        </p:txBody>
      </p:sp>
    </p:spTree>
    <p:extLst>
      <p:ext uri="{BB962C8B-B14F-4D97-AF65-F5344CB8AC3E}">
        <p14:creationId xmlns:p14="http://schemas.microsoft.com/office/powerpoint/2010/main" val="173099048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DC416462-5719-4244-A5D6-3B592593B828}"/>
              </a:ext>
            </a:extLst>
          </p:cNvPr>
          <p:cNvGrpSpPr/>
          <p:nvPr/>
        </p:nvGrpSpPr>
        <p:grpSpPr>
          <a:xfrm>
            <a:off x="1634374" y="954156"/>
            <a:ext cx="6157905" cy="4207811"/>
            <a:chOff x="1660878" y="1317097"/>
            <a:chExt cx="5643033" cy="3672592"/>
          </a:xfrm>
        </p:grpSpPr>
        <p:sp>
          <p:nvSpPr>
            <p:cNvPr id="12" name="任意多边形 11">
              <a:extLst>
                <a:ext uri="{FF2B5EF4-FFF2-40B4-BE49-F238E27FC236}">
                  <a16:creationId xmlns:a16="http://schemas.microsoft.com/office/drawing/2014/main" id="{ED2FE262-F874-4C21-B02E-99BC87582E86}"/>
                </a:ext>
              </a:extLst>
            </p:cNvPr>
            <p:cNvSpPr/>
            <p:nvPr>
              <p:custDataLst>
                <p:tags r:id="rId2"/>
              </p:custDataLst>
            </p:nvPr>
          </p:nvSpPr>
          <p:spPr>
            <a:xfrm>
              <a:off x="2492069" y="1317097"/>
              <a:ext cx="4811842" cy="903096"/>
            </a:xfrm>
            <a:custGeom>
              <a:avLst/>
              <a:gdLst>
                <a:gd name="connsiteX0" fmla="*/ 2 w 3878508"/>
                <a:gd name="connsiteY0" fmla="*/ 0 h 762904"/>
                <a:gd name="connsiteX1" fmla="*/ 3497056 w 3878508"/>
                <a:gd name="connsiteY1" fmla="*/ 0 h 762904"/>
                <a:gd name="connsiteX2" fmla="*/ 3878508 w 3878508"/>
                <a:gd name="connsiteY2" fmla="*/ 381452 h 762904"/>
                <a:gd name="connsiteX3" fmla="*/ 3878507 w 3878508"/>
                <a:gd name="connsiteY3" fmla="*/ 381452 h 762904"/>
                <a:gd name="connsiteX4" fmla="*/ 3497055 w 3878508"/>
                <a:gd name="connsiteY4" fmla="*/ 762904 h 762904"/>
                <a:gd name="connsiteX5" fmla="*/ 0 w 3878508"/>
                <a:gd name="connsiteY5" fmla="*/ 762903 h 762904"/>
                <a:gd name="connsiteX6" fmla="*/ 51426 w 3878508"/>
                <a:gd name="connsiteY6" fmla="*/ 720474 h 762904"/>
                <a:gd name="connsiteX7" fmla="*/ 191853 w 3878508"/>
                <a:gd name="connsiteY7" fmla="*/ 381451 h 762904"/>
                <a:gd name="connsiteX8" fmla="*/ 51426 w 3878508"/>
                <a:gd name="connsiteY8" fmla="*/ 42429 h 76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8508" h="762904">
                  <a:moveTo>
                    <a:pt x="2" y="0"/>
                  </a:moveTo>
                  <a:lnTo>
                    <a:pt x="3497056" y="0"/>
                  </a:lnTo>
                  <a:cubicBezTo>
                    <a:pt x="3707726" y="0"/>
                    <a:pt x="3878508" y="170782"/>
                    <a:pt x="3878508" y="381452"/>
                  </a:cubicBezTo>
                  <a:lnTo>
                    <a:pt x="3878507" y="381452"/>
                  </a:lnTo>
                  <a:cubicBezTo>
                    <a:pt x="3878507" y="592122"/>
                    <a:pt x="3707725" y="762904"/>
                    <a:pt x="3497055" y="762904"/>
                  </a:cubicBezTo>
                  <a:lnTo>
                    <a:pt x="0" y="762903"/>
                  </a:lnTo>
                  <a:lnTo>
                    <a:pt x="51426" y="720474"/>
                  </a:lnTo>
                  <a:cubicBezTo>
                    <a:pt x="138189" y="633710"/>
                    <a:pt x="191853" y="513848"/>
                    <a:pt x="191853" y="381451"/>
                  </a:cubicBezTo>
                  <a:cubicBezTo>
                    <a:pt x="191853" y="249055"/>
                    <a:pt x="138189" y="129192"/>
                    <a:pt x="51426" y="42429"/>
                  </a:cubicBezTo>
                  <a:close/>
                </a:path>
              </a:pathLst>
            </a:custGeom>
            <a:solidFill>
              <a:schemeClr val="accent1">
                <a:lumMod val="20000"/>
                <a:lumOff val="80000"/>
              </a:schemeClr>
            </a:solidFill>
            <a:ln w="25400" cap="flat" cmpd="sng" algn="ctr">
              <a:noFill/>
              <a:prstDash val="solid"/>
            </a:ln>
            <a:effectLst/>
          </p:spPr>
          <p:txBody>
            <a:bodyPr lIns="396000" tIns="0" rIns="0" bIns="0" anchor="ctr">
              <a:noAutofit/>
            </a:bodyPr>
            <a:lstStyle/>
            <a:p>
              <a:pPr>
                <a:lnSpc>
                  <a:spcPct val="130000"/>
                </a:lnSpc>
                <a:defRPr/>
              </a:pPr>
              <a:r>
                <a:rPr lang="en-US" altLang="zh-CN" sz="2800" kern="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Intercultural Communication</a:t>
              </a:r>
              <a:endParaRPr lang="zh-CN" altLang="en-US" sz="2800" kern="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42" name="KSO_GT1">
              <a:extLst>
                <a:ext uri="{FF2B5EF4-FFF2-40B4-BE49-F238E27FC236}">
                  <a16:creationId xmlns:a16="http://schemas.microsoft.com/office/drawing/2014/main" id="{A7749FD0-9172-428C-A816-77480CBFD550}"/>
                </a:ext>
              </a:extLst>
            </p:cNvPr>
            <p:cNvSpPr/>
            <p:nvPr>
              <p:custDataLst>
                <p:tags r:id="rId3"/>
              </p:custDataLst>
            </p:nvPr>
          </p:nvSpPr>
          <p:spPr>
            <a:xfrm>
              <a:off x="1660878" y="1317097"/>
              <a:ext cx="947400" cy="903096"/>
            </a:xfrm>
            <a:prstGeom prst="ellipse">
              <a:avLst/>
            </a:prstGeom>
            <a:solidFill>
              <a:srgbClr val="FFFFFF"/>
            </a:solidFill>
            <a:ln w="57150" cap="flat" cmpd="sng" algn="ctr">
              <a:solidFill>
                <a:schemeClr val="accent1"/>
              </a:solidFill>
              <a:prstDash val="solid"/>
            </a:ln>
            <a:effectLst/>
          </p:spPr>
          <p:txBody>
            <a:bodyPr anchor="ctr"/>
            <a:lstStyle/>
            <a:p>
              <a:pPr>
                <a:defRPr/>
              </a:pPr>
              <a:r>
                <a:rPr lang="en-US" altLang="zh-CN" sz="4000" i="1" kern="0" dirty="0">
                  <a:ln w="0"/>
                  <a:effectLst>
                    <a:outerShdw blurRad="38100" dist="19050" dir="2700000" algn="tl" rotWithShape="0">
                      <a:schemeClr val="dk1">
                        <a:alpha val="40000"/>
                      </a:schemeClr>
                    </a:outerShdw>
                  </a:effectLst>
                  <a:latin typeface="Impact" panose="020B0806030902050204" pitchFamily="34" charset="0"/>
                </a:rPr>
                <a:t>1</a:t>
              </a:r>
            </a:p>
          </p:txBody>
        </p:sp>
        <p:sp>
          <p:nvSpPr>
            <p:cNvPr id="13" name="任意多边形 12">
              <a:extLst>
                <a:ext uri="{FF2B5EF4-FFF2-40B4-BE49-F238E27FC236}">
                  <a16:creationId xmlns:a16="http://schemas.microsoft.com/office/drawing/2014/main" id="{37355AC5-B0D9-43BD-95FE-C086BC96ADF1}"/>
                </a:ext>
              </a:extLst>
            </p:cNvPr>
            <p:cNvSpPr/>
            <p:nvPr>
              <p:custDataLst>
                <p:tags r:id="rId4"/>
              </p:custDataLst>
            </p:nvPr>
          </p:nvSpPr>
          <p:spPr>
            <a:xfrm>
              <a:off x="2492069" y="2701845"/>
              <a:ext cx="4811842" cy="903096"/>
            </a:xfrm>
            <a:custGeom>
              <a:avLst/>
              <a:gdLst>
                <a:gd name="connsiteX0" fmla="*/ 2 w 3878508"/>
                <a:gd name="connsiteY0" fmla="*/ 0 h 762904"/>
                <a:gd name="connsiteX1" fmla="*/ 3497056 w 3878508"/>
                <a:gd name="connsiteY1" fmla="*/ 0 h 762904"/>
                <a:gd name="connsiteX2" fmla="*/ 3878508 w 3878508"/>
                <a:gd name="connsiteY2" fmla="*/ 381452 h 762904"/>
                <a:gd name="connsiteX3" fmla="*/ 3878507 w 3878508"/>
                <a:gd name="connsiteY3" fmla="*/ 381452 h 762904"/>
                <a:gd name="connsiteX4" fmla="*/ 3497055 w 3878508"/>
                <a:gd name="connsiteY4" fmla="*/ 762904 h 762904"/>
                <a:gd name="connsiteX5" fmla="*/ 0 w 3878508"/>
                <a:gd name="connsiteY5" fmla="*/ 762903 h 762904"/>
                <a:gd name="connsiteX6" fmla="*/ 51426 w 3878508"/>
                <a:gd name="connsiteY6" fmla="*/ 720474 h 762904"/>
                <a:gd name="connsiteX7" fmla="*/ 191853 w 3878508"/>
                <a:gd name="connsiteY7" fmla="*/ 381451 h 762904"/>
                <a:gd name="connsiteX8" fmla="*/ 51426 w 3878508"/>
                <a:gd name="connsiteY8" fmla="*/ 42429 h 76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8508" h="762904">
                  <a:moveTo>
                    <a:pt x="2" y="0"/>
                  </a:moveTo>
                  <a:lnTo>
                    <a:pt x="3497056" y="0"/>
                  </a:lnTo>
                  <a:cubicBezTo>
                    <a:pt x="3707726" y="0"/>
                    <a:pt x="3878508" y="170782"/>
                    <a:pt x="3878508" y="381452"/>
                  </a:cubicBezTo>
                  <a:lnTo>
                    <a:pt x="3878507" y="381452"/>
                  </a:lnTo>
                  <a:cubicBezTo>
                    <a:pt x="3878507" y="592122"/>
                    <a:pt x="3707725" y="762904"/>
                    <a:pt x="3497055" y="762904"/>
                  </a:cubicBezTo>
                  <a:lnTo>
                    <a:pt x="0" y="762903"/>
                  </a:lnTo>
                  <a:lnTo>
                    <a:pt x="51426" y="720474"/>
                  </a:lnTo>
                  <a:cubicBezTo>
                    <a:pt x="138189" y="633710"/>
                    <a:pt x="191853" y="513848"/>
                    <a:pt x="191853" y="381451"/>
                  </a:cubicBezTo>
                  <a:cubicBezTo>
                    <a:pt x="191853" y="249055"/>
                    <a:pt x="138189" y="129192"/>
                    <a:pt x="51426" y="42429"/>
                  </a:cubicBezTo>
                  <a:close/>
                </a:path>
              </a:pathLst>
            </a:custGeom>
            <a:solidFill>
              <a:schemeClr val="accent1">
                <a:lumMod val="20000"/>
                <a:lumOff val="80000"/>
              </a:schemeClr>
            </a:solidFill>
            <a:ln w="25400" cap="flat" cmpd="sng" algn="ctr">
              <a:noFill/>
              <a:prstDash val="solid"/>
            </a:ln>
            <a:effectLst/>
          </p:spPr>
          <p:txBody>
            <a:bodyPr lIns="396000" tIns="0" rIns="0" bIns="0" anchor="ctr">
              <a:normAutofit/>
            </a:bodyPr>
            <a:lstStyle/>
            <a:p>
              <a:pPr>
                <a:lnSpc>
                  <a:spcPct val="130000"/>
                </a:lnSpc>
                <a:defRPr/>
              </a:pPr>
              <a:r>
                <a:rPr lang="en-US" altLang="zh-CN" sz="2800" kern="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Globalization</a:t>
              </a:r>
              <a:endParaRPr lang="zh-CN" altLang="en-US" sz="2800" kern="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14" name="KSO_GT1">
              <a:extLst>
                <a:ext uri="{FF2B5EF4-FFF2-40B4-BE49-F238E27FC236}">
                  <a16:creationId xmlns:a16="http://schemas.microsoft.com/office/drawing/2014/main" id="{449F8A9A-849F-486D-AE39-839941E1E6BC}"/>
                </a:ext>
              </a:extLst>
            </p:cNvPr>
            <p:cNvSpPr/>
            <p:nvPr>
              <p:custDataLst>
                <p:tags r:id="rId5"/>
              </p:custDataLst>
            </p:nvPr>
          </p:nvSpPr>
          <p:spPr>
            <a:xfrm>
              <a:off x="1660878" y="2701845"/>
              <a:ext cx="947400" cy="903096"/>
            </a:xfrm>
            <a:prstGeom prst="ellipse">
              <a:avLst/>
            </a:prstGeom>
            <a:solidFill>
              <a:srgbClr val="FFFFFF"/>
            </a:solidFill>
            <a:ln w="57150" cap="flat" cmpd="sng" algn="ctr">
              <a:solidFill>
                <a:schemeClr val="accent1"/>
              </a:solidFill>
              <a:prstDash val="solid"/>
            </a:ln>
            <a:effectLst/>
          </p:spPr>
          <p:txBody>
            <a:bodyPr anchor="ctr"/>
            <a:lstStyle/>
            <a:p>
              <a:pPr>
                <a:defRPr/>
              </a:pPr>
              <a:r>
                <a:rPr lang="en-US" altLang="zh-CN" sz="4000" i="1" kern="0" dirty="0">
                  <a:ln w="0"/>
                  <a:effectLst>
                    <a:outerShdw blurRad="38100" dist="19050" dir="2700000" algn="tl" rotWithShape="0">
                      <a:schemeClr val="dk1">
                        <a:alpha val="40000"/>
                      </a:schemeClr>
                    </a:outerShdw>
                  </a:effectLst>
                  <a:latin typeface="Impact" panose="020B0806030902050204" pitchFamily="34" charset="0"/>
                </a:rPr>
                <a:t>2</a:t>
              </a:r>
            </a:p>
          </p:txBody>
        </p:sp>
        <p:sp>
          <p:nvSpPr>
            <p:cNvPr id="15" name="任意多边形 14">
              <a:extLst>
                <a:ext uri="{FF2B5EF4-FFF2-40B4-BE49-F238E27FC236}">
                  <a16:creationId xmlns:a16="http://schemas.microsoft.com/office/drawing/2014/main" id="{2EA3A9D8-236C-41E9-8A26-B0D5F5E4BE4F}"/>
                </a:ext>
              </a:extLst>
            </p:cNvPr>
            <p:cNvSpPr/>
            <p:nvPr>
              <p:custDataLst>
                <p:tags r:id="rId6"/>
              </p:custDataLst>
            </p:nvPr>
          </p:nvSpPr>
          <p:spPr>
            <a:xfrm>
              <a:off x="2492069" y="4086593"/>
              <a:ext cx="4811842" cy="903096"/>
            </a:xfrm>
            <a:custGeom>
              <a:avLst/>
              <a:gdLst>
                <a:gd name="connsiteX0" fmla="*/ 2 w 3878508"/>
                <a:gd name="connsiteY0" fmla="*/ 0 h 762904"/>
                <a:gd name="connsiteX1" fmla="*/ 3497056 w 3878508"/>
                <a:gd name="connsiteY1" fmla="*/ 0 h 762904"/>
                <a:gd name="connsiteX2" fmla="*/ 3878508 w 3878508"/>
                <a:gd name="connsiteY2" fmla="*/ 381452 h 762904"/>
                <a:gd name="connsiteX3" fmla="*/ 3878507 w 3878508"/>
                <a:gd name="connsiteY3" fmla="*/ 381452 h 762904"/>
                <a:gd name="connsiteX4" fmla="*/ 3497055 w 3878508"/>
                <a:gd name="connsiteY4" fmla="*/ 762904 h 762904"/>
                <a:gd name="connsiteX5" fmla="*/ 0 w 3878508"/>
                <a:gd name="connsiteY5" fmla="*/ 762903 h 762904"/>
                <a:gd name="connsiteX6" fmla="*/ 51426 w 3878508"/>
                <a:gd name="connsiteY6" fmla="*/ 720474 h 762904"/>
                <a:gd name="connsiteX7" fmla="*/ 191853 w 3878508"/>
                <a:gd name="connsiteY7" fmla="*/ 381451 h 762904"/>
                <a:gd name="connsiteX8" fmla="*/ 51426 w 3878508"/>
                <a:gd name="connsiteY8" fmla="*/ 42429 h 76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8508" h="762904">
                  <a:moveTo>
                    <a:pt x="2" y="0"/>
                  </a:moveTo>
                  <a:lnTo>
                    <a:pt x="3497056" y="0"/>
                  </a:lnTo>
                  <a:cubicBezTo>
                    <a:pt x="3707726" y="0"/>
                    <a:pt x="3878508" y="170782"/>
                    <a:pt x="3878508" y="381452"/>
                  </a:cubicBezTo>
                  <a:lnTo>
                    <a:pt x="3878507" y="381452"/>
                  </a:lnTo>
                  <a:cubicBezTo>
                    <a:pt x="3878507" y="592122"/>
                    <a:pt x="3707725" y="762904"/>
                    <a:pt x="3497055" y="762904"/>
                  </a:cubicBezTo>
                  <a:lnTo>
                    <a:pt x="0" y="762903"/>
                  </a:lnTo>
                  <a:lnTo>
                    <a:pt x="51426" y="720474"/>
                  </a:lnTo>
                  <a:cubicBezTo>
                    <a:pt x="138189" y="633710"/>
                    <a:pt x="191853" y="513848"/>
                    <a:pt x="191853" y="381451"/>
                  </a:cubicBezTo>
                  <a:cubicBezTo>
                    <a:pt x="191853" y="249055"/>
                    <a:pt x="138189" y="129192"/>
                    <a:pt x="51426" y="42429"/>
                  </a:cubicBezTo>
                  <a:close/>
                </a:path>
              </a:pathLst>
            </a:custGeom>
            <a:solidFill>
              <a:schemeClr val="accent1">
                <a:lumMod val="20000"/>
                <a:lumOff val="80000"/>
              </a:schemeClr>
            </a:solidFill>
            <a:ln w="25400" cap="flat" cmpd="sng" algn="ctr">
              <a:noFill/>
              <a:prstDash val="solid"/>
            </a:ln>
            <a:effectLst/>
          </p:spPr>
          <p:txBody>
            <a:bodyPr lIns="396000" tIns="0" rIns="0" bIns="0" anchor="ctr">
              <a:normAutofit/>
            </a:bodyPr>
            <a:lstStyle/>
            <a:p>
              <a:pPr>
                <a:lnSpc>
                  <a:spcPct val="130000"/>
                </a:lnSpc>
                <a:defRPr/>
              </a:pPr>
              <a:r>
                <a:rPr lang="en-US" altLang="zh-CN" sz="2800" kern="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Global Village</a:t>
              </a:r>
              <a:endParaRPr lang="zh-CN" altLang="en-US" sz="2800" kern="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16" name="KSO_GT1">
              <a:extLst>
                <a:ext uri="{FF2B5EF4-FFF2-40B4-BE49-F238E27FC236}">
                  <a16:creationId xmlns:a16="http://schemas.microsoft.com/office/drawing/2014/main" id="{2AD14193-9300-43E9-8AD0-F8039FF5D41A}"/>
                </a:ext>
              </a:extLst>
            </p:cNvPr>
            <p:cNvSpPr/>
            <p:nvPr>
              <p:custDataLst>
                <p:tags r:id="rId7"/>
              </p:custDataLst>
            </p:nvPr>
          </p:nvSpPr>
          <p:spPr>
            <a:xfrm>
              <a:off x="1660878" y="4086593"/>
              <a:ext cx="947400" cy="903096"/>
            </a:xfrm>
            <a:prstGeom prst="ellipse">
              <a:avLst/>
            </a:prstGeom>
            <a:solidFill>
              <a:srgbClr val="FFFFFF"/>
            </a:solidFill>
            <a:ln w="57150" cap="flat" cmpd="sng" algn="ctr">
              <a:solidFill>
                <a:schemeClr val="accent1"/>
              </a:solidFill>
              <a:prstDash val="solid"/>
            </a:ln>
            <a:effectLst/>
          </p:spPr>
          <p:txBody>
            <a:bodyPr anchor="ctr"/>
            <a:lstStyle/>
            <a:p>
              <a:pPr>
                <a:defRPr/>
              </a:pPr>
              <a:r>
                <a:rPr lang="en-US" altLang="zh-CN" sz="4000" i="1" kern="0" dirty="0">
                  <a:ln w="0"/>
                  <a:effectLst>
                    <a:outerShdw blurRad="38100" dist="19050" dir="2700000" algn="tl" rotWithShape="0">
                      <a:schemeClr val="dk1">
                        <a:alpha val="40000"/>
                      </a:schemeClr>
                    </a:outerShdw>
                  </a:effectLst>
                  <a:latin typeface="Impact" panose="020B0806030902050204" pitchFamily="34" charset="0"/>
                </a:rPr>
                <a:t>3</a:t>
              </a:r>
            </a:p>
          </p:txBody>
        </p:sp>
      </p:gr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9C9CB30-6F6C-48EC-AD0D-8D2D286306F2}"/>
              </a:ext>
            </a:extLst>
          </p:cNvPr>
          <p:cNvSpPr>
            <a:spLocks noGrp="1"/>
          </p:cNvSpPr>
          <p:nvPr>
            <p:ph idx="1"/>
          </p:nvPr>
        </p:nvSpPr>
        <p:spPr>
          <a:xfrm>
            <a:off x="561842" y="384314"/>
            <a:ext cx="10609741" cy="5897216"/>
          </a:xfrm>
        </p:spPr>
        <p:txBody>
          <a:bodyPr>
            <a:normAutofit fontScale="92500" lnSpcReduction="10000"/>
          </a:bodyPr>
          <a:lstStyle/>
          <a:p>
            <a:r>
              <a:rPr lang="en-US" altLang="zh-CN" b="0" dirty="0">
                <a:solidFill>
                  <a:srgbClr val="000000"/>
                </a:solidFill>
                <a:latin typeface="Arial" panose="020B0604020202020204" pitchFamily="34" charset="0"/>
                <a:cs typeface="Arial" panose="020B0604020202020204" pitchFamily="34" charset="0"/>
              </a:rPr>
              <a:t>Globalization can be described as a process by which the people of the world are unified into a single society and function together.</a:t>
            </a:r>
          </a:p>
          <a:p>
            <a:r>
              <a:rPr lang="en-US" altLang="zh-CN" b="0" dirty="0">
                <a:solidFill>
                  <a:srgbClr val="000000"/>
                </a:solidFill>
                <a:latin typeface="Arial" panose="020B0604020202020204" pitchFamily="34" charset="0"/>
                <a:cs typeface="Arial" panose="020B0604020202020204" pitchFamily="34" charset="0"/>
              </a:rPr>
              <a:t>Globalization is often used to refer to economic globalization.</a:t>
            </a:r>
          </a:p>
          <a:p>
            <a:r>
              <a:rPr lang="en-US" altLang="zh-CN" b="0" dirty="0">
                <a:solidFill>
                  <a:srgbClr val="000000"/>
                </a:solidFill>
                <a:latin typeface="Arial" panose="020B0604020202020204" pitchFamily="34" charset="0"/>
                <a:cs typeface="Arial" panose="020B0604020202020204" pitchFamily="34" charset="0"/>
                <a:hlinkClick r:id="" action="ppaction://noaction"/>
              </a:rPr>
              <a:t>Modern globalization started from the fall of Berlin Wall, the end of Cold War. (1989)</a:t>
            </a:r>
            <a:endParaRPr lang="en-US" altLang="zh-CN" b="0" dirty="0">
              <a:solidFill>
                <a:srgbClr val="000000"/>
              </a:solidFill>
              <a:latin typeface="Arial" panose="020B0604020202020204" pitchFamily="34" charset="0"/>
              <a:cs typeface="Arial" panose="020B0604020202020204" pitchFamily="34" charset="0"/>
            </a:endParaRPr>
          </a:p>
          <a:p>
            <a:r>
              <a:rPr lang="en-US" altLang="zh-CN" b="0" dirty="0">
                <a:solidFill>
                  <a:srgbClr val="000000"/>
                </a:solidFill>
                <a:latin typeface="Arial" panose="020B0604020202020204" pitchFamily="34" charset="0"/>
                <a:cs typeface="Arial" panose="020B0604020202020204" pitchFamily="34" charset="0"/>
              </a:rPr>
              <a:t>Causes: technological changes, policy initiatives and historical events.</a:t>
            </a:r>
          </a:p>
          <a:p>
            <a:r>
              <a:rPr lang="en-US" altLang="zh-CN" b="0" dirty="0">
                <a:solidFill>
                  <a:srgbClr val="000000"/>
                </a:solidFill>
                <a:latin typeface="Arial" panose="020B0604020202020204" pitchFamily="34" charset="0"/>
                <a:cs typeface="Arial" panose="020B0604020202020204" pitchFamily="34" charset="0"/>
              </a:rPr>
              <a:t>Impacts: </a:t>
            </a:r>
          </a:p>
          <a:p>
            <a:pPr marL="0" indent="0">
              <a:buNone/>
            </a:pPr>
            <a:r>
              <a:rPr lang="en-US" altLang="zh-CN" b="0" dirty="0">
                <a:solidFill>
                  <a:srgbClr val="000000"/>
                </a:solidFill>
                <a:latin typeface="Arial" panose="020B0604020202020204" pitchFamily="34" charset="0"/>
                <a:cs typeface="Arial" panose="020B0604020202020204" pitchFamily="34" charset="0"/>
              </a:rPr>
              <a:t>    * macroeconomic impacts (China’s Belt and Road Initiative);</a:t>
            </a:r>
          </a:p>
          <a:p>
            <a:pPr marL="0" indent="0">
              <a:buNone/>
            </a:pPr>
            <a:r>
              <a:rPr lang="en-US" altLang="zh-CN" b="0" dirty="0">
                <a:solidFill>
                  <a:srgbClr val="000000"/>
                </a:solidFill>
                <a:latin typeface="Arial" panose="020B0604020202020204" pitchFamily="34" charset="0"/>
                <a:cs typeface="Arial" panose="020B0604020202020204" pitchFamily="34" charset="0"/>
              </a:rPr>
              <a:t>    * income inequality (developed countries: increase, </a:t>
            </a:r>
          </a:p>
          <a:p>
            <a:pPr marL="0" indent="0">
              <a:buNone/>
            </a:pPr>
            <a:r>
              <a:rPr lang="en-US" altLang="zh-CN" b="0" dirty="0">
                <a:solidFill>
                  <a:srgbClr val="000000"/>
                </a:solidFill>
                <a:latin typeface="Arial" panose="020B0604020202020204" pitchFamily="34" charset="0"/>
                <a:cs typeface="Arial" panose="020B0604020202020204" pitchFamily="34" charset="0"/>
              </a:rPr>
              <a:t>                                    developing countries: decrease)</a:t>
            </a:r>
          </a:p>
          <a:p>
            <a:pPr marL="0" indent="0">
              <a:buNone/>
            </a:pPr>
            <a:r>
              <a:rPr lang="en-US" altLang="zh-CN" b="0" dirty="0">
                <a:solidFill>
                  <a:srgbClr val="000000"/>
                </a:solidFill>
                <a:latin typeface="Arial" panose="020B0604020202020204" pitchFamily="34" charset="0"/>
                <a:cs typeface="Arial" panose="020B0604020202020204" pitchFamily="34" charset="0"/>
              </a:rPr>
              <a:t>    * culture---culture invasion; </a:t>
            </a:r>
          </a:p>
          <a:p>
            <a:pPr marL="0" indent="0" algn="l">
              <a:buNone/>
            </a:pPr>
            <a:r>
              <a:rPr lang="en-US" altLang="zh-CN" b="0" dirty="0">
                <a:solidFill>
                  <a:srgbClr val="000000"/>
                </a:solidFill>
                <a:latin typeface="Arial" panose="020B0604020202020204" pitchFamily="34" charset="0"/>
                <a:cs typeface="Arial" panose="020B0604020202020204" pitchFamily="34" charset="0"/>
              </a:rPr>
              <a:t>    * world environment (greenhouse gas emission, extinction or massive reduction</a:t>
            </a:r>
          </a:p>
          <a:p>
            <a:pPr marL="0" indent="0" algn="l">
              <a:buNone/>
            </a:pPr>
            <a:r>
              <a:rPr lang="en-US" altLang="zh-CN" b="0" dirty="0">
                <a:solidFill>
                  <a:srgbClr val="000000"/>
                </a:solidFill>
                <a:latin typeface="Arial" panose="020B0604020202020204" pitchFamily="34" charset="0"/>
                <a:cs typeface="Arial" panose="020B0604020202020204" pitchFamily="34" charset="0"/>
              </a:rPr>
              <a:t>      of many animals and plant populations, deforestation…)</a:t>
            </a:r>
            <a:endParaRPr lang="zh-CN" altLang="en-US" b="0" dirty="0">
              <a:solidFill>
                <a:srgbClr val="000000"/>
              </a:solidFill>
              <a:latin typeface="Arial" panose="020B0604020202020204" pitchFamily="34" charset="0"/>
              <a:cs typeface="Arial" panose="020B0604020202020204" pitchFamily="34" charset="0"/>
            </a:endParaRPr>
          </a:p>
        </p:txBody>
      </p:sp>
      <p:sp>
        <p:nvSpPr>
          <p:cNvPr id="2" name="对话气泡: 圆角矩形 1">
            <a:extLst>
              <a:ext uri="{FF2B5EF4-FFF2-40B4-BE49-F238E27FC236}">
                <a16:creationId xmlns:a16="http://schemas.microsoft.com/office/drawing/2014/main" id="{E3B49438-00AB-42D0-AF6E-5CEA9DF120AD}"/>
              </a:ext>
            </a:extLst>
          </p:cNvPr>
          <p:cNvSpPr/>
          <p:nvPr/>
        </p:nvSpPr>
        <p:spPr>
          <a:xfrm>
            <a:off x="6785299" y="3921617"/>
            <a:ext cx="3127513" cy="3611218"/>
          </a:xfrm>
          <a:prstGeom prst="wedgeRoundRectCallout">
            <a:avLst>
              <a:gd name="adj1" fmla="val -67878"/>
              <a:gd name="adj2" fmla="val -52505"/>
              <a:gd name="adj3" fmla="val 1666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rgbClr val="7030A0"/>
                </a:solidFill>
              </a:rPr>
              <a:t>Economic globalization is the most fundamental driving force and expression in the process of globalization.</a:t>
            </a:r>
            <a:endParaRPr lang="zh-CN" altLang="en-US" dirty="0">
              <a:solidFill>
                <a:srgbClr val="7030A0"/>
              </a:solidFill>
            </a:endParaRPr>
          </a:p>
        </p:txBody>
      </p:sp>
    </p:spTree>
    <p:extLst>
      <p:ext uri="{BB962C8B-B14F-4D97-AF65-F5344CB8AC3E}">
        <p14:creationId xmlns:p14="http://schemas.microsoft.com/office/powerpoint/2010/main" val="2051520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grpId="1" nodeType="clickEffect">
                                  <p:stCondLst>
                                    <p:cond delay="0"/>
                                  </p:stCondLst>
                                  <p:childTnLst>
                                    <p:anim calcmode="lin" valueType="num">
                                      <p:cBhvr additive="base">
                                        <p:cTn id="10" dur="500"/>
                                        <p:tgtEl>
                                          <p:spTgt spid="2"/>
                                        </p:tgtEl>
                                        <p:attrNameLst>
                                          <p:attrName>ppt_x</p:attrName>
                                        </p:attrNameLst>
                                      </p:cBhvr>
                                      <p:tavLst>
                                        <p:tav tm="0">
                                          <p:val>
                                            <p:strVal val="ppt_x"/>
                                          </p:val>
                                        </p:tav>
                                        <p:tav tm="100000">
                                          <p:val>
                                            <p:strVal val="ppt_x"/>
                                          </p:val>
                                        </p:tav>
                                      </p:tavLst>
                                    </p:anim>
                                    <p:anim calcmode="lin" valueType="num">
                                      <p:cBhvr additive="base">
                                        <p:cTn id="11" dur="500"/>
                                        <p:tgtEl>
                                          <p:spTgt spid="2"/>
                                        </p:tgtEl>
                                        <p:attrNameLst>
                                          <p:attrName>ppt_y</p:attrName>
                                        </p:attrNameLst>
                                      </p:cBhvr>
                                      <p:tavLst>
                                        <p:tav tm="0">
                                          <p:val>
                                            <p:strVal val="ppt_y"/>
                                          </p:val>
                                        </p:tav>
                                        <p:tav tm="100000">
                                          <p:val>
                                            <p:strVal val="1+ppt_h/2"/>
                                          </p:val>
                                        </p:tav>
                                      </p:tavLst>
                                    </p:anim>
                                    <p:set>
                                      <p:cBhvr>
                                        <p:cTn id="12"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461E14-F80A-4B0F-B6EE-9B35C74B9A3A}"/>
              </a:ext>
            </a:extLst>
          </p:cNvPr>
          <p:cNvSpPr>
            <a:spLocks noGrp="1"/>
          </p:cNvSpPr>
          <p:nvPr>
            <p:ph type="title"/>
          </p:nvPr>
        </p:nvSpPr>
        <p:spPr/>
        <p:txBody>
          <a:bodyPr>
            <a:normAutofit/>
          </a:bodyPr>
          <a:lstStyle/>
          <a:p>
            <a:r>
              <a:rPr lang="en-US" altLang="zh-CN" sz="2800" dirty="0">
                <a:latin typeface="Arial" panose="020B0604020202020204" pitchFamily="34" charset="0"/>
                <a:cs typeface="Arial" panose="020B0604020202020204" pitchFamily="34" charset="0"/>
              </a:rPr>
              <a:t>Global Village</a:t>
            </a:r>
            <a:endParaRPr lang="zh-CN" altLang="en-US" sz="2800" dirty="0">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E7DA7EC1-6949-4507-97AD-299C2FADCE0E}"/>
              </a:ext>
            </a:extLst>
          </p:cNvPr>
          <p:cNvSpPr>
            <a:spLocks noGrp="1"/>
          </p:cNvSpPr>
          <p:nvPr>
            <p:ph idx="1"/>
          </p:nvPr>
        </p:nvSpPr>
        <p:spPr/>
        <p:txBody>
          <a:bodyPr>
            <a:normAutofit/>
          </a:bodyPr>
          <a:lstStyle/>
          <a:p>
            <a:pPr>
              <a:buFont typeface="Wingdings" panose="05000000000000000000" pitchFamily="2" charset="2"/>
              <a:buChar char="p"/>
            </a:pPr>
            <a:r>
              <a:rPr lang="en-US" altLang="zh-CN" dirty="0">
                <a:solidFill>
                  <a:srgbClr val="000000"/>
                </a:solidFill>
                <a:latin typeface="Arial" panose="020B0604020202020204" pitchFamily="34" charset="0"/>
                <a:cs typeface="Arial" panose="020B0604020202020204" pitchFamily="34" charset="0"/>
              </a:rPr>
              <a:t>Marshall McLuhan: </a:t>
            </a:r>
            <a:r>
              <a:rPr lang="en-US" altLang="zh-CN" b="0" dirty="0">
                <a:solidFill>
                  <a:srgbClr val="000000"/>
                </a:solidFill>
                <a:latin typeface="Arial" panose="020B0604020202020204" pitchFamily="34" charset="0"/>
                <a:cs typeface="Arial" panose="020B0604020202020204" pitchFamily="34" charset="0"/>
              </a:rPr>
              <a:t>famous Canadian educator and communication theorist. </a:t>
            </a:r>
          </a:p>
          <a:p>
            <a:pPr marL="0" indent="0">
              <a:buNone/>
            </a:pPr>
            <a:r>
              <a:rPr lang="en-US" altLang="zh-CN" b="0" dirty="0">
                <a:solidFill>
                  <a:srgbClr val="000000"/>
                </a:solidFill>
                <a:latin typeface="Arial" panose="020B0604020202020204" pitchFamily="34" charset="0"/>
                <a:cs typeface="Arial" panose="020B0604020202020204" pitchFamily="34" charset="0"/>
              </a:rPr>
              <a:t>    * “the medium is the message” </a:t>
            </a:r>
            <a:r>
              <a:rPr lang="zh-CN" altLang="en-US" dirty="0">
                <a:solidFill>
                  <a:srgbClr val="000000"/>
                </a:solidFill>
                <a:cs typeface="Arial" panose="020B0604020202020204" pitchFamily="34" charset="0"/>
              </a:rPr>
              <a:t>媒体就是讯息</a:t>
            </a:r>
            <a:endParaRPr lang="en-US" altLang="zh-CN" b="0" dirty="0">
              <a:solidFill>
                <a:srgbClr val="000000"/>
              </a:solidFill>
              <a:latin typeface="Arial" panose="020B0604020202020204" pitchFamily="34" charset="0"/>
              <a:cs typeface="Arial" panose="020B0604020202020204" pitchFamily="34" charset="0"/>
            </a:endParaRPr>
          </a:p>
          <a:p>
            <a:pPr marL="0" indent="0">
              <a:buNone/>
            </a:pPr>
            <a:r>
              <a:rPr lang="en-US" altLang="zh-CN" b="0" dirty="0">
                <a:solidFill>
                  <a:srgbClr val="000000"/>
                </a:solidFill>
                <a:latin typeface="Arial" panose="020B0604020202020204" pitchFamily="34" charset="0"/>
                <a:cs typeface="Arial" panose="020B0604020202020204" pitchFamily="34" charset="0"/>
              </a:rPr>
              <a:t>    * “global village”</a:t>
            </a:r>
          </a:p>
          <a:p>
            <a:pPr>
              <a:buFont typeface="Wingdings" panose="05000000000000000000" pitchFamily="2" charset="2"/>
              <a:buChar char="p"/>
            </a:pPr>
            <a:r>
              <a:rPr lang="en-US" altLang="zh-CN" b="0" dirty="0">
                <a:solidFill>
                  <a:srgbClr val="000000"/>
                </a:solidFill>
                <a:latin typeface="Arial" panose="020B0604020202020204" pitchFamily="34" charset="0"/>
                <a:cs typeface="Arial" panose="020B0604020202020204" pitchFamily="34" charset="0"/>
              </a:rPr>
              <a:t>Social effects:</a:t>
            </a:r>
          </a:p>
          <a:p>
            <a:pPr marL="0" indent="0">
              <a:buNone/>
            </a:pPr>
            <a:r>
              <a:rPr lang="en-US" altLang="zh-CN" b="0" dirty="0">
                <a:solidFill>
                  <a:srgbClr val="000000"/>
                </a:solidFill>
                <a:latin typeface="Arial" panose="020B0604020202020204" pitchFamily="34" charset="0"/>
                <a:cs typeface="Arial" panose="020B0604020202020204" pitchFamily="34" charset="0"/>
              </a:rPr>
              <a:t>    * harmonious existence, mutual prosperity</a:t>
            </a:r>
          </a:p>
          <a:p>
            <a:pPr marL="0" indent="0">
              <a:buNone/>
            </a:pPr>
            <a:r>
              <a:rPr lang="en-US" altLang="zh-CN" b="0" dirty="0">
                <a:solidFill>
                  <a:srgbClr val="000000"/>
                </a:solidFill>
                <a:latin typeface="Arial" panose="020B0604020202020204" pitchFamily="34" charset="0"/>
                <a:cs typeface="Arial" panose="020B0604020202020204" pitchFamily="34" charset="0"/>
              </a:rPr>
              <a:t>    * deepens the economic globalization and international labor division.</a:t>
            </a:r>
          </a:p>
          <a:p>
            <a:pPr>
              <a:buFont typeface="Wingdings" panose="05000000000000000000" pitchFamily="2" charset="2"/>
              <a:buChar char="p"/>
            </a:pPr>
            <a:r>
              <a:rPr lang="en-US" altLang="zh-CN" b="0" dirty="0">
                <a:solidFill>
                  <a:srgbClr val="000000"/>
                </a:solidFill>
                <a:latin typeface="Arial" panose="020B0604020202020204" pitchFamily="34" charset="0"/>
                <a:cs typeface="Arial" panose="020B0604020202020204" pitchFamily="34" charset="0"/>
              </a:rPr>
              <a:t>Prospects:</a:t>
            </a:r>
          </a:p>
          <a:p>
            <a:pPr marL="0" indent="0">
              <a:buNone/>
            </a:pPr>
            <a:r>
              <a:rPr lang="en-US" altLang="zh-CN" b="0" dirty="0">
                <a:solidFill>
                  <a:srgbClr val="000000"/>
                </a:solidFill>
                <a:latin typeface="Arial" panose="020B0604020202020204" pitchFamily="34" charset="0"/>
                <a:cs typeface="Arial" panose="020B0604020202020204" pitchFamily="34" charset="0"/>
              </a:rPr>
              <a:t>    * Staying alert for post-colonial dominance of the world</a:t>
            </a:r>
          </a:p>
          <a:p>
            <a:pPr marL="0" indent="0">
              <a:buNone/>
            </a:pPr>
            <a:r>
              <a:rPr lang="en-US" altLang="zh-CN" b="0" dirty="0">
                <a:solidFill>
                  <a:srgbClr val="000000"/>
                </a:solidFill>
                <a:latin typeface="Arial" panose="020B0604020202020204" pitchFamily="34" charset="0"/>
                <a:cs typeface="Arial" panose="020B0604020202020204" pitchFamily="34" charset="0"/>
              </a:rPr>
              <a:t>    * Building an open, win-win global village </a:t>
            </a:r>
          </a:p>
          <a:p>
            <a:pPr marL="0" indent="0">
              <a:buNone/>
            </a:pPr>
            <a:endParaRPr lang="zh-CN" altLang="en-US" b="0" dirty="0">
              <a:solidFill>
                <a:srgbClr val="000000"/>
              </a:solidFill>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CF2DBAA0-63CA-4683-98C6-867F8CE95F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8982" y="1802295"/>
            <a:ext cx="1520687" cy="1520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512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461E14-F80A-4B0F-B6EE-9B35C74B9A3A}"/>
              </a:ext>
            </a:extLst>
          </p:cNvPr>
          <p:cNvSpPr>
            <a:spLocks noGrp="1"/>
          </p:cNvSpPr>
          <p:nvPr>
            <p:ph type="title"/>
          </p:nvPr>
        </p:nvSpPr>
        <p:spPr/>
        <p:txBody>
          <a:bodyPr>
            <a:normAutofit/>
          </a:bodyPr>
          <a:lstStyle/>
          <a:p>
            <a:r>
              <a:rPr lang="en-US" altLang="zh-CN" sz="2800" dirty="0">
                <a:latin typeface="Arial" panose="020B0604020202020204" pitchFamily="34" charset="0"/>
                <a:cs typeface="Arial" panose="020B0604020202020204" pitchFamily="34" charset="0"/>
              </a:rPr>
              <a:t>Global Village</a:t>
            </a:r>
            <a:endParaRPr lang="zh-CN" altLang="en-US" sz="2800" dirty="0">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E7DA7EC1-6949-4507-97AD-299C2FADCE0E}"/>
              </a:ext>
            </a:extLst>
          </p:cNvPr>
          <p:cNvSpPr>
            <a:spLocks noGrp="1"/>
          </p:cNvSpPr>
          <p:nvPr>
            <p:ph idx="1"/>
          </p:nvPr>
        </p:nvSpPr>
        <p:spPr>
          <a:xfrm>
            <a:off x="575095" y="1133475"/>
            <a:ext cx="10808522" cy="5100143"/>
          </a:xfrm>
        </p:spPr>
        <p:txBody>
          <a:bodyPr/>
          <a:lstStyle/>
          <a:p>
            <a:pPr>
              <a:buSzPct val="90000"/>
              <a:buFont typeface="Wingdings" panose="05000000000000000000" pitchFamily="2" charset="2"/>
              <a:buChar char="&amp;"/>
            </a:pPr>
            <a:r>
              <a:rPr lang="en-US" altLang="zh-CN" sz="2400" b="0" dirty="0">
                <a:solidFill>
                  <a:srgbClr val="000000"/>
                </a:solidFill>
                <a:latin typeface="Arial" panose="020B0604020202020204" pitchFamily="34" charset="0"/>
                <a:cs typeface="Arial" panose="020B0604020202020204" pitchFamily="34" charset="0"/>
              </a:rPr>
              <a:t> "</a:t>
            </a:r>
            <a:r>
              <a:rPr lang="en-US" altLang="zh-CN" sz="2400" b="0" dirty="0">
                <a:solidFill>
                  <a:srgbClr val="C00000"/>
                </a:solidFill>
                <a:effectLst>
                  <a:outerShdw blurRad="38100" dist="38100" dir="2700000" algn="tl">
                    <a:srgbClr val="C0C0C0"/>
                  </a:outerShdw>
                </a:effectLst>
                <a:latin typeface="Arial" panose="020B0604020202020204" pitchFamily="34" charset="0"/>
                <a:cs typeface="Arial" panose="020B0604020202020204" pitchFamily="34" charset="0"/>
              </a:rPr>
              <a:t>Post-colonialism</a:t>
            </a:r>
            <a:r>
              <a:rPr lang="en-US" altLang="zh-CN" sz="2400" b="0" dirty="0">
                <a:solidFill>
                  <a:srgbClr val="000000"/>
                </a:solidFill>
                <a:latin typeface="Arial" panose="020B0604020202020204" pitchFamily="34" charset="0"/>
                <a:cs typeface="Arial" panose="020B0604020202020204" pitchFamily="34" charset="0"/>
              </a:rPr>
              <a:t>" refers broadly to the ways in which race, ethnicity, culture, and human identity itself are represented in the modern era, after many colonized countries gained their independence. However, some critics use the term to refer to all</a:t>
            </a:r>
            <a:r>
              <a:rPr lang="en-US" altLang="zh-CN" sz="2400" b="0" i="1" dirty="0">
                <a:solidFill>
                  <a:srgbClr val="000000"/>
                </a:solidFill>
                <a:latin typeface="Arial" panose="020B0604020202020204" pitchFamily="34" charset="0"/>
                <a:cs typeface="Arial" panose="020B0604020202020204" pitchFamily="34" charset="0"/>
              </a:rPr>
              <a:t> </a:t>
            </a:r>
            <a:r>
              <a:rPr lang="en-US" altLang="zh-CN" sz="2400" b="0" dirty="0">
                <a:solidFill>
                  <a:srgbClr val="000000"/>
                </a:solidFill>
                <a:latin typeface="Arial" panose="020B0604020202020204" pitchFamily="34" charset="0"/>
                <a:cs typeface="Arial" panose="020B0604020202020204" pitchFamily="34" charset="0"/>
              </a:rPr>
              <a:t>culture and cultural products influenced by imperialism from the moment of colonization until today. </a:t>
            </a:r>
          </a:p>
          <a:p>
            <a:pPr>
              <a:buFontTx/>
              <a:buNone/>
            </a:pPr>
            <a:endParaRPr lang="en-US" altLang="zh-CN" sz="2400" b="0" dirty="0">
              <a:solidFill>
                <a:srgbClr val="000000"/>
              </a:solidFill>
              <a:latin typeface="Arial" panose="020B0604020202020204" pitchFamily="34" charset="0"/>
              <a:ea typeface="华文中宋" panose="02010600040101010101" pitchFamily="2" charset="-122"/>
              <a:cs typeface="Arial" panose="020B0604020202020204" pitchFamily="34" charset="0"/>
            </a:endParaRPr>
          </a:p>
          <a:p>
            <a:pPr>
              <a:buSzPct val="90000"/>
              <a:buFont typeface="Wingdings" panose="05000000000000000000" pitchFamily="2" charset="2"/>
              <a:buChar char="&amp;"/>
            </a:pPr>
            <a:r>
              <a:rPr lang="en-US" altLang="zh-CN" sz="2400" b="0" dirty="0">
                <a:solidFill>
                  <a:srgbClr val="000000"/>
                </a:solidFill>
                <a:latin typeface="Arial" panose="020B0604020202020204" pitchFamily="34" charset="0"/>
                <a:ea typeface="华文中宋" panose="02010600040101010101" pitchFamily="2" charset="-122"/>
                <a:cs typeface="Arial" panose="020B0604020202020204" pitchFamily="34" charset="0"/>
              </a:rPr>
              <a:t>“</a:t>
            </a:r>
            <a:r>
              <a:rPr lang="zh-CN" altLang="en-US" sz="2400" b="0" dirty="0">
                <a:solidFill>
                  <a:srgbClr val="000000"/>
                </a:solidFill>
                <a:latin typeface="Arial" panose="020B0604020202020204" pitchFamily="34" charset="0"/>
                <a:ea typeface="华文中宋" panose="02010600040101010101" pitchFamily="2" charset="-122"/>
                <a:cs typeface="Arial" panose="020B0604020202020204" pitchFamily="34" charset="0"/>
              </a:rPr>
              <a:t>后殖民主义”是指欧美资本主义国家在“二战”之后的冷战和后冷战时期对“落后”民族和国家进行文化围剿和文化渗透的一种侵略政策，因而在理论上常常表现为一种文化殖民主义、文化霸权主义和文化帝国主义。依照后殖民主义的观点，只有西方先进国家和民族的文化才是世界文化的中心和楷模，而非西方的“落后”民族的文化则常被贬称为边缘文化、愚昧文化。 </a:t>
            </a:r>
          </a:p>
          <a:p>
            <a:endParaRPr lang="zh-CN" altLang="en-US" dirty="0"/>
          </a:p>
        </p:txBody>
      </p:sp>
    </p:spTree>
    <p:extLst>
      <p:ext uri="{BB962C8B-B14F-4D97-AF65-F5344CB8AC3E}">
        <p14:creationId xmlns:p14="http://schemas.microsoft.com/office/powerpoint/2010/main" val="2596160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C0D7F-EDC4-4B12-93AE-9F05B8822B6C}"/>
              </a:ext>
            </a:extLst>
          </p:cNvPr>
          <p:cNvSpPr>
            <a:spLocks noGrp="1"/>
          </p:cNvSpPr>
          <p:nvPr>
            <p:ph type="title"/>
          </p:nvPr>
        </p:nvSpPr>
        <p:spPr>
          <a:xfrm>
            <a:off x="575095" y="337464"/>
            <a:ext cx="11052465" cy="796011"/>
          </a:xfrm>
        </p:spPr>
        <p:txBody>
          <a:bodyPr>
            <a:normAutofit/>
          </a:bodyPr>
          <a:lstStyle/>
          <a:p>
            <a:r>
              <a:rPr lang="en-US" altLang="zh-CN" sz="2400" b="1" dirty="0">
                <a:latin typeface="Arial" panose="020B0604020202020204" pitchFamily="34" charset="0"/>
                <a:cs typeface="Arial" panose="020B0604020202020204" pitchFamily="34" charset="0"/>
              </a:rPr>
              <a:t>Intercultural Communication</a:t>
            </a:r>
            <a:endParaRPr lang="zh-CN" altLang="en-US" sz="2400" b="1" dirty="0">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61FFF74B-9C13-4D0B-A887-34C5C9C1C4A0}"/>
              </a:ext>
            </a:extLst>
          </p:cNvPr>
          <p:cNvSpPr>
            <a:spLocks noGrp="1"/>
          </p:cNvSpPr>
          <p:nvPr>
            <p:ph idx="1"/>
          </p:nvPr>
        </p:nvSpPr>
        <p:spPr>
          <a:xfrm>
            <a:off x="575094" y="1027458"/>
            <a:ext cx="8714679" cy="5100143"/>
          </a:xfrm>
        </p:spPr>
        <p:txBody>
          <a:bodyPr>
            <a:normAutofit fontScale="92500" lnSpcReduction="10000"/>
          </a:bodyPr>
          <a:lstStyle/>
          <a:p>
            <a:r>
              <a:rPr lang="en-US" altLang="zh-CN" b="0" dirty="0">
                <a:solidFill>
                  <a:schemeClr val="tx1"/>
                </a:solidFill>
                <a:latin typeface="Arial" panose="020B0604020202020204" pitchFamily="34" charset="0"/>
                <a:cs typeface="Arial" panose="020B0604020202020204" pitchFamily="34" charset="0"/>
              </a:rPr>
              <a:t>Intercultural communication is the communication between people from different cultural backgrounds.</a:t>
            </a:r>
          </a:p>
          <a:p>
            <a:r>
              <a:rPr lang="en-US" altLang="zh-CN" b="0" dirty="0">
                <a:solidFill>
                  <a:schemeClr val="tx1"/>
                </a:solidFill>
                <a:latin typeface="Arial" panose="020B0604020202020204" pitchFamily="34" charset="0"/>
                <a:cs typeface="Arial" panose="020B0604020202020204" pitchFamily="34" charset="0"/>
              </a:rPr>
              <a:t>As a phenomenon, intercultural communication is as old as humankind, but as a discipline, its history is quite short.</a:t>
            </a:r>
          </a:p>
          <a:p>
            <a:r>
              <a:rPr lang="en-US" altLang="zh-CN" b="0" dirty="0">
                <a:solidFill>
                  <a:schemeClr val="tx1"/>
                </a:solidFill>
                <a:latin typeface="Arial" panose="020B0604020202020204" pitchFamily="34" charset="0"/>
                <a:cs typeface="Arial" panose="020B0604020202020204" pitchFamily="34" charset="0"/>
              </a:rPr>
              <a:t>Intercultural communication as a field of study first emerged in the United States in the 1950s.</a:t>
            </a:r>
          </a:p>
          <a:p>
            <a:r>
              <a:rPr lang="en-US" altLang="zh-CN" b="0" dirty="0">
                <a:solidFill>
                  <a:schemeClr val="tx1"/>
                </a:solidFill>
                <a:latin typeface="Arial" panose="020B0604020202020204" pitchFamily="34" charset="0"/>
                <a:cs typeface="Arial" panose="020B0604020202020204" pitchFamily="34" charset="0"/>
              </a:rPr>
              <a:t>Four trends that led to the development of the global village:  </a:t>
            </a:r>
          </a:p>
          <a:p>
            <a:pPr marL="0" indent="0">
              <a:buNone/>
            </a:pPr>
            <a:r>
              <a:rPr lang="en-US" altLang="zh-CN" dirty="0">
                <a:solidFill>
                  <a:schemeClr val="tx1"/>
                </a:solidFill>
                <a:cs typeface="Arial" panose="020B0604020202020204" pitchFamily="34" charset="0"/>
              </a:rPr>
              <a:t>    </a:t>
            </a:r>
            <a:r>
              <a:rPr lang="en-US" altLang="zh-CN" b="0" dirty="0">
                <a:solidFill>
                  <a:schemeClr val="tx1"/>
                </a:solidFill>
                <a:latin typeface="Arial" panose="020B0604020202020204" pitchFamily="34" charset="0"/>
                <a:cs typeface="Arial" panose="020B0604020202020204" pitchFamily="34" charset="0"/>
              </a:rPr>
              <a:t>1. convenient transportation system</a:t>
            </a:r>
          </a:p>
          <a:p>
            <a:pPr marL="0" indent="0">
              <a:buNone/>
            </a:pPr>
            <a:r>
              <a:rPr lang="en-US" altLang="zh-CN" b="0" dirty="0">
                <a:solidFill>
                  <a:schemeClr val="tx1"/>
                </a:solidFill>
                <a:latin typeface="Arial" panose="020B0604020202020204" pitchFamily="34" charset="0"/>
                <a:cs typeface="Arial" panose="020B0604020202020204" pitchFamily="34" charset="0"/>
              </a:rPr>
              <a:t>    2. innovative communication system</a:t>
            </a:r>
          </a:p>
          <a:p>
            <a:pPr marL="0" indent="0">
              <a:buNone/>
            </a:pPr>
            <a:r>
              <a:rPr lang="en-US" altLang="zh-CN" b="0" dirty="0">
                <a:solidFill>
                  <a:schemeClr val="tx1"/>
                </a:solidFill>
                <a:latin typeface="Arial" panose="020B0604020202020204" pitchFamily="34" charset="0"/>
                <a:cs typeface="Arial" panose="020B0604020202020204" pitchFamily="34" charset="0"/>
              </a:rPr>
              <a:t>    3. economic globalization</a:t>
            </a:r>
          </a:p>
          <a:p>
            <a:pPr marL="0" indent="0">
              <a:buNone/>
            </a:pPr>
            <a:r>
              <a:rPr lang="en-US" altLang="zh-CN" b="0" dirty="0">
                <a:solidFill>
                  <a:schemeClr val="tx1"/>
                </a:solidFill>
                <a:latin typeface="Arial" panose="020B0604020202020204" pitchFamily="34" charset="0"/>
                <a:cs typeface="Arial" panose="020B0604020202020204" pitchFamily="34" charset="0"/>
              </a:rPr>
              <a:t>    4. widespread migration</a:t>
            </a:r>
          </a:p>
        </p:txBody>
      </p:sp>
    </p:spTree>
    <p:extLst>
      <p:ext uri="{BB962C8B-B14F-4D97-AF65-F5344CB8AC3E}">
        <p14:creationId xmlns:p14="http://schemas.microsoft.com/office/powerpoint/2010/main" val="20514917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210316111652"/>
  <p:tag name="MH_LIBRARY" val="GRAPHIC"/>
</p:tagLst>
</file>

<file path=ppt/tags/tag2.xml><?xml version="1.0" encoding="utf-8"?>
<p:tagLst xmlns:a="http://schemas.openxmlformats.org/drawingml/2006/main" xmlns:r="http://schemas.openxmlformats.org/officeDocument/2006/relationships" xmlns:p="http://schemas.openxmlformats.org/presentationml/2006/main">
  <p:tag name="MH" val="20210316111652"/>
  <p:tag name="MH_LIBRARY" val="GRAPHIC"/>
  <p:tag name="MH_ORDER" val="任意多边形 11"/>
</p:tagLst>
</file>

<file path=ppt/tags/tag3.xml><?xml version="1.0" encoding="utf-8"?>
<p:tagLst xmlns:a="http://schemas.openxmlformats.org/drawingml/2006/main" xmlns:r="http://schemas.openxmlformats.org/officeDocument/2006/relationships" xmlns:p="http://schemas.openxmlformats.org/presentationml/2006/main">
  <p:tag name="MH" val="20210316111652"/>
  <p:tag name="MH_LIBRARY" val="GRAPHIC"/>
  <p:tag name="MH_ORDER" val="GT1"/>
</p:tagLst>
</file>

<file path=ppt/tags/tag4.xml><?xml version="1.0" encoding="utf-8"?>
<p:tagLst xmlns:a="http://schemas.openxmlformats.org/drawingml/2006/main" xmlns:r="http://schemas.openxmlformats.org/officeDocument/2006/relationships" xmlns:p="http://schemas.openxmlformats.org/presentationml/2006/main">
  <p:tag name="MH" val="20210316111652"/>
  <p:tag name="MH_LIBRARY" val="GRAPHIC"/>
  <p:tag name="MH_ORDER" val="任意多边形 12"/>
</p:tagLst>
</file>

<file path=ppt/tags/tag5.xml><?xml version="1.0" encoding="utf-8"?>
<p:tagLst xmlns:a="http://schemas.openxmlformats.org/drawingml/2006/main" xmlns:r="http://schemas.openxmlformats.org/officeDocument/2006/relationships" xmlns:p="http://schemas.openxmlformats.org/presentationml/2006/main">
  <p:tag name="MH" val="20210316111652"/>
  <p:tag name="MH_LIBRARY" val="GRAPHIC"/>
  <p:tag name="MH_ORDER" val="GT1"/>
</p:tagLst>
</file>

<file path=ppt/tags/tag6.xml><?xml version="1.0" encoding="utf-8"?>
<p:tagLst xmlns:a="http://schemas.openxmlformats.org/drawingml/2006/main" xmlns:r="http://schemas.openxmlformats.org/officeDocument/2006/relationships" xmlns:p="http://schemas.openxmlformats.org/presentationml/2006/main">
  <p:tag name="MH" val="20210316111652"/>
  <p:tag name="MH_LIBRARY" val="GRAPHIC"/>
  <p:tag name="MH_ORDER" val="任意多边形 14"/>
</p:tagLst>
</file>

<file path=ppt/tags/tag7.xml><?xml version="1.0" encoding="utf-8"?>
<p:tagLst xmlns:a="http://schemas.openxmlformats.org/drawingml/2006/main" xmlns:r="http://schemas.openxmlformats.org/officeDocument/2006/relationships" xmlns:p="http://schemas.openxmlformats.org/presentationml/2006/main">
  <p:tag name="MH" val="20210316111652"/>
  <p:tag name="MH_LIBRARY" val="GRAPHIC"/>
  <p:tag name="MH_ORDER" val="GT1"/>
</p:tagLst>
</file>

<file path=ppt/theme/theme1.xml><?xml version="1.0" encoding="utf-8"?>
<a:theme xmlns:a="http://schemas.openxmlformats.org/drawingml/2006/main" name="A000120140530A99PPBG">
  <a:themeElements>
    <a:clrScheme name="自定义 1">
      <a:dk1>
        <a:srgbClr val="3F3F3F"/>
      </a:dk1>
      <a:lt1>
        <a:sysClr val="window" lastClr="FFFFFF"/>
      </a:lt1>
      <a:dk2>
        <a:srgbClr val="39302A"/>
      </a:dk2>
      <a:lt2>
        <a:srgbClr val="FFFFFF"/>
      </a:lt2>
      <a:accent1>
        <a:srgbClr val="ECB61C"/>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自定义 2">
      <a:majorFont>
        <a:latin typeface="Baskerville Old Face"/>
        <a:ea typeface="微软雅黑"/>
        <a:cs typeface=""/>
      </a:majorFont>
      <a:minorFont>
        <a:latin typeface="Calibri"/>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A000120140627A30KPBG</Template>
  <TotalTime>1621</TotalTime>
  <Words>478</Words>
  <Application>Microsoft Office PowerPoint</Application>
  <PresentationFormat>宽屏</PresentationFormat>
  <Paragraphs>46</Paragraphs>
  <Slides>6</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vt:i4>
      </vt:variant>
    </vt:vector>
  </HeadingPairs>
  <TitlesOfParts>
    <vt:vector size="18" baseType="lpstr">
      <vt:lpstr>等线</vt:lpstr>
      <vt:lpstr>华文中宋</vt:lpstr>
      <vt:lpstr>宋体</vt:lpstr>
      <vt:lpstr>微软雅黑</vt:lpstr>
      <vt:lpstr>幼圆</vt:lpstr>
      <vt:lpstr>Arial</vt:lpstr>
      <vt:lpstr>Arial Black</vt:lpstr>
      <vt:lpstr>Baskerville Old Face</vt:lpstr>
      <vt:lpstr>Calibri</vt:lpstr>
      <vt:lpstr>Impact</vt:lpstr>
      <vt:lpstr>Wingdings</vt:lpstr>
      <vt:lpstr>A000120140530A99PPBG</vt:lpstr>
      <vt:lpstr>Intercultural Communication</vt:lpstr>
      <vt:lpstr>PowerPoint 演示文稿</vt:lpstr>
      <vt:lpstr>PowerPoint 演示文稿</vt:lpstr>
      <vt:lpstr>Global Village</vt:lpstr>
      <vt:lpstr>Global Village</vt:lpstr>
      <vt:lpstr>Intercultural Communication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Intercultural Communication</dc:title>
  <dc:creator>Vivian</dc:creator>
  <cp:lastModifiedBy>user</cp:lastModifiedBy>
  <cp:revision>57</cp:revision>
  <dcterms:created xsi:type="dcterms:W3CDTF">2021-03-02T01:33:03Z</dcterms:created>
  <dcterms:modified xsi:type="dcterms:W3CDTF">2024-04-21T12:48:52Z</dcterms:modified>
</cp:coreProperties>
</file>